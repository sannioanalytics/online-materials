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760" r:id="rId2"/>
    <p:sldId id="256" r:id="rId3"/>
    <p:sldId id="763" r:id="rId4"/>
    <p:sldId id="761" r:id="rId5"/>
    <p:sldId id="442" r:id="rId6"/>
    <p:sldId id="762" r:id="rId7"/>
    <p:sldId id="278" r:id="rId8"/>
    <p:sldId id="701" r:id="rId9"/>
    <p:sldId id="279" r:id="rId10"/>
    <p:sldId id="280" r:id="rId11"/>
    <p:sldId id="704" r:id="rId12"/>
    <p:sldId id="732" r:id="rId13"/>
    <p:sldId id="759" r:id="rId14"/>
    <p:sldId id="706" r:id="rId15"/>
    <p:sldId id="735" r:id="rId16"/>
    <p:sldId id="734" r:id="rId17"/>
    <p:sldId id="707" r:id="rId18"/>
    <p:sldId id="737" r:id="rId19"/>
    <p:sldId id="738" r:id="rId20"/>
    <p:sldId id="736"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58" r:id="rId35"/>
    <p:sldId id="259"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722" r:id="rId50"/>
    <p:sldId id="723" r:id="rId51"/>
    <p:sldId id="724" r:id="rId52"/>
    <p:sldId id="725" r:id="rId53"/>
    <p:sldId id="726" r:id="rId54"/>
    <p:sldId id="727" r:id="rId55"/>
    <p:sldId id="743" r:id="rId56"/>
    <p:sldId id="744" r:id="rId57"/>
    <p:sldId id="729" r:id="rId58"/>
    <p:sldId id="746" r:id="rId59"/>
    <p:sldId id="745" r:id="rId60"/>
    <p:sldId id="747" r:id="rId61"/>
    <p:sldId id="730" r:id="rId62"/>
    <p:sldId id="748" r:id="rId63"/>
    <p:sldId id="751" r:id="rId64"/>
    <p:sldId id="749" r:id="rId65"/>
    <p:sldId id="750" r:id="rId66"/>
    <p:sldId id="752" r:id="rId67"/>
    <p:sldId id="731"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98"/>
    <p:restoredTop sz="82019"/>
  </p:normalViewPr>
  <p:slideViewPr>
    <p:cSldViewPr snapToGrid="0">
      <p:cViewPr varScale="1">
        <p:scale>
          <a:sx n="94" d="100"/>
          <a:sy n="94" d="100"/>
        </p:scale>
        <p:origin x="216"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6F9BFD-981F-A847-BA90-0BB57842D3D2}" type="datetimeFigureOut">
              <a:rPr lang="en-IT" smtClean="0"/>
              <a:t>31/03/26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BEBDF-990E-4D46-958B-FEB7802135A7}" type="slidenum">
              <a:rPr lang="en-IT" smtClean="0"/>
              <a:t>‹#›</a:t>
            </a:fld>
            <a:endParaRPr lang="en-IT"/>
          </a:p>
        </p:txBody>
      </p:sp>
    </p:spTree>
    <p:extLst>
      <p:ext uri="{BB962C8B-B14F-4D97-AF65-F5344CB8AC3E}">
        <p14:creationId xmlns:p14="http://schemas.microsoft.com/office/powerpoint/2010/main" val="3811189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E19552E1-D184-C8F2-8F27-254A1861E46E}"/>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A7B8BB99-53DB-3806-04B2-5E48524A7067}"/>
              </a:ext>
            </a:extLst>
          </p:cNvPr>
          <p:cNvSpPr>
            <a:spLocks noGrp="1" noChangeArrowheads="1"/>
          </p:cNvSpPr>
          <p:nvPr>
            <p:ph type="sldNum" sz="quarter" idx="5"/>
          </p:nvPr>
        </p:nvSpPr>
        <p:spPr>
          <a:ln/>
        </p:spPr>
        <p:txBody>
          <a:bodyPr/>
          <a:lstStyle/>
          <a:p>
            <a:fld id="{E8D5B28D-E244-E942-99C6-BEE89D37C837}" type="slidenum">
              <a:rPr lang="en-AU" altLang="en-IT"/>
              <a:pPr/>
              <a:t>34</a:t>
            </a:fld>
            <a:endParaRPr lang="en-AU" altLang="en-IT"/>
          </a:p>
        </p:txBody>
      </p:sp>
      <p:sp>
        <p:nvSpPr>
          <p:cNvPr id="57346" name="Rectangle 1026">
            <a:extLst>
              <a:ext uri="{FF2B5EF4-FFF2-40B4-BE49-F238E27FC236}">
                <a16:creationId xmlns:a16="http://schemas.microsoft.com/office/drawing/2014/main" id="{3C29E808-807F-FC3D-1180-7A8FB244A287}"/>
              </a:ext>
            </a:extLst>
          </p:cNvPr>
          <p:cNvSpPr>
            <a:spLocks noGrp="1" noRot="1" noChangeAspect="1" noChangeArrowheads="1" noTextEdit="1"/>
          </p:cNvSpPr>
          <p:nvPr>
            <p:ph type="sldImg"/>
          </p:nvPr>
        </p:nvSpPr>
        <p:spPr>
          <a:ln/>
        </p:spPr>
      </p:sp>
      <p:sp>
        <p:nvSpPr>
          <p:cNvPr id="57347" name="Rectangle 1027">
            <a:extLst>
              <a:ext uri="{FF2B5EF4-FFF2-40B4-BE49-F238E27FC236}">
                <a16:creationId xmlns:a16="http://schemas.microsoft.com/office/drawing/2014/main" id="{8BC5686D-2C5E-26CA-83B6-3612881B5C85}"/>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38BD23F5-90AC-5889-7EA1-02C4E54DAB27}"/>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DDCE255D-CDE0-E973-788D-382AEB54056D}"/>
              </a:ext>
            </a:extLst>
          </p:cNvPr>
          <p:cNvSpPr>
            <a:spLocks noGrp="1" noChangeArrowheads="1"/>
          </p:cNvSpPr>
          <p:nvPr>
            <p:ph type="sldNum" sz="quarter" idx="5"/>
          </p:nvPr>
        </p:nvSpPr>
        <p:spPr>
          <a:ln/>
        </p:spPr>
        <p:txBody>
          <a:bodyPr/>
          <a:lstStyle/>
          <a:p>
            <a:fld id="{9549D2DE-FC26-2C48-8784-7A7C633A485B}" type="slidenum">
              <a:rPr lang="en-AU" altLang="en-IT"/>
              <a:pPr/>
              <a:t>35</a:t>
            </a:fld>
            <a:endParaRPr lang="en-AU" altLang="en-IT"/>
          </a:p>
        </p:txBody>
      </p:sp>
      <p:sp>
        <p:nvSpPr>
          <p:cNvPr id="50178" name="Rectangle 1026">
            <a:extLst>
              <a:ext uri="{FF2B5EF4-FFF2-40B4-BE49-F238E27FC236}">
                <a16:creationId xmlns:a16="http://schemas.microsoft.com/office/drawing/2014/main" id="{5931D034-9A3F-277D-4ABD-6DD244916ABE}"/>
              </a:ext>
            </a:extLst>
          </p:cNvPr>
          <p:cNvSpPr>
            <a:spLocks noGrp="1" noRot="1" noChangeAspect="1" noChangeArrowheads="1" noTextEdit="1"/>
          </p:cNvSpPr>
          <p:nvPr>
            <p:ph type="sldImg"/>
          </p:nvPr>
        </p:nvSpPr>
        <p:spPr>
          <a:ln/>
        </p:spPr>
      </p:sp>
      <p:sp>
        <p:nvSpPr>
          <p:cNvPr id="50179" name="Rectangle 1027">
            <a:extLst>
              <a:ext uri="{FF2B5EF4-FFF2-40B4-BE49-F238E27FC236}">
                <a16:creationId xmlns:a16="http://schemas.microsoft.com/office/drawing/2014/main" id="{411E398F-D22D-E7BC-30DC-5755950FAC4D}"/>
              </a:ext>
            </a:extLst>
          </p:cNvPr>
          <p:cNvSpPr>
            <a:spLocks noGrp="1" noChangeArrowheads="1"/>
          </p:cNvSpPr>
          <p:nvPr>
            <p:ph type="body" idx="1"/>
          </p:nvPr>
        </p:nvSpPr>
        <p:spPr/>
        <p:txBody>
          <a:bodyPr/>
          <a:lstStyle/>
          <a:p>
            <a:pPr marL="285750" indent="-285750"/>
            <a:r>
              <a:rPr lang="en-AU" altLang="en-IT"/>
              <a:t>1</a:t>
            </a:r>
            <a:r>
              <a:rPr lang="en-US" altLang="en-IT"/>
              <a:t>)</a:t>
            </a:r>
            <a:r>
              <a:rPr lang="en-AU" altLang="en-IT"/>
              <a:t>	These rules may help plan what the store should do to boost the sales of Uluda</a:t>
            </a:r>
            <a:r>
              <a:rPr lang="tr-TR" altLang="en-IT"/>
              <a:t>ğ</a:t>
            </a:r>
            <a:r>
              <a:rPr lang="en-AU" altLang="en-IT"/>
              <a:t> Gazozu.</a:t>
            </a:r>
          </a:p>
          <a:p>
            <a:pPr marL="285750" indent="-285750"/>
            <a:r>
              <a:rPr lang="en-AU" altLang="en-IT"/>
              <a:t>2)	These rules may help determine what products may be impacted if the store discontinues selling “Diet Coke”</a:t>
            </a:r>
          </a:p>
          <a:p>
            <a:pPr marL="285750" indent="-285750"/>
            <a:r>
              <a:rPr lang="en-AU" altLang="en-IT"/>
              <a:t>3)	These rules may help determine additional </a:t>
            </a:r>
            <a:r>
              <a:rPr lang="en-US" altLang="en-IT"/>
              <a:t>items that have to be sold together with sausage in order to make it highly likely that mustard also be sold.</a:t>
            </a:r>
          </a:p>
          <a:p>
            <a:pPr marL="285750" indent="-285750"/>
            <a:r>
              <a:rPr lang="en-US" altLang="en-IT"/>
              <a:t>4)	These rules may help shelf planning by determining if the sale of items on shelf A is related to the sale of items on shelf B.</a:t>
            </a:r>
          </a:p>
          <a:p>
            <a:pPr marL="285750" indent="-285750"/>
            <a:r>
              <a:rPr lang="en-US" altLang="en-IT"/>
              <a:t>5)	This is similar to (1)</a:t>
            </a:r>
            <a:endParaRPr lang="en-AU" altLang="en-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18E63169-A931-E197-B2C1-84FDCABE2E11}"/>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DBB144DB-A2F1-5DE5-F91A-ED83AD4F95BB}"/>
              </a:ext>
            </a:extLst>
          </p:cNvPr>
          <p:cNvSpPr>
            <a:spLocks noGrp="1" noChangeArrowheads="1"/>
          </p:cNvSpPr>
          <p:nvPr>
            <p:ph type="sldNum" sz="quarter" idx="5"/>
          </p:nvPr>
        </p:nvSpPr>
        <p:spPr>
          <a:ln/>
        </p:spPr>
        <p:txBody>
          <a:bodyPr/>
          <a:lstStyle/>
          <a:p>
            <a:fld id="{3033A042-877D-5F4F-BC5C-0AA02295C2B0}" type="slidenum">
              <a:rPr lang="en-AU" altLang="en-IT"/>
              <a:pPr/>
              <a:t>36</a:t>
            </a:fld>
            <a:endParaRPr lang="en-AU" altLang="en-IT"/>
          </a:p>
        </p:txBody>
      </p:sp>
      <p:sp>
        <p:nvSpPr>
          <p:cNvPr id="63490" name="Rectangle 2">
            <a:extLst>
              <a:ext uri="{FF2B5EF4-FFF2-40B4-BE49-F238E27FC236}">
                <a16:creationId xmlns:a16="http://schemas.microsoft.com/office/drawing/2014/main" id="{291F7CB6-AF8E-E788-958B-C9D0B19FA0A7}"/>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8BFFFB98-62B2-5C0D-6EDC-34583A3962EB}"/>
              </a:ext>
            </a:extLst>
          </p:cNvPr>
          <p:cNvSpPr>
            <a:spLocks noGrp="1" noChangeArrowheads="1"/>
          </p:cNvSpPr>
          <p:nvPr>
            <p:ph type="body" idx="1"/>
          </p:nvPr>
        </p:nvSpPr>
        <p:spPr/>
        <p:txBody>
          <a:bodyPr/>
          <a:lstStyle/>
          <a:p>
            <a:pPr>
              <a:lnSpc>
                <a:spcPct val="85000"/>
              </a:lnSpc>
              <a:spcBef>
                <a:spcPts val="538"/>
              </a:spcBef>
            </a:pPr>
            <a:r>
              <a:rPr lang="en-GB" altLang="en-IT">
                <a:solidFill>
                  <a:srgbClr val="006600"/>
                </a:solidFill>
              </a:rPr>
              <a:t>Example</a:t>
            </a:r>
            <a:r>
              <a:rPr lang="en-GB" altLang="en-IT"/>
              <a:t>: </a:t>
            </a:r>
          </a:p>
          <a:p>
            <a:pPr>
              <a:lnSpc>
                <a:spcPct val="85000"/>
              </a:lnSpc>
              <a:spcBef>
                <a:spcPts val="538"/>
              </a:spcBef>
            </a:pPr>
            <a:r>
              <a:rPr lang="en-GB" altLang="en-IT"/>
              <a:t>{cucumber, onion, tomato} is </a:t>
            </a:r>
            <a:r>
              <a:rPr lang="en-GB" altLang="en-IT">
                <a:solidFill>
                  <a:srgbClr val="000099"/>
                </a:solidFill>
              </a:rPr>
              <a:t>large</a:t>
            </a:r>
            <a:r>
              <a:rPr lang="en-GB" altLang="en-IT"/>
              <a:t>. Support = 3/8</a:t>
            </a:r>
          </a:p>
          <a:p>
            <a:pPr>
              <a:lnSpc>
                <a:spcPct val="85000"/>
              </a:lnSpc>
              <a:spcBef>
                <a:spcPts val="538"/>
              </a:spcBef>
            </a:pPr>
            <a:r>
              <a:rPr lang="en-GB" altLang="en-IT"/>
              <a:t>All of its subsets are large as well:</a:t>
            </a:r>
          </a:p>
          <a:p>
            <a:pPr>
              <a:lnSpc>
                <a:spcPct val="85000"/>
              </a:lnSpc>
              <a:spcBef>
                <a:spcPts val="538"/>
              </a:spcBef>
            </a:pPr>
            <a:r>
              <a:rPr lang="en-GB" altLang="en-IT"/>
              <a:t>{cucumber, tomato}, support = 5/8</a:t>
            </a:r>
          </a:p>
          <a:p>
            <a:pPr>
              <a:lnSpc>
                <a:spcPct val="85000"/>
              </a:lnSpc>
              <a:spcBef>
                <a:spcPts val="538"/>
              </a:spcBef>
            </a:pPr>
            <a:r>
              <a:rPr lang="en-GB" altLang="en-IT"/>
              <a:t>{onion, tomato}, support = 4/8</a:t>
            </a:r>
          </a:p>
          <a:p>
            <a:pPr>
              <a:lnSpc>
                <a:spcPct val="85000"/>
              </a:lnSpc>
              <a:spcBef>
                <a:spcPts val="538"/>
              </a:spcBef>
            </a:pPr>
            <a:r>
              <a:rPr lang="en-GB" altLang="en-IT"/>
              <a:t>...</a:t>
            </a:r>
          </a:p>
          <a:p>
            <a:pPr>
              <a:lnSpc>
                <a:spcPct val="85000"/>
              </a:lnSpc>
              <a:spcBef>
                <a:spcPts val="538"/>
              </a:spcBef>
            </a:pPr>
            <a:r>
              <a:rPr lang="en-GB" altLang="en-IT"/>
              <a:t>-----------------------</a:t>
            </a:r>
            <a:r>
              <a:rPr lang="en-GB" altLang="en-IT">
                <a:solidFill>
                  <a:srgbClr val="006600"/>
                </a:solidFill>
              </a:rPr>
              <a:t>Assume minsup = 20%</a:t>
            </a:r>
            <a:endParaRPr lang="en-GB" altLang="en-IT"/>
          </a:p>
          <a:p>
            <a:pPr>
              <a:lnSpc>
                <a:spcPct val="85000"/>
              </a:lnSpc>
              <a:spcBef>
                <a:spcPts val="538"/>
              </a:spcBef>
            </a:pPr>
            <a:r>
              <a:rPr lang="en-GB" altLang="en-IT"/>
              <a:t>Start with {tomato, onion},</a:t>
            </a:r>
          </a:p>
          <a:p>
            <a:pPr>
              <a:lnSpc>
                <a:spcPct val="85000"/>
              </a:lnSpc>
              <a:spcBef>
                <a:spcPts val="538"/>
              </a:spcBef>
            </a:pPr>
            <a:r>
              <a:rPr lang="en-GB" altLang="en-IT"/>
              <a:t>try {tomato, onion, cucumber}, s =3/8,  </a:t>
            </a:r>
            <a:r>
              <a:rPr lang="en-GB" altLang="en-IT">
                <a:solidFill>
                  <a:srgbClr val="006600"/>
                </a:solidFill>
              </a:rPr>
              <a:t>generate</a:t>
            </a:r>
            <a:endParaRPr lang="en-GB" altLang="en-IT"/>
          </a:p>
          <a:p>
            <a:pPr>
              <a:lnSpc>
                <a:spcPct val="85000"/>
              </a:lnSpc>
              <a:spcBef>
                <a:spcPts val="538"/>
              </a:spcBef>
            </a:pPr>
            <a:r>
              <a:rPr lang="en-GB" altLang="en-IT"/>
              <a:t>try {tomato, onion, parsley}, s=2/8 , </a:t>
            </a:r>
            <a:r>
              <a:rPr lang="en-GB" altLang="en-IT">
                <a:solidFill>
                  <a:srgbClr val="006600"/>
                </a:solidFill>
              </a:rPr>
              <a:t>generate</a:t>
            </a:r>
            <a:endParaRPr lang="en-GB" altLang="en-IT"/>
          </a:p>
          <a:p>
            <a:pPr>
              <a:lnSpc>
                <a:spcPct val="85000"/>
              </a:lnSpc>
              <a:spcBef>
                <a:spcPts val="538"/>
              </a:spcBef>
            </a:pPr>
            <a:r>
              <a:rPr lang="en-GB" altLang="en-IT"/>
              <a:t>try {{tomato, onion, olives}, s=1/8, </a:t>
            </a:r>
            <a:r>
              <a:rPr lang="en-GB" altLang="en-IT">
                <a:solidFill>
                  <a:srgbClr val="800000"/>
                </a:solidFill>
              </a:rPr>
              <a:t>don’t generate</a:t>
            </a:r>
            <a:r>
              <a:rPr lang="en-GB" altLang="en-IT"/>
              <a:t>.</a:t>
            </a:r>
            <a:endParaRPr lang="en-AU" altLang="en-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310BA6D7-EA50-17B3-7A03-7A8A9789CE22}"/>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FE46E4D3-0CAF-ACBE-B752-F979276D6F2D}"/>
              </a:ext>
            </a:extLst>
          </p:cNvPr>
          <p:cNvSpPr>
            <a:spLocks noGrp="1" noChangeArrowheads="1"/>
          </p:cNvSpPr>
          <p:nvPr>
            <p:ph type="sldNum" sz="quarter" idx="5"/>
          </p:nvPr>
        </p:nvSpPr>
        <p:spPr>
          <a:ln/>
        </p:spPr>
        <p:txBody>
          <a:bodyPr/>
          <a:lstStyle/>
          <a:p>
            <a:fld id="{2505A5EA-979B-3C45-BE40-9C0A8A974D87}" type="slidenum">
              <a:rPr lang="en-AU" altLang="en-IT"/>
              <a:pPr/>
              <a:t>37</a:t>
            </a:fld>
            <a:endParaRPr lang="en-AU" altLang="en-IT"/>
          </a:p>
        </p:txBody>
      </p:sp>
      <p:sp>
        <p:nvSpPr>
          <p:cNvPr id="64514" name="Rectangle 2">
            <a:extLst>
              <a:ext uri="{FF2B5EF4-FFF2-40B4-BE49-F238E27FC236}">
                <a16:creationId xmlns:a16="http://schemas.microsoft.com/office/drawing/2014/main" id="{E1203E7E-EB07-22A5-0B8E-6BA9FFA381B8}"/>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AD7E167A-1B8B-022D-56F6-AD981E35BD4D}"/>
              </a:ext>
            </a:extLst>
          </p:cNvPr>
          <p:cNvSpPr>
            <a:spLocks noGrp="1" noChangeArrowheads="1"/>
          </p:cNvSpPr>
          <p:nvPr>
            <p:ph type="body" idx="1"/>
          </p:nvPr>
        </p:nvSpPr>
        <p:spPr>
          <a:xfrm>
            <a:off x="914400" y="4538663"/>
            <a:ext cx="5181600" cy="4300537"/>
          </a:xfrm>
        </p:spPr>
        <p:txBody>
          <a:bodyPr/>
          <a:lstStyle/>
          <a:p>
            <a:pPr>
              <a:lnSpc>
                <a:spcPct val="85000"/>
              </a:lnSpc>
              <a:spcBef>
                <a:spcPts val="538"/>
              </a:spcBef>
            </a:pPr>
            <a:r>
              <a:rPr lang="en-GB" altLang="en-IT">
                <a:solidFill>
                  <a:srgbClr val="006600"/>
                </a:solidFill>
              </a:rPr>
              <a:t>Assume s=30%</a:t>
            </a:r>
            <a:endParaRPr lang="en-GB" altLang="en-IT"/>
          </a:p>
          <a:p>
            <a:pPr>
              <a:lnSpc>
                <a:spcPct val="85000"/>
              </a:lnSpc>
              <a:spcBef>
                <a:spcPts val="538"/>
              </a:spcBef>
            </a:pPr>
            <a:r>
              <a:rPr lang="en-GB" altLang="en-IT"/>
              <a:t>bread: 4/8=0.5  &gt; 0.3, include</a:t>
            </a:r>
          </a:p>
          <a:p>
            <a:pPr>
              <a:lnSpc>
                <a:spcPct val="85000"/>
              </a:lnSpc>
              <a:spcBef>
                <a:spcPts val="538"/>
              </a:spcBef>
            </a:pPr>
            <a:r>
              <a:rPr lang="en-GB" altLang="en-IT"/>
              <a:t>cucumber: 5/8=0.625 &gt; 0.3, include</a:t>
            </a:r>
          </a:p>
          <a:p>
            <a:pPr>
              <a:lnSpc>
                <a:spcPct val="85000"/>
              </a:lnSpc>
              <a:spcBef>
                <a:spcPts val="538"/>
              </a:spcBef>
            </a:pPr>
            <a:r>
              <a:rPr lang="en-GB" altLang="en-IT"/>
              <a:t>onion: 4/8 =0.5  &gt; 0.3, include</a:t>
            </a:r>
          </a:p>
          <a:p>
            <a:pPr>
              <a:lnSpc>
                <a:spcPct val="85000"/>
              </a:lnSpc>
              <a:spcBef>
                <a:spcPts val="538"/>
              </a:spcBef>
            </a:pPr>
            <a:r>
              <a:rPr lang="en-GB" altLang="en-IT"/>
              <a:t>parsley: 3/8=0.375 &gt; 0.3, include</a:t>
            </a:r>
          </a:p>
          <a:p>
            <a:pPr>
              <a:lnSpc>
                <a:spcPct val="85000"/>
              </a:lnSpc>
              <a:spcBef>
                <a:spcPts val="538"/>
              </a:spcBef>
            </a:pPr>
            <a:r>
              <a:rPr lang="en-GB" altLang="en-IT"/>
              <a:t>tomato: 6/8=0.75 &gt; 0.3, include</a:t>
            </a:r>
          </a:p>
          <a:p>
            <a:pPr>
              <a:lnSpc>
                <a:spcPct val="85000"/>
              </a:lnSpc>
              <a:spcBef>
                <a:spcPts val="538"/>
              </a:spcBef>
            </a:pPr>
            <a:r>
              <a:rPr lang="en-GB" altLang="en-IT"/>
              <a:t>butter: 1/8=0.125 &lt; 0.3, exclude</a:t>
            </a:r>
          </a:p>
          <a:p>
            <a:pPr>
              <a:lnSpc>
                <a:spcPct val="85000"/>
              </a:lnSpc>
              <a:spcBef>
                <a:spcPts val="538"/>
              </a:spcBef>
            </a:pPr>
            <a:r>
              <a:rPr lang="en-GB" altLang="en-IT"/>
              <a:t>cheese: 2/8=0.25 &lt; 0.3, exclude</a:t>
            </a:r>
          </a:p>
          <a:p>
            <a:pPr>
              <a:lnSpc>
                <a:spcPct val="85000"/>
              </a:lnSpc>
              <a:spcBef>
                <a:spcPts val="538"/>
              </a:spcBef>
            </a:pPr>
            <a:r>
              <a:rPr lang="en-GB" altLang="en-IT"/>
              <a:t>olives: 1/8=0.125 &lt; 0.3, exclude</a:t>
            </a:r>
          </a:p>
          <a:p>
            <a:pPr>
              <a:lnSpc>
                <a:spcPct val="85000"/>
              </a:lnSpc>
              <a:spcBef>
                <a:spcPts val="538"/>
              </a:spcBef>
            </a:pPr>
            <a:r>
              <a:rPr lang="en-GB" altLang="en-IT"/>
              <a:t>salt: 2/8=0.25 &lt; 0.3, exclude</a:t>
            </a:r>
          </a:p>
          <a:p>
            <a:pPr>
              <a:lnSpc>
                <a:spcPct val="85000"/>
              </a:lnSpc>
              <a:spcBef>
                <a:spcPts val="275"/>
              </a:spcBef>
            </a:pPr>
            <a:endParaRPr lang="en-GB" altLang="en-IT"/>
          </a:p>
          <a:p>
            <a:pPr>
              <a:lnSpc>
                <a:spcPct val="85000"/>
              </a:lnSpc>
              <a:spcBef>
                <a:spcPts val="650"/>
              </a:spcBef>
            </a:pPr>
            <a:r>
              <a:rPr lang="en-GB" altLang="en-IT" i="1"/>
              <a:t>L</a:t>
            </a:r>
            <a:r>
              <a:rPr lang="en-GB" altLang="en-IT" baseline="-25000"/>
              <a:t>1</a:t>
            </a:r>
            <a:r>
              <a:rPr lang="en-GB" altLang="en-IT"/>
              <a:t> = {{bread}, {cucumber}, {onion}, {parsley}, {tomato}}</a:t>
            </a:r>
          </a:p>
          <a:p>
            <a:pPr>
              <a:lnSpc>
                <a:spcPct val="85000"/>
              </a:lnSpc>
              <a:spcBef>
                <a:spcPts val="538"/>
              </a:spcBef>
            </a:pPr>
            <a:r>
              <a:rPr lang="en-GB" altLang="en-IT"/>
              <a:t>Items are sorted (dictionary sorting)</a:t>
            </a:r>
            <a:endParaRPr lang="en-AU" altLang="en-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C8470710-EABE-5B2F-552A-F91CC93B0CC0}"/>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8B510E60-29DF-23B0-84ED-8717AF4700BB}"/>
              </a:ext>
            </a:extLst>
          </p:cNvPr>
          <p:cNvSpPr>
            <a:spLocks noGrp="1" noChangeArrowheads="1"/>
          </p:cNvSpPr>
          <p:nvPr>
            <p:ph type="sldNum" sz="quarter" idx="5"/>
          </p:nvPr>
        </p:nvSpPr>
        <p:spPr>
          <a:ln/>
        </p:spPr>
        <p:txBody>
          <a:bodyPr/>
          <a:lstStyle/>
          <a:p>
            <a:fld id="{E4039F32-E835-C243-B726-5A64B2CDEB9C}" type="slidenum">
              <a:rPr lang="en-AU" altLang="en-IT"/>
              <a:pPr/>
              <a:t>38</a:t>
            </a:fld>
            <a:endParaRPr lang="en-AU" altLang="en-IT"/>
          </a:p>
        </p:txBody>
      </p:sp>
      <p:sp>
        <p:nvSpPr>
          <p:cNvPr id="65538" name="Rectangle 2">
            <a:extLst>
              <a:ext uri="{FF2B5EF4-FFF2-40B4-BE49-F238E27FC236}">
                <a16:creationId xmlns:a16="http://schemas.microsoft.com/office/drawing/2014/main" id="{CF234ABF-6A4C-D497-5613-90A5E9478589}"/>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793787D3-F721-842A-5F79-EE0E99F15FDD}"/>
              </a:ext>
            </a:extLst>
          </p:cNvPr>
          <p:cNvSpPr>
            <a:spLocks noGrp="1" noChangeArrowheads="1"/>
          </p:cNvSpPr>
          <p:nvPr>
            <p:ph type="body" idx="1"/>
          </p:nvPr>
        </p:nvSpPr>
        <p:spPr/>
        <p:txBody>
          <a:bodyPr/>
          <a:lstStyle/>
          <a:p>
            <a:pPr>
              <a:lnSpc>
                <a:spcPct val="85000"/>
              </a:lnSpc>
              <a:spcBef>
                <a:spcPts val="538"/>
              </a:spcBef>
            </a:pPr>
            <a:r>
              <a:rPr lang="en-GB" altLang="en-IT">
                <a:solidFill>
                  <a:srgbClr val="006600"/>
                </a:solidFill>
              </a:rPr>
              <a:t>For example,</a:t>
            </a:r>
            <a:endParaRPr lang="en-GB" altLang="en-IT"/>
          </a:p>
          <a:p>
            <a:pPr>
              <a:lnSpc>
                <a:spcPct val="85000"/>
              </a:lnSpc>
              <a:spcBef>
                <a:spcPts val="538"/>
              </a:spcBef>
            </a:pPr>
            <a:r>
              <a:rPr lang="en-GB" altLang="en-IT"/>
              <a:t>When </a:t>
            </a:r>
            <a:r>
              <a:rPr lang="en-GB" altLang="en-IT" i="1"/>
              <a:t>k</a:t>
            </a:r>
            <a:r>
              <a:rPr lang="en-GB" altLang="en-IT"/>
              <a:t>=5</a:t>
            </a:r>
          </a:p>
          <a:p>
            <a:pPr>
              <a:lnSpc>
                <a:spcPct val="85000"/>
              </a:lnSpc>
              <a:spcBef>
                <a:spcPts val="538"/>
              </a:spcBef>
            </a:pPr>
            <a:r>
              <a:rPr lang="en-GB" altLang="en-IT" i="1"/>
              <a:t>p</a:t>
            </a:r>
            <a:r>
              <a:rPr lang="en-GB" altLang="en-IT"/>
              <a:t>: {bread, cucumber, onion, tomato}</a:t>
            </a:r>
          </a:p>
          <a:p>
            <a:pPr>
              <a:lnSpc>
                <a:spcPct val="85000"/>
              </a:lnSpc>
              <a:spcBef>
                <a:spcPts val="538"/>
              </a:spcBef>
            </a:pPr>
            <a:r>
              <a:rPr lang="en-GB" altLang="en-IT" i="1"/>
              <a:t>q</a:t>
            </a:r>
            <a:r>
              <a:rPr lang="en-GB" altLang="en-IT"/>
              <a:t>: {bread, cucumber, onion, parsley}</a:t>
            </a:r>
          </a:p>
          <a:p>
            <a:pPr>
              <a:lnSpc>
                <a:spcPct val="85000"/>
              </a:lnSpc>
              <a:spcBef>
                <a:spcPts val="663"/>
              </a:spcBef>
            </a:pPr>
            <a:r>
              <a:rPr lang="en-GB" altLang="en-IT" b="1">
                <a:solidFill>
                  <a:srgbClr val="800000"/>
                </a:solidFill>
              </a:rPr>
              <a:t>Generate</a:t>
            </a:r>
            <a:r>
              <a:rPr lang="en-GB" altLang="en-IT"/>
              <a:t> and put in </a:t>
            </a:r>
            <a:r>
              <a:rPr lang="en-GB" altLang="en-IT" i="1"/>
              <a:t>C</a:t>
            </a:r>
            <a:r>
              <a:rPr lang="en-GB" altLang="en-IT" baseline="-25000"/>
              <a:t>5</a:t>
            </a:r>
            <a:endParaRPr lang="en-GB" altLang="en-IT"/>
          </a:p>
          <a:p>
            <a:pPr>
              <a:lnSpc>
                <a:spcPct val="85000"/>
              </a:lnSpc>
              <a:spcBef>
                <a:spcPts val="538"/>
              </a:spcBef>
            </a:pPr>
            <a:r>
              <a:rPr lang="en-GB" altLang="en-IT"/>
              <a:t>      </a:t>
            </a:r>
            <a:r>
              <a:rPr lang="en-GB" altLang="en-IT" i="1"/>
              <a:t>c</a:t>
            </a:r>
            <a:r>
              <a:rPr lang="en-GB" altLang="en-IT"/>
              <a:t> = {bread, cucumber, onion, parsley, tomato}</a:t>
            </a:r>
          </a:p>
          <a:p>
            <a:pPr>
              <a:lnSpc>
                <a:spcPct val="85000"/>
              </a:lnSpc>
              <a:spcBef>
                <a:spcPts val="550"/>
              </a:spcBef>
            </a:pPr>
            <a:r>
              <a:rPr lang="en-GB" altLang="en-IT" b="1">
                <a:solidFill>
                  <a:srgbClr val="800000"/>
                </a:solidFill>
              </a:rPr>
              <a:t>Pruning</a:t>
            </a:r>
            <a:r>
              <a:rPr lang="en-GB" altLang="en-IT"/>
              <a:t>:</a:t>
            </a:r>
          </a:p>
          <a:p>
            <a:pPr>
              <a:lnSpc>
                <a:spcPct val="85000"/>
              </a:lnSpc>
              <a:spcBef>
                <a:spcPts val="650"/>
              </a:spcBef>
            </a:pPr>
            <a:r>
              <a:rPr lang="en-GB" altLang="en-IT"/>
              <a:t>     Remove </a:t>
            </a:r>
            <a:r>
              <a:rPr lang="en-GB" altLang="en-IT" i="1"/>
              <a:t>c</a:t>
            </a:r>
            <a:r>
              <a:rPr lang="en-GB" altLang="en-IT"/>
              <a:t> from </a:t>
            </a:r>
            <a:r>
              <a:rPr lang="en-GB" altLang="en-IT" i="1"/>
              <a:t>C</a:t>
            </a:r>
            <a:r>
              <a:rPr lang="en-GB" altLang="en-IT" baseline="-25000"/>
              <a:t>5</a:t>
            </a:r>
            <a:r>
              <a:rPr lang="en-GB" altLang="en-IT"/>
              <a:t> if, for example, </a:t>
            </a:r>
          </a:p>
          <a:p>
            <a:pPr>
              <a:lnSpc>
                <a:spcPct val="85000"/>
              </a:lnSpc>
              <a:spcBef>
                <a:spcPts val="650"/>
              </a:spcBef>
            </a:pPr>
            <a:r>
              <a:rPr lang="en-GB" altLang="en-IT"/>
              <a:t>     {bread, onion, tomato, parsley} </a:t>
            </a:r>
            <a:r>
              <a:rPr lang="en-GB" altLang="en-IT">
                <a:sym typeface="Symbol" pitchFamily="2" charset="2"/>
              </a:rPr>
              <a:t></a:t>
            </a:r>
            <a:r>
              <a:rPr lang="en-GB" altLang="en-IT"/>
              <a:t> </a:t>
            </a:r>
            <a:r>
              <a:rPr lang="en-GB" altLang="en-IT" i="1"/>
              <a:t>L</a:t>
            </a:r>
            <a:r>
              <a:rPr lang="en-GB" altLang="en-IT" baseline="-25000"/>
              <a:t>4</a:t>
            </a:r>
            <a:endParaRPr lang="en-AU" altLang="en-IT" baseline="-250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41709463-D4A3-7BC8-1C30-7F8B7168C4CE}"/>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87AB7244-EFC9-1EA4-0080-DA20CCB71505}"/>
              </a:ext>
            </a:extLst>
          </p:cNvPr>
          <p:cNvSpPr>
            <a:spLocks noGrp="1" noChangeArrowheads="1"/>
          </p:cNvSpPr>
          <p:nvPr>
            <p:ph type="sldNum" sz="quarter" idx="5"/>
          </p:nvPr>
        </p:nvSpPr>
        <p:spPr>
          <a:ln/>
        </p:spPr>
        <p:txBody>
          <a:bodyPr/>
          <a:lstStyle/>
          <a:p>
            <a:fld id="{EFAB5860-BCB4-BA43-8B23-52262A69DDB2}" type="slidenum">
              <a:rPr lang="en-AU" altLang="en-IT"/>
              <a:pPr/>
              <a:t>39</a:t>
            </a:fld>
            <a:endParaRPr lang="en-AU" altLang="en-IT"/>
          </a:p>
        </p:txBody>
      </p:sp>
      <p:sp>
        <p:nvSpPr>
          <p:cNvPr id="66562" name="Rectangle 1026">
            <a:extLst>
              <a:ext uri="{FF2B5EF4-FFF2-40B4-BE49-F238E27FC236}">
                <a16:creationId xmlns:a16="http://schemas.microsoft.com/office/drawing/2014/main" id="{3DF43FFE-C871-D6AA-F592-7610A4C7B5DF}"/>
              </a:ext>
            </a:extLst>
          </p:cNvPr>
          <p:cNvSpPr>
            <a:spLocks noGrp="1" noRot="1" noChangeAspect="1" noChangeArrowheads="1" noTextEdit="1"/>
          </p:cNvSpPr>
          <p:nvPr>
            <p:ph type="sldImg"/>
          </p:nvPr>
        </p:nvSpPr>
        <p:spPr>
          <a:ln/>
        </p:spPr>
      </p:sp>
      <p:sp>
        <p:nvSpPr>
          <p:cNvPr id="66563" name="Rectangle 1027">
            <a:extLst>
              <a:ext uri="{FF2B5EF4-FFF2-40B4-BE49-F238E27FC236}">
                <a16:creationId xmlns:a16="http://schemas.microsoft.com/office/drawing/2014/main" id="{8628EAF3-B941-022F-4F5B-6BF39F859B35}"/>
              </a:ext>
            </a:extLst>
          </p:cNvPr>
          <p:cNvSpPr>
            <a:spLocks noGrp="1" noChangeArrowheads="1"/>
          </p:cNvSpPr>
          <p:nvPr>
            <p:ph type="body" idx="1"/>
          </p:nvPr>
        </p:nvSpPr>
        <p:spPr/>
        <p:txBody>
          <a:bodyPr/>
          <a:lstStyle/>
          <a:p>
            <a:pPr marL="571500" indent="-571500">
              <a:lnSpc>
                <a:spcPct val="85000"/>
              </a:lnSpc>
              <a:spcBef>
                <a:spcPts val="650"/>
              </a:spcBef>
            </a:pPr>
            <a:r>
              <a:rPr lang="en-GB" altLang="en-IT" i="1"/>
              <a:t>L</a:t>
            </a:r>
            <a:r>
              <a:rPr lang="en-GB" altLang="en-IT" baseline="-25000"/>
              <a:t>1</a:t>
            </a:r>
            <a:r>
              <a:rPr lang="en-GB" altLang="en-IT"/>
              <a:t> = {{bread}, {cheese}, {cucumber}, {onion}, {parsley}, {salt}, {tomato}}</a:t>
            </a:r>
          </a:p>
          <a:p>
            <a:pPr marL="571500" indent="-571500">
              <a:lnSpc>
                <a:spcPct val="85000"/>
              </a:lnSpc>
              <a:spcBef>
                <a:spcPts val="650"/>
              </a:spcBef>
            </a:pPr>
            <a:r>
              <a:rPr lang="en-GB" altLang="en-IT" i="1"/>
              <a:t>C</a:t>
            </a:r>
            <a:r>
              <a:rPr lang="en-GB" altLang="en-IT" baseline="-25000"/>
              <a:t>2</a:t>
            </a:r>
            <a:r>
              <a:rPr lang="en-GB" altLang="en-IT"/>
              <a:t> = {{bread, cucumber}, {bread, onion}, </a:t>
            </a:r>
            <a:br>
              <a:rPr lang="en-GB" altLang="en-IT"/>
            </a:br>
            <a:r>
              <a:rPr lang="en-GB" altLang="en-IT"/>
              <a:t>{bread, parsley}, {bread, tomato}, </a:t>
            </a:r>
            <a:br>
              <a:rPr lang="en-GB" altLang="en-IT"/>
            </a:br>
            <a:r>
              <a:rPr lang="en-GB" altLang="en-IT"/>
              <a:t>{cucumber, onion}, {cucumber, parsley}, {cucumber, tomato}, {onion, parsley},</a:t>
            </a:r>
            <a:br>
              <a:rPr lang="en-GB" altLang="en-IT"/>
            </a:br>
            <a:r>
              <a:rPr lang="en-GB" altLang="en-IT"/>
              <a:t>{onion, tomato}, {parsley, tomato}}</a:t>
            </a:r>
          </a:p>
          <a:p>
            <a:pPr marL="571500" indent="-571500">
              <a:lnSpc>
                <a:spcPct val="85000"/>
              </a:lnSpc>
              <a:spcBef>
                <a:spcPts val="538"/>
              </a:spcBef>
            </a:pPr>
            <a:r>
              <a:rPr lang="en-GB" altLang="en-IT"/>
              <a:t>       </a:t>
            </a:r>
            <a:r>
              <a:rPr lang="en-GB" altLang="en-IT">
                <a:solidFill>
                  <a:srgbClr val="009900"/>
                </a:solidFill>
              </a:rPr>
              <a:t>10 itemsets</a:t>
            </a:r>
            <a:endParaRPr lang="en-GB" altLang="en-IT"/>
          </a:p>
          <a:p>
            <a:pPr marL="571500" indent="-571500">
              <a:lnSpc>
                <a:spcPct val="85000"/>
              </a:lnSpc>
              <a:spcBef>
                <a:spcPts val="538"/>
              </a:spcBef>
            </a:pPr>
            <a:r>
              <a:rPr lang="en-GB" altLang="en-IT">
                <a:solidFill>
                  <a:srgbClr val="000099"/>
                </a:solidFill>
              </a:rPr>
              <a:t>No pruning.</a:t>
            </a:r>
            <a:endParaRPr lang="en-GB" altLang="en-IT"/>
          </a:p>
          <a:p>
            <a:pPr marL="571500" indent="-571500">
              <a:lnSpc>
                <a:spcPct val="85000"/>
              </a:lnSpc>
              <a:spcBef>
                <a:spcPts val="650"/>
              </a:spcBef>
            </a:pPr>
            <a:r>
              <a:rPr lang="en-GB" altLang="en-IT" i="1"/>
              <a:t>L</a:t>
            </a:r>
            <a:r>
              <a:rPr lang="en-GB" altLang="en-IT" baseline="-25000"/>
              <a:t>2</a:t>
            </a:r>
            <a:r>
              <a:rPr lang="en-GB" altLang="en-IT"/>
              <a:t> = {{cucumber, onion}, {cucumber, parsley}, {cucumber, tomato}, {onion, tomato}, </a:t>
            </a:r>
            <a:br>
              <a:rPr lang="en-GB" altLang="en-IT"/>
            </a:br>
            <a:r>
              <a:rPr lang="en-GB" altLang="en-IT"/>
              <a:t>{parsley, tomato}}</a:t>
            </a:r>
          </a:p>
          <a:p>
            <a:pPr marL="571500" indent="-571500">
              <a:lnSpc>
                <a:spcPct val="85000"/>
              </a:lnSpc>
              <a:spcBef>
                <a:spcPts val="650"/>
              </a:spcBef>
            </a:pPr>
            <a:r>
              <a:rPr lang="en-GB" altLang="en-IT" i="1"/>
              <a:t>L</a:t>
            </a:r>
            <a:r>
              <a:rPr lang="en-GB" altLang="en-IT" baseline="-25000"/>
              <a:t>3</a:t>
            </a:r>
            <a:r>
              <a:rPr lang="en-GB" altLang="en-IT"/>
              <a:t> = {{cucumber, parsley, tomato}}</a:t>
            </a:r>
          </a:p>
          <a:p>
            <a:pPr marL="571500" indent="-571500">
              <a:lnSpc>
                <a:spcPct val="85000"/>
              </a:lnSpc>
              <a:spcBef>
                <a:spcPts val="650"/>
              </a:spcBef>
            </a:pPr>
            <a:r>
              <a:rPr lang="en-GB" altLang="en-IT" i="1"/>
              <a:t>L</a:t>
            </a:r>
            <a:r>
              <a:rPr lang="en-GB" altLang="en-IT"/>
              <a:t> = L</a:t>
            </a:r>
            <a:r>
              <a:rPr lang="en-GB" altLang="en-IT" baseline="-25000"/>
              <a:t>1</a:t>
            </a:r>
            <a:r>
              <a:rPr lang="en-GB" altLang="en-IT"/>
              <a:t> </a:t>
            </a:r>
            <a:r>
              <a:rPr lang="en-GB" altLang="en-IT" sz="2000">
                <a:sym typeface="Symbol" pitchFamily="2" charset="2"/>
              </a:rPr>
              <a:t></a:t>
            </a:r>
            <a:r>
              <a:rPr lang="en-GB" altLang="en-IT"/>
              <a:t>  L</a:t>
            </a:r>
            <a:r>
              <a:rPr lang="en-GB" altLang="en-IT" baseline="-25000"/>
              <a:t>2</a:t>
            </a:r>
            <a:r>
              <a:rPr lang="en-GB" altLang="en-IT"/>
              <a:t> </a:t>
            </a:r>
            <a:r>
              <a:rPr lang="en-GB" altLang="en-IT" sz="2000">
                <a:sym typeface="Symbol" pitchFamily="2" charset="2"/>
              </a:rPr>
              <a:t></a:t>
            </a:r>
            <a:r>
              <a:rPr lang="en-GB" altLang="en-IT"/>
              <a:t> L</a:t>
            </a:r>
            <a:r>
              <a:rPr lang="en-GB" altLang="en-IT" baseline="-25000"/>
              <a:t>3</a:t>
            </a:r>
            <a:endParaRPr lang="en-AU" altLang="en-IT" baseline="-250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48E07F26-16A7-3F5F-3C5D-145332887939}"/>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A444B591-4497-31F9-678B-C1265D495C9E}"/>
              </a:ext>
            </a:extLst>
          </p:cNvPr>
          <p:cNvSpPr>
            <a:spLocks noGrp="1" noChangeArrowheads="1"/>
          </p:cNvSpPr>
          <p:nvPr>
            <p:ph type="sldNum" sz="quarter" idx="5"/>
          </p:nvPr>
        </p:nvSpPr>
        <p:spPr>
          <a:ln/>
        </p:spPr>
        <p:txBody>
          <a:bodyPr/>
          <a:lstStyle/>
          <a:p>
            <a:fld id="{25012435-2199-354F-B8C4-14943F439EEB}" type="slidenum">
              <a:rPr lang="en-AU" altLang="en-IT"/>
              <a:pPr/>
              <a:t>40</a:t>
            </a:fld>
            <a:endParaRPr lang="en-AU" altLang="en-IT"/>
          </a:p>
        </p:txBody>
      </p:sp>
      <p:sp>
        <p:nvSpPr>
          <p:cNvPr id="67586" name="Rectangle 2050">
            <a:extLst>
              <a:ext uri="{FF2B5EF4-FFF2-40B4-BE49-F238E27FC236}">
                <a16:creationId xmlns:a16="http://schemas.microsoft.com/office/drawing/2014/main" id="{A053709F-605C-D4A9-CABE-9E0C39C454C1}"/>
              </a:ext>
            </a:extLst>
          </p:cNvPr>
          <p:cNvSpPr>
            <a:spLocks noGrp="1" noRot="1" noChangeAspect="1" noChangeArrowheads="1" noTextEdit="1"/>
          </p:cNvSpPr>
          <p:nvPr>
            <p:ph type="sldImg"/>
          </p:nvPr>
        </p:nvSpPr>
        <p:spPr>
          <a:ln/>
        </p:spPr>
      </p:sp>
      <p:sp>
        <p:nvSpPr>
          <p:cNvPr id="67587" name="Rectangle 2051">
            <a:extLst>
              <a:ext uri="{FF2B5EF4-FFF2-40B4-BE49-F238E27FC236}">
                <a16:creationId xmlns:a16="http://schemas.microsoft.com/office/drawing/2014/main" id="{9BA3D131-FBE8-90F1-4E36-BFC4F8CDF009}"/>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CF747FB1-C891-0A00-156D-C5AE1343A870}"/>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837AC826-C67A-76D7-123B-CF1131A77FB0}"/>
              </a:ext>
            </a:extLst>
          </p:cNvPr>
          <p:cNvSpPr>
            <a:spLocks noGrp="1" noChangeArrowheads="1"/>
          </p:cNvSpPr>
          <p:nvPr>
            <p:ph type="sldNum" sz="quarter" idx="5"/>
          </p:nvPr>
        </p:nvSpPr>
        <p:spPr>
          <a:ln/>
        </p:spPr>
        <p:txBody>
          <a:bodyPr/>
          <a:lstStyle/>
          <a:p>
            <a:fld id="{6797FDE2-AFA3-9940-9CD7-EE2F4458CD51}" type="slidenum">
              <a:rPr lang="en-AU" altLang="en-IT"/>
              <a:pPr/>
              <a:t>41</a:t>
            </a:fld>
            <a:endParaRPr lang="en-AU" altLang="en-IT"/>
          </a:p>
        </p:txBody>
      </p:sp>
      <p:sp>
        <p:nvSpPr>
          <p:cNvPr id="68610" name="Rectangle 2050">
            <a:extLst>
              <a:ext uri="{FF2B5EF4-FFF2-40B4-BE49-F238E27FC236}">
                <a16:creationId xmlns:a16="http://schemas.microsoft.com/office/drawing/2014/main" id="{FB0AB551-4C8D-961D-1CBB-43F0623E5249}"/>
              </a:ext>
            </a:extLst>
          </p:cNvPr>
          <p:cNvSpPr>
            <a:spLocks noGrp="1" noRot="1" noChangeAspect="1" noChangeArrowheads="1" noTextEdit="1"/>
          </p:cNvSpPr>
          <p:nvPr>
            <p:ph type="sldImg"/>
          </p:nvPr>
        </p:nvSpPr>
        <p:spPr>
          <a:ln/>
        </p:spPr>
      </p:sp>
      <p:sp>
        <p:nvSpPr>
          <p:cNvPr id="68611" name="Rectangle 2051">
            <a:extLst>
              <a:ext uri="{FF2B5EF4-FFF2-40B4-BE49-F238E27FC236}">
                <a16:creationId xmlns:a16="http://schemas.microsoft.com/office/drawing/2014/main" id="{8B4688AD-5442-8C7A-6F91-48F41E1A3EA0}"/>
              </a:ext>
            </a:extLst>
          </p:cNvPr>
          <p:cNvSpPr>
            <a:spLocks noGrp="1" noChangeArrowheads="1"/>
          </p:cNvSpPr>
          <p:nvPr>
            <p:ph type="body" idx="1"/>
          </p:nvPr>
        </p:nvSpPr>
        <p:spPr/>
        <p:txBody>
          <a:bodyPr/>
          <a:lstStyle/>
          <a:p>
            <a:r>
              <a:rPr lang="en-AU" altLang="en-IT">
                <a:solidFill>
                  <a:srgbClr val="009900"/>
                </a:solidFill>
              </a:rPr>
              <a:t>The hash-tree constructed for </a:t>
            </a:r>
            <a:r>
              <a:rPr lang="en-AU" altLang="en-IT" i="1">
                <a:solidFill>
                  <a:srgbClr val="009900"/>
                </a:solidFill>
              </a:rPr>
              <a:t>C</a:t>
            </a:r>
            <a:r>
              <a:rPr lang="en-AU" altLang="en-IT" baseline="-25000">
                <a:solidFill>
                  <a:srgbClr val="009900"/>
                </a:solidFill>
              </a:rPr>
              <a:t>2</a:t>
            </a:r>
            <a:r>
              <a:rPr lang="en-AU" altLang="en-IT">
                <a:solidFill>
                  <a:srgbClr val="009900"/>
                </a:solidFill>
              </a:rPr>
              <a:t>:</a:t>
            </a:r>
            <a:endParaRPr lang="en-AU" altLang="en-IT"/>
          </a:p>
          <a:p>
            <a:endParaRPr lang="en-AU" altLang="en-IT"/>
          </a:p>
          <a:p>
            <a:pPr>
              <a:spcBef>
                <a:spcPct val="0"/>
              </a:spcBef>
            </a:pPr>
            <a:r>
              <a:rPr lang="en-AU" altLang="en-IT">
                <a:latin typeface="Courier New" panose="02070309020205020404" pitchFamily="49" charset="0"/>
              </a:rPr>
              <a:t>                  root</a:t>
            </a:r>
          </a:p>
          <a:p>
            <a:pPr>
              <a:spcBef>
                <a:spcPct val="0"/>
              </a:spcBef>
            </a:pPr>
            <a:r>
              <a:rPr lang="en-AU" altLang="en-IT">
                <a:latin typeface="Courier New" panose="02070309020205020404" pitchFamily="49" charset="0"/>
              </a:rPr>
              <a:t>  _________________|________________</a:t>
            </a:r>
          </a:p>
          <a:p>
            <a:pPr>
              <a:spcBef>
                <a:spcPct val="0"/>
              </a:spcBef>
            </a:pPr>
            <a:r>
              <a:rPr lang="en-AU" altLang="en-IT">
                <a:latin typeface="Courier New" panose="02070309020205020404" pitchFamily="49" charset="0"/>
              </a:rPr>
              <a:t> |          |            |          |</a:t>
            </a:r>
          </a:p>
          <a:p>
            <a:pPr>
              <a:spcBef>
                <a:spcPct val="0"/>
              </a:spcBef>
            </a:pPr>
            <a:r>
              <a:rPr lang="en-AU" altLang="en-IT">
                <a:latin typeface="Courier New" panose="02070309020205020404" pitchFamily="49" charset="0"/>
              </a:rPr>
              <a:t>bread     cucumber     onion    parsley</a:t>
            </a:r>
          </a:p>
          <a:p>
            <a:pPr>
              <a:spcBef>
                <a:spcPct val="0"/>
              </a:spcBef>
            </a:pPr>
            <a:r>
              <a:rPr lang="en-AU" altLang="en-IT">
                <a:latin typeface="Courier New" panose="02070309020205020404" pitchFamily="49" charset="0"/>
              </a:rPr>
              <a:t> |          |            |          |</a:t>
            </a:r>
          </a:p>
          <a:p>
            <a:pPr>
              <a:spcBef>
                <a:spcPct val="0"/>
              </a:spcBef>
            </a:pPr>
            <a:r>
              <a:rPr lang="en-AU" altLang="en-IT" sz="1100"/>
              <a:t>{bread, cucumber}  {cucumber, onion}     {onion, parsley}   {parsley, tomato}</a:t>
            </a:r>
          </a:p>
          <a:p>
            <a:pPr>
              <a:spcBef>
                <a:spcPct val="0"/>
              </a:spcBef>
            </a:pPr>
            <a:r>
              <a:rPr lang="en-AU" altLang="en-IT" sz="1100"/>
              <a:t>{bread, onion}         {cucumber, parsley}  {onion, tomato}</a:t>
            </a:r>
          </a:p>
          <a:p>
            <a:pPr>
              <a:spcBef>
                <a:spcPct val="0"/>
              </a:spcBef>
            </a:pPr>
            <a:r>
              <a:rPr lang="en-AU" altLang="en-IT" sz="1100"/>
              <a:t>{bread, parsley}      {cucumber, tomato}</a:t>
            </a:r>
          </a:p>
          <a:p>
            <a:pPr>
              <a:spcBef>
                <a:spcPct val="0"/>
              </a:spcBef>
            </a:pPr>
            <a:r>
              <a:rPr lang="en-AU" altLang="en-IT" sz="1100"/>
              <a:t>{bread, tomato}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D591161D-A3BB-9FC6-38F3-97EBA382CC7E}"/>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4BF82207-6034-0100-5E4B-74CA7B11981C}"/>
              </a:ext>
            </a:extLst>
          </p:cNvPr>
          <p:cNvSpPr>
            <a:spLocks noGrp="1" noChangeArrowheads="1"/>
          </p:cNvSpPr>
          <p:nvPr>
            <p:ph type="sldNum" sz="quarter" idx="5"/>
          </p:nvPr>
        </p:nvSpPr>
        <p:spPr>
          <a:ln/>
        </p:spPr>
        <p:txBody>
          <a:bodyPr/>
          <a:lstStyle/>
          <a:p>
            <a:fld id="{E56C44C0-DAC2-5D43-9AC2-46953D1137DF}" type="slidenum">
              <a:rPr lang="en-AU" altLang="en-IT"/>
              <a:pPr/>
              <a:t>42</a:t>
            </a:fld>
            <a:endParaRPr lang="en-AU" altLang="en-IT"/>
          </a:p>
        </p:txBody>
      </p:sp>
      <p:sp>
        <p:nvSpPr>
          <p:cNvPr id="69634" name="Rectangle 2050">
            <a:extLst>
              <a:ext uri="{FF2B5EF4-FFF2-40B4-BE49-F238E27FC236}">
                <a16:creationId xmlns:a16="http://schemas.microsoft.com/office/drawing/2014/main" id="{4BD99ABF-8D37-DE78-998C-CECBBD2978AD}"/>
              </a:ext>
            </a:extLst>
          </p:cNvPr>
          <p:cNvSpPr>
            <a:spLocks noGrp="1" noRot="1" noChangeAspect="1" noChangeArrowheads="1" noTextEdit="1"/>
          </p:cNvSpPr>
          <p:nvPr>
            <p:ph type="sldImg"/>
          </p:nvPr>
        </p:nvSpPr>
        <p:spPr>
          <a:ln/>
        </p:spPr>
      </p:sp>
      <p:sp>
        <p:nvSpPr>
          <p:cNvPr id="69635" name="Rectangle 2051">
            <a:extLst>
              <a:ext uri="{FF2B5EF4-FFF2-40B4-BE49-F238E27FC236}">
                <a16:creationId xmlns:a16="http://schemas.microsoft.com/office/drawing/2014/main" id="{71030BFF-FFC1-2CC3-88E6-3DDE013EEE55}"/>
              </a:ext>
            </a:extLst>
          </p:cNvPr>
          <p:cNvSpPr>
            <a:spLocks noGrp="1" noChangeArrowheads="1"/>
          </p:cNvSpPr>
          <p:nvPr>
            <p:ph type="body" idx="1"/>
          </p:nvPr>
        </p:nvSpPr>
        <p:spPr/>
        <p:txBody>
          <a:bodyPr/>
          <a:lstStyle/>
          <a:p>
            <a:r>
              <a:rPr lang="en-AU" altLang="en-IT"/>
              <a:t>For any itemset </a:t>
            </a:r>
            <a:r>
              <a:rPr lang="en-AU" altLang="en-IT" i="1">
                <a:solidFill>
                  <a:srgbClr val="000099"/>
                </a:solidFill>
              </a:rPr>
              <a:t>c</a:t>
            </a:r>
            <a:r>
              <a:rPr lang="en-AU" altLang="en-IT"/>
              <a:t> contained in transaction </a:t>
            </a:r>
            <a:r>
              <a:rPr lang="en-AU" altLang="en-IT" i="1">
                <a:solidFill>
                  <a:srgbClr val="000099"/>
                </a:solidFill>
              </a:rPr>
              <a:t>t</a:t>
            </a:r>
            <a:r>
              <a:rPr lang="en-AU" altLang="en-IT"/>
              <a:t>,</a:t>
            </a:r>
          </a:p>
          <a:p>
            <a:r>
              <a:rPr lang="en-AU" altLang="en-IT"/>
              <a:t>the first item of </a:t>
            </a:r>
            <a:r>
              <a:rPr lang="en-AU" altLang="en-IT" i="1">
                <a:solidFill>
                  <a:srgbClr val="000099"/>
                </a:solidFill>
              </a:rPr>
              <a:t>c</a:t>
            </a:r>
            <a:r>
              <a:rPr lang="en-AU" altLang="en-IT"/>
              <a:t> must be in </a:t>
            </a:r>
            <a:r>
              <a:rPr lang="en-AU" altLang="en-IT" i="1">
                <a:solidFill>
                  <a:srgbClr val="000099"/>
                </a:solidFill>
              </a:rPr>
              <a:t>t</a:t>
            </a:r>
            <a:r>
              <a:rPr lang="en-AU" altLang="en-IT"/>
              <a:t>.</a:t>
            </a:r>
          </a:p>
          <a:p>
            <a:r>
              <a:rPr lang="en-AU" altLang="en-IT"/>
              <a:t>At root, by hashing on every item in </a:t>
            </a:r>
            <a:r>
              <a:rPr lang="en-AU" altLang="en-IT" i="1">
                <a:solidFill>
                  <a:srgbClr val="000099"/>
                </a:solidFill>
              </a:rPr>
              <a:t>t</a:t>
            </a:r>
            <a:r>
              <a:rPr lang="en-AU" altLang="en-IT"/>
              <a:t>, we ensure that we only ignore itemsets that start with an item not in </a:t>
            </a:r>
            <a:r>
              <a:rPr lang="en-AU" altLang="en-IT" i="1">
                <a:solidFill>
                  <a:srgbClr val="000099"/>
                </a:solidFill>
              </a:rPr>
              <a:t>t</a:t>
            </a:r>
            <a:r>
              <a:rPr lang="en-AU" altLang="en-IT"/>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0DCDD203-892D-085A-63BB-352E0B1CA8EB}"/>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9FD76BA4-E066-EE5F-B675-EF4F9A93FF0E}"/>
              </a:ext>
            </a:extLst>
          </p:cNvPr>
          <p:cNvSpPr>
            <a:spLocks noGrp="1" noChangeArrowheads="1"/>
          </p:cNvSpPr>
          <p:nvPr>
            <p:ph type="sldNum" sz="quarter" idx="5"/>
          </p:nvPr>
        </p:nvSpPr>
        <p:spPr>
          <a:ln/>
        </p:spPr>
        <p:txBody>
          <a:bodyPr/>
          <a:lstStyle/>
          <a:p>
            <a:fld id="{38816D32-EB81-174C-924D-A2EB8F4DB73C}" type="slidenum">
              <a:rPr lang="en-AU" altLang="en-IT"/>
              <a:pPr/>
              <a:t>43</a:t>
            </a:fld>
            <a:endParaRPr lang="en-AU" altLang="en-IT"/>
          </a:p>
        </p:txBody>
      </p:sp>
      <p:sp>
        <p:nvSpPr>
          <p:cNvPr id="70658" name="Rectangle 2050">
            <a:extLst>
              <a:ext uri="{FF2B5EF4-FFF2-40B4-BE49-F238E27FC236}">
                <a16:creationId xmlns:a16="http://schemas.microsoft.com/office/drawing/2014/main" id="{FBC9A285-941C-1DDE-4B5E-73453B33D9D5}"/>
              </a:ext>
            </a:extLst>
          </p:cNvPr>
          <p:cNvSpPr>
            <a:spLocks noGrp="1" noRot="1" noChangeAspect="1" noChangeArrowheads="1" noTextEdit="1"/>
          </p:cNvSpPr>
          <p:nvPr>
            <p:ph type="sldImg"/>
          </p:nvPr>
        </p:nvSpPr>
        <p:spPr>
          <a:ln/>
        </p:spPr>
      </p:sp>
      <p:sp>
        <p:nvSpPr>
          <p:cNvPr id="70659" name="Rectangle 2051">
            <a:extLst>
              <a:ext uri="{FF2B5EF4-FFF2-40B4-BE49-F238E27FC236}">
                <a16:creationId xmlns:a16="http://schemas.microsoft.com/office/drawing/2014/main" id="{A7199AC6-DFC7-B886-3341-04CBFC8B15F5}"/>
              </a:ext>
            </a:extLst>
          </p:cNvPr>
          <p:cNvSpPr>
            <a:spLocks noGrp="1" noChangeArrowheads="1"/>
          </p:cNvSpPr>
          <p:nvPr>
            <p:ph type="body" idx="1"/>
          </p:nvPr>
        </p:nvSpPr>
        <p:spPr/>
        <p:txBody>
          <a:bodyPr/>
          <a:lstStyle/>
          <a:p>
            <a:pPr>
              <a:tabLst>
                <a:tab pos="476250" algn="l"/>
              </a:tabLst>
            </a:pPr>
            <a:r>
              <a:rPr lang="en-AU" altLang="en-IT"/>
              <a:t>For </a:t>
            </a:r>
            <a:r>
              <a:rPr lang="en-AU" altLang="en-IT" i="1"/>
              <a:t>k</a:t>
            </a:r>
            <a:r>
              <a:rPr lang="en-AU" altLang="en-IT"/>
              <a:t>=1,</a:t>
            </a:r>
          </a:p>
          <a:p>
            <a:pPr>
              <a:tabLst>
                <a:tab pos="476250" algn="l"/>
              </a:tabLst>
            </a:pPr>
            <a:r>
              <a:rPr lang="en-AU" altLang="en-IT" i="1" u="sng">
                <a:solidFill>
                  <a:srgbClr val="000099"/>
                </a:solidFill>
              </a:rPr>
              <a:t>	C</a:t>
            </a:r>
            <a:r>
              <a:rPr lang="en-AU" altLang="en-IT" baseline="-25000">
                <a:solidFill>
                  <a:srgbClr val="000099"/>
                </a:solidFill>
              </a:rPr>
              <a:t>1 </a:t>
            </a:r>
            <a:r>
              <a:rPr lang="en-AU" altLang="en-IT">
                <a:solidFill>
                  <a:srgbClr val="000099"/>
                </a:solidFill>
              </a:rPr>
              <a:t>= </a:t>
            </a:r>
            <a:r>
              <a:rPr lang="en-GB" altLang="en-IT" i="1">
                <a:latin typeface="Lucida Console" panose="020B0609040504020204" pitchFamily="49" charset="0"/>
              </a:rPr>
              <a:t>D</a:t>
            </a:r>
            <a:r>
              <a:rPr lang="en-GB" altLang="en-IT"/>
              <a:t>, except each item </a:t>
            </a:r>
            <a:r>
              <a:rPr lang="en-GB" altLang="en-IT" i="1"/>
              <a:t>i</a:t>
            </a:r>
            <a:r>
              <a:rPr lang="en-GB" altLang="en-IT"/>
              <a:t> is replaced by {</a:t>
            </a:r>
            <a:r>
              <a:rPr lang="en-GB" altLang="en-IT" i="1"/>
              <a:t>i</a:t>
            </a:r>
            <a:r>
              <a:rPr lang="en-GB" altLang="en-IT"/>
              <a:t>}.</a:t>
            </a:r>
          </a:p>
          <a:p>
            <a:pPr>
              <a:tabLst>
                <a:tab pos="476250" algn="l"/>
              </a:tabLst>
            </a:pPr>
            <a:endParaRPr lang="en-GB" altLang="en-IT"/>
          </a:p>
          <a:p>
            <a:pPr>
              <a:tabLst>
                <a:tab pos="476250" algn="l"/>
              </a:tabLst>
            </a:pPr>
            <a:r>
              <a:rPr lang="en-GB" altLang="en-IT"/>
              <a:t>	If a transaction does not contain any candidate </a:t>
            </a:r>
            <a:r>
              <a:rPr lang="en-GB" altLang="en-IT" i="1"/>
              <a:t>k</a:t>
            </a:r>
            <a:r>
              <a:rPr lang="en-GB" altLang="en-IT"/>
              <a:t>-itemset, then </a:t>
            </a:r>
            <a:r>
              <a:rPr lang="en-AU" altLang="en-IT" i="1" u="sng">
                <a:solidFill>
                  <a:srgbClr val="000099"/>
                </a:solidFill>
              </a:rPr>
              <a:t>C</a:t>
            </a:r>
            <a:r>
              <a:rPr lang="en-AU" altLang="en-IT" baseline="-25000">
                <a:solidFill>
                  <a:srgbClr val="000099"/>
                </a:solidFill>
              </a:rPr>
              <a:t>k</a:t>
            </a:r>
            <a:r>
              <a:rPr lang="en-GB" altLang="en-IT"/>
              <a:t> will not have an entry for this transaction.</a:t>
            </a:r>
          </a:p>
          <a:p>
            <a:pPr>
              <a:tabLst>
                <a:tab pos="476250" algn="l"/>
              </a:tabLst>
            </a:pPr>
            <a:r>
              <a:rPr lang="en-GB" altLang="en-IT"/>
              <a:t>	Therefore, the number of entries in </a:t>
            </a:r>
            <a:r>
              <a:rPr lang="en-AU" altLang="en-IT" i="1" u="sng">
                <a:solidFill>
                  <a:srgbClr val="000099"/>
                </a:solidFill>
              </a:rPr>
              <a:t>C</a:t>
            </a:r>
            <a:r>
              <a:rPr lang="en-AU" altLang="en-IT" baseline="-25000">
                <a:solidFill>
                  <a:srgbClr val="000099"/>
                </a:solidFill>
              </a:rPr>
              <a:t>k</a:t>
            </a:r>
            <a:r>
              <a:rPr lang="en-GB" altLang="en-IT"/>
              <a:t> may be smaller than the number of transactions in the database.</a:t>
            </a:r>
          </a:p>
          <a:p>
            <a:pPr>
              <a:tabLst>
                <a:tab pos="476250" algn="l"/>
              </a:tabLst>
            </a:pPr>
            <a:r>
              <a:rPr lang="en-GB" altLang="en-IT"/>
              <a:t>	For large values of </a:t>
            </a:r>
            <a:r>
              <a:rPr lang="en-GB" altLang="en-IT" i="1"/>
              <a:t>k</a:t>
            </a:r>
            <a:r>
              <a:rPr lang="en-GB" altLang="en-IT"/>
              <a:t>, each entry may be smaller than the corresponding transaction, because few transactions may be contained in the transaction.</a:t>
            </a:r>
            <a:endParaRPr lang="en-AU" altLang="en-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E3D99139-FC26-A88D-B14F-CB56B951A740}"/>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A4E5A75C-0C95-D6F7-B5CB-C1943FE6A931}"/>
              </a:ext>
            </a:extLst>
          </p:cNvPr>
          <p:cNvSpPr>
            <a:spLocks noGrp="1" noChangeArrowheads="1"/>
          </p:cNvSpPr>
          <p:nvPr>
            <p:ph type="sldNum" sz="quarter" idx="5"/>
          </p:nvPr>
        </p:nvSpPr>
        <p:spPr>
          <a:ln/>
        </p:spPr>
        <p:txBody>
          <a:bodyPr/>
          <a:lstStyle/>
          <a:p>
            <a:fld id="{8AEC5581-3A78-684B-99C0-6E7B4E40298B}" type="slidenum">
              <a:rPr lang="en-AU" altLang="en-IT"/>
              <a:pPr/>
              <a:t>44</a:t>
            </a:fld>
            <a:endParaRPr lang="en-AU" altLang="en-IT"/>
          </a:p>
        </p:txBody>
      </p:sp>
      <p:sp>
        <p:nvSpPr>
          <p:cNvPr id="54274" name="Rectangle 2">
            <a:extLst>
              <a:ext uri="{FF2B5EF4-FFF2-40B4-BE49-F238E27FC236}">
                <a16:creationId xmlns:a16="http://schemas.microsoft.com/office/drawing/2014/main" id="{B345AF72-2E99-DE7C-F845-7D04C43BF54D}"/>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C9B916E-3A54-35B0-83CD-ABAAF8137E72}"/>
              </a:ext>
            </a:extLst>
          </p:cNvPr>
          <p:cNvSpPr>
            <a:spLocks noGrp="1" noChangeArrowheads="1"/>
          </p:cNvSpPr>
          <p:nvPr>
            <p:ph type="body" idx="1"/>
          </p:nvPr>
        </p:nvSpPr>
        <p:spPr>
          <a:xfrm>
            <a:off x="533400" y="4538663"/>
            <a:ext cx="6019800" cy="4681537"/>
          </a:xfrm>
        </p:spPr>
        <p:txBody>
          <a:bodyPr/>
          <a:lstStyle/>
          <a:p>
            <a:r>
              <a:rPr lang="en-AU" altLang="en-IT">
                <a:solidFill>
                  <a:srgbClr val="009900"/>
                </a:solidFill>
              </a:rPr>
              <a:t>Example: </a:t>
            </a:r>
            <a:r>
              <a:rPr lang="en-AU" altLang="en-IT">
                <a:solidFill>
                  <a:srgbClr val="000099"/>
                </a:solidFill>
              </a:rPr>
              <a:t>minsup = 2 transactions, </a:t>
            </a:r>
            <a:r>
              <a:rPr lang="en-AU" altLang="en-IT" i="1">
                <a:solidFill>
                  <a:srgbClr val="000099"/>
                </a:solidFill>
              </a:rPr>
              <a:t>s</a:t>
            </a:r>
            <a:r>
              <a:rPr lang="en-AU" altLang="en-IT">
                <a:solidFill>
                  <a:srgbClr val="000099"/>
                </a:solidFill>
              </a:rPr>
              <a:t>=50</a:t>
            </a:r>
          </a:p>
          <a:p>
            <a:pPr>
              <a:spcBef>
                <a:spcPct val="0"/>
              </a:spcBef>
            </a:pPr>
            <a:r>
              <a:rPr lang="en-AU" altLang="en-IT" sz="1200" b="1" i="1">
                <a:latin typeface="Courier New" panose="02070309020205020404" pitchFamily="49" charset="0"/>
              </a:rPr>
              <a:t>D</a:t>
            </a:r>
            <a:r>
              <a:rPr lang="en-AU" altLang="en-IT" sz="1200">
                <a:latin typeface="Courier New" panose="02070309020205020404" pitchFamily="49" charset="0"/>
              </a:rPr>
              <a:t>: </a:t>
            </a:r>
            <a:r>
              <a:rPr lang="en-AU" altLang="en-IT" sz="1200" b="1" u="sng">
                <a:latin typeface="Courier New" panose="02070309020205020404" pitchFamily="49" charset="0"/>
              </a:rPr>
              <a:t>TID</a:t>
            </a:r>
            <a:r>
              <a:rPr lang="en-AU" altLang="en-IT" sz="1200" b="1">
                <a:latin typeface="Courier New" panose="02070309020205020404" pitchFamily="49" charset="0"/>
              </a:rPr>
              <a:t> </a:t>
            </a:r>
            <a:r>
              <a:rPr lang="en-AU" altLang="en-IT" sz="1200" b="1" u="sng">
                <a:latin typeface="Courier New" panose="02070309020205020404" pitchFamily="49" charset="0"/>
              </a:rPr>
              <a:t>Items</a:t>
            </a:r>
            <a:r>
              <a:rPr lang="en-AU" altLang="en-IT" sz="1200" b="1">
                <a:latin typeface="Courier New" panose="02070309020205020404" pitchFamily="49" charset="0"/>
              </a:rPr>
              <a:t>    </a:t>
            </a:r>
            <a:r>
              <a:rPr lang="en-AU" altLang="en-IT" sz="1200" b="1" i="1">
                <a:latin typeface="Courier New" panose="02070309020205020404" pitchFamily="49" charset="0"/>
              </a:rPr>
              <a:t>L</a:t>
            </a:r>
            <a:r>
              <a:rPr lang="en-AU" altLang="en-IT" sz="1200" b="1" baseline="-25000">
                <a:latin typeface="Courier New" panose="02070309020205020404" pitchFamily="49" charset="0"/>
              </a:rPr>
              <a:t>1</a:t>
            </a:r>
            <a:r>
              <a:rPr lang="en-AU" altLang="en-IT" sz="1200" b="1">
                <a:latin typeface="Courier New" panose="02070309020205020404" pitchFamily="49" charset="0"/>
              </a:rPr>
              <a:t>: </a:t>
            </a:r>
            <a:r>
              <a:rPr lang="en-AU" altLang="en-IT" sz="1200" b="1" u="sng">
                <a:latin typeface="Courier New" panose="02070309020205020404" pitchFamily="49" charset="0"/>
              </a:rPr>
              <a:t>Itemset</a:t>
            </a:r>
            <a:r>
              <a:rPr lang="en-AU" altLang="en-IT" sz="1200" b="1">
                <a:latin typeface="Courier New" panose="02070309020205020404" pitchFamily="49" charset="0"/>
              </a:rPr>
              <a:t> </a:t>
            </a:r>
            <a:r>
              <a:rPr lang="en-AU" altLang="en-IT" sz="1200" b="1" u="sng">
                <a:latin typeface="Courier New" panose="02070309020205020404" pitchFamily="49" charset="0"/>
              </a:rPr>
              <a:t>Sup</a:t>
            </a:r>
            <a:r>
              <a:rPr lang="en-AU" altLang="en-IT" sz="1200" b="1">
                <a:latin typeface="Courier New" panose="02070309020205020404" pitchFamily="49" charset="0"/>
              </a:rPr>
              <a:t>   </a:t>
            </a:r>
            <a:r>
              <a:rPr lang="en-AU" altLang="en-IT" sz="1200" b="1" i="1" u="sng">
                <a:latin typeface="Courier New" panose="02070309020205020404" pitchFamily="49" charset="0"/>
              </a:rPr>
              <a:t>C</a:t>
            </a:r>
            <a:r>
              <a:rPr lang="en-AU" altLang="en-IT" sz="1200" baseline="-25000">
                <a:latin typeface="Courier New" panose="02070309020205020404" pitchFamily="49" charset="0"/>
              </a:rPr>
              <a:t>1</a:t>
            </a:r>
            <a:r>
              <a:rPr lang="en-AU" altLang="en-IT" sz="1200">
                <a:latin typeface="Courier New" panose="02070309020205020404" pitchFamily="49" charset="0"/>
              </a:rPr>
              <a:t>: </a:t>
            </a:r>
            <a:r>
              <a:rPr lang="en-AU" altLang="en-IT" sz="1200" b="1" u="sng">
                <a:latin typeface="Courier New" panose="02070309020205020404" pitchFamily="49" charset="0"/>
              </a:rPr>
              <a:t>TID</a:t>
            </a:r>
            <a:r>
              <a:rPr lang="en-AU" altLang="en-IT" sz="1200">
                <a:latin typeface="Courier New" panose="02070309020205020404" pitchFamily="49" charset="0"/>
              </a:rPr>
              <a:t> </a:t>
            </a:r>
            <a:r>
              <a:rPr lang="en-AU" altLang="en-IT" sz="1200" b="1" u="sng">
                <a:latin typeface="Courier New" panose="02070309020205020404" pitchFamily="49" charset="0"/>
              </a:rPr>
              <a:t>Set-of-Itemsets</a:t>
            </a:r>
            <a:endParaRPr lang="en-AU" altLang="en-IT" sz="1200">
              <a:latin typeface="Courier New" panose="02070309020205020404" pitchFamily="49" charset="0"/>
            </a:endParaRPr>
          </a:p>
          <a:p>
            <a:pPr>
              <a:spcBef>
                <a:spcPct val="0"/>
              </a:spcBef>
            </a:pPr>
            <a:r>
              <a:rPr lang="en-AU" altLang="en-IT" sz="1200">
                <a:latin typeface="Courier New" panose="02070309020205020404" pitchFamily="49" charset="0"/>
              </a:rPr>
              <a:t>   100 1 3 4          {1}   2        100 {{1},{3},{4}}</a:t>
            </a:r>
          </a:p>
          <a:p>
            <a:pPr>
              <a:spcBef>
                <a:spcPct val="0"/>
              </a:spcBef>
            </a:pPr>
            <a:r>
              <a:rPr lang="en-AU" altLang="en-IT" sz="1200">
                <a:latin typeface="Courier New" panose="02070309020205020404" pitchFamily="49" charset="0"/>
              </a:rPr>
              <a:t>   200 2 3 5          {2}   3        200 {{2},{3},{5}}</a:t>
            </a:r>
          </a:p>
          <a:p>
            <a:pPr>
              <a:spcBef>
                <a:spcPct val="0"/>
              </a:spcBef>
            </a:pPr>
            <a:r>
              <a:rPr lang="en-AU" altLang="en-IT" sz="1200">
                <a:latin typeface="Courier New" panose="02070309020205020404" pitchFamily="49" charset="0"/>
              </a:rPr>
              <a:t>   300 1 2 3 5        {3}   3        300 {{1},{2},{3},{5}}</a:t>
            </a:r>
          </a:p>
          <a:p>
            <a:pPr>
              <a:spcBef>
                <a:spcPct val="0"/>
              </a:spcBef>
            </a:pPr>
            <a:r>
              <a:rPr lang="en-AU" altLang="en-IT" sz="1200">
                <a:latin typeface="Courier New" panose="02070309020205020404" pitchFamily="49" charset="0"/>
              </a:rPr>
              <a:t>   400 2 5            {5}   3        400 {{2},{5}}</a:t>
            </a:r>
          </a:p>
          <a:p>
            <a:pPr>
              <a:spcBef>
                <a:spcPct val="0"/>
              </a:spcBef>
            </a:pPr>
            <a:r>
              <a:rPr lang="en-AU" altLang="en-IT" sz="1100" i="1">
                <a:solidFill>
                  <a:srgbClr val="800000"/>
                </a:solidFill>
                <a:latin typeface="Courier New" panose="02070309020205020404" pitchFamily="49" charset="0"/>
              </a:rPr>
              <a:t>k=2; C</a:t>
            </a:r>
            <a:r>
              <a:rPr lang="en-AU" altLang="en-IT" sz="1100" baseline="-25000">
                <a:solidFill>
                  <a:srgbClr val="800000"/>
                </a:solidFill>
                <a:latin typeface="Courier New" panose="02070309020205020404" pitchFamily="49" charset="0"/>
              </a:rPr>
              <a:t>2</a:t>
            </a:r>
            <a:r>
              <a:rPr lang="en-AU" altLang="en-IT" sz="1100">
                <a:solidFill>
                  <a:srgbClr val="800000"/>
                </a:solidFill>
                <a:latin typeface="Courier New" panose="02070309020205020404" pitchFamily="49" charset="0"/>
              </a:rPr>
              <a:t>=apriori-gen(</a:t>
            </a:r>
            <a:r>
              <a:rPr lang="en-AU" altLang="en-IT" sz="1100" i="1">
                <a:solidFill>
                  <a:srgbClr val="800000"/>
                </a:solidFill>
                <a:latin typeface="Courier New" panose="02070309020205020404" pitchFamily="49" charset="0"/>
              </a:rPr>
              <a:t>L</a:t>
            </a:r>
            <a:r>
              <a:rPr lang="en-AU" altLang="en-IT" sz="1100" baseline="-25000">
                <a:solidFill>
                  <a:srgbClr val="800000"/>
                </a:solidFill>
                <a:latin typeface="Courier New" panose="02070309020205020404" pitchFamily="49" charset="0"/>
              </a:rPr>
              <a:t>1</a:t>
            </a:r>
            <a:r>
              <a:rPr lang="en-AU" altLang="en-IT" sz="1100">
                <a:solidFill>
                  <a:srgbClr val="800000"/>
                </a:solidFill>
                <a:latin typeface="Courier New" panose="02070309020205020404" pitchFamily="49" charset="0"/>
              </a:rPr>
              <a:t>), </a:t>
            </a:r>
            <a:endParaRPr lang="en-AU" altLang="en-IT" sz="1100">
              <a:latin typeface="Courier New" panose="02070309020205020404" pitchFamily="49" charset="0"/>
            </a:endParaRPr>
          </a:p>
          <a:p>
            <a:pPr>
              <a:spcBef>
                <a:spcPct val="0"/>
              </a:spcBef>
            </a:pPr>
            <a:r>
              <a:rPr lang="en-AU" altLang="en-IT" sz="1100" b="1" i="1">
                <a:latin typeface="Courier New" panose="02070309020205020404" pitchFamily="49" charset="0"/>
              </a:rPr>
              <a:t>C</a:t>
            </a:r>
            <a:r>
              <a:rPr lang="en-AU" altLang="en-IT" sz="1100" b="1" baseline="-25000">
                <a:latin typeface="Courier New" panose="02070309020205020404" pitchFamily="49" charset="0"/>
              </a:rPr>
              <a:t>2</a:t>
            </a:r>
            <a:r>
              <a:rPr lang="en-AU" altLang="en-IT" sz="1100" b="1">
                <a:latin typeface="Courier New" panose="02070309020205020404" pitchFamily="49" charset="0"/>
              </a:rPr>
              <a:t>: </a:t>
            </a:r>
            <a:r>
              <a:rPr lang="en-AU" altLang="en-IT" sz="1100">
                <a:latin typeface="Courier New" panose="02070309020205020404" pitchFamily="49" charset="0"/>
              </a:rPr>
              <a:t>{{1,2},{1,3},{1,5},{2,3},{2,5},{3,5}}</a:t>
            </a:r>
          </a:p>
          <a:p>
            <a:pPr>
              <a:spcBef>
                <a:spcPct val="0"/>
              </a:spcBef>
            </a:pPr>
            <a:r>
              <a:rPr lang="en-AU" altLang="en-IT" sz="1100" i="1" u="sng">
                <a:solidFill>
                  <a:srgbClr val="800000"/>
                </a:solidFill>
                <a:latin typeface="Courier New" panose="02070309020205020404" pitchFamily="49" charset="0"/>
              </a:rPr>
              <a:t>C</a:t>
            </a:r>
            <a:r>
              <a:rPr lang="en-AU" altLang="en-IT" sz="1100" baseline="-25000">
                <a:solidFill>
                  <a:srgbClr val="800000"/>
                </a:solidFill>
                <a:latin typeface="Courier New" panose="02070309020205020404" pitchFamily="49" charset="0"/>
              </a:rPr>
              <a:t>2</a:t>
            </a:r>
            <a:r>
              <a:rPr lang="en-AU" altLang="en-IT" sz="1100">
                <a:solidFill>
                  <a:srgbClr val="800000"/>
                </a:solidFill>
                <a:latin typeface="Courier New" panose="02070309020205020404" pitchFamily="49" charset="0"/>
              </a:rPr>
              <a:t>={}</a:t>
            </a:r>
            <a:endParaRPr lang="en-AU" altLang="en-IT" sz="1100">
              <a:latin typeface="Courier New" panose="02070309020205020404" pitchFamily="49" charset="0"/>
            </a:endParaRPr>
          </a:p>
          <a:p>
            <a:pPr>
              <a:spcBef>
                <a:spcPct val="0"/>
              </a:spcBef>
            </a:pPr>
            <a:r>
              <a:rPr lang="en-AU" altLang="en-IT" sz="1100">
                <a:latin typeface="Courier New" panose="02070309020205020404" pitchFamily="49" charset="0"/>
              </a:rPr>
              <a:t>For </a:t>
            </a:r>
            <a:r>
              <a:rPr lang="en-AU" altLang="en-IT" sz="1100" i="1">
                <a:latin typeface="Courier New" panose="02070309020205020404" pitchFamily="49" charset="0"/>
              </a:rPr>
              <a:t>t</a:t>
            </a:r>
            <a:r>
              <a:rPr lang="en-AU" altLang="en-IT" sz="1100">
                <a:latin typeface="Courier New" panose="02070309020205020404" pitchFamily="49" charset="0"/>
              </a:rPr>
              <a:t>=1; </a:t>
            </a:r>
            <a:r>
              <a:rPr lang="en-AU" altLang="en-IT" sz="1100" i="1">
                <a:latin typeface="Courier New" panose="02070309020205020404" pitchFamily="49" charset="0"/>
              </a:rPr>
              <a:t>t</a:t>
            </a:r>
            <a:r>
              <a:rPr lang="en-AU" altLang="en-IT" sz="1100">
                <a:latin typeface="Courier New" panose="02070309020205020404" pitchFamily="49" charset="0"/>
              </a:rPr>
              <a:t>.TID=100; </a:t>
            </a:r>
            <a:r>
              <a:rPr lang="en-AU" altLang="en-IT" sz="1100" i="1">
                <a:latin typeface="Courier New" panose="02070309020205020404" pitchFamily="49" charset="0"/>
              </a:rPr>
              <a:t>t</a:t>
            </a:r>
            <a:r>
              <a:rPr lang="en-AU" altLang="en-IT" sz="1100">
                <a:latin typeface="Courier New" panose="02070309020205020404" pitchFamily="49" charset="0"/>
              </a:rPr>
              <a:t>.set-of-itemsets={{1},{3},{4}}</a:t>
            </a:r>
          </a:p>
          <a:p>
            <a:pPr>
              <a:spcBef>
                <a:spcPct val="0"/>
              </a:spcBef>
            </a:pPr>
            <a:r>
              <a:rPr lang="en-AU" altLang="en-IT" sz="1100" i="1">
                <a:latin typeface="Courier New" panose="02070309020205020404" pitchFamily="49" charset="0"/>
              </a:rPr>
              <a:t>C</a:t>
            </a:r>
            <a:r>
              <a:rPr lang="en-AU" altLang="en-IT" sz="1100">
                <a:latin typeface="Courier New" panose="02070309020205020404" pitchFamily="49" charset="0"/>
              </a:rPr>
              <a:t>’</a:t>
            </a:r>
            <a:r>
              <a:rPr lang="en-AU" altLang="en-IT" sz="1100" baseline="-25000">
                <a:latin typeface="Courier New" panose="02070309020205020404" pitchFamily="49" charset="0"/>
              </a:rPr>
              <a:t>100</a:t>
            </a:r>
            <a:r>
              <a:rPr lang="en-AU" altLang="en-IT" sz="1100">
                <a:latin typeface="Courier New" panose="02070309020205020404" pitchFamily="49" charset="0"/>
              </a:rPr>
              <a:t>={{1,3}}; {1,3}.count=1; </a:t>
            </a:r>
            <a:r>
              <a:rPr lang="en-AU" altLang="en-IT" sz="1100" i="1" u="sng">
                <a:solidFill>
                  <a:srgbClr val="800000"/>
                </a:solidFill>
                <a:latin typeface="Courier New" panose="02070309020205020404" pitchFamily="49" charset="0"/>
              </a:rPr>
              <a:t>C</a:t>
            </a:r>
            <a:r>
              <a:rPr lang="en-AU" altLang="en-IT" sz="1100" baseline="-25000">
                <a:solidFill>
                  <a:srgbClr val="800000"/>
                </a:solidFill>
                <a:latin typeface="Courier New" panose="02070309020205020404" pitchFamily="49" charset="0"/>
              </a:rPr>
              <a:t>2</a:t>
            </a:r>
            <a:r>
              <a:rPr lang="en-AU" altLang="en-IT" sz="1100">
                <a:solidFill>
                  <a:srgbClr val="800000"/>
                </a:solidFill>
                <a:latin typeface="Courier New" panose="02070309020205020404" pitchFamily="49" charset="0"/>
              </a:rPr>
              <a:t>={{100, {{1,3}}}</a:t>
            </a:r>
            <a:r>
              <a:rPr lang="en-AU" altLang="en-IT" sz="1100">
                <a:latin typeface="Courier New" panose="02070309020205020404" pitchFamily="49" charset="0"/>
              </a:rPr>
              <a:t> </a:t>
            </a:r>
          </a:p>
          <a:p>
            <a:pPr>
              <a:spcBef>
                <a:spcPct val="0"/>
              </a:spcBef>
            </a:pPr>
            <a:r>
              <a:rPr lang="en-AU" altLang="en-IT" sz="1100">
                <a:latin typeface="Courier New" panose="02070309020205020404" pitchFamily="49" charset="0"/>
              </a:rPr>
              <a:t>For </a:t>
            </a:r>
            <a:r>
              <a:rPr lang="en-AU" altLang="en-IT" sz="1100" i="1">
                <a:latin typeface="Courier New" panose="02070309020205020404" pitchFamily="49" charset="0"/>
              </a:rPr>
              <a:t>t</a:t>
            </a:r>
            <a:r>
              <a:rPr lang="en-AU" altLang="en-IT" sz="1100">
                <a:latin typeface="Courier New" panose="02070309020205020404" pitchFamily="49" charset="0"/>
              </a:rPr>
              <a:t>=2; </a:t>
            </a:r>
            <a:r>
              <a:rPr lang="en-AU" altLang="en-IT" sz="1100" i="1">
                <a:latin typeface="Courier New" panose="02070309020205020404" pitchFamily="49" charset="0"/>
              </a:rPr>
              <a:t>t</a:t>
            </a:r>
            <a:r>
              <a:rPr lang="en-AU" altLang="en-IT" sz="1100">
                <a:latin typeface="Courier New" panose="02070309020205020404" pitchFamily="49" charset="0"/>
              </a:rPr>
              <a:t>.TID=200; </a:t>
            </a:r>
            <a:r>
              <a:rPr lang="en-AU" altLang="en-IT" sz="1100" i="1">
                <a:latin typeface="Courier New" panose="02070309020205020404" pitchFamily="49" charset="0"/>
              </a:rPr>
              <a:t>t</a:t>
            </a:r>
            <a:r>
              <a:rPr lang="en-AU" altLang="en-IT" sz="1100">
                <a:latin typeface="Courier New" panose="02070309020205020404" pitchFamily="49" charset="0"/>
              </a:rPr>
              <a:t>.set-of-itemsets={{2},{3},{5}}</a:t>
            </a:r>
          </a:p>
          <a:p>
            <a:pPr>
              <a:spcBef>
                <a:spcPct val="0"/>
              </a:spcBef>
            </a:pPr>
            <a:r>
              <a:rPr lang="en-AU" altLang="en-IT" sz="1100" i="1">
                <a:latin typeface="Courier New" panose="02070309020205020404" pitchFamily="49" charset="0"/>
              </a:rPr>
              <a:t>C</a:t>
            </a:r>
            <a:r>
              <a:rPr lang="en-AU" altLang="en-IT" sz="1100">
                <a:latin typeface="Courier New" panose="02070309020205020404" pitchFamily="49" charset="0"/>
              </a:rPr>
              <a:t>’</a:t>
            </a:r>
            <a:r>
              <a:rPr lang="en-AU" altLang="en-IT" sz="1100" baseline="-25000">
                <a:latin typeface="Courier New" panose="02070309020205020404" pitchFamily="49" charset="0"/>
              </a:rPr>
              <a:t>200</a:t>
            </a:r>
            <a:r>
              <a:rPr lang="en-AU" altLang="en-IT" sz="1100">
                <a:latin typeface="Courier New" panose="02070309020205020404" pitchFamily="49" charset="0"/>
              </a:rPr>
              <a:t>={{2,3},{2,5},{3,5}}; </a:t>
            </a:r>
          </a:p>
          <a:p>
            <a:pPr>
              <a:spcBef>
                <a:spcPct val="0"/>
              </a:spcBef>
            </a:pPr>
            <a:r>
              <a:rPr lang="en-AU" altLang="en-IT" sz="1100">
                <a:latin typeface="Courier New" panose="02070309020205020404" pitchFamily="49" charset="0"/>
              </a:rPr>
              <a:t>     {2,3}.count=1, {2,5}.count=1, {3,5}.count=1; </a:t>
            </a:r>
          </a:p>
          <a:p>
            <a:pPr>
              <a:spcBef>
                <a:spcPct val="0"/>
              </a:spcBef>
            </a:pPr>
            <a:r>
              <a:rPr lang="en-AU" altLang="en-IT" sz="1100" i="1" u="sng">
                <a:solidFill>
                  <a:srgbClr val="800000"/>
                </a:solidFill>
                <a:latin typeface="Courier New" panose="02070309020205020404" pitchFamily="49" charset="0"/>
              </a:rPr>
              <a:t>C</a:t>
            </a:r>
            <a:r>
              <a:rPr lang="en-AU" altLang="en-IT" sz="1100" baseline="-25000">
                <a:solidFill>
                  <a:srgbClr val="800000"/>
                </a:solidFill>
                <a:latin typeface="Courier New" panose="02070309020205020404" pitchFamily="49" charset="0"/>
              </a:rPr>
              <a:t>2</a:t>
            </a:r>
            <a:r>
              <a:rPr lang="en-AU" altLang="en-IT" sz="1100">
                <a:solidFill>
                  <a:srgbClr val="800000"/>
                </a:solidFill>
                <a:latin typeface="Courier New" panose="02070309020205020404" pitchFamily="49" charset="0"/>
              </a:rPr>
              <a:t>={{100,{{1,3}}},{200,{{2,3},{2,5},{3,5}}}</a:t>
            </a:r>
            <a:endParaRPr lang="en-AU" altLang="en-IT" sz="1100">
              <a:latin typeface="Courier New" panose="02070309020205020404" pitchFamily="49" charset="0"/>
            </a:endParaRPr>
          </a:p>
          <a:p>
            <a:pPr>
              <a:spcBef>
                <a:spcPct val="0"/>
              </a:spcBef>
            </a:pPr>
            <a:r>
              <a:rPr lang="en-AU" altLang="en-IT" sz="1100">
                <a:latin typeface="Courier New" panose="02070309020205020404" pitchFamily="49" charset="0"/>
              </a:rPr>
              <a:t>For </a:t>
            </a:r>
            <a:r>
              <a:rPr lang="en-AU" altLang="en-IT" sz="1100" i="1">
                <a:latin typeface="Courier New" panose="02070309020205020404" pitchFamily="49" charset="0"/>
              </a:rPr>
              <a:t>t</a:t>
            </a:r>
            <a:r>
              <a:rPr lang="en-AU" altLang="en-IT" sz="1100">
                <a:latin typeface="Courier New" panose="02070309020205020404" pitchFamily="49" charset="0"/>
              </a:rPr>
              <a:t>=3; </a:t>
            </a:r>
            <a:r>
              <a:rPr lang="en-AU" altLang="en-IT" sz="1100" i="1">
                <a:latin typeface="Courier New" panose="02070309020205020404" pitchFamily="49" charset="0"/>
              </a:rPr>
              <a:t>t</a:t>
            </a:r>
            <a:r>
              <a:rPr lang="en-AU" altLang="en-IT" sz="1100">
                <a:latin typeface="Courier New" panose="02070309020205020404" pitchFamily="49" charset="0"/>
              </a:rPr>
              <a:t>.TID=300; </a:t>
            </a:r>
            <a:r>
              <a:rPr lang="en-AU" altLang="en-IT" sz="1100" i="1">
                <a:latin typeface="Courier New" panose="02070309020205020404" pitchFamily="49" charset="0"/>
              </a:rPr>
              <a:t>t</a:t>
            </a:r>
            <a:r>
              <a:rPr lang="en-AU" altLang="en-IT" sz="1100">
                <a:latin typeface="Courier New" panose="02070309020205020404" pitchFamily="49" charset="0"/>
              </a:rPr>
              <a:t>.set-of-itemsets={{1},{2},{3},{5}}</a:t>
            </a:r>
          </a:p>
          <a:p>
            <a:pPr>
              <a:spcBef>
                <a:spcPct val="0"/>
              </a:spcBef>
            </a:pPr>
            <a:r>
              <a:rPr lang="en-AU" altLang="en-IT" sz="1100" i="1">
                <a:latin typeface="Courier New" panose="02070309020205020404" pitchFamily="49" charset="0"/>
              </a:rPr>
              <a:t>C</a:t>
            </a:r>
            <a:r>
              <a:rPr lang="en-AU" altLang="en-IT" sz="1100">
                <a:latin typeface="Courier New" panose="02070309020205020404" pitchFamily="49" charset="0"/>
              </a:rPr>
              <a:t>’</a:t>
            </a:r>
            <a:r>
              <a:rPr lang="en-AU" altLang="en-IT" sz="1100" baseline="-25000">
                <a:latin typeface="Courier New" panose="02070309020205020404" pitchFamily="49" charset="0"/>
              </a:rPr>
              <a:t>300</a:t>
            </a:r>
            <a:r>
              <a:rPr lang="en-AU" altLang="en-IT" sz="1100">
                <a:latin typeface="Courier New" panose="02070309020205020404" pitchFamily="49" charset="0"/>
              </a:rPr>
              <a:t>={{1,2},{1,3},{1,5},{2,3},{2,5},{3,5}}; </a:t>
            </a:r>
          </a:p>
          <a:p>
            <a:pPr>
              <a:spcBef>
                <a:spcPct val="0"/>
              </a:spcBef>
            </a:pPr>
            <a:r>
              <a:rPr lang="en-AU" altLang="en-IT" sz="1100">
                <a:latin typeface="Courier New" panose="02070309020205020404" pitchFamily="49" charset="0"/>
              </a:rPr>
              <a:t>     {1,2}.count=1, {1,3}.count=2, {1,5}.count=1,{1,5}.count=1,</a:t>
            </a:r>
          </a:p>
          <a:p>
            <a:pPr>
              <a:spcBef>
                <a:spcPct val="0"/>
              </a:spcBef>
            </a:pPr>
            <a:r>
              <a:rPr lang="en-AU" altLang="en-IT" sz="1100">
                <a:latin typeface="Courier New" panose="02070309020205020404" pitchFamily="49" charset="0"/>
              </a:rPr>
              <a:t>     {2,3}.count=2, {2,5}.count=2, {3,5}.count=2; </a:t>
            </a:r>
          </a:p>
          <a:p>
            <a:pPr>
              <a:spcBef>
                <a:spcPct val="0"/>
              </a:spcBef>
            </a:pPr>
            <a:r>
              <a:rPr lang="en-AU" altLang="en-IT" sz="1100" i="1" u="sng">
                <a:solidFill>
                  <a:srgbClr val="800000"/>
                </a:solidFill>
                <a:latin typeface="Courier New" panose="02070309020205020404" pitchFamily="49" charset="0"/>
              </a:rPr>
              <a:t>C</a:t>
            </a:r>
            <a:r>
              <a:rPr lang="en-AU" altLang="en-IT" sz="1100" baseline="-25000">
                <a:solidFill>
                  <a:srgbClr val="800000"/>
                </a:solidFill>
                <a:latin typeface="Courier New" panose="02070309020205020404" pitchFamily="49" charset="0"/>
              </a:rPr>
              <a:t>2</a:t>
            </a:r>
            <a:r>
              <a:rPr lang="en-AU" altLang="en-IT" sz="1100">
                <a:solidFill>
                  <a:srgbClr val="800000"/>
                </a:solidFill>
                <a:latin typeface="Courier New" panose="02070309020205020404" pitchFamily="49" charset="0"/>
              </a:rPr>
              <a:t>={{100,{{1,3}}},{200,{{2,3},{2,5},{3,5}},{300,{{2,3},{2,5},{3,5}}}</a:t>
            </a:r>
            <a:endParaRPr lang="en-AU" altLang="en-IT" sz="1100" b="1" u="sng">
              <a:latin typeface="Courier New" panose="02070309020205020404" pitchFamily="49" charset="0"/>
            </a:endParaRPr>
          </a:p>
          <a:p>
            <a:pPr>
              <a:spcBef>
                <a:spcPct val="0"/>
              </a:spcBef>
            </a:pPr>
            <a:r>
              <a:rPr lang="en-AU" altLang="en-IT" sz="1100">
                <a:latin typeface="Courier New" panose="02070309020205020404" pitchFamily="49" charset="0"/>
              </a:rPr>
              <a:t>For </a:t>
            </a:r>
            <a:r>
              <a:rPr lang="en-AU" altLang="en-IT" sz="1100" i="1">
                <a:latin typeface="Courier New" panose="02070309020205020404" pitchFamily="49" charset="0"/>
              </a:rPr>
              <a:t>t</a:t>
            </a:r>
            <a:r>
              <a:rPr lang="en-AU" altLang="en-IT" sz="1100">
                <a:latin typeface="Courier New" panose="02070309020205020404" pitchFamily="49" charset="0"/>
              </a:rPr>
              <a:t>=4; </a:t>
            </a:r>
            <a:r>
              <a:rPr lang="en-AU" altLang="en-IT" sz="1100" i="1">
                <a:latin typeface="Courier New" panose="02070309020205020404" pitchFamily="49" charset="0"/>
              </a:rPr>
              <a:t>t</a:t>
            </a:r>
            <a:r>
              <a:rPr lang="en-AU" altLang="en-IT" sz="1100">
                <a:latin typeface="Courier New" panose="02070309020205020404" pitchFamily="49" charset="0"/>
              </a:rPr>
              <a:t>.TID=400; </a:t>
            </a:r>
            <a:r>
              <a:rPr lang="en-AU" altLang="en-IT" sz="1100" i="1">
                <a:latin typeface="Courier New" panose="02070309020205020404" pitchFamily="49" charset="0"/>
              </a:rPr>
              <a:t>t</a:t>
            </a:r>
            <a:r>
              <a:rPr lang="en-AU" altLang="en-IT" sz="1100">
                <a:latin typeface="Courier New" panose="02070309020205020404" pitchFamily="49" charset="0"/>
              </a:rPr>
              <a:t>.set-of-itemsets={{2},{5}}</a:t>
            </a:r>
          </a:p>
          <a:p>
            <a:pPr>
              <a:spcBef>
                <a:spcPct val="0"/>
              </a:spcBef>
            </a:pPr>
            <a:r>
              <a:rPr lang="en-AU" altLang="en-IT" sz="1100" i="1">
                <a:latin typeface="Courier New" panose="02070309020205020404" pitchFamily="49" charset="0"/>
              </a:rPr>
              <a:t>C</a:t>
            </a:r>
            <a:r>
              <a:rPr lang="en-AU" altLang="en-IT" sz="1100">
                <a:latin typeface="Courier New" panose="02070309020205020404" pitchFamily="49" charset="0"/>
              </a:rPr>
              <a:t>’</a:t>
            </a:r>
            <a:r>
              <a:rPr lang="en-AU" altLang="en-IT" sz="1100" baseline="-25000">
                <a:latin typeface="Courier New" panose="02070309020205020404" pitchFamily="49" charset="0"/>
              </a:rPr>
              <a:t>200</a:t>
            </a:r>
            <a:r>
              <a:rPr lang="en-AU" altLang="en-IT" sz="1100">
                <a:latin typeface="Courier New" panose="02070309020205020404" pitchFamily="49" charset="0"/>
              </a:rPr>
              <a:t>={{2,5}}; </a:t>
            </a:r>
          </a:p>
          <a:p>
            <a:pPr>
              <a:spcBef>
                <a:spcPct val="0"/>
              </a:spcBef>
            </a:pPr>
            <a:r>
              <a:rPr lang="en-AU" altLang="en-IT" sz="1100">
                <a:latin typeface="Courier New" panose="02070309020205020404" pitchFamily="49" charset="0"/>
              </a:rPr>
              <a:t>     {2,5}.count=3; </a:t>
            </a:r>
          </a:p>
          <a:p>
            <a:pPr>
              <a:spcBef>
                <a:spcPct val="0"/>
              </a:spcBef>
            </a:pPr>
            <a:r>
              <a:rPr lang="en-AU" altLang="en-IT" sz="1100" i="1" u="sng">
                <a:solidFill>
                  <a:srgbClr val="800000"/>
                </a:solidFill>
                <a:latin typeface="Courier New" panose="02070309020205020404" pitchFamily="49" charset="0"/>
              </a:rPr>
              <a:t>C</a:t>
            </a:r>
            <a:r>
              <a:rPr lang="en-AU" altLang="en-IT" sz="1100" baseline="-25000">
                <a:solidFill>
                  <a:srgbClr val="800000"/>
                </a:solidFill>
                <a:latin typeface="Courier New" panose="02070309020205020404" pitchFamily="49" charset="0"/>
              </a:rPr>
              <a:t>2</a:t>
            </a:r>
            <a:r>
              <a:rPr lang="en-AU" altLang="en-IT" sz="1100">
                <a:solidFill>
                  <a:srgbClr val="800000"/>
                </a:solidFill>
                <a:latin typeface="Courier New" panose="02070309020205020404" pitchFamily="49" charset="0"/>
              </a:rPr>
              <a:t>={{100,{{1,3}}},{200,{{2,3},{2,5},{3,5}},{300,{{2,3},{2,5},{3,5}}, {400,{{2,5}}}}</a:t>
            </a:r>
            <a:endParaRPr lang="en-AU" altLang="en-IT" sz="1200">
              <a:latin typeface="Courier New" panose="02070309020205020404" pitchFamily="49" charset="0"/>
            </a:endParaRPr>
          </a:p>
          <a:p>
            <a:pPr>
              <a:spcBef>
                <a:spcPct val="0"/>
              </a:spcBef>
            </a:pPr>
            <a:r>
              <a:rPr lang="en-AU" altLang="en-IT" sz="1200" b="1" i="1">
                <a:latin typeface="Courier New" panose="02070309020205020404" pitchFamily="49" charset="0"/>
              </a:rPr>
              <a:t>L</a:t>
            </a:r>
            <a:r>
              <a:rPr lang="en-AU" altLang="en-IT" sz="1200" b="1" baseline="-25000">
                <a:latin typeface="Courier New" panose="02070309020205020404" pitchFamily="49" charset="0"/>
              </a:rPr>
              <a:t>2</a:t>
            </a:r>
            <a:r>
              <a:rPr lang="en-AU" altLang="en-IT" sz="1200" b="1">
                <a:latin typeface="Courier New" panose="02070309020205020404" pitchFamily="49" charset="0"/>
              </a:rPr>
              <a:t>={{1,3}, {2,3}, {2,5}, {3,5}}</a:t>
            </a:r>
            <a:endParaRPr lang="en-AU" altLang="en-IT" sz="1200">
              <a:latin typeface="Courier New" panose="02070309020205020404" pitchFamily="49" charset="0"/>
            </a:endParaRPr>
          </a:p>
          <a:p>
            <a:endParaRPr lang="en-AU" altLang="en-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3E4E1C77-22A0-8BBB-9FCF-9462CC362A79}"/>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2EBCC7BF-D5BA-B76B-F0D0-5A79F736F339}"/>
              </a:ext>
            </a:extLst>
          </p:cNvPr>
          <p:cNvSpPr>
            <a:spLocks noGrp="1" noChangeArrowheads="1"/>
          </p:cNvSpPr>
          <p:nvPr>
            <p:ph type="sldNum" sz="quarter" idx="5"/>
          </p:nvPr>
        </p:nvSpPr>
        <p:spPr>
          <a:ln/>
        </p:spPr>
        <p:txBody>
          <a:bodyPr/>
          <a:lstStyle/>
          <a:p>
            <a:fld id="{07DB5702-30C6-E842-8530-3E6BE903B617}" type="slidenum">
              <a:rPr lang="en-AU" altLang="en-IT"/>
              <a:pPr/>
              <a:t>45</a:t>
            </a:fld>
            <a:endParaRPr lang="en-AU" altLang="en-IT"/>
          </a:p>
        </p:txBody>
      </p:sp>
      <p:sp>
        <p:nvSpPr>
          <p:cNvPr id="53250" name="Rectangle 2">
            <a:extLst>
              <a:ext uri="{FF2B5EF4-FFF2-40B4-BE49-F238E27FC236}">
                <a16:creationId xmlns:a16="http://schemas.microsoft.com/office/drawing/2014/main" id="{1BBA6FAA-D1A6-4310-4643-D163C3DA3622}"/>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558D04C6-D88B-F57C-56E0-EAE94ADDFE58}"/>
              </a:ext>
            </a:extLst>
          </p:cNvPr>
          <p:cNvSpPr>
            <a:spLocks noGrp="1" noChangeArrowheads="1"/>
          </p:cNvSpPr>
          <p:nvPr>
            <p:ph type="body" idx="1"/>
          </p:nvPr>
        </p:nvSpPr>
        <p:spPr>
          <a:xfrm>
            <a:off x="609600" y="4538663"/>
            <a:ext cx="5943600" cy="4300537"/>
          </a:xfrm>
        </p:spPr>
        <p:txBody>
          <a:bodyPr/>
          <a:lstStyle/>
          <a:p>
            <a:pPr>
              <a:spcBef>
                <a:spcPct val="0"/>
              </a:spcBef>
            </a:pPr>
            <a:r>
              <a:rPr lang="en-AU" altLang="en-IT" sz="1100" i="1">
                <a:solidFill>
                  <a:srgbClr val="800000"/>
                </a:solidFill>
                <a:latin typeface="Courier New" panose="02070309020205020404" pitchFamily="49" charset="0"/>
              </a:rPr>
              <a:t>k=3; C</a:t>
            </a:r>
            <a:r>
              <a:rPr lang="en-AU" altLang="en-IT" sz="1100" baseline="-25000">
                <a:solidFill>
                  <a:srgbClr val="800000"/>
                </a:solidFill>
                <a:latin typeface="Courier New" panose="02070309020205020404" pitchFamily="49" charset="0"/>
              </a:rPr>
              <a:t>3</a:t>
            </a:r>
            <a:r>
              <a:rPr lang="en-AU" altLang="en-IT" sz="1100">
                <a:solidFill>
                  <a:srgbClr val="800000"/>
                </a:solidFill>
                <a:latin typeface="Courier New" panose="02070309020205020404" pitchFamily="49" charset="0"/>
              </a:rPr>
              <a:t>=apriori-gen(</a:t>
            </a:r>
            <a:r>
              <a:rPr lang="en-AU" altLang="en-IT" sz="1100" i="1">
                <a:solidFill>
                  <a:srgbClr val="800000"/>
                </a:solidFill>
                <a:latin typeface="Courier New" panose="02070309020205020404" pitchFamily="49" charset="0"/>
              </a:rPr>
              <a:t>L</a:t>
            </a:r>
            <a:r>
              <a:rPr lang="en-AU" altLang="en-IT" sz="1100" baseline="-25000">
                <a:solidFill>
                  <a:srgbClr val="800000"/>
                </a:solidFill>
                <a:latin typeface="Courier New" panose="02070309020205020404" pitchFamily="49" charset="0"/>
              </a:rPr>
              <a:t>2</a:t>
            </a:r>
            <a:r>
              <a:rPr lang="en-AU" altLang="en-IT" sz="1100">
                <a:solidFill>
                  <a:srgbClr val="800000"/>
                </a:solidFill>
                <a:latin typeface="Courier New" panose="02070309020205020404" pitchFamily="49" charset="0"/>
              </a:rPr>
              <a:t>), </a:t>
            </a:r>
          </a:p>
          <a:p>
            <a:pPr>
              <a:spcBef>
                <a:spcPct val="0"/>
              </a:spcBef>
            </a:pPr>
            <a:r>
              <a:rPr lang="en-AU" altLang="en-IT" sz="1100">
                <a:solidFill>
                  <a:srgbClr val="800000"/>
                </a:solidFill>
                <a:latin typeface="Courier New" panose="02070309020205020404" pitchFamily="49" charset="0"/>
              </a:rPr>
              <a:t>  Itemset with the same first item are used: {2,3} and {2,5}</a:t>
            </a:r>
          </a:p>
          <a:p>
            <a:pPr>
              <a:spcBef>
                <a:spcPct val="0"/>
              </a:spcBef>
            </a:pPr>
            <a:r>
              <a:rPr lang="en-AU" altLang="en-IT" sz="1100" b="1" i="1">
                <a:latin typeface="Courier New" panose="02070309020205020404" pitchFamily="49" charset="0"/>
              </a:rPr>
              <a:t>C</a:t>
            </a:r>
            <a:r>
              <a:rPr lang="en-AU" altLang="en-IT" sz="1100" b="1" baseline="-25000">
                <a:latin typeface="Courier New" panose="02070309020205020404" pitchFamily="49" charset="0"/>
              </a:rPr>
              <a:t>3</a:t>
            </a:r>
            <a:r>
              <a:rPr lang="en-AU" altLang="en-IT" sz="1100" b="1">
                <a:latin typeface="Courier New" panose="02070309020205020404" pitchFamily="49" charset="0"/>
              </a:rPr>
              <a:t>: </a:t>
            </a:r>
            <a:r>
              <a:rPr lang="en-AU" altLang="en-IT" sz="1100">
                <a:latin typeface="Courier New" panose="02070309020205020404" pitchFamily="49" charset="0"/>
              </a:rPr>
              <a:t>{{2,3,5}}</a:t>
            </a:r>
          </a:p>
          <a:p>
            <a:pPr>
              <a:spcBef>
                <a:spcPct val="0"/>
              </a:spcBef>
            </a:pPr>
            <a:r>
              <a:rPr lang="en-AU" altLang="en-IT" sz="1100" i="1" u="sng">
                <a:solidFill>
                  <a:srgbClr val="800000"/>
                </a:solidFill>
                <a:latin typeface="Courier New" panose="02070309020205020404" pitchFamily="49" charset="0"/>
              </a:rPr>
              <a:t>C</a:t>
            </a:r>
            <a:r>
              <a:rPr lang="en-AU" altLang="en-IT" sz="1100" baseline="-25000">
                <a:solidFill>
                  <a:srgbClr val="800000"/>
                </a:solidFill>
                <a:latin typeface="Courier New" panose="02070309020205020404" pitchFamily="49" charset="0"/>
              </a:rPr>
              <a:t>3</a:t>
            </a:r>
            <a:r>
              <a:rPr lang="en-AU" altLang="en-IT" sz="1100">
                <a:solidFill>
                  <a:srgbClr val="800000"/>
                </a:solidFill>
                <a:latin typeface="Courier New" panose="02070309020205020404" pitchFamily="49" charset="0"/>
              </a:rPr>
              <a:t>={}</a:t>
            </a:r>
          </a:p>
          <a:p>
            <a:pPr>
              <a:spcBef>
                <a:spcPct val="0"/>
              </a:spcBef>
            </a:pPr>
            <a:endParaRPr lang="en-AU" altLang="en-IT" sz="1100">
              <a:solidFill>
                <a:srgbClr val="800000"/>
              </a:solidFill>
              <a:latin typeface="Courier New" panose="02070309020205020404" pitchFamily="49" charset="0"/>
            </a:endParaRPr>
          </a:p>
          <a:p>
            <a:pPr>
              <a:spcBef>
                <a:spcPct val="0"/>
              </a:spcBef>
            </a:pPr>
            <a:r>
              <a:rPr lang="en-AU" altLang="en-IT" sz="1100">
                <a:latin typeface="Courier New" panose="02070309020205020404" pitchFamily="49" charset="0"/>
              </a:rPr>
              <a:t>For </a:t>
            </a:r>
            <a:r>
              <a:rPr lang="en-AU" altLang="en-IT" sz="1100" i="1">
                <a:latin typeface="Courier New" panose="02070309020205020404" pitchFamily="49" charset="0"/>
              </a:rPr>
              <a:t>t</a:t>
            </a:r>
            <a:r>
              <a:rPr lang="en-AU" altLang="en-IT" sz="1100">
                <a:latin typeface="Courier New" panose="02070309020205020404" pitchFamily="49" charset="0"/>
              </a:rPr>
              <a:t>=1; </a:t>
            </a:r>
            <a:r>
              <a:rPr lang="en-AU" altLang="en-IT" sz="1100" i="1">
                <a:latin typeface="Courier New" panose="02070309020205020404" pitchFamily="49" charset="0"/>
              </a:rPr>
              <a:t>t</a:t>
            </a:r>
            <a:r>
              <a:rPr lang="en-AU" altLang="en-IT" sz="1100">
                <a:latin typeface="Courier New" panose="02070309020205020404" pitchFamily="49" charset="0"/>
              </a:rPr>
              <a:t>.TID=100; </a:t>
            </a:r>
            <a:r>
              <a:rPr lang="en-AU" altLang="en-IT" sz="1100" i="1">
                <a:latin typeface="Courier New" panose="02070309020205020404" pitchFamily="49" charset="0"/>
              </a:rPr>
              <a:t>t</a:t>
            </a:r>
            <a:r>
              <a:rPr lang="en-AU" altLang="en-IT" sz="1100">
                <a:latin typeface="Courier New" panose="02070309020205020404" pitchFamily="49" charset="0"/>
              </a:rPr>
              <a:t>.set-of-itemsets={{1,3}}</a:t>
            </a:r>
          </a:p>
          <a:p>
            <a:pPr>
              <a:spcBef>
                <a:spcPct val="0"/>
              </a:spcBef>
            </a:pPr>
            <a:r>
              <a:rPr lang="en-AU" altLang="en-IT" sz="1100" i="1">
                <a:latin typeface="Courier New" panose="02070309020205020404" pitchFamily="49" charset="0"/>
              </a:rPr>
              <a:t>C</a:t>
            </a:r>
            <a:r>
              <a:rPr lang="en-AU" altLang="en-IT" sz="1100">
                <a:latin typeface="Courier New" panose="02070309020205020404" pitchFamily="49" charset="0"/>
              </a:rPr>
              <a:t>’</a:t>
            </a:r>
            <a:r>
              <a:rPr lang="en-AU" altLang="en-IT" sz="1100" baseline="-25000">
                <a:latin typeface="Courier New" panose="02070309020205020404" pitchFamily="49" charset="0"/>
              </a:rPr>
              <a:t>100</a:t>
            </a:r>
            <a:r>
              <a:rPr lang="en-AU" altLang="en-IT" sz="1100">
                <a:latin typeface="Courier New" panose="02070309020205020404" pitchFamily="49" charset="0"/>
              </a:rPr>
              <a:t>={}; </a:t>
            </a:r>
            <a:r>
              <a:rPr lang="en-AU" altLang="en-IT" sz="1100" i="1" u="sng">
                <a:solidFill>
                  <a:srgbClr val="800000"/>
                </a:solidFill>
                <a:latin typeface="Courier New" panose="02070309020205020404" pitchFamily="49" charset="0"/>
              </a:rPr>
              <a:t>C</a:t>
            </a:r>
            <a:r>
              <a:rPr lang="en-AU" altLang="en-IT" sz="1100" baseline="-25000">
                <a:solidFill>
                  <a:srgbClr val="800000"/>
                </a:solidFill>
                <a:latin typeface="Courier New" panose="02070309020205020404" pitchFamily="49" charset="0"/>
              </a:rPr>
              <a:t>3</a:t>
            </a:r>
            <a:r>
              <a:rPr lang="en-AU" altLang="en-IT" sz="1100">
                <a:solidFill>
                  <a:srgbClr val="800000"/>
                </a:solidFill>
                <a:latin typeface="Courier New" panose="02070309020205020404" pitchFamily="49" charset="0"/>
              </a:rPr>
              <a:t>={}</a:t>
            </a:r>
            <a:endParaRPr lang="en-AU" altLang="en-IT" sz="1100">
              <a:latin typeface="Courier New" panose="02070309020205020404" pitchFamily="49" charset="0"/>
            </a:endParaRPr>
          </a:p>
          <a:p>
            <a:pPr>
              <a:spcBef>
                <a:spcPct val="0"/>
              </a:spcBef>
            </a:pPr>
            <a:endParaRPr lang="en-AU" altLang="en-IT" sz="1100">
              <a:solidFill>
                <a:srgbClr val="800000"/>
              </a:solidFill>
              <a:latin typeface="Courier New" panose="02070309020205020404" pitchFamily="49" charset="0"/>
            </a:endParaRPr>
          </a:p>
          <a:p>
            <a:pPr>
              <a:spcBef>
                <a:spcPct val="0"/>
              </a:spcBef>
            </a:pPr>
            <a:r>
              <a:rPr lang="en-AU" altLang="en-IT" sz="1100">
                <a:latin typeface="Courier New" panose="02070309020205020404" pitchFamily="49" charset="0"/>
              </a:rPr>
              <a:t>For </a:t>
            </a:r>
            <a:r>
              <a:rPr lang="en-AU" altLang="en-IT" sz="1100" i="1">
                <a:latin typeface="Courier New" panose="02070309020205020404" pitchFamily="49" charset="0"/>
              </a:rPr>
              <a:t>t</a:t>
            </a:r>
            <a:r>
              <a:rPr lang="en-AU" altLang="en-IT" sz="1100">
                <a:latin typeface="Courier New" panose="02070309020205020404" pitchFamily="49" charset="0"/>
              </a:rPr>
              <a:t>=2; </a:t>
            </a:r>
            <a:r>
              <a:rPr lang="en-AU" altLang="en-IT" sz="1100" i="1">
                <a:latin typeface="Courier New" panose="02070309020205020404" pitchFamily="49" charset="0"/>
              </a:rPr>
              <a:t>t</a:t>
            </a:r>
            <a:r>
              <a:rPr lang="en-AU" altLang="en-IT" sz="1100">
                <a:latin typeface="Courier New" panose="02070309020205020404" pitchFamily="49" charset="0"/>
              </a:rPr>
              <a:t>.TID=200; </a:t>
            </a:r>
            <a:r>
              <a:rPr lang="en-AU" altLang="en-IT" sz="1100" i="1">
                <a:latin typeface="Courier New" panose="02070309020205020404" pitchFamily="49" charset="0"/>
              </a:rPr>
              <a:t>t</a:t>
            </a:r>
            <a:r>
              <a:rPr lang="en-AU" altLang="en-IT" sz="1100">
                <a:latin typeface="Courier New" panose="02070309020205020404" pitchFamily="49" charset="0"/>
              </a:rPr>
              <a:t>.set-of-itemsets={{2,3}, {2,5}, {3,5}}</a:t>
            </a:r>
          </a:p>
          <a:p>
            <a:pPr>
              <a:spcBef>
                <a:spcPct val="0"/>
              </a:spcBef>
            </a:pPr>
            <a:r>
              <a:rPr lang="en-AU" altLang="en-IT" sz="1100" i="1">
                <a:latin typeface="Courier New" panose="02070309020205020404" pitchFamily="49" charset="0"/>
              </a:rPr>
              <a:t>C</a:t>
            </a:r>
            <a:r>
              <a:rPr lang="en-AU" altLang="en-IT" sz="1100">
                <a:latin typeface="Courier New" panose="02070309020205020404" pitchFamily="49" charset="0"/>
              </a:rPr>
              <a:t>’</a:t>
            </a:r>
            <a:r>
              <a:rPr lang="en-AU" altLang="en-IT" sz="1100" baseline="-25000">
                <a:latin typeface="Courier New" panose="02070309020205020404" pitchFamily="49" charset="0"/>
              </a:rPr>
              <a:t>200</a:t>
            </a:r>
            <a:r>
              <a:rPr lang="en-AU" altLang="en-IT" sz="1100">
                <a:latin typeface="Courier New" panose="02070309020205020404" pitchFamily="49" charset="0"/>
              </a:rPr>
              <a:t>={{2,3,5}}; {2,3,5}.count=1; </a:t>
            </a:r>
            <a:r>
              <a:rPr lang="en-AU" altLang="en-IT" sz="1100" i="1" u="sng">
                <a:solidFill>
                  <a:srgbClr val="800000"/>
                </a:solidFill>
                <a:latin typeface="Courier New" panose="02070309020205020404" pitchFamily="49" charset="0"/>
              </a:rPr>
              <a:t>C</a:t>
            </a:r>
            <a:r>
              <a:rPr lang="en-AU" altLang="en-IT" sz="1100" baseline="-25000">
                <a:solidFill>
                  <a:srgbClr val="800000"/>
                </a:solidFill>
                <a:latin typeface="Courier New" panose="02070309020205020404" pitchFamily="49" charset="0"/>
              </a:rPr>
              <a:t>2</a:t>
            </a:r>
            <a:r>
              <a:rPr lang="en-AU" altLang="en-IT" sz="1100">
                <a:solidFill>
                  <a:srgbClr val="800000"/>
                </a:solidFill>
                <a:latin typeface="Courier New" panose="02070309020205020404" pitchFamily="49" charset="0"/>
              </a:rPr>
              <a:t>={{200, {{2,3,5}}}</a:t>
            </a:r>
            <a:r>
              <a:rPr lang="en-AU" altLang="en-IT" sz="1100">
                <a:latin typeface="Courier New" panose="02070309020205020404" pitchFamily="49" charset="0"/>
              </a:rPr>
              <a:t> </a:t>
            </a:r>
          </a:p>
          <a:p>
            <a:pPr>
              <a:spcBef>
                <a:spcPct val="0"/>
              </a:spcBef>
            </a:pPr>
            <a:endParaRPr lang="en-AU" altLang="en-IT" sz="1100">
              <a:latin typeface="Courier New" panose="02070309020205020404" pitchFamily="49" charset="0"/>
            </a:endParaRPr>
          </a:p>
          <a:p>
            <a:pPr>
              <a:spcBef>
                <a:spcPct val="0"/>
              </a:spcBef>
            </a:pPr>
            <a:r>
              <a:rPr lang="en-AU" altLang="en-IT" sz="1100">
                <a:latin typeface="Courier New" panose="02070309020205020404" pitchFamily="49" charset="0"/>
              </a:rPr>
              <a:t>For </a:t>
            </a:r>
            <a:r>
              <a:rPr lang="en-AU" altLang="en-IT" sz="1100" i="1">
                <a:latin typeface="Courier New" panose="02070309020205020404" pitchFamily="49" charset="0"/>
              </a:rPr>
              <a:t>t</a:t>
            </a:r>
            <a:r>
              <a:rPr lang="en-AU" altLang="en-IT" sz="1100">
                <a:latin typeface="Courier New" panose="02070309020205020404" pitchFamily="49" charset="0"/>
              </a:rPr>
              <a:t>=3; </a:t>
            </a:r>
            <a:r>
              <a:rPr lang="en-AU" altLang="en-IT" sz="1100" i="1">
                <a:latin typeface="Courier New" panose="02070309020205020404" pitchFamily="49" charset="0"/>
              </a:rPr>
              <a:t>t</a:t>
            </a:r>
            <a:r>
              <a:rPr lang="en-AU" altLang="en-IT" sz="1100">
                <a:latin typeface="Courier New" panose="02070309020205020404" pitchFamily="49" charset="0"/>
              </a:rPr>
              <a:t>.TID=300; </a:t>
            </a:r>
          </a:p>
          <a:p>
            <a:pPr>
              <a:spcBef>
                <a:spcPct val="0"/>
              </a:spcBef>
            </a:pPr>
            <a:r>
              <a:rPr lang="en-AU" altLang="en-IT" sz="1100">
                <a:latin typeface="Courier New" panose="02070309020205020404" pitchFamily="49" charset="0"/>
              </a:rPr>
              <a:t>       </a:t>
            </a:r>
            <a:r>
              <a:rPr lang="en-AU" altLang="en-IT" sz="1100" i="1">
                <a:latin typeface="Courier New" panose="02070309020205020404" pitchFamily="49" charset="0"/>
              </a:rPr>
              <a:t>t</a:t>
            </a:r>
            <a:r>
              <a:rPr lang="en-AU" altLang="en-IT" sz="1100">
                <a:latin typeface="Courier New" panose="02070309020205020404" pitchFamily="49" charset="0"/>
              </a:rPr>
              <a:t>.set-of-itemsets={{1,2}, {1,3}, {1,5}, {2,3}, {2,5}, {3,5}}</a:t>
            </a:r>
          </a:p>
          <a:p>
            <a:pPr>
              <a:spcBef>
                <a:spcPct val="0"/>
              </a:spcBef>
            </a:pPr>
            <a:r>
              <a:rPr lang="en-AU" altLang="en-IT" sz="1100" i="1">
                <a:latin typeface="Courier New" panose="02070309020205020404" pitchFamily="49" charset="0"/>
              </a:rPr>
              <a:t>C</a:t>
            </a:r>
            <a:r>
              <a:rPr lang="en-AU" altLang="en-IT" sz="1100">
                <a:latin typeface="Courier New" panose="02070309020205020404" pitchFamily="49" charset="0"/>
              </a:rPr>
              <a:t>’</a:t>
            </a:r>
            <a:r>
              <a:rPr lang="en-AU" altLang="en-IT" sz="1100" baseline="-25000">
                <a:latin typeface="Courier New" panose="02070309020205020404" pitchFamily="49" charset="0"/>
              </a:rPr>
              <a:t>300</a:t>
            </a:r>
            <a:r>
              <a:rPr lang="en-AU" altLang="en-IT" sz="1100">
                <a:latin typeface="Courier New" panose="02070309020205020404" pitchFamily="49" charset="0"/>
              </a:rPr>
              <a:t>={{2,3,5}}; {2,3,5}.count=2; </a:t>
            </a:r>
          </a:p>
          <a:p>
            <a:pPr>
              <a:spcBef>
                <a:spcPct val="0"/>
              </a:spcBef>
            </a:pPr>
            <a:r>
              <a:rPr lang="en-AU" altLang="en-IT" sz="1100">
                <a:latin typeface="Courier New" panose="02070309020205020404" pitchFamily="49" charset="0"/>
              </a:rPr>
              <a:t>       </a:t>
            </a:r>
            <a:r>
              <a:rPr lang="en-AU" altLang="en-IT" sz="1100" i="1" u="sng">
                <a:solidFill>
                  <a:srgbClr val="800000"/>
                </a:solidFill>
                <a:latin typeface="Courier New" panose="02070309020205020404" pitchFamily="49" charset="0"/>
              </a:rPr>
              <a:t>C</a:t>
            </a:r>
            <a:r>
              <a:rPr lang="en-AU" altLang="en-IT" sz="1100" baseline="-25000">
                <a:solidFill>
                  <a:srgbClr val="800000"/>
                </a:solidFill>
                <a:latin typeface="Courier New" panose="02070309020205020404" pitchFamily="49" charset="0"/>
              </a:rPr>
              <a:t>2</a:t>
            </a:r>
            <a:r>
              <a:rPr lang="en-AU" altLang="en-IT" sz="1100">
                <a:solidFill>
                  <a:srgbClr val="800000"/>
                </a:solidFill>
                <a:latin typeface="Courier New" panose="02070309020205020404" pitchFamily="49" charset="0"/>
              </a:rPr>
              <a:t>={{200, {{2,3,5}}, {300, {{2,3,5}}}}</a:t>
            </a:r>
          </a:p>
          <a:p>
            <a:pPr>
              <a:spcBef>
                <a:spcPct val="0"/>
              </a:spcBef>
            </a:pPr>
            <a:endParaRPr lang="en-AU" altLang="en-IT" sz="1100">
              <a:latin typeface="Courier New" panose="02070309020205020404" pitchFamily="49" charset="0"/>
            </a:endParaRPr>
          </a:p>
          <a:p>
            <a:pPr>
              <a:spcBef>
                <a:spcPct val="0"/>
              </a:spcBef>
            </a:pPr>
            <a:r>
              <a:rPr lang="en-AU" altLang="en-IT" sz="1100">
                <a:latin typeface="Courier New" panose="02070309020205020404" pitchFamily="49" charset="0"/>
              </a:rPr>
              <a:t>For </a:t>
            </a:r>
            <a:r>
              <a:rPr lang="en-AU" altLang="en-IT" sz="1100" i="1">
                <a:latin typeface="Courier New" panose="02070309020205020404" pitchFamily="49" charset="0"/>
              </a:rPr>
              <a:t>t</a:t>
            </a:r>
            <a:r>
              <a:rPr lang="en-AU" altLang="en-IT" sz="1100">
                <a:latin typeface="Courier New" panose="02070309020205020404" pitchFamily="49" charset="0"/>
              </a:rPr>
              <a:t>=4; </a:t>
            </a:r>
            <a:r>
              <a:rPr lang="en-AU" altLang="en-IT" sz="1100" i="1">
                <a:latin typeface="Courier New" panose="02070309020205020404" pitchFamily="49" charset="0"/>
              </a:rPr>
              <a:t>t</a:t>
            </a:r>
            <a:r>
              <a:rPr lang="en-AU" altLang="en-IT" sz="1100">
                <a:latin typeface="Courier New" panose="02070309020205020404" pitchFamily="49" charset="0"/>
              </a:rPr>
              <a:t>.TID=400; </a:t>
            </a:r>
            <a:r>
              <a:rPr lang="en-AU" altLang="en-IT" sz="1100" i="1">
                <a:latin typeface="Courier New" panose="02070309020205020404" pitchFamily="49" charset="0"/>
              </a:rPr>
              <a:t>t</a:t>
            </a:r>
            <a:r>
              <a:rPr lang="en-AU" altLang="en-IT" sz="1100">
                <a:latin typeface="Courier New" panose="02070309020205020404" pitchFamily="49" charset="0"/>
              </a:rPr>
              <a:t>.set-of-itemsets={{2,5}}</a:t>
            </a:r>
          </a:p>
          <a:p>
            <a:pPr>
              <a:spcBef>
                <a:spcPct val="0"/>
              </a:spcBef>
            </a:pPr>
            <a:r>
              <a:rPr lang="en-AU" altLang="en-IT" sz="1100" i="1">
                <a:latin typeface="Courier New" panose="02070309020205020404" pitchFamily="49" charset="0"/>
              </a:rPr>
              <a:t>C</a:t>
            </a:r>
            <a:r>
              <a:rPr lang="en-AU" altLang="en-IT" sz="1100">
                <a:latin typeface="Courier New" panose="02070309020205020404" pitchFamily="49" charset="0"/>
              </a:rPr>
              <a:t>’</a:t>
            </a:r>
            <a:r>
              <a:rPr lang="en-AU" altLang="en-IT" sz="1100" baseline="-25000">
                <a:latin typeface="Courier New" panose="02070309020205020404" pitchFamily="49" charset="0"/>
              </a:rPr>
              <a:t>400</a:t>
            </a:r>
            <a:r>
              <a:rPr lang="en-AU" altLang="en-IT" sz="1100">
                <a:latin typeface="Courier New" panose="02070309020205020404" pitchFamily="49" charset="0"/>
              </a:rPr>
              <a:t>={}; </a:t>
            </a:r>
            <a:r>
              <a:rPr lang="en-AU" altLang="en-IT" sz="1100" i="1" u="sng">
                <a:solidFill>
                  <a:srgbClr val="800000"/>
                </a:solidFill>
                <a:latin typeface="Courier New" panose="02070309020205020404" pitchFamily="49" charset="0"/>
              </a:rPr>
              <a:t>C</a:t>
            </a:r>
            <a:r>
              <a:rPr lang="en-AU" altLang="en-IT" sz="1100" baseline="-25000">
                <a:solidFill>
                  <a:srgbClr val="800000"/>
                </a:solidFill>
                <a:latin typeface="Courier New" panose="02070309020205020404" pitchFamily="49" charset="0"/>
              </a:rPr>
              <a:t>2</a:t>
            </a:r>
            <a:r>
              <a:rPr lang="en-AU" altLang="en-IT" sz="1100">
                <a:solidFill>
                  <a:srgbClr val="800000"/>
                </a:solidFill>
                <a:latin typeface="Courier New" panose="02070309020205020404" pitchFamily="49" charset="0"/>
              </a:rPr>
              <a:t>={{200, {{2,3,5}}, {300, {{2,3,5}}}}</a:t>
            </a:r>
          </a:p>
          <a:p>
            <a:pPr>
              <a:spcBef>
                <a:spcPct val="0"/>
              </a:spcBef>
            </a:pPr>
            <a:endParaRPr lang="en-AU" altLang="en-IT" sz="1100">
              <a:solidFill>
                <a:srgbClr val="800000"/>
              </a:solidFill>
              <a:latin typeface="Courier New" panose="02070309020205020404" pitchFamily="49" charset="0"/>
            </a:endParaRPr>
          </a:p>
          <a:p>
            <a:pPr>
              <a:spcBef>
                <a:spcPct val="0"/>
              </a:spcBef>
            </a:pPr>
            <a:r>
              <a:rPr lang="en-AU" altLang="en-IT" sz="1200" b="1" i="1">
                <a:latin typeface="Courier New" panose="02070309020205020404" pitchFamily="49" charset="0"/>
              </a:rPr>
              <a:t>L</a:t>
            </a:r>
            <a:r>
              <a:rPr lang="en-AU" altLang="en-IT" sz="1200" b="1" baseline="-25000">
                <a:latin typeface="Courier New" panose="02070309020205020404" pitchFamily="49" charset="0"/>
              </a:rPr>
              <a:t>3</a:t>
            </a:r>
            <a:r>
              <a:rPr lang="en-AU" altLang="en-IT" sz="1200" b="1">
                <a:latin typeface="Courier New" panose="02070309020205020404" pitchFamily="49" charset="0"/>
              </a:rPr>
              <a:t>={{2,3,5}}</a:t>
            </a:r>
            <a:endParaRPr lang="en-AU" altLang="en-IT" sz="1100">
              <a:latin typeface="Courier New" panose="02070309020205020404" pitchFamily="49" charset="0"/>
            </a:endParaRPr>
          </a:p>
          <a:p>
            <a:pPr>
              <a:spcBef>
                <a:spcPct val="0"/>
              </a:spcBef>
            </a:pPr>
            <a:endParaRPr lang="en-AU" altLang="en-IT" sz="1100">
              <a:solidFill>
                <a:srgbClr val="800000"/>
              </a:solidFill>
              <a:latin typeface="Courier New" panose="02070309020205020404" pitchFamily="49" charset="0"/>
            </a:endParaRPr>
          </a:p>
          <a:p>
            <a:pPr>
              <a:spcBef>
                <a:spcPct val="0"/>
              </a:spcBef>
            </a:pPr>
            <a:r>
              <a:rPr lang="en-AU" altLang="en-IT" sz="1100" i="1">
                <a:solidFill>
                  <a:srgbClr val="800000"/>
                </a:solidFill>
                <a:latin typeface="Courier New" panose="02070309020205020404" pitchFamily="49" charset="0"/>
              </a:rPr>
              <a:t>k</a:t>
            </a:r>
            <a:r>
              <a:rPr lang="en-AU" altLang="en-IT" sz="1100">
                <a:solidFill>
                  <a:srgbClr val="800000"/>
                </a:solidFill>
                <a:latin typeface="Courier New" panose="02070309020205020404" pitchFamily="49" charset="0"/>
              </a:rPr>
              <a:t>=4, </a:t>
            </a:r>
            <a:r>
              <a:rPr lang="en-AU" altLang="en-IT" sz="1100" i="1">
                <a:solidFill>
                  <a:srgbClr val="800000"/>
                </a:solidFill>
                <a:latin typeface="Courier New" panose="02070309020205020404" pitchFamily="49" charset="0"/>
              </a:rPr>
              <a:t>C</a:t>
            </a:r>
            <a:r>
              <a:rPr lang="en-AU" altLang="en-IT" sz="1100" baseline="-25000">
                <a:solidFill>
                  <a:srgbClr val="800000"/>
                </a:solidFill>
                <a:latin typeface="Courier New" panose="02070309020205020404" pitchFamily="49" charset="0"/>
              </a:rPr>
              <a:t>4</a:t>
            </a:r>
            <a:r>
              <a:rPr lang="en-AU" altLang="en-IT" sz="1100">
                <a:solidFill>
                  <a:srgbClr val="800000"/>
                </a:solidFill>
                <a:latin typeface="Courier New" panose="02070309020205020404" pitchFamily="49" charset="0"/>
              </a:rPr>
              <a:t>=</a:t>
            </a:r>
            <a:r>
              <a:rPr lang="en-AU" altLang="en-IT" sz="1100">
                <a:solidFill>
                  <a:srgbClr val="800000"/>
                </a:solidFill>
                <a:latin typeface="Courier New" panose="02070309020205020404" pitchFamily="49" charset="0"/>
                <a:sym typeface="Symbol" pitchFamily="2" charset="2"/>
              </a:rPr>
              <a:t></a:t>
            </a:r>
            <a:r>
              <a:rPr lang="en-AU" altLang="en-IT" sz="1100">
                <a:solidFill>
                  <a:srgbClr val="800000"/>
                </a:solidFill>
                <a:latin typeface="Courier New" panose="02070309020205020404" pitchFamily="49" charset="0"/>
              </a:rPr>
              <a:t>, exit the loop</a:t>
            </a:r>
          </a:p>
          <a:p>
            <a:pPr>
              <a:spcBef>
                <a:spcPct val="0"/>
              </a:spcBef>
            </a:pPr>
            <a:endParaRPr lang="en-AU" altLang="en-IT" sz="1100">
              <a:solidFill>
                <a:srgbClr val="800000"/>
              </a:solidFill>
              <a:latin typeface="Courier New" panose="02070309020205020404" pitchFamily="49" charset="0"/>
            </a:endParaRPr>
          </a:p>
          <a:p>
            <a:pPr>
              <a:spcBef>
                <a:spcPct val="0"/>
              </a:spcBef>
            </a:pPr>
            <a:r>
              <a:rPr lang="en-AU" altLang="en-IT" sz="1100">
                <a:solidFill>
                  <a:srgbClr val="800000"/>
                </a:solidFill>
                <a:latin typeface="Courier New" panose="02070309020205020404" pitchFamily="49" charset="0"/>
              </a:rPr>
              <a:t>Return </a:t>
            </a:r>
            <a:r>
              <a:rPr lang="en-AU" altLang="en-IT" sz="1200" b="1">
                <a:latin typeface="Courier New" panose="02070309020205020404" pitchFamily="49" charset="0"/>
              </a:rPr>
              <a:t>{{1,3}, {2,3}, {2,5}, {3,5}, {2,3,5}}</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43D92A21-BE5D-DA75-3DDD-D5DB3EDFFEE0}"/>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7A4C6ACA-5FAB-BBEF-1AF8-462029AA7660}"/>
              </a:ext>
            </a:extLst>
          </p:cNvPr>
          <p:cNvSpPr>
            <a:spLocks noGrp="1" noChangeArrowheads="1"/>
          </p:cNvSpPr>
          <p:nvPr>
            <p:ph type="sldNum" sz="quarter" idx="5"/>
          </p:nvPr>
        </p:nvSpPr>
        <p:spPr>
          <a:ln/>
        </p:spPr>
        <p:txBody>
          <a:bodyPr/>
          <a:lstStyle/>
          <a:p>
            <a:fld id="{0B3471C0-DB28-8640-B7DA-5A8F26E2AB1B}" type="slidenum">
              <a:rPr lang="en-AU" altLang="en-IT"/>
              <a:pPr/>
              <a:t>46</a:t>
            </a:fld>
            <a:endParaRPr lang="en-AU" altLang="en-IT"/>
          </a:p>
        </p:txBody>
      </p:sp>
      <p:sp>
        <p:nvSpPr>
          <p:cNvPr id="49154" name="Rectangle 2">
            <a:extLst>
              <a:ext uri="{FF2B5EF4-FFF2-40B4-BE49-F238E27FC236}">
                <a16:creationId xmlns:a16="http://schemas.microsoft.com/office/drawing/2014/main" id="{BCBC5743-4B5F-E526-42A7-055D5F569D2D}"/>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D6819414-1F4E-C7EF-46E1-86EB4D988A2D}"/>
              </a:ext>
            </a:extLst>
          </p:cNvPr>
          <p:cNvSpPr>
            <a:spLocks noGrp="1" noChangeArrowheads="1"/>
          </p:cNvSpPr>
          <p:nvPr>
            <p:ph type="body" idx="1"/>
          </p:nvPr>
        </p:nvSpPr>
        <p:spPr/>
        <p:txBody>
          <a:bodyPr/>
          <a:lstStyle/>
          <a:p>
            <a:r>
              <a:rPr lang="en-AU" altLang="en-IT"/>
              <a:t>Apriori and AprioriTid algorithms are much better than the AIS algorithm.</a:t>
            </a:r>
          </a:p>
          <a:p>
            <a:r>
              <a:rPr lang="en-AU" altLang="en-IT"/>
              <a:t>AprioriTid algorithm replaces a pass over the original dataset by a pass over the set </a:t>
            </a:r>
            <a:r>
              <a:rPr lang="en-AU" altLang="en-IT" i="1" u="sng">
                <a:solidFill>
                  <a:srgbClr val="000099"/>
                </a:solidFill>
              </a:rPr>
              <a:t>C</a:t>
            </a:r>
            <a:r>
              <a:rPr lang="en-AU" altLang="en-IT" baseline="-25000">
                <a:solidFill>
                  <a:srgbClr val="000099"/>
                </a:solidFill>
              </a:rPr>
              <a:t>k</a:t>
            </a:r>
            <a:r>
              <a:rPr lang="en-AU" altLang="en-IT"/>
              <a:t>.</a:t>
            </a:r>
          </a:p>
          <a:p>
            <a:r>
              <a:rPr lang="en-AU" altLang="en-IT"/>
              <a:t>AprioriTid is better that Apriori if </a:t>
            </a:r>
            <a:r>
              <a:rPr lang="en-AU" altLang="en-IT" i="1" u="sng">
                <a:solidFill>
                  <a:srgbClr val="000099"/>
                </a:solidFill>
              </a:rPr>
              <a:t>C</a:t>
            </a:r>
            <a:r>
              <a:rPr lang="en-AU" altLang="en-IT" baseline="-25000">
                <a:solidFill>
                  <a:srgbClr val="000099"/>
                </a:solidFill>
              </a:rPr>
              <a:t>k</a:t>
            </a:r>
            <a:r>
              <a:rPr lang="en-AU" altLang="en-IT"/>
              <a:t> is small enough to fit into the memory. This takes place in the later passes.</a:t>
            </a:r>
          </a:p>
          <a:p>
            <a:r>
              <a:rPr lang="en-AU" altLang="en-IT"/>
              <a:t>Otherwise, Apriori is better then AprioriTid.</a:t>
            </a:r>
          </a:p>
          <a:p>
            <a:endParaRPr lang="en-AU" altLang="en-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F311D70B-2FDC-E483-E650-6A2FF729DBA1}"/>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12DF6CE2-8BDE-CD4A-76A5-DECE9B7D9F6E}"/>
              </a:ext>
            </a:extLst>
          </p:cNvPr>
          <p:cNvSpPr>
            <a:spLocks noGrp="1" noChangeArrowheads="1"/>
          </p:cNvSpPr>
          <p:nvPr>
            <p:ph type="sldNum" sz="quarter" idx="5"/>
          </p:nvPr>
        </p:nvSpPr>
        <p:spPr>
          <a:ln/>
        </p:spPr>
        <p:txBody>
          <a:bodyPr/>
          <a:lstStyle/>
          <a:p>
            <a:fld id="{84E363A0-A0B5-3142-9574-BAAE91A95CB3}" type="slidenum">
              <a:rPr lang="en-AU" altLang="en-IT"/>
              <a:pPr/>
              <a:t>47</a:t>
            </a:fld>
            <a:endParaRPr lang="en-AU" altLang="en-IT"/>
          </a:p>
        </p:txBody>
      </p:sp>
      <p:sp>
        <p:nvSpPr>
          <p:cNvPr id="46082" name="Rectangle 2">
            <a:extLst>
              <a:ext uri="{FF2B5EF4-FFF2-40B4-BE49-F238E27FC236}">
                <a16:creationId xmlns:a16="http://schemas.microsoft.com/office/drawing/2014/main" id="{916A0716-A0DE-17EC-305E-F55D2AAB5536}"/>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A679A43C-21AB-4632-0620-199209063114}"/>
              </a:ext>
            </a:extLst>
          </p:cNvPr>
          <p:cNvSpPr>
            <a:spLocks noGrp="1" noChangeArrowheads="1"/>
          </p:cNvSpPr>
          <p:nvPr>
            <p:ph type="body" idx="1"/>
          </p:nvPr>
        </p:nvSpPr>
        <p:spPr/>
        <p:txBody>
          <a:bodyPr/>
          <a:lstStyle/>
          <a:p>
            <a:r>
              <a:rPr lang="en-AU" altLang="en-IT"/>
              <a:t>In the earlier passes, Apriori does better than AprioriTid.</a:t>
            </a:r>
          </a:p>
          <a:p>
            <a:r>
              <a:rPr lang="en-AU" altLang="en-IT"/>
              <a:t>AprioriTid beats Apriori in later passes.</a:t>
            </a:r>
          </a:p>
          <a:p>
            <a:endParaRPr lang="en-AU" altLang="en-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492A6B3B-1F4E-EF1B-0AB5-651875A3A2BC}"/>
              </a:ext>
            </a:extLst>
          </p:cNvPr>
          <p:cNvSpPr>
            <a:spLocks noGrp="1" noChangeArrowheads="1"/>
          </p:cNvSpPr>
          <p:nvPr>
            <p:ph type="ftr" sz="quarter" idx="4"/>
          </p:nvPr>
        </p:nvSpPr>
        <p:spPr>
          <a:ln/>
        </p:spPr>
        <p:txBody>
          <a:bodyPr/>
          <a:lstStyle/>
          <a:p>
            <a:r>
              <a:rPr lang="en-AU" altLang="en-IT"/>
              <a:t>Association Rules</a:t>
            </a:r>
          </a:p>
        </p:txBody>
      </p:sp>
      <p:sp>
        <p:nvSpPr>
          <p:cNvPr id="4" name="Rectangle 7">
            <a:extLst>
              <a:ext uri="{FF2B5EF4-FFF2-40B4-BE49-F238E27FC236}">
                <a16:creationId xmlns:a16="http://schemas.microsoft.com/office/drawing/2014/main" id="{3946AE08-DA68-4AC8-1C7A-11D778B775BF}"/>
              </a:ext>
            </a:extLst>
          </p:cNvPr>
          <p:cNvSpPr>
            <a:spLocks noGrp="1" noChangeArrowheads="1"/>
          </p:cNvSpPr>
          <p:nvPr>
            <p:ph type="sldNum" sz="quarter" idx="5"/>
          </p:nvPr>
        </p:nvSpPr>
        <p:spPr>
          <a:ln/>
        </p:spPr>
        <p:txBody>
          <a:bodyPr/>
          <a:lstStyle/>
          <a:p>
            <a:fld id="{2DC6574C-8FD9-DA42-A584-567983631B3A}" type="slidenum">
              <a:rPr lang="en-AU" altLang="en-IT"/>
              <a:pPr/>
              <a:t>48</a:t>
            </a:fld>
            <a:endParaRPr lang="en-AU" altLang="en-IT"/>
          </a:p>
        </p:txBody>
      </p:sp>
      <p:sp>
        <p:nvSpPr>
          <p:cNvPr id="48130" name="Rectangle 1026">
            <a:extLst>
              <a:ext uri="{FF2B5EF4-FFF2-40B4-BE49-F238E27FC236}">
                <a16:creationId xmlns:a16="http://schemas.microsoft.com/office/drawing/2014/main" id="{E582D8F2-76A3-331D-7BA8-44625B821544}"/>
              </a:ext>
            </a:extLst>
          </p:cNvPr>
          <p:cNvSpPr>
            <a:spLocks noGrp="1" noRot="1" noChangeAspect="1" noChangeArrowheads="1" noTextEdit="1"/>
          </p:cNvSpPr>
          <p:nvPr>
            <p:ph type="sldImg"/>
          </p:nvPr>
        </p:nvSpPr>
        <p:spPr>
          <a:ln/>
        </p:spPr>
      </p:sp>
      <p:sp>
        <p:nvSpPr>
          <p:cNvPr id="48131" name="Rectangle 1027">
            <a:extLst>
              <a:ext uri="{FF2B5EF4-FFF2-40B4-BE49-F238E27FC236}">
                <a16:creationId xmlns:a16="http://schemas.microsoft.com/office/drawing/2014/main" id="{566FF23F-DAA1-6EB8-408C-5C9C283521F7}"/>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means that if a set S is downward closed, and an element x is a predecessor (or smaller than) an element in S, then x must also be in S. </a:t>
            </a:r>
            <a:endParaRPr lang="en-IT" dirty="0"/>
          </a:p>
        </p:txBody>
      </p:sp>
      <p:sp>
        <p:nvSpPr>
          <p:cNvPr id="4" name="Slide Number Placeholder 3"/>
          <p:cNvSpPr>
            <a:spLocks noGrp="1"/>
          </p:cNvSpPr>
          <p:nvPr>
            <p:ph type="sldNum" sz="quarter" idx="5"/>
          </p:nvPr>
        </p:nvSpPr>
        <p:spPr/>
        <p:txBody>
          <a:bodyPr/>
          <a:lstStyle/>
          <a:p>
            <a:fld id="{AFEBEBDF-990E-4D46-958B-FEB7802135A7}" type="slidenum">
              <a:rPr lang="en-IT" smtClean="0"/>
              <a:t>54</a:t>
            </a:fld>
            <a:endParaRPr lang="en-IT"/>
          </a:p>
        </p:txBody>
      </p:sp>
    </p:spTree>
    <p:extLst>
      <p:ext uri="{BB962C8B-B14F-4D97-AF65-F5344CB8AC3E}">
        <p14:creationId xmlns:p14="http://schemas.microsoft.com/office/powerpoint/2010/main" val="3546174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0646D-8E32-4CC3-9EE7-508AF475C5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B74A65-99D5-482E-B37B-0ABDC1D828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89960C-4337-4015-B4CD-B22B985C583C}"/>
              </a:ext>
            </a:extLst>
          </p:cNvPr>
          <p:cNvSpPr>
            <a:spLocks noGrp="1"/>
          </p:cNvSpPr>
          <p:nvPr>
            <p:ph type="dt" sz="half" idx="10"/>
          </p:nvPr>
        </p:nvSpPr>
        <p:spPr/>
        <p:txBody>
          <a:bodyPr/>
          <a:lstStyle/>
          <a:p>
            <a:fld id="{E2BA7F80-5DF1-3843-B910-13D109E9F4BB}" type="datetime1">
              <a:rPr lang="it-IT" smtClean="0"/>
              <a:t>31/03/26</a:t>
            </a:fld>
            <a:endParaRPr lang="en-US"/>
          </a:p>
        </p:txBody>
      </p:sp>
      <p:sp>
        <p:nvSpPr>
          <p:cNvPr id="5" name="Footer Placeholder 4">
            <a:extLst>
              <a:ext uri="{FF2B5EF4-FFF2-40B4-BE49-F238E27FC236}">
                <a16:creationId xmlns:a16="http://schemas.microsoft.com/office/drawing/2014/main" id="{137C585B-C6E6-474F-B623-7AC432A08BC8}"/>
              </a:ext>
            </a:extLst>
          </p:cNvPr>
          <p:cNvSpPr>
            <a:spLocks noGrp="1"/>
          </p:cNvSpPr>
          <p:nvPr>
            <p:ph type="ftr" sz="quarter" idx="11"/>
          </p:nvPr>
        </p:nvSpPr>
        <p:spPr/>
        <p:txBody>
          <a:bodyPr/>
          <a:lstStyle/>
          <a:p>
            <a:r>
              <a:rPr lang="en-US"/>
              <a:t>Advanced Knowledge Management</a:t>
            </a:r>
          </a:p>
        </p:txBody>
      </p:sp>
      <p:sp>
        <p:nvSpPr>
          <p:cNvPr id="6" name="Slide Number Placeholder 5">
            <a:extLst>
              <a:ext uri="{FF2B5EF4-FFF2-40B4-BE49-F238E27FC236}">
                <a16:creationId xmlns:a16="http://schemas.microsoft.com/office/drawing/2014/main" id="{48D04A6E-9136-4A95-ADF8-EE5AD29F6B48}"/>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305299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F967B-4AFB-4009-A2E1-BE63E34ACD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7070DF-6D30-4F0E-A618-FD970ABEF4F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B94155-6F1D-47DC-9C41-9A30160D8362}"/>
              </a:ext>
            </a:extLst>
          </p:cNvPr>
          <p:cNvSpPr>
            <a:spLocks noGrp="1"/>
          </p:cNvSpPr>
          <p:nvPr>
            <p:ph type="dt" sz="half" idx="10"/>
          </p:nvPr>
        </p:nvSpPr>
        <p:spPr/>
        <p:txBody>
          <a:bodyPr/>
          <a:lstStyle/>
          <a:p>
            <a:fld id="{02AAA378-7F39-C343-BA39-C971E9E499FA}" type="datetime1">
              <a:rPr lang="it-IT" smtClean="0"/>
              <a:t>31/03/26</a:t>
            </a:fld>
            <a:endParaRPr lang="en-US"/>
          </a:p>
        </p:txBody>
      </p:sp>
      <p:sp>
        <p:nvSpPr>
          <p:cNvPr id="5" name="Footer Placeholder 4">
            <a:extLst>
              <a:ext uri="{FF2B5EF4-FFF2-40B4-BE49-F238E27FC236}">
                <a16:creationId xmlns:a16="http://schemas.microsoft.com/office/drawing/2014/main" id="{088CF378-9C11-4EFA-9B13-41BE7F7D1CBB}"/>
              </a:ext>
            </a:extLst>
          </p:cNvPr>
          <p:cNvSpPr>
            <a:spLocks noGrp="1"/>
          </p:cNvSpPr>
          <p:nvPr>
            <p:ph type="ftr" sz="quarter" idx="11"/>
          </p:nvPr>
        </p:nvSpPr>
        <p:spPr/>
        <p:txBody>
          <a:bodyPr/>
          <a:lstStyle/>
          <a:p>
            <a:r>
              <a:rPr lang="en-US"/>
              <a:t>Advanced Knowledge Management</a:t>
            </a:r>
          </a:p>
        </p:txBody>
      </p:sp>
      <p:sp>
        <p:nvSpPr>
          <p:cNvPr id="6" name="Slide Number Placeholder 5">
            <a:extLst>
              <a:ext uri="{FF2B5EF4-FFF2-40B4-BE49-F238E27FC236}">
                <a16:creationId xmlns:a16="http://schemas.microsoft.com/office/drawing/2014/main" id="{9CFE18CB-659F-432D-9C5D-0CD143A84F40}"/>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3220638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35D44-8149-46E9-8847-1DB0999047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C77707-E5B9-4129-804B-A7ECC27A62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EEA087D-8CBC-430A-A4BE-1B796CB430CF}"/>
              </a:ext>
            </a:extLst>
          </p:cNvPr>
          <p:cNvSpPr>
            <a:spLocks noGrp="1"/>
          </p:cNvSpPr>
          <p:nvPr>
            <p:ph type="dt" sz="half" idx="10"/>
          </p:nvPr>
        </p:nvSpPr>
        <p:spPr/>
        <p:txBody>
          <a:bodyPr/>
          <a:lstStyle/>
          <a:p>
            <a:fld id="{A8C8567A-1BE1-D04C-9764-CDFC842C6459}" type="datetime1">
              <a:rPr lang="it-IT" smtClean="0"/>
              <a:t>31/03/26</a:t>
            </a:fld>
            <a:endParaRPr lang="en-US"/>
          </a:p>
        </p:txBody>
      </p:sp>
      <p:sp>
        <p:nvSpPr>
          <p:cNvPr id="5" name="Footer Placeholder 4">
            <a:extLst>
              <a:ext uri="{FF2B5EF4-FFF2-40B4-BE49-F238E27FC236}">
                <a16:creationId xmlns:a16="http://schemas.microsoft.com/office/drawing/2014/main" id="{1B38382A-403C-49AB-AD2B-70A3232994AC}"/>
              </a:ext>
            </a:extLst>
          </p:cNvPr>
          <p:cNvSpPr>
            <a:spLocks noGrp="1"/>
          </p:cNvSpPr>
          <p:nvPr>
            <p:ph type="ftr" sz="quarter" idx="11"/>
          </p:nvPr>
        </p:nvSpPr>
        <p:spPr/>
        <p:txBody>
          <a:bodyPr/>
          <a:lstStyle/>
          <a:p>
            <a:r>
              <a:rPr lang="en-US"/>
              <a:t>Advanced Knowledge Management</a:t>
            </a:r>
          </a:p>
        </p:txBody>
      </p:sp>
      <p:sp>
        <p:nvSpPr>
          <p:cNvPr id="6" name="Slide Number Placeholder 5">
            <a:extLst>
              <a:ext uri="{FF2B5EF4-FFF2-40B4-BE49-F238E27FC236}">
                <a16:creationId xmlns:a16="http://schemas.microsoft.com/office/drawing/2014/main" id="{DC8916B2-B0E9-44AD-A6BD-60F0EA08A76C}"/>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2942980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085E2-FD28-47BE-AAF9-6DD62F515D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479FEA-D74C-4177-8A70-BE124665385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02B3D3-6CB6-454A-89D1-6C9DC04C40A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CE17D8-15AA-446C-A258-145457B309BD}"/>
              </a:ext>
            </a:extLst>
          </p:cNvPr>
          <p:cNvSpPr>
            <a:spLocks noGrp="1"/>
          </p:cNvSpPr>
          <p:nvPr>
            <p:ph type="dt" sz="half" idx="10"/>
          </p:nvPr>
        </p:nvSpPr>
        <p:spPr/>
        <p:txBody>
          <a:bodyPr/>
          <a:lstStyle/>
          <a:p>
            <a:fld id="{B90134BC-B583-1040-9DBF-181A21888640}" type="datetime1">
              <a:rPr lang="it-IT" smtClean="0"/>
              <a:t>31/03/26</a:t>
            </a:fld>
            <a:endParaRPr lang="en-US"/>
          </a:p>
        </p:txBody>
      </p:sp>
      <p:sp>
        <p:nvSpPr>
          <p:cNvPr id="6" name="Footer Placeholder 5">
            <a:extLst>
              <a:ext uri="{FF2B5EF4-FFF2-40B4-BE49-F238E27FC236}">
                <a16:creationId xmlns:a16="http://schemas.microsoft.com/office/drawing/2014/main" id="{CAB3AFEB-F7AF-41A6-8B95-666AD7ECE8C0}"/>
              </a:ext>
            </a:extLst>
          </p:cNvPr>
          <p:cNvSpPr>
            <a:spLocks noGrp="1"/>
          </p:cNvSpPr>
          <p:nvPr>
            <p:ph type="ftr" sz="quarter" idx="11"/>
          </p:nvPr>
        </p:nvSpPr>
        <p:spPr/>
        <p:txBody>
          <a:bodyPr/>
          <a:lstStyle/>
          <a:p>
            <a:r>
              <a:rPr lang="en-US"/>
              <a:t>Advanced Knowledge Management</a:t>
            </a:r>
          </a:p>
        </p:txBody>
      </p:sp>
      <p:sp>
        <p:nvSpPr>
          <p:cNvPr id="7" name="Slide Number Placeholder 6">
            <a:extLst>
              <a:ext uri="{FF2B5EF4-FFF2-40B4-BE49-F238E27FC236}">
                <a16:creationId xmlns:a16="http://schemas.microsoft.com/office/drawing/2014/main" id="{D811F9DB-4DCB-46B7-A241-F28F86F1968B}"/>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4225297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F5BF-A9D2-495D-8251-BE8AAC6A0F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84DD1D-8654-45D0-B7CA-E9F94417E6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A41E8E7-FBBB-4759-BD6E-EED30AB026A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5C961D-15C4-4C75-8A36-E29FD98157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BFE6807-77C3-4EC7-8C98-137B3DA038E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758A3B-E659-43AA-82B3-FEF291FFAC4E}"/>
              </a:ext>
            </a:extLst>
          </p:cNvPr>
          <p:cNvSpPr>
            <a:spLocks noGrp="1"/>
          </p:cNvSpPr>
          <p:nvPr>
            <p:ph type="dt" sz="half" idx="10"/>
          </p:nvPr>
        </p:nvSpPr>
        <p:spPr/>
        <p:txBody>
          <a:bodyPr/>
          <a:lstStyle/>
          <a:p>
            <a:fld id="{8AD9C081-770D-1C46-8726-BE398FB75915}" type="datetime1">
              <a:rPr lang="it-IT" smtClean="0"/>
              <a:t>31/03/26</a:t>
            </a:fld>
            <a:endParaRPr lang="en-US"/>
          </a:p>
        </p:txBody>
      </p:sp>
      <p:sp>
        <p:nvSpPr>
          <p:cNvPr id="8" name="Footer Placeholder 7">
            <a:extLst>
              <a:ext uri="{FF2B5EF4-FFF2-40B4-BE49-F238E27FC236}">
                <a16:creationId xmlns:a16="http://schemas.microsoft.com/office/drawing/2014/main" id="{783B4798-B98E-44D7-ABC8-8552A89D0669}"/>
              </a:ext>
            </a:extLst>
          </p:cNvPr>
          <p:cNvSpPr>
            <a:spLocks noGrp="1"/>
          </p:cNvSpPr>
          <p:nvPr>
            <p:ph type="ftr" sz="quarter" idx="11"/>
          </p:nvPr>
        </p:nvSpPr>
        <p:spPr/>
        <p:txBody>
          <a:bodyPr/>
          <a:lstStyle/>
          <a:p>
            <a:r>
              <a:rPr lang="en-US"/>
              <a:t>Advanced Knowledge Management</a:t>
            </a:r>
          </a:p>
        </p:txBody>
      </p:sp>
      <p:sp>
        <p:nvSpPr>
          <p:cNvPr id="9" name="Slide Number Placeholder 8">
            <a:extLst>
              <a:ext uri="{FF2B5EF4-FFF2-40B4-BE49-F238E27FC236}">
                <a16:creationId xmlns:a16="http://schemas.microsoft.com/office/drawing/2014/main" id="{10172860-9213-4827-A570-F63759F80248}"/>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262159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1C212-0B9F-4280-AFF5-0398BBFF46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385C90-2BDB-4F9E-9E50-B2AB1F754267}"/>
              </a:ext>
            </a:extLst>
          </p:cNvPr>
          <p:cNvSpPr>
            <a:spLocks noGrp="1"/>
          </p:cNvSpPr>
          <p:nvPr>
            <p:ph type="dt" sz="half" idx="10"/>
          </p:nvPr>
        </p:nvSpPr>
        <p:spPr/>
        <p:txBody>
          <a:bodyPr/>
          <a:lstStyle/>
          <a:p>
            <a:fld id="{17E97020-2EBA-AC4B-BD72-85436B6B0345}" type="datetime1">
              <a:rPr lang="it-IT" smtClean="0"/>
              <a:t>31/03/26</a:t>
            </a:fld>
            <a:endParaRPr lang="en-US"/>
          </a:p>
        </p:txBody>
      </p:sp>
      <p:sp>
        <p:nvSpPr>
          <p:cNvPr id="4" name="Footer Placeholder 3">
            <a:extLst>
              <a:ext uri="{FF2B5EF4-FFF2-40B4-BE49-F238E27FC236}">
                <a16:creationId xmlns:a16="http://schemas.microsoft.com/office/drawing/2014/main" id="{7E40846E-CE03-436C-A35D-C5D96F8B5C64}"/>
              </a:ext>
            </a:extLst>
          </p:cNvPr>
          <p:cNvSpPr>
            <a:spLocks noGrp="1"/>
          </p:cNvSpPr>
          <p:nvPr>
            <p:ph type="ftr" sz="quarter" idx="11"/>
          </p:nvPr>
        </p:nvSpPr>
        <p:spPr/>
        <p:txBody>
          <a:bodyPr/>
          <a:lstStyle/>
          <a:p>
            <a:r>
              <a:rPr lang="en-US"/>
              <a:t>Advanced Knowledge Management</a:t>
            </a:r>
          </a:p>
        </p:txBody>
      </p:sp>
      <p:sp>
        <p:nvSpPr>
          <p:cNvPr id="5" name="Slide Number Placeholder 4">
            <a:extLst>
              <a:ext uri="{FF2B5EF4-FFF2-40B4-BE49-F238E27FC236}">
                <a16:creationId xmlns:a16="http://schemas.microsoft.com/office/drawing/2014/main" id="{63EC4692-E480-4B83-AD7D-7970B68DD8D9}"/>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1023649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06FC17-14F8-42EA-9291-12B8FD11EAA9}"/>
              </a:ext>
            </a:extLst>
          </p:cNvPr>
          <p:cNvSpPr>
            <a:spLocks noGrp="1"/>
          </p:cNvSpPr>
          <p:nvPr>
            <p:ph type="dt" sz="half" idx="10"/>
          </p:nvPr>
        </p:nvSpPr>
        <p:spPr/>
        <p:txBody>
          <a:bodyPr/>
          <a:lstStyle/>
          <a:p>
            <a:fld id="{2120B360-04CB-F84A-8847-96D26972F879}" type="datetime1">
              <a:rPr lang="it-IT" smtClean="0"/>
              <a:t>31/03/26</a:t>
            </a:fld>
            <a:endParaRPr lang="en-US"/>
          </a:p>
        </p:txBody>
      </p:sp>
      <p:sp>
        <p:nvSpPr>
          <p:cNvPr id="3" name="Footer Placeholder 2">
            <a:extLst>
              <a:ext uri="{FF2B5EF4-FFF2-40B4-BE49-F238E27FC236}">
                <a16:creationId xmlns:a16="http://schemas.microsoft.com/office/drawing/2014/main" id="{B5C49A03-5EAB-4D9E-90B5-DF1FC2578E9B}"/>
              </a:ext>
            </a:extLst>
          </p:cNvPr>
          <p:cNvSpPr>
            <a:spLocks noGrp="1"/>
          </p:cNvSpPr>
          <p:nvPr>
            <p:ph type="ftr" sz="quarter" idx="11"/>
          </p:nvPr>
        </p:nvSpPr>
        <p:spPr/>
        <p:txBody>
          <a:bodyPr/>
          <a:lstStyle/>
          <a:p>
            <a:r>
              <a:rPr lang="en-US"/>
              <a:t>Advanced Knowledge Management</a:t>
            </a:r>
          </a:p>
        </p:txBody>
      </p:sp>
      <p:sp>
        <p:nvSpPr>
          <p:cNvPr id="4" name="Slide Number Placeholder 3">
            <a:extLst>
              <a:ext uri="{FF2B5EF4-FFF2-40B4-BE49-F238E27FC236}">
                <a16:creationId xmlns:a16="http://schemas.microsoft.com/office/drawing/2014/main" id="{D01DBB89-C8C5-402D-9512-F0BF67D72A06}"/>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3167063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C296F-C32D-44CC-AB59-6F16AD480B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7DEF94-F5D1-4365-A27F-F475EE7C41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820655-6B13-4F83-A442-32E96D414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0967FA2-AB7B-440E-84F2-2E292C96A58C}"/>
              </a:ext>
            </a:extLst>
          </p:cNvPr>
          <p:cNvSpPr>
            <a:spLocks noGrp="1"/>
          </p:cNvSpPr>
          <p:nvPr>
            <p:ph type="dt" sz="half" idx="10"/>
          </p:nvPr>
        </p:nvSpPr>
        <p:spPr/>
        <p:txBody>
          <a:bodyPr/>
          <a:lstStyle/>
          <a:p>
            <a:fld id="{82E74422-9827-4C4C-9385-12C3A084A80E}" type="datetime1">
              <a:rPr lang="it-IT" smtClean="0"/>
              <a:t>31/03/26</a:t>
            </a:fld>
            <a:endParaRPr lang="en-US"/>
          </a:p>
        </p:txBody>
      </p:sp>
      <p:sp>
        <p:nvSpPr>
          <p:cNvPr id="6" name="Footer Placeholder 5">
            <a:extLst>
              <a:ext uri="{FF2B5EF4-FFF2-40B4-BE49-F238E27FC236}">
                <a16:creationId xmlns:a16="http://schemas.microsoft.com/office/drawing/2014/main" id="{130F86E9-76CE-42D6-A9DA-80B9DD4CD9F4}"/>
              </a:ext>
            </a:extLst>
          </p:cNvPr>
          <p:cNvSpPr>
            <a:spLocks noGrp="1"/>
          </p:cNvSpPr>
          <p:nvPr>
            <p:ph type="ftr" sz="quarter" idx="11"/>
          </p:nvPr>
        </p:nvSpPr>
        <p:spPr/>
        <p:txBody>
          <a:bodyPr/>
          <a:lstStyle/>
          <a:p>
            <a:r>
              <a:rPr lang="en-US"/>
              <a:t>Advanced Knowledge Management</a:t>
            </a:r>
          </a:p>
        </p:txBody>
      </p:sp>
      <p:sp>
        <p:nvSpPr>
          <p:cNvPr id="7" name="Slide Number Placeholder 6">
            <a:extLst>
              <a:ext uri="{FF2B5EF4-FFF2-40B4-BE49-F238E27FC236}">
                <a16:creationId xmlns:a16="http://schemas.microsoft.com/office/drawing/2014/main" id="{7E755071-5B6D-49FF-B30E-342A3527DA0D}"/>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609723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9FD97-C558-4A1D-AA33-84A2D12ACB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C84E7-8512-4A3A-B9E9-2F37298D34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28F40F-1AB9-4FDC-BC0F-446F7ADB2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40FF626-B41C-4DD7-8F58-994C9026C824}"/>
              </a:ext>
            </a:extLst>
          </p:cNvPr>
          <p:cNvSpPr>
            <a:spLocks noGrp="1"/>
          </p:cNvSpPr>
          <p:nvPr>
            <p:ph type="dt" sz="half" idx="10"/>
          </p:nvPr>
        </p:nvSpPr>
        <p:spPr/>
        <p:txBody>
          <a:bodyPr/>
          <a:lstStyle/>
          <a:p>
            <a:fld id="{8A481E1D-7058-7A4A-B6C2-5D1F9E462643}" type="datetime1">
              <a:rPr lang="it-IT" smtClean="0"/>
              <a:t>31/03/26</a:t>
            </a:fld>
            <a:endParaRPr lang="en-US"/>
          </a:p>
        </p:txBody>
      </p:sp>
      <p:sp>
        <p:nvSpPr>
          <p:cNvPr id="6" name="Footer Placeholder 5">
            <a:extLst>
              <a:ext uri="{FF2B5EF4-FFF2-40B4-BE49-F238E27FC236}">
                <a16:creationId xmlns:a16="http://schemas.microsoft.com/office/drawing/2014/main" id="{F6FD8FD6-9F81-4E09-A08C-02E205470137}"/>
              </a:ext>
            </a:extLst>
          </p:cNvPr>
          <p:cNvSpPr>
            <a:spLocks noGrp="1"/>
          </p:cNvSpPr>
          <p:nvPr>
            <p:ph type="ftr" sz="quarter" idx="11"/>
          </p:nvPr>
        </p:nvSpPr>
        <p:spPr/>
        <p:txBody>
          <a:bodyPr/>
          <a:lstStyle/>
          <a:p>
            <a:r>
              <a:rPr lang="en-US"/>
              <a:t>Advanced Knowledge Management</a:t>
            </a:r>
          </a:p>
        </p:txBody>
      </p:sp>
      <p:sp>
        <p:nvSpPr>
          <p:cNvPr id="7" name="Slide Number Placeholder 6">
            <a:extLst>
              <a:ext uri="{FF2B5EF4-FFF2-40B4-BE49-F238E27FC236}">
                <a16:creationId xmlns:a16="http://schemas.microsoft.com/office/drawing/2014/main" id="{25B5B639-3AA7-41B9-8E58-79F23DBFB6A9}"/>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55449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07A18-91EE-4433-90F9-AC5FD77DE2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04D014-3053-4433-AA23-96D7072407D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BCB366-2D16-4A8E-8A50-CC199F6EE481}"/>
              </a:ext>
            </a:extLst>
          </p:cNvPr>
          <p:cNvSpPr>
            <a:spLocks noGrp="1"/>
          </p:cNvSpPr>
          <p:nvPr>
            <p:ph type="dt" sz="half" idx="10"/>
          </p:nvPr>
        </p:nvSpPr>
        <p:spPr/>
        <p:txBody>
          <a:bodyPr/>
          <a:lstStyle/>
          <a:p>
            <a:fld id="{BEDFD086-C70B-104C-B0BC-802DEBBD0E6D}" type="datetime1">
              <a:rPr lang="it-IT" smtClean="0"/>
              <a:t>31/03/26</a:t>
            </a:fld>
            <a:endParaRPr lang="en-US"/>
          </a:p>
        </p:txBody>
      </p:sp>
      <p:sp>
        <p:nvSpPr>
          <p:cNvPr id="5" name="Footer Placeholder 4">
            <a:extLst>
              <a:ext uri="{FF2B5EF4-FFF2-40B4-BE49-F238E27FC236}">
                <a16:creationId xmlns:a16="http://schemas.microsoft.com/office/drawing/2014/main" id="{F7BABF45-720D-495B-886B-782BEB97B0ED}"/>
              </a:ext>
            </a:extLst>
          </p:cNvPr>
          <p:cNvSpPr>
            <a:spLocks noGrp="1"/>
          </p:cNvSpPr>
          <p:nvPr>
            <p:ph type="ftr" sz="quarter" idx="11"/>
          </p:nvPr>
        </p:nvSpPr>
        <p:spPr/>
        <p:txBody>
          <a:bodyPr/>
          <a:lstStyle/>
          <a:p>
            <a:r>
              <a:rPr lang="en-US"/>
              <a:t>Advanced Knowledge Management</a:t>
            </a:r>
          </a:p>
        </p:txBody>
      </p:sp>
      <p:sp>
        <p:nvSpPr>
          <p:cNvPr id="6" name="Slide Number Placeholder 5">
            <a:extLst>
              <a:ext uri="{FF2B5EF4-FFF2-40B4-BE49-F238E27FC236}">
                <a16:creationId xmlns:a16="http://schemas.microsoft.com/office/drawing/2014/main" id="{6E9761B9-76ED-41F1-813F-44DF76A30590}"/>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3701384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55FBEB-EFFA-4E94-8198-E4881978CB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D4CE5C-7BED-432E-B936-289A2C9F28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85EC-F2B4-4179-89AA-39B8DD860D11}"/>
              </a:ext>
            </a:extLst>
          </p:cNvPr>
          <p:cNvSpPr>
            <a:spLocks noGrp="1"/>
          </p:cNvSpPr>
          <p:nvPr>
            <p:ph type="dt" sz="half" idx="10"/>
          </p:nvPr>
        </p:nvSpPr>
        <p:spPr/>
        <p:txBody>
          <a:bodyPr/>
          <a:lstStyle/>
          <a:p>
            <a:fld id="{CB66834A-1039-384D-AFBE-A650DF54DDE9}" type="datetime1">
              <a:rPr lang="it-IT" smtClean="0"/>
              <a:t>31/03/26</a:t>
            </a:fld>
            <a:endParaRPr lang="en-US"/>
          </a:p>
        </p:txBody>
      </p:sp>
      <p:sp>
        <p:nvSpPr>
          <p:cNvPr id="5" name="Footer Placeholder 4">
            <a:extLst>
              <a:ext uri="{FF2B5EF4-FFF2-40B4-BE49-F238E27FC236}">
                <a16:creationId xmlns:a16="http://schemas.microsoft.com/office/drawing/2014/main" id="{D9648A7F-2497-4DA6-A811-683F638EDCF8}"/>
              </a:ext>
            </a:extLst>
          </p:cNvPr>
          <p:cNvSpPr>
            <a:spLocks noGrp="1"/>
          </p:cNvSpPr>
          <p:nvPr>
            <p:ph type="ftr" sz="quarter" idx="11"/>
          </p:nvPr>
        </p:nvSpPr>
        <p:spPr/>
        <p:txBody>
          <a:bodyPr/>
          <a:lstStyle/>
          <a:p>
            <a:r>
              <a:rPr lang="en-US"/>
              <a:t>Advanced Knowledge Management</a:t>
            </a:r>
          </a:p>
        </p:txBody>
      </p:sp>
      <p:sp>
        <p:nvSpPr>
          <p:cNvPr id="6" name="Slide Number Placeholder 5">
            <a:extLst>
              <a:ext uri="{FF2B5EF4-FFF2-40B4-BE49-F238E27FC236}">
                <a16:creationId xmlns:a16="http://schemas.microsoft.com/office/drawing/2014/main" id="{93AC9D92-B5F4-45D2-B24B-26244119F746}"/>
              </a:ext>
            </a:extLst>
          </p:cNvPr>
          <p:cNvSpPr>
            <a:spLocks noGrp="1"/>
          </p:cNvSpPr>
          <p:nvPr>
            <p:ph type="sldNum" sz="quarter" idx="12"/>
          </p:nvPr>
        </p:nvSpPr>
        <p:spPr/>
        <p:txBody>
          <a:bodyPr/>
          <a:lstStyle/>
          <a:p>
            <a:fld id="{EDA51A00-F89B-49BD-830D-62663345B846}" type="slidenum">
              <a:rPr lang="en-US" smtClean="0"/>
              <a:t>‹#›</a:t>
            </a:fld>
            <a:endParaRPr lang="en-US"/>
          </a:p>
        </p:txBody>
      </p:sp>
    </p:spTree>
    <p:extLst>
      <p:ext uri="{BB962C8B-B14F-4D97-AF65-F5344CB8AC3E}">
        <p14:creationId xmlns:p14="http://schemas.microsoft.com/office/powerpoint/2010/main" val="1982067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4B9ED-8C8C-5BAD-E7E6-B9DED46DA830}"/>
              </a:ext>
            </a:extLst>
          </p:cNvPr>
          <p:cNvSpPr>
            <a:spLocks noGrp="1"/>
          </p:cNvSpPr>
          <p:nvPr>
            <p:ph type="title"/>
          </p:nvPr>
        </p:nvSpPr>
        <p:spPr>
          <a:xfrm>
            <a:off x="914400" y="533400"/>
            <a:ext cx="10363200" cy="1143000"/>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6DCD02D1-32FD-7422-08C2-90C378194B1F}"/>
              </a:ext>
            </a:extLst>
          </p:cNvPr>
          <p:cNvSpPr>
            <a:spLocks noGrp="1"/>
          </p:cNvSpPr>
          <p:nvPr>
            <p:ph type="body" sz="half" idx="1"/>
          </p:nvPr>
        </p:nvSpPr>
        <p:spPr>
          <a:xfrm>
            <a:off x="914400" y="1905000"/>
            <a:ext cx="5080000" cy="4191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Online Image Placeholder 3">
            <a:extLst>
              <a:ext uri="{FF2B5EF4-FFF2-40B4-BE49-F238E27FC236}">
                <a16:creationId xmlns:a16="http://schemas.microsoft.com/office/drawing/2014/main" id="{CDA96AA0-80B4-0BF4-AE05-B205A3CB8EA2}"/>
              </a:ext>
            </a:extLst>
          </p:cNvPr>
          <p:cNvSpPr>
            <a:spLocks noGrp="1"/>
          </p:cNvSpPr>
          <p:nvPr>
            <p:ph type="clipArt" sz="half" idx="2"/>
          </p:nvPr>
        </p:nvSpPr>
        <p:spPr>
          <a:xfrm>
            <a:off x="6197600" y="1905000"/>
            <a:ext cx="5080000" cy="4191000"/>
          </a:xfrm>
        </p:spPr>
        <p:txBody>
          <a:bodyPr/>
          <a:lstStyle/>
          <a:p>
            <a:endParaRPr lang="en-IT"/>
          </a:p>
        </p:txBody>
      </p:sp>
      <p:sp>
        <p:nvSpPr>
          <p:cNvPr id="5" name="Footer Placeholder 4">
            <a:extLst>
              <a:ext uri="{FF2B5EF4-FFF2-40B4-BE49-F238E27FC236}">
                <a16:creationId xmlns:a16="http://schemas.microsoft.com/office/drawing/2014/main" id="{EAA3FE7B-490A-18A7-D18D-4F2FD769D6CF}"/>
              </a:ext>
            </a:extLst>
          </p:cNvPr>
          <p:cNvSpPr>
            <a:spLocks noGrp="1"/>
          </p:cNvSpPr>
          <p:nvPr>
            <p:ph type="ftr" sz="quarter" idx="10"/>
          </p:nvPr>
        </p:nvSpPr>
        <p:spPr>
          <a:xfrm>
            <a:off x="4165600" y="6248400"/>
            <a:ext cx="3860800" cy="457200"/>
          </a:xfrm>
        </p:spPr>
        <p:txBody>
          <a:bodyPr/>
          <a:lstStyle>
            <a:lvl1pPr>
              <a:defRPr/>
            </a:lvl1pPr>
          </a:lstStyle>
          <a:p>
            <a:endParaRPr lang="en-AU" altLang="en-IT"/>
          </a:p>
        </p:txBody>
      </p:sp>
      <p:sp>
        <p:nvSpPr>
          <p:cNvPr id="6" name="Slide Number Placeholder 5">
            <a:extLst>
              <a:ext uri="{FF2B5EF4-FFF2-40B4-BE49-F238E27FC236}">
                <a16:creationId xmlns:a16="http://schemas.microsoft.com/office/drawing/2014/main" id="{1D9B6377-2343-F039-1024-7B4ACEBBD489}"/>
              </a:ext>
            </a:extLst>
          </p:cNvPr>
          <p:cNvSpPr>
            <a:spLocks noGrp="1"/>
          </p:cNvSpPr>
          <p:nvPr>
            <p:ph type="sldNum" sz="quarter" idx="11"/>
          </p:nvPr>
        </p:nvSpPr>
        <p:spPr>
          <a:xfrm>
            <a:off x="8737600" y="6248400"/>
            <a:ext cx="2540000" cy="457200"/>
          </a:xfrm>
        </p:spPr>
        <p:txBody>
          <a:bodyPr/>
          <a:lstStyle>
            <a:lvl1pPr>
              <a:defRPr/>
            </a:lvl1pPr>
          </a:lstStyle>
          <a:p>
            <a:fld id="{5266A994-2203-3743-9C8E-388D585A67AD}" type="slidenum">
              <a:rPr lang="en-AU" altLang="en-IT"/>
              <a:pPr/>
              <a:t>‹#›</a:t>
            </a:fld>
            <a:endParaRPr lang="en-AU" altLang="en-IT"/>
          </a:p>
        </p:txBody>
      </p:sp>
    </p:spTree>
    <p:extLst>
      <p:ext uri="{BB962C8B-B14F-4D97-AF65-F5344CB8AC3E}">
        <p14:creationId xmlns:p14="http://schemas.microsoft.com/office/powerpoint/2010/main" val="2395052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0D6A0A-4A5B-4155-AF5C-244C6A5A4E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818EBF-06DD-404E-B618-8D4F0E4E31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D812E-1684-406A-B018-814302F865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C9CD80-ADFF-5842-99B8-C3B87C19BE81}" type="datetime1">
              <a:rPr lang="it-IT" smtClean="0"/>
              <a:t>31/03/26</a:t>
            </a:fld>
            <a:endParaRPr lang="en-US"/>
          </a:p>
        </p:txBody>
      </p:sp>
      <p:sp>
        <p:nvSpPr>
          <p:cNvPr id="5" name="Footer Placeholder 4">
            <a:extLst>
              <a:ext uri="{FF2B5EF4-FFF2-40B4-BE49-F238E27FC236}">
                <a16:creationId xmlns:a16="http://schemas.microsoft.com/office/drawing/2014/main" id="{4BABD8C9-95E0-4674-9752-BD740DE669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Advanced Knowledge Management</a:t>
            </a:r>
          </a:p>
        </p:txBody>
      </p:sp>
      <p:sp>
        <p:nvSpPr>
          <p:cNvPr id="6" name="Slide Number Placeholder 5">
            <a:extLst>
              <a:ext uri="{FF2B5EF4-FFF2-40B4-BE49-F238E27FC236}">
                <a16:creationId xmlns:a16="http://schemas.microsoft.com/office/drawing/2014/main" id="{33D8701B-6F26-4273-A703-B8C82F7CDF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A51A00-F89B-49BD-830D-62663345B846}" type="slidenum">
              <a:rPr lang="en-US" smtClean="0"/>
              <a:t>‹#›</a:t>
            </a:fld>
            <a:endParaRPr lang="en-US"/>
          </a:p>
        </p:txBody>
      </p:sp>
    </p:spTree>
    <p:extLst>
      <p:ext uri="{BB962C8B-B14F-4D97-AF65-F5344CB8AC3E}">
        <p14:creationId xmlns:p14="http://schemas.microsoft.com/office/powerpoint/2010/main" val="601270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3.bin"/><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oleObject" Target="../embeddings/oleObject4.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B2834-0C49-BC15-C181-58F1D1DC513A}"/>
              </a:ext>
            </a:extLst>
          </p:cNvPr>
          <p:cNvSpPr>
            <a:spLocks noGrp="1"/>
          </p:cNvSpPr>
          <p:nvPr>
            <p:ph type="title"/>
          </p:nvPr>
        </p:nvSpPr>
        <p:spPr/>
        <p:txBody>
          <a:bodyPr/>
          <a:lstStyle/>
          <a:p>
            <a:endParaRPr lang="en-IT"/>
          </a:p>
        </p:txBody>
      </p:sp>
      <p:sp>
        <p:nvSpPr>
          <p:cNvPr id="4" name="Date Placeholder 3">
            <a:extLst>
              <a:ext uri="{FF2B5EF4-FFF2-40B4-BE49-F238E27FC236}">
                <a16:creationId xmlns:a16="http://schemas.microsoft.com/office/drawing/2014/main" id="{6EECFEB3-E071-B45C-0324-0549E01B1F31}"/>
              </a:ext>
            </a:extLst>
          </p:cNvPr>
          <p:cNvSpPr>
            <a:spLocks noGrp="1"/>
          </p:cNvSpPr>
          <p:nvPr>
            <p:ph type="dt" sz="half" idx="10"/>
          </p:nvPr>
        </p:nvSpPr>
        <p:spPr/>
        <p:txBody>
          <a:bodyPr/>
          <a:lstStyle/>
          <a:p>
            <a:fld id="{02AAA378-7F39-C343-BA39-C971E9E499FA}" type="datetime1">
              <a:rPr lang="it-IT" smtClean="0"/>
              <a:t>31/03/26</a:t>
            </a:fld>
            <a:endParaRPr lang="en-US"/>
          </a:p>
        </p:txBody>
      </p:sp>
      <p:sp>
        <p:nvSpPr>
          <p:cNvPr id="5" name="Slide Number Placeholder 4">
            <a:extLst>
              <a:ext uri="{FF2B5EF4-FFF2-40B4-BE49-F238E27FC236}">
                <a16:creationId xmlns:a16="http://schemas.microsoft.com/office/drawing/2014/main" id="{F0A25589-E187-1231-704D-FE934D9EC4A2}"/>
              </a:ext>
            </a:extLst>
          </p:cNvPr>
          <p:cNvSpPr>
            <a:spLocks noGrp="1"/>
          </p:cNvSpPr>
          <p:nvPr>
            <p:ph type="sldNum" sz="quarter" idx="12"/>
          </p:nvPr>
        </p:nvSpPr>
        <p:spPr/>
        <p:txBody>
          <a:bodyPr/>
          <a:lstStyle/>
          <a:p>
            <a:fld id="{EDA51A00-F89B-49BD-830D-62663345B846}" type="slidenum">
              <a:rPr lang="en-US" smtClean="0"/>
              <a:t>1</a:t>
            </a:fld>
            <a:endParaRPr lang="en-US"/>
          </a:p>
        </p:txBody>
      </p:sp>
      <p:pic>
        <p:nvPicPr>
          <p:cNvPr id="9" name="Content Placeholder 8">
            <a:extLst>
              <a:ext uri="{FF2B5EF4-FFF2-40B4-BE49-F238E27FC236}">
                <a16:creationId xmlns:a16="http://schemas.microsoft.com/office/drawing/2014/main" id="{118DE160-77A9-F5F6-265A-443910CC14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9548" y="0"/>
            <a:ext cx="9192904" cy="6866989"/>
          </a:xfrm>
          <a:prstGeom prst="rect">
            <a:avLst/>
          </a:prstGeom>
        </p:spPr>
      </p:pic>
    </p:spTree>
    <p:extLst>
      <p:ext uri="{BB962C8B-B14F-4D97-AF65-F5344CB8AC3E}">
        <p14:creationId xmlns:p14="http://schemas.microsoft.com/office/powerpoint/2010/main" val="1664751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46E7B-1E10-4599-A1EF-8743E0AA643A}"/>
              </a:ext>
            </a:extLst>
          </p:cNvPr>
          <p:cNvSpPr>
            <a:spLocks noGrp="1"/>
          </p:cNvSpPr>
          <p:nvPr>
            <p:ph type="ctrTitle"/>
          </p:nvPr>
        </p:nvSpPr>
        <p:spPr/>
        <p:txBody>
          <a:bodyPr>
            <a:normAutofit/>
          </a:bodyPr>
          <a:lstStyle/>
          <a:p>
            <a:r>
              <a:rPr lang="en-US" dirty="0"/>
              <a:t>Association Rule Mining Explained*</a:t>
            </a:r>
          </a:p>
        </p:txBody>
      </p:sp>
      <p:sp>
        <p:nvSpPr>
          <p:cNvPr id="3" name="Subtitle 2">
            <a:extLst>
              <a:ext uri="{FF2B5EF4-FFF2-40B4-BE49-F238E27FC236}">
                <a16:creationId xmlns:a16="http://schemas.microsoft.com/office/drawing/2014/main" id="{3B438DCB-3027-4197-A596-B4426E00697C}"/>
              </a:ext>
            </a:extLst>
          </p:cNvPr>
          <p:cNvSpPr>
            <a:spLocks noGrp="1"/>
          </p:cNvSpPr>
          <p:nvPr>
            <p:ph type="subTitle" idx="1"/>
          </p:nvPr>
        </p:nvSpPr>
        <p:spPr/>
        <p:txBody>
          <a:bodyPr/>
          <a:lstStyle/>
          <a:p>
            <a:r>
              <a:rPr lang="en-US" dirty="0"/>
              <a:t>Damian A. </a:t>
            </a:r>
            <a:r>
              <a:rPr lang="en-US" dirty="0" err="1"/>
              <a:t>Tamburri</a:t>
            </a:r>
            <a:r>
              <a:rPr lang="en-US" dirty="0"/>
              <a:t>, Ph.D.</a:t>
            </a:r>
          </a:p>
        </p:txBody>
      </p:sp>
      <p:sp>
        <p:nvSpPr>
          <p:cNvPr id="4" name="TextBox 3">
            <a:extLst>
              <a:ext uri="{FF2B5EF4-FFF2-40B4-BE49-F238E27FC236}">
                <a16:creationId xmlns:a16="http://schemas.microsoft.com/office/drawing/2014/main" id="{0DB5749F-D333-E57F-511F-F6AC166AEA7F}"/>
              </a:ext>
            </a:extLst>
          </p:cNvPr>
          <p:cNvSpPr txBox="1"/>
          <p:nvPr/>
        </p:nvSpPr>
        <p:spPr>
          <a:xfrm>
            <a:off x="127591" y="6517758"/>
            <a:ext cx="4040465" cy="369332"/>
          </a:xfrm>
          <a:prstGeom prst="rect">
            <a:avLst/>
          </a:prstGeom>
          <a:noFill/>
        </p:spPr>
        <p:txBody>
          <a:bodyPr wrap="none" rtlCol="0">
            <a:spAutoFit/>
          </a:bodyPr>
          <a:lstStyle/>
          <a:p>
            <a:r>
              <a:rPr lang="en-IT" dirty="0"/>
              <a:t>*slides courtesy of Prof. Geoff Hulderings</a:t>
            </a:r>
          </a:p>
        </p:txBody>
      </p:sp>
      <p:sp>
        <p:nvSpPr>
          <p:cNvPr id="5" name="Slide Number Placeholder 4">
            <a:extLst>
              <a:ext uri="{FF2B5EF4-FFF2-40B4-BE49-F238E27FC236}">
                <a16:creationId xmlns:a16="http://schemas.microsoft.com/office/drawing/2014/main" id="{30E5A2F7-0DC9-2B95-B22E-3ACF0EFBFC45}"/>
              </a:ext>
            </a:extLst>
          </p:cNvPr>
          <p:cNvSpPr>
            <a:spLocks noGrp="1"/>
          </p:cNvSpPr>
          <p:nvPr>
            <p:ph type="sldNum" sz="quarter" idx="12"/>
          </p:nvPr>
        </p:nvSpPr>
        <p:spPr/>
        <p:txBody>
          <a:bodyPr/>
          <a:lstStyle/>
          <a:p>
            <a:fld id="{EDA51A00-F89B-49BD-830D-62663345B846}" type="slidenum">
              <a:rPr lang="en-US" smtClean="0"/>
              <a:t>2</a:t>
            </a:fld>
            <a:endParaRPr lang="en-US"/>
          </a:p>
        </p:txBody>
      </p:sp>
      <p:sp>
        <p:nvSpPr>
          <p:cNvPr id="6" name="Date Placeholder 5">
            <a:extLst>
              <a:ext uri="{FF2B5EF4-FFF2-40B4-BE49-F238E27FC236}">
                <a16:creationId xmlns:a16="http://schemas.microsoft.com/office/drawing/2014/main" id="{06EAEFCE-7F8F-18D2-C23B-E3C032DF9791}"/>
              </a:ext>
            </a:extLst>
          </p:cNvPr>
          <p:cNvSpPr>
            <a:spLocks noGrp="1"/>
          </p:cNvSpPr>
          <p:nvPr>
            <p:ph type="dt" sz="half" idx="10"/>
          </p:nvPr>
        </p:nvSpPr>
        <p:spPr/>
        <p:txBody>
          <a:bodyPr/>
          <a:lstStyle/>
          <a:p>
            <a:fld id="{FBF07332-DFD6-554E-B3AD-5A0BE54151A0}" type="datetime1">
              <a:rPr lang="it-IT" smtClean="0"/>
              <a:t>01/04/26</a:t>
            </a:fld>
            <a:endParaRPr lang="en-US"/>
          </a:p>
        </p:txBody>
      </p:sp>
    </p:spTree>
    <p:extLst>
      <p:ext uri="{BB962C8B-B14F-4D97-AF65-F5344CB8AC3E}">
        <p14:creationId xmlns:p14="http://schemas.microsoft.com/office/powerpoint/2010/main" val="2783939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E39F7-7E5A-E692-C746-7B7CA0318735}"/>
              </a:ext>
            </a:extLst>
          </p:cNvPr>
          <p:cNvSpPr>
            <a:spLocks noGrp="1"/>
          </p:cNvSpPr>
          <p:nvPr>
            <p:ph type="title"/>
          </p:nvPr>
        </p:nvSpPr>
        <p:spPr>
          <a:xfrm>
            <a:off x="838200" y="-180786"/>
            <a:ext cx="10515600" cy="1325563"/>
          </a:xfrm>
        </p:spPr>
        <p:txBody>
          <a:bodyPr/>
          <a:lstStyle/>
          <a:p>
            <a:r>
              <a:rPr lang="en-IT" dirty="0"/>
              <a:t>Summary so far</a:t>
            </a:r>
          </a:p>
        </p:txBody>
      </p:sp>
      <p:sp>
        <p:nvSpPr>
          <p:cNvPr id="3" name="Content Placeholder 2">
            <a:extLst>
              <a:ext uri="{FF2B5EF4-FFF2-40B4-BE49-F238E27FC236}">
                <a16:creationId xmlns:a16="http://schemas.microsoft.com/office/drawing/2014/main" id="{15B70436-E711-DC6E-0E4A-8B2F41CCE38A}"/>
              </a:ext>
            </a:extLst>
          </p:cNvPr>
          <p:cNvSpPr>
            <a:spLocks noGrp="1"/>
          </p:cNvSpPr>
          <p:nvPr>
            <p:ph idx="1"/>
          </p:nvPr>
        </p:nvSpPr>
        <p:spPr>
          <a:xfrm>
            <a:off x="838200" y="1253330"/>
            <a:ext cx="10515600" cy="5604669"/>
          </a:xfrm>
        </p:spPr>
        <p:txBody>
          <a:bodyPr>
            <a:normAutofit/>
          </a:bodyPr>
          <a:lstStyle/>
          <a:p>
            <a:r>
              <a:rPr lang="en-GB" dirty="0"/>
              <a:t>W</a:t>
            </a:r>
            <a:r>
              <a:rPr lang="en-IT" dirty="0"/>
              <a:t>e know what ML is, we know there are 5 families, we got a taste of one of them (unsupervised/clustering)</a:t>
            </a:r>
          </a:p>
          <a:p>
            <a:pPr lvl="1"/>
            <a:r>
              <a:rPr lang="en-GB" u="sng" dirty="0"/>
              <a:t>W</a:t>
            </a:r>
            <a:r>
              <a:rPr lang="en-IT" u="sng" dirty="0"/>
              <a:t>e know how to structure an ML campaign via CRISP-DM + ML Canvas</a:t>
            </a:r>
          </a:p>
          <a:p>
            <a:pPr marL="0" indent="0">
              <a:buNone/>
            </a:pPr>
            <a:endParaRPr lang="en-IT" dirty="0"/>
          </a:p>
          <a:p>
            <a:pPr marL="0" indent="0">
              <a:buNone/>
            </a:pPr>
            <a:endParaRPr lang="en-IT" dirty="0"/>
          </a:p>
          <a:p>
            <a:r>
              <a:rPr lang="en-IT" dirty="0"/>
              <a:t>We know we work in a business environment, as part of a BI campain, it means accompanying decisions </a:t>
            </a:r>
            <a:r>
              <a:rPr lang="en-IT" b="1" u="sng" dirty="0"/>
              <a:t>by and for humans</a:t>
            </a:r>
            <a:endParaRPr lang="en-IT" dirty="0"/>
          </a:p>
          <a:p>
            <a:endParaRPr lang="en-IT" b="1" u="sng" dirty="0"/>
          </a:p>
          <a:p>
            <a:r>
              <a:rPr lang="en-IT" dirty="0"/>
              <a:t>We understand we need to </a:t>
            </a:r>
            <a:r>
              <a:rPr lang="en-IT" b="1" u="sng" dirty="0"/>
              <a:t>prepare</a:t>
            </a:r>
            <a:r>
              <a:rPr lang="en-IT" dirty="0"/>
              <a:t> a dataset, e.g., through a wide array of feature engineering tech</a:t>
            </a:r>
          </a:p>
        </p:txBody>
      </p:sp>
      <p:sp>
        <p:nvSpPr>
          <p:cNvPr id="4" name="Date Placeholder 3">
            <a:extLst>
              <a:ext uri="{FF2B5EF4-FFF2-40B4-BE49-F238E27FC236}">
                <a16:creationId xmlns:a16="http://schemas.microsoft.com/office/drawing/2014/main" id="{204CDC91-0342-7C91-1DA9-79FBDCADF28C}"/>
              </a:ext>
            </a:extLst>
          </p:cNvPr>
          <p:cNvSpPr>
            <a:spLocks noGrp="1"/>
          </p:cNvSpPr>
          <p:nvPr>
            <p:ph type="dt" sz="half" idx="10"/>
          </p:nvPr>
        </p:nvSpPr>
        <p:spPr/>
        <p:txBody>
          <a:bodyPr/>
          <a:lstStyle/>
          <a:p>
            <a:fld id="{02AAA378-7F39-C343-BA39-C971E9E499FA}" type="datetime1">
              <a:rPr lang="it-IT" smtClean="0"/>
              <a:t>01/04/26</a:t>
            </a:fld>
            <a:endParaRPr lang="en-US"/>
          </a:p>
        </p:txBody>
      </p:sp>
      <p:sp>
        <p:nvSpPr>
          <p:cNvPr id="5" name="Slide Number Placeholder 4">
            <a:extLst>
              <a:ext uri="{FF2B5EF4-FFF2-40B4-BE49-F238E27FC236}">
                <a16:creationId xmlns:a16="http://schemas.microsoft.com/office/drawing/2014/main" id="{D1F238B3-23D8-26D7-6CA1-11A12327C1B9}"/>
              </a:ext>
            </a:extLst>
          </p:cNvPr>
          <p:cNvSpPr>
            <a:spLocks noGrp="1"/>
          </p:cNvSpPr>
          <p:nvPr>
            <p:ph type="sldNum" sz="quarter" idx="12"/>
          </p:nvPr>
        </p:nvSpPr>
        <p:spPr/>
        <p:txBody>
          <a:bodyPr/>
          <a:lstStyle/>
          <a:p>
            <a:fld id="{EDA51A00-F89B-49BD-830D-62663345B846}" type="slidenum">
              <a:rPr lang="en-US" smtClean="0"/>
              <a:t>3</a:t>
            </a:fld>
            <a:endParaRPr lang="en-US"/>
          </a:p>
        </p:txBody>
      </p:sp>
    </p:spTree>
    <p:extLst>
      <p:ext uri="{BB962C8B-B14F-4D97-AF65-F5344CB8AC3E}">
        <p14:creationId xmlns:p14="http://schemas.microsoft.com/office/powerpoint/2010/main" val="4055958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81000"/>
          </a:schemeClr>
        </a:solidFill>
        <a:effectLst/>
      </p:bgPr>
    </p:bg>
    <p:spTree>
      <p:nvGrpSpPr>
        <p:cNvPr id="1" name="">
          <a:extLst>
            <a:ext uri="{FF2B5EF4-FFF2-40B4-BE49-F238E27FC236}">
              <a16:creationId xmlns:a16="http://schemas.microsoft.com/office/drawing/2014/main" id="{71C343D6-6236-BF09-0E5E-022EF1568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D2E5E-C264-8847-9023-003FCBAC0CA4}"/>
              </a:ext>
            </a:extLst>
          </p:cNvPr>
          <p:cNvSpPr>
            <a:spLocks noGrp="1"/>
          </p:cNvSpPr>
          <p:nvPr>
            <p:ph type="title"/>
          </p:nvPr>
        </p:nvSpPr>
        <p:spPr/>
        <p:txBody>
          <a:bodyPr/>
          <a:lstStyle/>
          <a:p>
            <a:endParaRPr lang="en-IT"/>
          </a:p>
        </p:txBody>
      </p:sp>
      <p:sp>
        <p:nvSpPr>
          <p:cNvPr id="4" name="Date Placeholder 3">
            <a:extLst>
              <a:ext uri="{FF2B5EF4-FFF2-40B4-BE49-F238E27FC236}">
                <a16:creationId xmlns:a16="http://schemas.microsoft.com/office/drawing/2014/main" id="{A45D4A29-65C4-8776-FDBF-A8E44127A2D0}"/>
              </a:ext>
            </a:extLst>
          </p:cNvPr>
          <p:cNvSpPr>
            <a:spLocks noGrp="1"/>
          </p:cNvSpPr>
          <p:nvPr>
            <p:ph type="dt" sz="half" idx="10"/>
          </p:nvPr>
        </p:nvSpPr>
        <p:spPr/>
        <p:txBody>
          <a:bodyPr/>
          <a:lstStyle/>
          <a:p>
            <a:fld id="{02AAA378-7F39-C343-BA39-C971E9E499FA}" type="datetime1">
              <a:rPr lang="it-IT" smtClean="0"/>
              <a:t>31/03/26</a:t>
            </a:fld>
            <a:endParaRPr lang="en-US"/>
          </a:p>
        </p:txBody>
      </p:sp>
      <p:sp>
        <p:nvSpPr>
          <p:cNvPr id="5" name="Slide Number Placeholder 4">
            <a:extLst>
              <a:ext uri="{FF2B5EF4-FFF2-40B4-BE49-F238E27FC236}">
                <a16:creationId xmlns:a16="http://schemas.microsoft.com/office/drawing/2014/main" id="{F72E2026-2E09-3079-1D79-2DCB952E4601}"/>
              </a:ext>
            </a:extLst>
          </p:cNvPr>
          <p:cNvSpPr>
            <a:spLocks noGrp="1"/>
          </p:cNvSpPr>
          <p:nvPr>
            <p:ph type="sldNum" sz="quarter" idx="12"/>
          </p:nvPr>
        </p:nvSpPr>
        <p:spPr/>
        <p:txBody>
          <a:bodyPr/>
          <a:lstStyle/>
          <a:p>
            <a:fld id="{EDA51A00-F89B-49BD-830D-62663345B846}" type="slidenum">
              <a:rPr lang="en-US" smtClean="0"/>
              <a:t>4</a:t>
            </a:fld>
            <a:endParaRPr lang="en-US"/>
          </a:p>
        </p:txBody>
      </p:sp>
      <p:pic>
        <p:nvPicPr>
          <p:cNvPr id="9" name="Content Placeholder 8">
            <a:extLst>
              <a:ext uri="{FF2B5EF4-FFF2-40B4-BE49-F238E27FC236}">
                <a16:creationId xmlns:a16="http://schemas.microsoft.com/office/drawing/2014/main" id="{CDA793D1-1135-2030-43D1-5AB28A9695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9548" y="0"/>
            <a:ext cx="9192904" cy="6866989"/>
          </a:xfrm>
          <a:prstGeom prst="rect">
            <a:avLst/>
          </a:prstGeom>
        </p:spPr>
      </p:pic>
      <p:sp>
        <p:nvSpPr>
          <p:cNvPr id="3" name="Rectangle 2">
            <a:extLst>
              <a:ext uri="{FF2B5EF4-FFF2-40B4-BE49-F238E27FC236}">
                <a16:creationId xmlns:a16="http://schemas.microsoft.com/office/drawing/2014/main" id="{E26FDDDF-891E-AA5C-C6F5-926FA92B7CBB}"/>
              </a:ext>
            </a:extLst>
          </p:cNvPr>
          <p:cNvSpPr/>
          <p:nvPr/>
        </p:nvSpPr>
        <p:spPr>
          <a:xfrm>
            <a:off x="1392072" y="2555310"/>
            <a:ext cx="9300380" cy="474493"/>
          </a:xfrm>
          <a:prstGeom prst="rect">
            <a:avLst/>
          </a:prstGeom>
          <a:solidFill>
            <a:schemeClr val="accent1">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dirty="0"/>
          </a:p>
        </p:txBody>
      </p:sp>
    </p:spTree>
    <p:extLst>
      <p:ext uri="{BB962C8B-B14F-4D97-AF65-F5344CB8AC3E}">
        <p14:creationId xmlns:p14="http://schemas.microsoft.com/office/powerpoint/2010/main" val="3515798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B62D8-ECF6-E906-260B-26E530C9F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E3A2E-E91B-BFE1-FD08-11B9EDC901D2}"/>
              </a:ext>
            </a:extLst>
          </p:cNvPr>
          <p:cNvSpPr>
            <a:spLocks noGrp="1"/>
          </p:cNvSpPr>
          <p:nvPr>
            <p:ph type="title"/>
          </p:nvPr>
        </p:nvSpPr>
        <p:spPr>
          <a:xfrm>
            <a:off x="2152650" y="1"/>
            <a:ext cx="7886700" cy="1325563"/>
          </a:xfrm>
        </p:spPr>
        <p:txBody>
          <a:bodyPr/>
          <a:lstStyle/>
          <a:p>
            <a:r>
              <a:rPr lang="en-IT" dirty="0"/>
              <a:t>Project Work Specifications</a:t>
            </a:r>
          </a:p>
        </p:txBody>
      </p:sp>
      <p:sp>
        <p:nvSpPr>
          <p:cNvPr id="3" name="Content Placeholder 2">
            <a:extLst>
              <a:ext uri="{FF2B5EF4-FFF2-40B4-BE49-F238E27FC236}">
                <a16:creationId xmlns:a16="http://schemas.microsoft.com/office/drawing/2014/main" id="{2CCBA1D0-DE5F-B4F1-6BB3-86369F0BC345}"/>
              </a:ext>
            </a:extLst>
          </p:cNvPr>
          <p:cNvSpPr>
            <a:spLocks noGrp="1"/>
          </p:cNvSpPr>
          <p:nvPr>
            <p:ph idx="1"/>
          </p:nvPr>
        </p:nvSpPr>
        <p:spPr>
          <a:xfrm>
            <a:off x="2152650" y="1216025"/>
            <a:ext cx="8149590" cy="5032375"/>
          </a:xfrm>
        </p:spPr>
        <p:txBody>
          <a:bodyPr>
            <a:normAutofit lnSpcReduction="10000"/>
          </a:bodyPr>
          <a:lstStyle/>
          <a:p>
            <a:r>
              <a:rPr lang="en-GB" dirty="0"/>
              <a:t>H</a:t>
            </a:r>
            <a:r>
              <a:rPr lang="en-IT" dirty="0"/>
              <a:t>ere’s what to do:</a:t>
            </a:r>
          </a:p>
          <a:p>
            <a:pPr marL="914400" lvl="1" indent="-457200">
              <a:buAutoNum type="arabicPeriod"/>
            </a:pPr>
            <a:r>
              <a:rPr lang="en-GB" dirty="0"/>
              <a:t>F</a:t>
            </a:r>
            <a:r>
              <a:rPr lang="en-IT" dirty="0"/>
              <a:t>orm a team and enroll as above;</a:t>
            </a:r>
          </a:p>
          <a:p>
            <a:pPr marL="914400" lvl="1" indent="-457200">
              <a:buAutoNum type="arabicPeriod"/>
            </a:pPr>
            <a:endParaRPr lang="en-IT" dirty="0"/>
          </a:p>
          <a:p>
            <a:pPr marL="914400" lvl="1" indent="-457200">
              <a:buAutoNum type="arabicPeriod"/>
            </a:pPr>
            <a:r>
              <a:rPr lang="en-IT" dirty="0"/>
              <a:t>Find a dataset, find one which appeals to you, formulate a research plan! </a:t>
            </a:r>
            <a:r>
              <a:rPr lang="en-GB" dirty="0"/>
              <a:t>M</a:t>
            </a:r>
            <a:r>
              <a:rPr lang="en-IT" dirty="0"/>
              <a:t>ore on this later </a:t>
            </a:r>
            <a:r>
              <a:rPr lang="en-IT" dirty="0">
                <a:sym typeface="Wingdings" pitchFamily="2" charset="2"/>
              </a:rPr>
              <a:t></a:t>
            </a:r>
            <a:endParaRPr lang="en-IT" dirty="0"/>
          </a:p>
          <a:p>
            <a:pPr marL="914400" lvl="1" indent="-457200">
              <a:buAutoNum type="arabicPeriod"/>
            </a:pPr>
            <a:endParaRPr lang="en-GB" dirty="0"/>
          </a:p>
          <a:p>
            <a:pPr marL="914400" lvl="1" indent="-457200">
              <a:buAutoNum type="arabicPeriod"/>
            </a:pPr>
            <a:r>
              <a:rPr lang="en-GB" dirty="0"/>
              <a:t>I</a:t>
            </a:r>
            <a:r>
              <a:rPr lang="en-IT" dirty="0"/>
              <a:t>nvestigate through it, study contents;</a:t>
            </a:r>
          </a:p>
          <a:p>
            <a:pPr marL="1371600" lvl="2" indent="-457200">
              <a:buAutoNum type="arabicPeriod"/>
            </a:pPr>
            <a:r>
              <a:rPr lang="en-GB" dirty="0"/>
              <a:t>D</a:t>
            </a:r>
            <a:r>
              <a:rPr lang="en-IT" dirty="0"/>
              <a:t>escriptive statistics + feature engineering;</a:t>
            </a:r>
          </a:p>
          <a:p>
            <a:pPr marL="1371600" lvl="2" indent="-457200">
              <a:buAutoNum type="arabicPeriod"/>
            </a:pPr>
            <a:r>
              <a:rPr lang="en-IT" dirty="0"/>
              <a:t>Research Design Motivation + Dataflow model / workflow;</a:t>
            </a:r>
          </a:p>
          <a:p>
            <a:pPr marL="1371600" lvl="2" indent="-457200">
              <a:buAutoNum type="arabicPeriod"/>
            </a:pPr>
            <a:r>
              <a:rPr lang="en-IT" dirty="0"/>
              <a:t>Evaluate results + Discussion;</a:t>
            </a:r>
          </a:p>
          <a:p>
            <a:pPr marL="914400" lvl="1" indent="-457200">
              <a:buAutoNum type="arabicPeriod"/>
            </a:pPr>
            <a:endParaRPr lang="en-GB" dirty="0"/>
          </a:p>
          <a:p>
            <a:pPr marL="914400" lvl="1" indent="-457200">
              <a:buAutoNum type="arabicPeriod"/>
            </a:pPr>
            <a:r>
              <a:rPr lang="en-GB" dirty="0"/>
              <a:t>A</a:t>
            </a:r>
            <a:r>
              <a:rPr lang="en-IT" dirty="0"/>
              <a:t>sk me questions if needed…</a:t>
            </a:r>
          </a:p>
          <a:p>
            <a:pPr marL="914400" lvl="1" indent="-457200">
              <a:buAutoNum type="arabicPeriod"/>
            </a:pPr>
            <a:endParaRPr lang="en-GB" b="1" u="sng" dirty="0"/>
          </a:p>
          <a:p>
            <a:pPr marL="914400" lvl="1" indent="-457200">
              <a:buAutoNum type="arabicPeriod"/>
            </a:pPr>
            <a:r>
              <a:rPr lang="en-GB" b="1" u="sng" dirty="0"/>
              <a:t>G</a:t>
            </a:r>
            <a:r>
              <a:rPr lang="en-IT" b="1" u="sng" dirty="0"/>
              <a:t>et started ASAP!</a:t>
            </a:r>
          </a:p>
        </p:txBody>
      </p:sp>
      <p:sp>
        <p:nvSpPr>
          <p:cNvPr id="4" name="Footer Placeholder 3">
            <a:extLst>
              <a:ext uri="{FF2B5EF4-FFF2-40B4-BE49-F238E27FC236}">
                <a16:creationId xmlns:a16="http://schemas.microsoft.com/office/drawing/2014/main" id="{B7309663-DC79-9DC0-6862-505F4CC89E1B}"/>
              </a:ext>
            </a:extLst>
          </p:cNvPr>
          <p:cNvSpPr>
            <a:spLocks noGrp="1"/>
          </p:cNvSpPr>
          <p:nvPr>
            <p:ph type="ftr" sz="quarter" idx="11"/>
          </p:nvPr>
        </p:nvSpPr>
        <p:spPr/>
        <p:txBody>
          <a:bodyPr/>
          <a:lstStyle/>
          <a:p>
            <a:pPr>
              <a:defRPr/>
            </a:pPr>
            <a:r>
              <a:rPr lang="en-US"/>
              <a:t>Data Analytics</a:t>
            </a:r>
          </a:p>
        </p:txBody>
      </p:sp>
      <p:sp>
        <p:nvSpPr>
          <p:cNvPr id="5" name="Rectangle 4">
            <a:extLst>
              <a:ext uri="{FF2B5EF4-FFF2-40B4-BE49-F238E27FC236}">
                <a16:creationId xmlns:a16="http://schemas.microsoft.com/office/drawing/2014/main" id="{75CA621A-122B-768C-4D9D-239AFB4BAF7E}"/>
              </a:ext>
            </a:extLst>
          </p:cNvPr>
          <p:cNvSpPr/>
          <p:nvPr/>
        </p:nvSpPr>
        <p:spPr>
          <a:xfrm>
            <a:off x="2682240" y="2143760"/>
            <a:ext cx="7620000" cy="995680"/>
          </a:xfrm>
          <a:prstGeom prst="rect">
            <a:avLst/>
          </a:prstGeom>
          <a:solidFill>
            <a:schemeClr val="accent6">
              <a:lumMod val="60000"/>
              <a:lumOff val="40000"/>
              <a:alpha val="4511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642844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32F49-6224-FF0C-6893-B6F2A6236FF8}"/>
              </a:ext>
            </a:extLst>
          </p:cNvPr>
          <p:cNvSpPr>
            <a:spLocks noGrp="1"/>
          </p:cNvSpPr>
          <p:nvPr>
            <p:ph type="title"/>
          </p:nvPr>
        </p:nvSpPr>
        <p:spPr/>
        <p:txBody>
          <a:bodyPr/>
          <a:lstStyle/>
          <a:p>
            <a:r>
              <a:rPr lang="en-IT" dirty="0"/>
              <a:t>Initial Projects Overview</a:t>
            </a:r>
          </a:p>
        </p:txBody>
      </p:sp>
      <p:sp>
        <p:nvSpPr>
          <p:cNvPr id="3" name="Content Placeholder 2">
            <a:extLst>
              <a:ext uri="{FF2B5EF4-FFF2-40B4-BE49-F238E27FC236}">
                <a16:creationId xmlns:a16="http://schemas.microsoft.com/office/drawing/2014/main" id="{520660EE-21FA-CFB9-8485-ADC5DDD80979}"/>
              </a:ext>
            </a:extLst>
          </p:cNvPr>
          <p:cNvSpPr>
            <a:spLocks noGrp="1"/>
          </p:cNvSpPr>
          <p:nvPr>
            <p:ph idx="1"/>
          </p:nvPr>
        </p:nvSpPr>
        <p:spPr/>
        <p:txBody>
          <a:bodyPr/>
          <a:lstStyle/>
          <a:p>
            <a:r>
              <a:rPr lang="en-GB" dirty="0"/>
              <a:t>F</a:t>
            </a:r>
            <a:r>
              <a:rPr lang="en-IT" dirty="0"/>
              <a:t>ocus on problem specification and solution you propose</a:t>
            </a:r>
          </a:p>
          <a:p>
            <a:pPr lvl="1"/>
            <a:r>
              <a:rPr lang="en-IT" dirty="0"/>
              <a:t>CRISP-DM + ML Canvas</a:t>
            </a:r>
          </a:p>
          <a:p>
            <a:pPr lvl="1"/>
            <a:endParaRPr lang="en-IT" dirty="0"/>
          </a:p>
          <a:p>
            <a:r>
              <a:rPr lang="en-IT" dirty="0"/>
              <a:t>Idea is to gauge the problem worthyness for a ML task and brainstorm together!</a:t>
            </a:r>
          </a:p>
          <a:p>
            <a:endParaRPr lang="en-IT" dirty="0"/>
          </a:p>
          <a:p>
            <a:r>
              <a:rPr lang="en-IT" dirty="0"/>
              <a:t>Gather feedback and expand the project as we move along, and as you learn more and more ML techniques</a:t>
            </a:r>
          </a:p>
        </p:txBody>
      </p:sp>
      <p:sp>
        <p:nvSpPr>
          <p:cNvPr id="4" name="Date Placeholder 3">
            <a:extLst>
              <a:ext uri="{FF2B5EF4-FFF2-40B4-BE49-F238E27FC236}">
                <a16:creationId xmlns:a16="http://schemas.microsoft.com/office/drawing/2014/main" id="{849469CC-1160-F0A5-BA87-2D817F1A37E3}"/>
              </a:ext>
            </a:extLst>
          </p:cNvPr>
          <p:cNvSpPr>
            <a:spLocks noGrp="1"/>
          </p:cNvSpPr>
          <p:nvPr>
            <p:ph type="dt" sz="half" idx="10"/>
          </p:nvPr>
        </p:nvSpPr>
        <p:spPr/>
        <p:txBody>
          <a:bodyPr/>
          <a:lstStyle/>
          <a:p>
            <a:fld id="{02AAA378-7F39-C343-BA39-C971E9E499FA}" type="datetime1">
              <a:rPr lang="it-IT" smtClean="0"/>
              <a:t>31/03/26</a:t>
            </a:fld>
            <a:endParaRPr lang="en-US"/>
          </a:p>
        </p:txBody>
      </p:sp>
      <p:sp>
        <p:nvSpPr>
          <p:cNvPr id="5" name="Slide Number Placeholder 4">
            <a:extLst>
              <a:ext uri="{FF2B5EF4-FFF2-40B4-BE49-F238E27FC236}">
                <a16:creationId xmlns:a16="http://schemas.microsoft.com/office/drawing/2014/main" id="{626E9703-0F43-99A3-0247-F7EB7D1FB841}"/>
              </a:ext>
            </a:extLst>
          </p:cNvPr>
          <p:cNvSpPr>
            <a:spLocks noGrp="1"/>
          </p:cNvSpPr>
          <p:nvPr>
            <p:ph type="sldNum" sz="quarter" idx="12"/>
          </p:nvPr>
        </p:nvSpPr>
        <p:spPr/>
        <p:txBody>
          <a:bodyPr/>
          <a:lstStyle/>
          <a:p>
            <a:fld id="{EDA51A00-F89B-49BD-830D-62663345B846}" type="slidenum">
              <a:rPr lang="en-US" smtClean="0"/>
              <a:t>6</a:t>
            </a:fld>
            <a:endParaRPr lang="en-US"/>
          </a:p>
        </p:txBody>
      </p:sp>
    </p:spTree>
    <p:extLst>
      <p:ext uri="{BB962C8B-B14F-4D97-AF65-F5344CB8AC3E}">
        <p14:creationId xmlns:p14="http://schemas.microsoft.com/office/powerpoint/2010/main" val="2294721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C7258E6-D84E-39D1-8571-81BBA58A3791}"/>
              </a:ext>
            </a:extLst>
          </p:cNvPr>
          <p:cNvSpPr>
            <a:spLocks noGrp="1"/>
          </p:cNvSpPr>
          <p:nvPr>
            <p:ph type="sldNum" sz="quarter" idx="12"/>
          </p:nvPr>
        </p:nvSpPr>
        <p:spPr/>
        <p:txBody>
          <a:bodyPr/>
          <a:lstStyle/>
          <a:p>
            <a:fld id="{3643236E-3DEC-1141-A805-2014B4FB598C}" type="slidenum">
              <a:rPr lang="en-US" altLang="en-IT"/>
              <a:pPr/>
              <a:t>7</a:t>
            </a:fld>
            <a:endParaRPr lang="en-US" altLang="en-IT"/>
          </a:p>
        </p:txBody>
      </p:sp>
      <p:sp>
        <p:nvSpPr>
          <p:cNvPr id="5126" name="Rectangle 6">
            <a:extLst>
              <a:ext uri="{FF2B5EF4-FFF2-40B4-BE49-F238E27FC236}">
                <a16:creationId xmlns:a16="http://schemas.microsoft.com/office/drawing/2014/main" id="{FBCE468D-5C9B-5BF9-04C9-DB3983578F70}"/>
              </a:ext>
            </a:extLst>
          </p:cNvPr>
          <p:cNvSpPr>
            <a:spLocks noGrp="1" noChangeArrowheads="1"/>
          </p:cNvSpPr>
          <p:nvPr>
            <p:ph type="title"/>
          </p:nvPr>
        </p:nvSpPr>
        <p:spPr>
          <a:xfrm>
            <a:off x="2133600" y="609600"/>
            <a:ext cx="8229600" cy="762000"/>
          </a:xfrm>
        </p:spPr>
        <p:txBody>
          <a:bodyPr/>
          <a:lstStyle/>
          <a:p>
            <a:pPr algn="ctr"/>
            <a:r>
              <a:rPr lang="en-US" altLang="en-IT"/>
              <a:t>Introduction</a:t>
            </a:r>
          </a:p>
        </p:txBody>
      </p:sp>
      <p:sp>
        <p:nvSpPr>
          <p:cNvPr id="5127" name="Rectangle 7" descr="Rectangle: Click to edit Master text styles&#13;&#10;Second level&#13;&#10;Third level&#13;&#10;Fourth level&#13;&#10;Fifth level">
            <a:extLst>
              <a:ext uri="{FF2B5EF4-FFF2-40B4-BE49-F238E27FC236}">
                <a16:creationId xmlns:a16="http://schemas.microsoft.com/office/drawing/2014/main" id="{E200176A-2FD4-1C4B-5D70-69B272DAFB9C}"/>
              </a:ext>
            </a:extLst>
          </p:cNvPr>
          <p:cNvSpPr>
            <a:spLocks noGrp="1" noChangeArrowheads="1"/>
          </p:cNvSpPr>
          <p:nvPr>
            <p:ph type="body" idx="1"/>
          </p:nvPr>
        </p:nvSpPr>
        <p:spPr>
          <a:xfrm>
            <a:off x="2133600" y="1752600"/>
            <a:ext cx="8229600" cy="4343400"/>
          </a:xfrm>
        </p:spPr>
        <p:txBody>
          <a:bodyPr/>
          <a:lstStyle/>
          <a:p>
            <a:r>
              <a:rPr lang="en-US" altLang="en-IT">
                <a:cs typeface="Times New Roman" panose="02020603050405020304" pitchFamily="18" charset="0"/>
              </a:rPr>
              <a:t>Data mining is the discovery of knowledge and useful information from the large amounts of data stored in databases.</a:t>
            </a:r>
            <a:r>
              <a:rPr lang="en-US" altLang="en-IT"/>
              <a:t> </a:t>
            </a:r>
          </a:p>
          <a:p>
            <a:pPr>
              <a:buFont typeface="Wingdings" pitchFamily="2" charset="2"/>
              <a:buNone/>
            </a:pPr>
            <a:endParaRPr lang="en-US" altLang="en-IT"/>
          </a:p>
          <a:p>
            <a:r>
              <a:rPr lang="en-US" altLang="en-IT" i="1">
                <a:cs typeface="Times New Roman" panose="02020603050405020304" pitchFamily="18" charset="0"/>
              </a:rPr>
              <a:t>Association Rules:</a:t>
            </a:r>
            <a:r>
              <a:rPr lang="en-US" altLang="en-IT">
                <a:cs typeface="Times New Roman" panose="02020603050405020304" pitchFamily="18" charset="0"/>
              </a:rPr>
              <a:t> describing association relationships among the attributes in the set of relevant data.</a:t>
            </a:r>
            <a:endParaRPr lang="en-US" altLang="en-IT" sz="2400">
              <a:latin typeface="Times New Roman" panose="02020603050405020304" pitchFamily="18" charset="0"/>
              <a:cs typeface="Times New Roman" panose="02020603050405020304" pitchFamily="18" charset="0"/>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57871C50-7629-A34E-5958-4F6078595873}"/>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7CB9C617-E880-B7A0-F966-31A3746501DF}"/>
              </a:ext>
            </a:extLst>
          </p:cNvPr>
          <p:cNvSpPr>
            <a:spLocks noGrp="1"/>
          </p:cNvSpPr>
          <p:nvPr>
            <p:ph type="sldNum" sz="quarter" idx="11"/>
          </p:nvPr>
        </p:nvSpPr>
        <p:spPr/>
        <p:txBody>
          <a:bodyPr/>
          <a:lstStyle/>
          <a:p>
            <a:fld id="{621E80FF-2677-6147-BA23-6C53C771AD49}" type="slidenum">
              <a:rPr lang="en-US" altLang="en-US"/>
              <a:pPr/>
              <a:t>8</a:t>
            </a:fld>
            <a:endParaRPr lang="en-US" altLang="en-US"/>
          </a:p>
        </p:txBody>
      </p:sp>
      <p:sp>
        <p:nvSpPr>
          <p:cNvPr id="643074" name="Rectangle 2">
            <a:extLst>
              <a:ext uri="{FF2B5EF4-FFF2-40B4-BE49-F238E27FC236}">
                <a16:creationId xmlns:a16="http://schemas.microsoft.com/office/drawing/2014/main" id="{618BF15B-F694-8735-0D29-1261FD38C65A}"/>
              </a:ext>
            </a:extLst>
          </p:cNvPr>
          <p:cNvSpPr>
            <a:spLocks noGrp="1" noChangeArrowheads="1"/>
          </p:cNvSpPr>
          <p:nvPr>
            <p:ph type="title"/>
          </p:nvPr>
        </p:nvSpPr>
        <p:spPr>
          <a:xfrm>
            <a:off x="838200" y="-92075"/>
            <a:ext cx="10515600" cy="1325563"/>
          </a:xfrm>
        </p:spPr>
        <p:txBody>
          <a:bodyPr/>
          <a:lstStyle/>
          <a:p>
            <a:r>
              <a:rPr lang="en-GB" altLang="en-IT" dirty="0"/>
              <a:t>Association rule mining: a bit of history</a:t>
            </a:r>
          </a:p>
        </p:txBody>
      </p:sp>
      <p:sp>
        <p:nvSpPr>
          <p:cNvPr id="643075" name="Rectangle 3">
            <a:extLst>
              <a:ext uri="{FF2B5EF4-FFF2-40B4-BE49-F238E27FC236}">
                <a16:creationId xmlns:a16="http://schemas.microsoft.com/office/drawing/2014/main" id="{D57884AA-A31F-AEAD-53E2-EEAAF3DC8DD0}"/>
              </a:ext>
            </a:extLst>
          </p:cNvPr>
          <p:cNvSpPr>
            <a:spLocks noGrp="1" noChangeArrowheads="1"/>
          </p:cNvSpPr>
          <p:nvPr>
            <p:ph type="body" idx="1"/>
          </p:nvPr>
        </p:nvSpPr>
        <p:spPr>
          <a:xfrm>
            <a:off x="2135188" y="1233488"/>
            <a:ext cx="8077200" cy="4895850"/>
          </a:xfrm>
        </p:spPr>
        <p:txBody>
          <a:bodyPr/>
          <a:lstStyle/>
          <a:p>
            <a:r>
              <a:rPr lang="en-GB" altLang="en-IT"/>
              <a:t>Proposed by </a:t>
            </a:r>
            <a:r>
              <a:rPr lang="en-GB" altLang="en-IT">
                <a:solidFill>
                  <a:srgbClr val="FF0000"/>
                </a:solidFill>
              </a:rPr>
              <a:t>Agrawal et al in 1993</a:t>
            </a:r>
            <a:r>
              <a:rPr lang="en-GB" altLang="en-IT"/>
              <a:t>. </a:t>
            </a:r>
          </a:p>
          <a:p>
            <a:r>
              <a:rPr lang="en-GB" altLang="en-IT"/>
              <a:t>It is an important data mining model studied extensively by the database and data mining community. </a:t>
            </a:r>
          </a:p>
          <a:p>
            <a:pPr>
              <a:spcBef>
                <a:spcPct val="15000"/>
              </a:spcBef>
            </a:pPr>
            <a:r>
              <a:rPr lang="en-US" altLang="en-IT"/>
              <a:t>Assume all data are categorical.</a:t>
            </a:r>
          </a:p>
          <a:p>
            <a:pPr>
              <a:spcBef>
                <a:spcPct val="15000"/>
              </a:spcBef>
            </a:pPr>
            <a:r>
              <a:rPr lang="en-US" altLang="en-IT"/>
              <a:t>No good algorithm for numeric data.</a:t>
            </a:r>
          </a:p>
          <a:p>
            <a:pPr>
              <a:spcBef>
                <a:spcPct val="15000"/>
              </a:spcBef>
            </a:pPr>
            <a:r>
              <a:rPr lang="en-US" altLang="en-IT"/>
              <a:t>Initially used for </a:t>
            </a:r>
            <a:r>
              <a:rPr lang="en-US" altLang="en-IT">
                <a:solidFill>
                  <a:srgbClr val="FF0000"/>
                </a:solidFill>
              </a:rPr>
              <a:t>Market Basket Analysis</a:t>
            </a:r>
            <a:r>
              <a:rPr lang="en-US" altLang="en-IT"/>
              <a:t> to find how items purchased by customers are related.</a:t>
            </a:r>
          </a:p>
          <a:p>
            <a:pPr>
              <a:spcBef>
                <a:spcPct val="15000"/>
              </a:spcBef>
              <a:buFont typeface="Wingdings" pitchFamily="2" charset="2"/>
              <a:buNone/>
            </a:pPr>
            <a:r>
              <a:rPr lang="en-GB" altLang="en-IT"/>
              <a:t>		</a:t>
            </a:r>
          </a:p>
          <a:p>
            <a:pPr>
              <a:spcBef>
                <a:spcPct val="15000"/>
              </a:spcBef>
              <a:buFont typeface="Wingdings" pitchFamily="2" charset="2"/>
              <a:buNone/>
            </a:pPr>
            <a:r>
              <a:rPr lang="en-GB" altLang="en-IT"/>
              <a:t>	</a:t>
            </a:r>
            <a:r>
              <a:rPr lang="en-GB" altLang="en-IT">
                <a:solidFill>
                  <a:srgbClr val="3333CC"/>
                </a:solidFill>
              </a:rPr>
              <a:t>Bread </a:t>
            </a:r>
            <a:r>
              <a:rPr lang="en-GB" altLang="en-IT">
                <a:solidFill>
                  <a:srgbClr val="3333CC"/>
                </a:solidFill>
                <a:sym typeface="Symbol" pitchFamily="2" charset="2"/>
              </a:rPr>
              <a:t></a:t>
            </a:r>
            <a:r>
              <a:rPr lang="en-GB" altLang="en-IT">
                <a:solidFill>
                  <a:srgbClr val="3333CC"/>
                </a:solidFill>
              </a:rPr>
              <a:t> Milk	   [sup = 5%, conf = 100%]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4D334FC2-06E8-C9D4-D391-31CC71D9AB64}"/>
              </a:ext>
            </a:extLst>
          </p:cNvPr>
          <p:cNvSpPr>
            <a:spLocks noGrp="1"/>
          </p:cNvSpPr>
          <p:nvPr>
            <p:ph type="sldNum" sz="quarter" idx="12"/>
          </p:nvPr>
        </p:nvSpPr>
        <p:spPr/>
        <p:txBody>
          <a:bodyPr/>
          <a:lstStyle/>
          <a:p>
            <a:fld id="{1D8321B7-04C0-A949-9E6A-A1CDBB87CCB2}" type="slidenum">
              <a:rPr lang="en-US" altLang="en-IT"/>
              <a:pPr/>
              <a:t>9</a:t>
            </a:fld>
            <a:endParaRPr lang="en-US" altLang="en-IT"/>
          </a:p>
        </p:txBody>
      </p:sp>
      <p:sp>
        <p:nvSpPr>
          <p:cNvPr id="20482" name="Rectangle 2">
            <a:extLst>
              <a:ext uri="{FF2B5EF4-FFF2-40B4-BE49-F238E27FC236}">
                <a16:creationId xmlns:a16="http://schemas.microsoft.com/office/drawing/2014/main" id="{A2F4881C-156D-52D5-A72D-71EA4E02071F}"/>
              </a:ext>
            </a:extLst>
          </p:cNvPr>
          <p:cNvSpPr>
            <a:spLocks noGrp="1" noChangeArrowheads="1"/>
          </p:cNvSpPr>
          <p:nvPr>
            <p:ph type="title"/>
          </p:nvPr>
        </p:nvSpPr>
        <p:spPr/>
        <p:txBody>
          <a:bodyPr/>
          <a:lstStyle/>
          <a:p>
            <a:pPr algn="ctr"/>
            <a:r>
              <a:rPr lang="en-US" altLang="en-IT"/>
              <a:t>Rules</a:t>
            </a:r>
          </a:p>
        </p:txBody>
      </p:sp>
      <p:sp>
        <p:nvSpPr>
          <p:cNvPr id="20483" name="Rectangle 3" descr="Rectangle: Click to edit Master text styles&#13;&#10;Second level&#13;&#10;Third level&#13;&#10;Fourth level&#13;&#10;Fifth level">
            <a:extLst>
              <a:ext uri="{FF2B5EF4-FFF2-40B4-BE49-F238E27FC236}">
                <a16:creationId xmlns:a16="http://schemas.microsoft.com/office/drawing/2014/main" id="{E8598AF7-B27B-4A8A-8112-4F0077531B49}"/>
              </a:ext>
            </a:extLst>
          </p:cNvPr>
          <p:cNvSpPr>
            <a:spLocks noGrp="1" noChangeArrowheads="1"/>
          </p:cNvSpPr>
          <p:nvPr>
            <p:ph type="body" idx="1"/>
          </p:nvPr>
        </p:nvSpPr>
        <p:spPr>
          <a:xfrm>
            <a:off x="2133600" y="1676400"/>
            <a:ext cx="8229600" cy="4343400"/>
          </a:xfrm>
        </p:spPr>
        <p:txBody>
          <a:bodyPr/>
          <a:lstStyle/>
          <a:p>
            <a:pPr algn="ctr">
              <a:buFont typeface="Wingdings" pitchFamily="2" charset="2"/>
              <a:buNone/>
            </a:pPr>
            <a:r>
              <a:rPr lang="en-US" altLang="en-IT" sz="2400" i="1">
                <a:latin typeface="Times New Roman" panose="02020603050405020304" pitchFamily="18" charset="0"/>
                <a:cs typeface="Times New Roman" panose="02020603050405020304" pitchFamily="18" charset="0"/>
              </a:rPr>
              <a:t>Body</a:t>
            </a:r>
            <a:r>
              <a:rPr lang="en-US" altLang="en-IT" sz="2400">
                <a:latin typeface="Times New Roman" panose="02020603050405020304" pitchFamily="18" charset="0"/>
                <a:cs typeface="Times New Roman" panose="02020603050405020304" pitchFamily="18" charset="0"/>
              </a:rPr>
              <a:t> ==&gt; </a:t>
            </a:r>
            <a:r>
              <a:rPr lang="en-US" altLang="en-IT" sz="2400" i="1">
                <a:latin typeface="Times New Roman" panose="02020603050405020304" pitchFamily="18" charset="0"/>
                <a:cs typeface="Times New Roman" panose="02020603050405020304" pitchFamily="18" charset="0"/>
              </a:rPr>
              <a:t>Consequent</a:t>
            </a:r>
            <a:r>
              <a:rPr lang="en-US" altLang="en-IT" sz="2400">
                <a:latin typeface="Times New Roman" panose="02020603050405020304" pitchFamily="18" charset="0"/>
                <a:cs typeface="Times New Roman" panose="02020603050405020304" pitchFamily="18" charset="0"/>
              </a:rPr>
              <a:t> [ </a:t>
            </a:r>
            <a:r>
              <a:rPr lang="en-US" altLang="en-IT" sz="2400" i="1">
                <a:latin typeface="Times New Roman" panose="02020603050405020304" pitchFamily="18" charset="0"/>
                <a:cs typeface="Times New Roman" panose="02020603050405020304" pitchFamily="18" charset="0"/>
              </a:rPr>
              <a:t>Support</a:t>
            </a:r>
            <a:r>
              <a:rPr lang="en-US" altLang="en-IT" sz="2400">
                <a:latin typeface="Times New Roman" panose="02020603050405020304" pitchFamily="18" charset="0"/>
                <a:cs typeface="Times New Roman" panose="02020603050405020304" pitchFamily="18" charset="0"/>
              </a:rPr>
              <a:t> , </a:t>
            </a:r>
            <a:r>
              <a:rPr lang="en-US" altLang="en-IT" sz="2400" i="1">
                <a:latin typeface="Times New Roman" panose="02020603050405020304" pitchFamily="18" charset="0"/>
                <a:cs typeface="Times New Roman" panose="02020603050405020304" pitchFamily="18" charset="0"/>
              </a:rPr>
              <a:t>Confidence</a:t>
            </a:r>
            <a:r>
              <a:rPr lang="en-US" altLang="en-IT" sz="2400">
                <a:latin typeface="Times New Roman" panose="02020603050405020304" pitchFamily="18" charset="0"/>
                <a:cs typeface="Times New Roman" panose="02020603050405020304" pitchFamily="18" charset="0"/>
              </a:rPr>
              <a:t> ]</a:t>
            </a:r>
            <a:r>
              <a:rPr lang="en-US" altLang="en-IT" sz="2400">
                <a:latin typeface="Times New Roman" panose="02020603050405020304" pitchFamily="18" charset="0"/>
              </a:rPr>
              <a:t> </a:t>
            </a:r>
          </a:p>
          <a:p>
            <a:r>
              <a:rPr lang="en-US" altLang="en-IT" i="1">
                <a:cs typeface="Times New Roman" panose="02020603050405020304" pitchFamily="18" charset="0"/>
              </a:rPr>
              <a:t>Body</a:t>
            </a:r>
            <a:r>
              <a:rPr lang="en-US" altLang="en-IT">
                <a:cs typeface="Times New Roman" panose="02020603050405020304" pitchFamily="18" charset="0"/>
              </a:rPr>
              <a:t>: represents the examined data.</a:t>
            </a:r>
            <a:r>
              <a:rPr lang="en-US" altLang="en-IT"/>
              <a:t> </a:t>
            </a:r>
          </a:p>
          <a:p>
            <a:r>
              <a:rPr lang="en-US" altLang="en-IT" i="1">
                <a:cs typeface="Times New Roman" panose="02020603050405020304" pitchFamily="18" charset="0"/>
              </a:rPr>
              <a:t>Consequent</a:t>
            </a:r>
            <a:r>
              <a:rPr lang="en-US" altLang="en-IT">
                <a:cs typeface="Times New Roman" panose="02020603050405020304" pitchFamily="18" charset="0"/>
              </a:rPr>
              <a:t>: represents a discovered property for the examined data.</a:t>
            </a:r>
            <a:r>
              <a:rPr lang="en-US" altLang="en-IT"/>
              <a:t> </a:t>
            </a:r>
          </a:p>
          <a:p>
            <a:r>
              <a:rPr lang="en-US" altLang="en-IT" i="1">
                <a:cs typeface="Times New Roman" panose="02020603050405020304" pitchFamily="18" charset="0"/>
              </a:rPr>
              <a:t>Support</a:t>
            </a:r>
            <a:r>
              <a:rPr lang="en-US" altLang="en-IT">
                <a:cs typeface="Times New Roman" panose="02020603050405020304" pitchFamily="18" charset="0"/>
              </a:rPr>
              <a:t>: represents the percentage of the records satisfying the </a:t>
            </a:r>
            <a:r>
              <a:rPr lang="en-US" altLang="en-IT" i="1">
                <a:cs typeface="Times New Roman" panose="02020603050405020304" pitchFamily="18" charset="0"/>
              </a:rPr>
              <a:t>body</a:t>
            </a:r>
            <a:r>
              <a:rPr lang="en-US" altLang="en-IT">
                <a:cs typeface="Times New Roman" panose="02020603050405020304" pitchFamily="18" charset="0"/>
              </a:rPr>
              <a:t> or the </a:t>
            </a:r>
            <a:r>
              <a:rPr lang="en-US" altLang="en-IT" i="1">
                <a:cs typeface="Times New Roman" panose="02020603050405020304" pitchFamily="18" charset="0"/>
              </a:rPr>
              <a:t>consequent</a:t>
            </a:r>
            <a:r>
              <a:rPr lang="en-US" altLang="en-IT">
                <a:cs typeface="Times New Roman" panose="02020603050405020304" pitchFamily="18" charset="0"/>
              </a:rPr>
              <a:t>.</a:t>
            </a:r>
            <a:r>
              <a:rPr lang="en-US" altLang="en-IT"/>
              <a:t> </a:t>
            </a:r>
          </a:p>
          <a:p>
            <a:r>
              <a:rPr lang="en-US" altLang="en-IT" i="1">
                <a:cs typeface="Times New Roman" panose="02020603050405020304" pitchFamily="18" charset="0"/>
              </a:rPr>
              <a:t>Confidence</a:t>
            </a:r>
            <a:r>
              <a:rPr lang="en-US" altLang="en-IT">
                <a:cs typeface="Times New Roman" panose="02020603050405020304" pitchFamily="18" charset="0"/>
              </a:rPr>
              <a:t>: represents the percentage of the records satisfying both the </a:t>
            </a:r>
            <a:r>
              <a:rPr lang="en-US" altLang="en-IT" i="1">
                <a:cs typeface="Times New Roman" panose="02020603050405020304" pitchFamily="18" charset="0"/>
              </a:rPr>
              <a:t>body </a:t>
            </a:r>
            <a:r>
              <a:rPr lang="en-US" altLang="en-IT">
                <a:cs typeface="Times New Roman" panose="02020603050405020304" pitchFamily="18" charset="0"/>
              </a:rPr>
              <a:t>and the </a:t>
            </a:r>
            <a:r>
              <a:rPr lang="en-US" altLang="en-IT" i="1">
                <a:cs typeface="Times New Roman" panose="02020603050405020304" pitchFamily="18" charset="0"/>
              </a:rPr>
              <a:t>consequent </a:t>
            </a:r>
            <a:r>
              <a:rPr lang="en-US" altLang="en-IT">
                <a:cs typeface="Times New Roman" panose="02020603050405020304" pitchFamily="18" charset="0"/>
              </a:rPr>
              <a:t>to those satisfying only the </a:t>
            </a:r>
            <a:r>
              <a:rPr lang="en-US" altLang="en-IT" i="1">
                <a:cs typeface="Times New Roman" panose="02020603050405020304" pitchFamily="18" charset="0"/>
              </a:rPr>
              <a:t>body</a:t>
            </a:r>
            <a:r>
              <a:rPr lang="en-US" altLang="en-IT">
                <a:cs typeface="Times New Roman" panose="02020603050405020304" pitchFamily="18" charset="0"/>
              </a:rPr>
              <a:t>.</a:t>
            </a:r>
            <a:r>
              <a:rPr lang="en-US" altLang="en-IT"/>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ADE958-45E7-BB95-88F8-4612B95F42D1}"/>
              </a:ext>
            </a:extLst>
          </p:cNvPr>
          <p:cNvSpPr>
            <a:spLocks noGrp="1"/>
          </p:cNvSpPr>
          <p:nvPr>
            <p:ph type="sldNum" sz="quarter" idx="12"/>
          </p:nvPr>
        </p:nvSpPr>
        <p:spPr/>
        <p:txBody>
          <a:bodyPr/>
          <a:lstStyle/>
          <a:p>
            <a:fld id="{E68236EE-5885-C948-8E4A-27BD2B0AC302}" type="slidenum">
              <a:rPr lang="en-US" altLang="en-IT"/>
              <a:pPr/>
              <a:t>10</a:t>
            </a:fld>
            <a:endParaRPr lang="en-US" altLang="en-IT"/>
          </a:p>
        </p:txBody>
      </p:sp>
      <p:sp>
        <p:nvSpPr>
          <p:cNvPr id="1026" name="Rectangle 2">
            <a:extLst>
              <a:ext uri="{FF2B5EF4-FFF2-40B4-BE49-F238E27FC236}">
                <a16:creationId xmlns:a16="http://schemas.microsoft.com/office/drawing/2014/main" id="{F0187CB9-E1C0-92F4-6290-A65E7AE32CBB}"/>
              </a:ext>
            </a:extLst>
          </p:cNvPr>
          <p:cNvSpPr>
            <a:spLocks noGrp="1" noChangeArrowheads="1"/>
          </p:cNvSpPr>
          <p:nvPr>
            <p:ph type="title"/>
          </p:nvPr>
        </p:nvSpPr>
        <p:spPr/>
        <p:txBody>
          <a:bodyPr/>
          <a:lstStyle/>
          <a:p>
            <a:pPr algn="ctr"/>
            <a:r>
              <a:rPr lang="en-US" altLang="en-IT"/>
              <a:t>Association Rules Examples</a:t>
            </a:r>
          </a:p>
        </p:txBody>
      </p:sp>
      <p:sp>
        <p:nvSpPr>
          <p:cNvPr id="1027" name="Rectangle 3" descr="Rectangle: Click to edit Master text styles&#13;&#10;Second level&#13;&#10;Third level&#13;&#10;Fourth level&#13;&#10;Fifth level">
            <a:extLst>
              <a:ext uri="{FF2B5EF4-FFF2-40B4-BE49-F238E27FC236}">
                <a16:creationId xmlns:a16="http://schemas.microsoft.com/office/drawing/2014/main" id="{036CF986-E00D-C85E-9300-E9EC590D4894}"/>
              </a:ext>
            </a:extLst>
          </p:cNvPr>
          <p:cNvSpPr>
            <a:spLocks noGrp="1" noChangeArrowheads="1"/>
          </p:cNvSpPr>
          <p:nvPr>
            <p:ph type="body" idx="1"/>
          </p:nvPr>
        </p:nvSpPr>
        <p:spPr>
          <a:xfrm>
            <a:off x="2133600" y="1905000"/>
            <a:ext cx="8229600" cy="4114800"/>
          </a:xfrm>
        </p:spPr>
        <p:txBody>
          <a:bodyPr/>
          <a:lstStyle/>
          <a:p>
            <a:r>
              <a:rPr lang="en-US" altLang="en-IT"/>
              <a:t>Basket Data</a:t>
            </a:r>
          </a:p>
          <a:p>
            <a:pPr lvl="1" algn="ctr">
              <a:buFont typeface="Wingdings" pitchFamily="2" charset="2"/>
              <a:buNone/>
            </a:pPr>
            <a:r>
              <a:rPr lang="en-US" altLang="en-IT" sz="2000">
                <a:latin typeface="Times New Roman" panose="02020603050405020304" pitchFamily="18" charset="0"/>
              </a:rPr>
              <a:t>Tea ^ Milk ==&gt; Sugar [0.3 , 0.9]</a:t>
            </a:r>
          </a:p>
          <a:p>
            <a:endParaRPr lang="en-US" altLang="en-IT" sz="2400"/>
          </a:p>
          <a:p>
            <a:r>
              <a:rPr lang="en-US" altLang="en-IT"/>
              <a:t>Relational Data</a:t>
            </a:r>
          </a:p>
          <a:p>
            <a:pPr lvl="1" algn="ctr">
              <a:buFont typeface="Wingdings" pitchFamily="2" charset="2"/>
              <a:buNone/>
            </a:pPr>
            <a:r>
              <a:rPr lang="en-US" altLang="en-IT" sz="2000">
                <a:latin typeface="Times New Roman" panose="02020603050405020304" pitchFamily="18" charset="0"/>
              </a:rPr>
              <a:t>x.diagnosis = Heart ^ x.sex = Male ==&gt; x.age &gt; 50 [0.4 , 0.7]</a:t>
            </a:r>
          </a:p>
          <a:p>
            <a:endParaRPr lang="en-US" altLang="en-IT" sz="2400"/>
          </a:p>
          <a:p>
            <a:r>
              <a:rPr lang="en-US" altLang="en-IT"/>
              <a:t>Object-Oriented Data</a:t>
            </a:r>
          </a:p>
          <a:p>
            <a:pPr lvl="1" algn="ctr">
              <a:buFont typeface="Wingdings" pitchFamily="2" charset="2"/>
              <a:buNone/>
            </a:pPr>
            <a:r>
              <a:rPr lang="en-US" altLang="en-IT" sz="2000">
                <a:latin typeface="Times New Roman" panose="02020603050405020304" pitchFamily="18" charset="0"/>
              </a:rPr>
              <a:t>s.hobbies = { sport , art } ==&gt; s.age() = Young [0.5 , 0.8]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7B29C611-9D2E-FA72-80AF-1EFB1B459BD8}"/>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7DF76C55-B712-4DAC-DABC-9D4E38904045}"/>
              </a:ext>
            </a:extLst>
          </p:cNvPr>
          <p:cNvSpPr>
            <a:spLocks noGrp="1"/>
          </p:cNvSpPr>
          <p:nvPr>
            <p:ph type="sldNum" sz="quarter" idx="11"/>
          </p:nvPr>
        </p:nvSpPr>
        <p:spPr/>
        <p:txBody>
          <a:bodyPr/>
          <a:lstStyle/>
          <a:p>
            <a:fld id="{83C83EC7-0070-FF4F-8D49-48D72A3A6574}" type="slidenum">
              <a:rPr lang="en-US" altLang="en-US"/>
              <a:pPr/>
              <a:t>11</a:t>
            </a:fld>
            <a:endParaRPr lang="en-US" altLang="en-US"/>
          </a:p>
        </p:txBody>
      </p:sp>
      <p:sp>
        <p:nvSpPr>
          <p:cNvPr id="646146" name="Rectangle 2">
            <a:extLst>
              <a:ext uri="{FF2B5EF4-FFF2-40B4-BE49-F238E27FC236}">
                <a16:creationId xmlns:a16="http://schemas.microsoft.com/office/drawing/2014/main" id="{0A24BC0B-CFDF-CD9E-4B39-35A035915F60}"/>
              </a:ext>
            </a:extLst>
          </p:cNvPr>
          <p:cNvSpPr>
            <a:spLocks noGrp="1" noChangeArrowheads="1"/>
          </p:cNvSpPr>
          <p:nvPr>
            <p:ph type="title"/>
          </p:nvPr>
        </p:nvSpPr>
        <p:spPr/>
        <p:txBody>
          <a:bodyPr/>
          <a:lstStyle/>
          <a:p>
            <a:r>
              <a:rPr lang="en-US" altLang="en-IT"/>
              <a:t>The model: data</a:t>
            </a:r>
          </a:p>
        </p:txBody>
      </p:sp>
      <p:sp>
        <p:nvSpPr>
          <p:cNvPr id="646147" name="Rectangle 3">
            <a:extLst>
              <a:ext uri="{FF2B5EF4-FFF2-40B4-BE49-F238E27FC236}">
                <a16:creationId xmlns:a16="http://schemas.microsoft.com/office/drawing/2014/main" id="{790A3BFB-F225-E58E-0A6A-2365C11EF0F2}"/>
              </a:ext>
            </a:extLst>
          </p:cNvPr>
          <p:cNvSpPr>
            <a:spLocks noGrp="1" noChangeArrowheads="1"/>
          </p:cNvSpPr>
          <p:nvPr>
            <p:ph type="body" idx="1"/>
          </p:nvPr>
        </p:nvSpPr>
        <p:spPr>
          <a:xfrm>
            <a:off x="1955800" y="1557338"/>
            <a:ext cx="8269288" cy="4500562"/>
          </a:xfrm>
        </p:spPr>
        <p:txBody>
          <a:bodyPr/>
          <a:lstStyle/>
          <a:p>
            <a:r>
              <a:rPr lang="en-US" altLang="en-IT" i="1">
                <a:solidFill>
                  <a:srgbClr val="FF0000"/>
                </a:solidFill>
              </a:rPr>
              <a:t>I</a:t>
            </a:r>
            <a:r>
              <a:rPr lang="en-US" altLang="en-IT">
                <a:solidFill>
                  <a:srgbClr val="FF0000"/>
                </a:solidFill>
              </a:rPr>
              <a:t> = {</a:t>
            </a:r>
            <a:r>
              <a:rPr lang="en-US" altLang="en-IT" i="1">
                <a:solidFill>
                  <a:srgbClr val="FF0000"/>
                </a:solidFill>
              </a:rPr>
              <a:t>i</a:t>
            </a:r>
            <a:r>
              <a:rPr lang="en-US" altLang="en-IT" baseline="-25000">
                <a:solidFill>
                  <a:srgbClr val="FF0000"/>
                </a:solidFill>
              </a:rPr>
              <a:t>1</a:t>
            </a:r>
            <a:r>
              <a:rPr lang="en-US" altLang="en-IT">
                <a:solidFill>
                  <a:srgbClr val="FF0000"/>
                </a:solidFill>
              </a:rPr>
              <a:t>, </a:t>
            </a:r>
            <a:r>
              <a:rPr lang="en-US" altLang="en-IT" i="1">
                <a:solidFill>
                  <a:srgbClr val="FF0000"/>
                </a:solidFill>
              </a:rPr>
              <a:t>i</a:t>
            </a:r>
            <a:r>
              <a:rPr lang="en-US" altLang="en-IT" baseline="-25000">
                <a:solidFill>
                  <a:srgbClr val="FF0000"/>
                </a:solidFill>
              </a:rPr>
              <a:t>2</a:t>
            </a:r>
            <a:r>
              <a:rPr lang="en-US" altLang="en-IT">
                <a:solidFill>
                  <a:srgbClr val="FF0000"/>
                </a:solidFill>
              </a:rPr>
              <a:t>, …, </a:t>
            </a:r>
            <a:r>
              <a:rPr lang="en-US" altLang="en-IT" i="1">
                <a:solidFill>
                  <a:srgbClr val="FF0000"/>
                </a:solidFill>
              </a:rPr>
              <a:t>i</a:t>
            </a:r>
            <a:r>
              <a:rPr lang="en-US" altLang="en-IT" i="1" baseline="-25000">
                <a:solidFill>
                  <a:srgbClr val="FF0000"/>
                </a:solidFill>
              </a:rPr>
              <a:t>m</a:t>
            </a:r>
            <a:r>
              <a:rPr lang="en-US" altLang="en-IT">
                <a:solidFill>
                  <a:srgbClr val="FF0000"/>
                </a:solidFill>
              </a:rPr>
              <a:t>}</a:t>
            </a:r>
            <a:r>
              <a:rPr lang="en-US" altLang="en-IT"/>
              <a:t>: a set of </a:t>
            </a:r>
            <a:r>
              <a:rPr lang="en-US" altLang="en-IT" i="1"/>
              <a:t>items</a:t>
            </a:r>
            <a:r>
              <a:rPr lang="en-US" altLang="en-IT"/>
              <a:t>.</a:t>
            </a:r>
          </a:p>
          <a:p>
            <a:r>
              <a:rPr lang="en-US" altLang="en-IT">
                <a:solidFill>
                  <a:srgbClr val="FF0000"/>
                </a:solidFill>
              </a:rPr>
              <a:t>Transaction</a:t>
            </a:r>
            <a:r>
              <a:rPr lang="en-US" altLang="en-IT"/>
              <a:t> </a:t>
            </a:r>
            <a:r>
              <a:rPr lang="en-US" altLang="en-IT" i="1">
                <a:solidFill>
                  <a:srgbClr val="FF0000"/>
                </a:solidFill>
              </a:rPr>
              <a:t>t</a:t>
            </a:r>
            <a:r>
              <a:rPr lang="en-US" altLang="en-IT"/>
              <a:t> : </a:t>
            </a:r>
          </a:p>
          <a:p>
            <a:pPr marL="742950" lvl="1" indent="-285750"/>
            <a:r>
              <a:rPr lang="en-US" altLang="en-IT" sz="3000" i="1"/>
              <a:t>t</a:t>
            </a:r>
            <a:r>
              <a:rPr lang="en-US" altLang="en-IT" sz="3000"/>
              <a:t> a set of items, and </a:t>
            </a:r>
            <a:r>
              <a:rPr lang="en-US" altLang="en-IT" sz="3000" i="1"/>
              <a:t>t</a:t>
            </a:r>
            <a:r>
              <a:rPr lang="en-US" altLang="en-IT" sz="3000"/>
              <a:t> </a:t>
            </a:r>
            <a:r>
              <a:rPr lang="en-US" altLang="en-IT" sz="3000">
                <a:sym typeface="Symbol" pitchFamily="2" charset="2"/>
              </a:rPr>
              <a:t></a:t>
            </a:r>
            <a:r>
              <a:rPr lang="en-US" altLang="en-IT" sz="3000"/>
              <a:t> </a:t>
            </a:r>
            <a:r>
              <a:rPr lang="en-US" altLang="en-IT" sz="3000" i="1"/>
              <a:t>I</a:t>
            </a:r>
            <a:r>
              <a:rPr lang="en-US" altLang="en-IT" sz="3000"/>
              <a:t>.</a:t>
            </a:r>
          </a:p>
          <a:p>
            <a:r>
              <a:rPr lang="en-US" altLang="en-IT">
                <a:solidFill>
                  <a:srgbClr val="FF0000"/>
                </a:solidFill>
              </a:rPr>
              <a:t>Transaction Database </a:t>
            </a:r>
            <a:r>
              <a:rPr lang="en-US" altLang="en-IT" i="1">
                <a:solidFill>
                  <a:srgbClr val="FF0000"/>
                </a:solidFill>
              </a:rPr>
              <a:t>T</a:t>
            </a:r>
            <a:r>
              <a:rPr lang="en-US" altLang="en-IT">
                <a:solidFill>
                  <a:srgbClr val="FF0000"/>
                </a:solidFill>
              </a:rPr>
              <a:t>:</a:t>
            </a:r>
            <a:r>
              <a:rPr lang="en-US" altLang="en-IT"/>
              <a:t> a set of transactions </a:t>
            </a:r>
            <a:r>
              <a:rPr lang="en-US" altLang="en-IT" i="1"/>
              <a:t>T</a:t>
            </a:r>
            <a:r>
              <a:rPr lang="en-US" altLang="en-IT"/>
              <a:t> = {t</a:t>
            </a:r>
            <a:r>
              <a:rPr lang="en-US" altLang="en-IT" baseline="-25000"/>
              <a:t>1</a:t>
            </a:r>
            <a:r>
              <a:rPr lang="en-US" altLang="en-IT"/>
              <a:t>, t</a:t>
            </a:r>
            <a:r>
              <a:rPr lang="en-US" altLang="en-IT" baseline="-25000"/>
              <a:t>2</a:t>
            </a:r>
            <a:r>
              <a:rPr lang="en-US" altLang="en-IT"/>
              <a:t>, …, t</a:t>
            </a:r>
            <a:r>
              <a:rPr lang="en-US" altLang="en-IT" baseline="-25000"/>
              <a:t>n</a:t>
            </a:r>
            <a:r>
              <a:rPr lang="en-US" altLang="en-IT"/>
              <a:t>}.</a:t>
            </a:r>
          </a:p>
          <a:p>
            <a:endParaRPr lang="en-US" altLang="en-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4CBB0C68-2CFC-D716-7FF5-F00A5062F6DA}"/>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F73E4CDE-E199-6F40-9B91-F376097FD81A}"/>
              </a:ext>
            </a:extLst>
          </p:cNvPr>
          <p:cNvSpPr>
            <a:spLocks noGrp="1"/>
          </p:cNvSpPr>
          <p:nvPr>
            <p:ph type="sldNum" sz="quarter" idx="11"/>
          </p:nvPr>
        </p:nvSpPr>
        <p:spPr/>
        <p:txBody>
          <a:bodyPr/>
          <a:lstStyle/>
          <a:p>
            <a:fld id="{C34AA351-5DD4-4E42-AB28-170A62F9EED4}" type="slidenum">
              <a:rPr lang="en-US" altLang="en-US"/>
              <a:pPr/>
              <a:t>12</a:t>
            </a:fld>
            <a:endParaRPr lang="en-US" altLang="en-US"/>
          </a:p>
        </p:txBody>
      </p:sp>
      <p:sp>
        <p:nvSpPr>
          <p:cNvPr id="676866" name="Rectangle 2">
            <a:extLst>
              <a:ext uri="{FF2B5EF4-FFF2-40B4-BE49-F238E27FC236}">
                <a16:creationId xmlns:a16="http://schemas.microsoft.com/office/drawing/2014/main" id="{6BF6680A-C4BE-6F91-3D63-8975D57B2400}"/>
              </a:ext>
            </a:extLst>
          </p:cNvPr>
          <p:cNvSpPr>
            <a:spLocks noGrp="1" noChangeArrowheads="1"/>
          </p:cNvSpPr>
          <p:nvPr>
            <p:ph type="title"/>
          </p:nvPr>
        </p:nvSpPr>
        <p:spPr>
          <a:xfrm>
            <a:off x="838200" y="64292"/>
            <a:ext cx="10515600" cy="1325563"/>
          </a:xfrm>
        </p:spPr>
        <p:txBody>
          <a:bodyPr/>
          <a:lstStyle/>
          <a:p>
            <a:r>
              <a:rPr lang="en-US" altLang="en-IT" dirty="0"/>
              <a:t>Transaction data: supermarket data</a:t>
            </a:r>
          </a:p>
        </p:txBody>
      </p:sp>
      <p:sp>
        <p:nvSpPr>
          <p:cNvPr id="676867" name="Rectangle 3">
            <a:extLst>
              <a:ext uri="{FF2B5EF4-FFF2-40B4-BE49-F238E27FC236}">
                <a16:creationId xmlns:a16="http://schemas.microsoft.com/office/drawing/2014/main" id="{A22D4989-F894-62FC-0D3B-751D7A4D46CE}"/>
              </a:ext>
            </a:extLst>
          </p:cNvPr>
          <p:cNvSpPr>
            <a:spLocks noGrp="1" noChangeArrowheads="1"/>
          </p:cNvSpPr>
          <p:nvPr>
            <p:ph type="body" idx="1"/>
          </p:nvPr>
        </p:nvSpPr>
        <p:spPr>
          <a:xfrm>
            <a:off x="1981200" y="1233489"/>
            <a:ext cx="8229600" cy="4897437"/>
          </a:xfrm>
        </p:spPr>
        <p:txBody>
          <a:bodyPr/>
          <a:lstStyle/>
          <a:p>
            <a:pPr>
              <a:lnSpc>
                <a:spcPct val="90000"/>
              </a:lnSpc>
            </a:pPr>
            <a:r>
              <a:rPr lang="en-US" altLang="en-IT"/>
              <a:t>Market basket transactions:</a:t>
            </a:r>
          </a:p>
          <a:p>
            <a:pPr lvl="1">
              <a:lnSpc>
                <a:spcPct val="90000"/>
              </a:lnSpc>
              <a:buFont typeface="Wingdings" pitchFamily="2" charset="2"/>
              <a:buNone/>
            </a:pPr>
            <a:r>
              <a:rPr lang="en-US" altLang="en-IT"/>
              <a:t>	t1: </a:t>
            </a:r>
            <a:r>
              <a:rPr lang="en-US" altLang="en-IT">
                <a:solidFill>
                  <a:srgbClr val="FF0000"/>
                </a:solidFill>
              </a:rPr>
              <a:t>{bread, cheese, milk}</a:t>
            </a:r>
          </a:p>
          <a:p>
            <a:pPr lvl="1">
              <a:lnSpc>
                <a:spcPct val="90000"/>
              </a:lnSpc>
              <a:buFont typeface="Wingdings" pitchFamily="2" charset="2"/>
              <a:buNone/>
            </a:pPr>
            <a:r>
              <a:rPr lang="en-US" altLang="en-IT"/>
              <a:t>	t2: </a:t>
            </a:r>
            <a:r>
              <a:rPr lang="en-US" altLang="en-IT">
                <a:solidFill>
                  <a:srgbClr val="FF0000"/>
                </a:solidFill>
              </a:rPr>
              <a:t>{apple, eggs, salt, yogurt}</a:t>
            </a:r>
          </a:p>
          <a:p>
            <a:pPr lvl="1">
              <a:lnSpc>
                <a:spcPct val="90000"/>
              </a:lnSpc>
              <a:buFont typeface="Wingdings" pitchFamily="2" charset="2"/>
              <a:buNone/>
            </a:pPr>
            <a:r>
              <a:rPr lang="en-US" altLang="en-IT"/>
              <a:t>	… 		</a:t>
            </a:r>
            <a:r>
              <a:rPr lang="en-US" altLang="en-IT">
                <a:solidFill>
                  <a:srgbClr val="FF0000"/>
                </a:solidFill>
              </a:rPr>
              <a:t>…</a:t>
            </a:r>
          </a:p>
          <a:p>
            <a:pPr lvl="1">
              <a:lnSpc>
                <a:spcPct val="90000"/>
              </a:lnSpc>
              <a:buFont typeface="Wingdings" pitchFamily="2" charset="2"/>
              <a:buNone/>
            </a:pPr>
            <a:r>
              <a:rPr lang="en-US" altLang="en-IT"/>
              <a:t>	tn: </a:t>
            </a:r>
            <a:r>
              <a:rPr lang="en-US" altLang="en-IT">
                <a:solidFill>
                  <a:srgbClr val="FF0000"/>
                </a:solidFill>
              </a:rPr>
              <a:t>{biscuit, eggs, milk}</a:t>
            </a:r>
          </a:p>
          <a:p>
            <a:pPr>
              <a:lnSpc>
                <a:spcPct val="90000"/>
              </a:lnSpc>
            </a:pPr>
            <a:r>
              <a:rPr lang="en-US" altLang="en-IT"/>
              <a:t>Concepts:</a:t>
            </a:r>
          </a:p>
          <a:p>
            <a:pPr lvl="1">
              <a:lnSpc>
                <a:spcPct val="90000"/>
              </a:lnSpc>
            </a:pPr>
            <a:r>
              <a:rPr lang="en-US" altLang="en-IT">
                <a:solidFill>
                  <a:srgbClr val="FF0000"/>
                </a:solidFill>
              </a:rPr>
              <a:t>An </a:t>
            </a:r>
            <a:r>
              <a:rPr lang="en-US" altLang="en-IT" i="1">
                <a:solidFill>
                  <a:srgbClr val="FF0000"/>
                </a:solidFill>
              </a:rPr>
              <a:t>item</a:t>
            </a:r>
            <a:r>
              <a:rPr lang="en-US" altLang="en-IT">
                <a:solidFill>
                  <a:srgbClr val="FF0000"/>
                </a:solidFill>
              </a:rPr>
              <a:t>:</a:t>
            </a:r>
            <a:r>
              <a:rPr lang="en-US" altLang="en-IT"/>
              <a:t>  an item/article in a basket</a:t>
            </a:r>
          </a:p>
          <a:p>
            <a:pPr lvl="1">
              <a:lnSpc>
                <a:spcPct val="90000"/>
              </a:lnSpc>
            </a:pPr>
            <a:r>
              <a:rPr lang="en-US" altLang="en-IT" i="1">
                <a:solidFill>
                  <a:srgbClr val="FF0000"/>
                </a:solidFill>
              </a:rPr>
              <a:t>I</a:t>
            </a:r>
            <a:r>
              <a:rPr lang="en-US" altLang="en-IT">
                <a:solidFill>
                  <a:srgbClr val="FF0000"/>
                </a:solidFill>
              </a:rPr>
              <a:t>:</a:t>
            </a:r>
            <a:r>
              <a:rPr lang="en-US" altLang="en-IT">
                <a:solidFill>
                  <a:schemeClr val="hlink"/>
                </a:solidFill>
              </a:rPr>
              <a:t> </a:t>
            </a:r>
            <a:r>
              <a:rPr lang="en-US" altLang="en-IT"/>
              <a:t>the set of all items sold in the store</a:t>
            </a:r>
          </a:p>
          <a:p>
            <a:pPr lvl="1">
              <a:lnSpc>
                <a:spcPct val="90000"/>
              </a:lnSpc>
            </a:pPr>
            <a:r>
              <a:rPr lang="en-US" altLang="en-IT">
                <a:solidFill>
                  <a:srgbClr val="FF0000"/>
                </a:solidFill>
              </a:rPr>
              <a:t>A </a:t>
            </a:r>
            <a:r>
              <a:rPr lang="en-US" altLang="en-IT" i="1">
                <a:solidFill>
                  <a:srgbClr val="FF0000"/>
                </a:solidFill>
              </a:rPr>
              <a:t>transaction</a:t>
            </a:r>
            <a:r>
              <a:rPr lang="en-US" altLang="en-IT">
                <a:solidFill>
                  <a:srgbClr val="FF0000"/>
                </a:solidFill>
              </a:rPr>
              <a:t>:</a:t>
            </a:r>
            <a:r>
              <a:rPr lang="en-US" altLang="en-IT"/>
              <a:t> items purchased in a basket; it may have TID (transaction ID)</a:t>
            </a:r>
          </a:p>
          <a:p>
            <a:pPr lvl="1">
              <a:lnSpc>
                <a:spcPct val="90000"/>
              </a:lnSpc>
            </a:pPr>
            <a:r>
              <a:rPr lang="en-US" altLang="en-IT">
                <a:solidFill>
                  <a:srgbClr val="FF0000"/>
                </a:solidFill>
              </a:rPr>
              <a:t>A </a:t>
            </a:r>
            <a:r>
              <a:rPr lang="en-US" altLang="en-IT" i="1">
                <a:solidFill>
                  <a:srgbClr val="FF0000"/>
                </a:solidFill>
              </a:rPr>
              <a:t>transactional</a:t>
            </a:r>
            <a:r>
              <a:rPr lang="en-US" altLang="en-IT">
                <a:solidFill>
                  <a:srgbClr val="FF0000"/>
                </a:solidFill>
              </a:rPr>
              <a:t> </a:t>
            </a:r>
            <a:r>
              <a:rPr lang="en-US" altLang="en-IT" i="1">
                <a:solidFill>
                  <a:srgbClr val="FF0000"/>
                </a:solidFill>
              </a:rPr>
              <a:t>dataset</a:t>
            </a:r>
            <a:r>
              <a:rPr lang="en-US" altLang="en-IT"/>
              <a:t>: A set of transactions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401C13A5-EC9A-898E-37C9-2F5B3091C344}"/>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AC0BF49F-312D-0926-6115-CA8A6E012902}"/>
              </a:ext>
            </a:extLst>
          </p:cNvPr>
          <p:cNvSpPr>
            <a:spLocks noGrp="1"/>
          </p:cNvSpPr>
          <p:nvPr>
            <p:ph type="sldNum" sz="quarter" idx="11"/>
          </p:nvPr>
        </p:nvSpPr>
        <p:spPr/>
        <p:txBody>
          <a:bodyPr/>
          <a:lstStyle/>
          <a:p>
            <a:fld id="{9422E0FA-9D21-2B47-9FE3-AC96B253ABFE}" type="slidenum">
              <a:rPr lang="en-US" altLang="en-US"/>
              <a:pPr/>
              <a:t>13</a:t>
            </a:fld>
            <a:endParaRPr lang="en-US" altLang="en-US"/>
          </a:p>
        </p:txBody>
      </p:sp>
      <p:sp>
        <p:nvSpPr>
          <p:cNvPr id="705538" name="Rectangle 2">
            <a:extLst>
              <a:ext uri="{FF2B5EF4-FFF2-40B4-BE49-F238E27FC236}">
                <a16:creationId xmlns:a16="http://schemas.microsoft.com/office/drawing/2014/main" id="{B473F629-6177-9767-74E8-BB30B57F9F98}"/>
              </a:ext>
            </a:extLst>
          </p:cNvPr>
          <p:cNvSpPr>
            <a:spLocks noGrp="1" noChangeArrowheads="1"/>
          </p:cNvSpPr>
          <p:nvPr>
            <p:ph type="title"/>
          </p:nvPr>
        </p:nvSpPr>
        <p:spPr>
          <a:xfrm>
            <a:off x="838200" y="64292"/>
            <a:ext cx="10515600" cy="1325563"/>
          </a:xfrm>
        </p:spPr>
        <p:txBody>
          <a:bodyPr/>
          <a:lstStyle/>
          <a:p>
            <a:r>
              <a:rPr lang="en-US" altLang="en-IT" dirty="0"/>
              <a:t>Transaction data: a set of documents</a:t>
            </a:r>
          </a:p>
        </p:txBody>
      </p:sp>
      <p:sp>
        <p:nvSpPr>
          <p:cNvPr id="705539" name="Rectangle 3">
            <a:extLst>
              <a:ext uri="{FF2B5EF4-FFF2-40B4-BE49-F238E27FC236}">
                <a16:creationId xmlns:a16="http://schemas.microsoft.com/office/drawing/2014/main" id="{249C9053-266D-F505-C1ED-1F3D6553A804}"/>
              </a:ext>
            </a:extLst>
          </p:cNvPr>
          <p:cNvSpPr>
            <a:spLocks noGrp="1" noChangeArrowheads="1"/>
          </p:cNvSpPr>
          <p:nvPr>
            <p:ph type="body" idx="1"/>
          </p:nvPr>
        </p:nvSpPr>
        <p:spPr>
          <a:xfrm>
            <a:off x="1981200" y="1341439"/>
            <a:ext cx="8229600" cy="4789487"/>
          </a:xfrm>
        </p:spPr>
        <p:txBody>
          <a:bodyPr/>
          <a:lstStyle/>
          <a:p>
            <a:r>
              <a:rPr lang="en-US" altLang="ja-JP" sz="2900" b="1">
                <a:solidFill>
                  <a:srgbClr val="FF0000"/>
                </a:solidFill>
                <a:ea typeface="ＭＳ Ｐゴシック" panose="020B0600070205080204" pitchFamily="34" charset="-128"/>
              </a:rPr>
              <a:t>A text document data set. Each document is treated as a “bag” of keywords</a:t>
            </a:r>
            <a:endParaRPr lang="en-US" altLang="ja-JP" sz="2900">
              <a:solidFill>
                <a:srgbClr val="FF0000"/>
              </a:solidFill>
              <a:ea typeface="ＭＳ Ｐゴシック" panose="020B0600070205080204" pitchFamily="34" charset="-128"/>
            </a:endParaRPr>
          </a:p>
          <a:p>
            <a:pPr>
              <a:buFont typeface="Wingdings" pitchFamily="2" charset="2"/>
              <a:buNone/>
            </a:pPr>
            <a:r>
              <a:rPr lang="en-US" altLang="ja-JP" sz="2900">
                <a:ea typeface="ＭＳ Ｐゴシック" panose="020B0600070205080204" pitchFamily="34" charset="-128"/>
              </a:rPr>
              <a:t>	</a:t>
            </a:r>
            <a:r>
              <a:rPr lang="en-US" altLang="ja-JP" sz="2400">
                <a:ea typeface="ＭＳ Ｐゴシック" panose="020B0600070205080204" pitchFamily="34" charset="-128"/>
              </a:rPr>
              <a:t>doc1: 	Student, Teach, School 	 </a:t>
            </a:r>
          </a:p>
          <a:p>
            <a:pPr>
              <a:buFont typeface="Wingdings" pitchFamily="2" charset="2"/>
              <a:buNone/>
            </a:pPr>
            <a:r>
              <a:rPr lang="en-US" altLang="ja-JP" sz="2400">
                <a:ea typeface="ＭＳ Ｐゴシック" panose="020B0600070205080204" pitchFamily="34" charset="-128"/>
              </a:rPr>
              <a:t>	doc2: 	Student, School 		 </a:t>
            </a:r>
          </a:p>
          <a:p>
            <a:pPr>
              <a:buFont typeface="Wingdings" pitchFamily="2" charset="2"/>
              <a:buNone/>
            </a:pPr>
            <a:r>
              <a:rPr lang="en-US" altLang="ja-JP" sz="2400">
                <a:ea typeface="ＭＳ Ｐゴシック" panose="020B0600070205080204" pitchFamily="34" charset="-128"/>
              </a:rPr>
              <a:t>	doc3: 	Teach, School, City, Game 	 </a:t>
            </a:r>
          </a:p>
          <a:p>
            <a:pPr>
              <a:buFont typeface="Wingdings" pitchFamily="2" charset="2"/>
              <a:buNone/>
            </a:pPr>
            <a:r>
              <a:rPr lang="en-US" altLang="ja-JP" sz="2400">
                <a:ea typeface="ＭＳ Ｐゴシック" panose="020B0600070205080204" pitchFamily="34" charset="-128"/>
              </a:rPr>
              <a:t>	doc4: 	Baseball, Basketball		</a:t>
            </a:r>
          </a:p>
          <a:p>
            <a:pPr>
              <a:buFont typeface="Wingdings" pitchFamily="2" charset="2"/>
              <a:buNone/>
            </a:pPr>
            <a:r>
              <a:rPr lang="en-US" altLang="ja-JP" sz="2400">
                <a:ea typeface="ＭＳ Ｐゴシック" panose="020B0600070205080204" pitchFamily="34" charset="-128"/>
              </a:rPr>
              <a:t>	doc5: 	Basketball, Player, Spectator  	</a:t>
            </a:r>
          </a:p>
          <a:p>
            <a:pPr>
              <a:buFont typeface="Wingdings" pitchFamily="2" charset="2"/>
              <a:buNone/>
            </a:pPr>
            <a:r>
              <a:rPr lang="en-US" altLang="ja-JP" sz="2400">
                <a:ea typeface="ＭＳ Ｐゴシック" panose="020B0600070205080204" pitchFamily="34" charset="-128"/>
              </a:rPr>
              <a:t>	doc6: 	Baseball, Coach, Game, Team</a:t>
            </a:r>
          </a:p>
          <a:p>
            <a:pPr>
              <a:buFont typeface="Wingdings" pitchFamily="2" charset="2"/>
              <a:buNone/>
            </a:pPr>
            <a:r>
              <a:rPr lang="en-US" altLang="ja-JP" sz="2400">
                <a:ea typeface="ＭＳ Ｐゴシック" panose="020B0600070205080204" pitchFamily="34" charset="-128"/>
              </a:rPr>
              <a:t>	doc7: 	Basketball, Team, City, Game 	</a:t>
            </a:r>
            <a:endParaRPr lang="en-US" altLang="en-IT"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CDCCDC2D-6515-22B7-52BB-0F8430DEF191}"/>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BA6DA15A-A5FF-13A3-BACE-3E63AB49CB31}"/>
              </a:ext>
            </a:extLst>
          </p:cNvPr>
          <p:cNvSpPr>
            <a:spLocks noGrp="1"/>
          </p:cNvSpPr>
          <p:nvPr>
            <p:ph type="sldNum" sz="quarter" idx="11"/>
          </p:nvPr>
        </p:nvSpPr>
        <p:spPr/>
        <p:txBody>
          <a:bodyPr/>
          <a:lstStyle/>
          <a:p>
            <a:fld id="{453FA894-8FAD-3840-8E67-9709F342A52F}" type="slidenum">
              <a:rPr lang="en-US" altLang="en-US"/>
              <a:pPr/>
              <a:t>14</a:t>
            </a:fld>
            <a:endParaRPr lang="en-US" altLang="en-US"/>
          </a:p>
        </p:txBody>
      </p:sp>
      <p:sp>
        <p:nvSpPr>
          <p:cNvPr id="648194" name="Rectangle 2">
            <a:extLst>
              <a:ext uri="{FF2B5EF4-FFF2-40B4-BE49-F238E27FC236}">
                <a16:creationId xmlns:a16="http://schemas.microsoft.com/office/drawing/2014/main" id="{DD024D74-C8A2-52DE-54A0-FB2DA07683EF}"/>
              </a:ext>
            </a:extLst>
          </p:cNvPr>
          <p:cNvSpPr>
            <a:spLocks noGrp="1" noChangeArrowheads="1"/>
          </p:cNvSpPr>
          <p:nvPr>
            <p:ph type="title"/>
          </p:nvPr>
        </p:nvSpPr>
        <p:spPr/>
        <p:txBody>
          <a:bodyPr/>
          <a:lstStyle/>
          <a:p>
            <a:r>
              <a:rPr lang="en-US" altLang="en-IT" dirty="0"/>
              <a:t>The model: rules, more formally</a:t>
            </a:r>
            <a:endParaRPr lang="en-US" altLang="en-IT" sz="2200" dirty="0"/>
          </a:p>
        </p:txBody>
      </p:sp>
      <p:sp>
        <p:nvSpPr>
          <p:cNvPr id="648195" name="Rectangle 3">
            <a:extLst>
              <a:ext uri="{FF2B5EF4-FFF2-40B4-BE49-F238E27FC236}">
                <a16:creationId xmlns:a16="http://schemas.microsoft.com/office/drawing/2014/main" id="{BD8CF3B8-19C9-C17C-F4CF-1896B40C0A98}"/>
              </a:ext>
            </a:extLst>
          </p:cNvPr>
          <p:cNvSpPr>
            <a:spLocks noGrp="1" noChangeArrowheads="1"/>
          </p:cNvSpPr>
          <p:nvPr>
            <p:ph type="body" idx="1"/>
          </p:nvPr>
        </p:nvSpPr>
        <p:spPr>
          <a:xfrm>
            <a:off x="2100263" y="1751012"/>
            <a:ext cx="8305800" cy="4787900"/>
          </a:xfrm>
        </p:spPr>
        <p:txBody>
          <a:bodyPr/>
          <a:lstStyle/>
          <a:p>
            <a:pPr>
              <a:lnSpc>
                <a:spcPct val="90000"/>
              </a:lnSpc>
            </a:pPr>
            <a:r>
              <a:rPr lang="en-US" altLang="en-IT" dirty="0"/>
              <a:t>A transaction </a:t>
            </a:r>
            <a:r>
              <a:rPr lang="en-US" altLang="en-IT" i="1" dirty="0">
                <a:solidFill>
                  <a:srgbClr val="FF0000"/>
                </a:solidFill>
              </a:rPr>
              <a:t>t</a:t>
            </a:r>
            <a:r>
              <a:rPr lang="en-US" altLang="en-IT" dirty="0">
                <a:solidFill>
                  <a:srgbClr val="FF0000"/>
                </a:solidFill>
              </a:rPr>
              <a:t> contains </a:t>
            </a:r>
            <a:r>
              <a:rPr lang="en-US" altLang="en-IT" i="1" dirty="0">
                <a:solidFill>
                  <a:srgbClr val="FF0000"/>
                </a:solidFill>
              </a:rPr>
              <a:t>X</a:t>
            </a:r>
            <a:r>
              <a:rPr lang="en-US" altLang="en-IT" dirty="0"/>
              <a:t>, a set of items (</a:t>
            </a:r>
            <a:r>
              <a:rPr lang="en-US" altLang="en-IT" dirty="0">
                <a:solidFill>
                  <a:srgbClr val="3333CC"/>
                </a:solidFill>
              </a:rPr>
              <a:t>itemset</a:t>
            </a:r>
            <a:r>
              <a:rPr lang="en-US" altLang="en-IT" dirty="0"/>
              <a:t>) in </a:t>
            </a:r>
            <a:r>
              <a:rPr lang="en-US" altLang="en-IT" i="1" dirty="0"/>
              <a:t>I</a:t>
            </a:r>
            <a:r>
              <a:rPr lang="en-US" altLang="en-IT" dirty="0"/>
              <a:t>, if </a:t>
            </a:r>
            <a:r>
              <a:rPr lang="en-US" altLang="en-IT" i="1" dirty="0"/>
              <a:t>X</a:t>
            </a:r>
            <a:r>
              <a:rPr lang="en-US" altLang="en-IT" dirty="0"/>
              <a:t> </a:t>
            </a:r>
            <a:r>
              <a:rPr lang="en-US" altLang="en-IT" dirty="0">
                <a:sym typeface="Symbol" pitchFamily="2" charset="2"/>
              </a:rPr>
              <a:t></a:t>
            </a:r>
            <a:r>
              <a:rPr lang="en-US" altLang="en-IT" dirty="0"/>
              <a:t> </a:t>
            </a:r>
            <a:r>
              <a:rPr lang="en-US" altLang="en-IT" i="1" dirty="0"/>
              <a:t>t</a:t>
            </a:r>
            <a:r>
              <a:rPr lang="en-US" altLang="en-IT" dirty="0"/>
              <a:t>.</a:t>
            </a:r>
          </a:p>
          <a:p>
            <a:pPr>
              <a:lnSpc>
                <a:spcPct val="90000"/>
              </a:lnSpc>
            </a:pPr>
            <a:r>
              <a:rPr lang="en-US" altLang="en-IT" dirty="0"/>
              <a:t>An </a:t>
            </a:r>
            <a:r>
              <a:rPr lang="en-US" altLang="en-IT" dirty="0">
                <a:solidFill>
                  <a:srgbClr val="FF0000"/>
                </a:solidFill>
              </a:rPr>
              <a:t>association rule</a:t>
            </a:r>
            <a:r>
              <a:rPr lang="en-US" altLang="en-IT" dirty="0"/>
              <a:t> is an implication of the form:</a:t>
            </a:r>
          </a:p>
          <a:p>
            <a:pPr>
              <a:lnSpc>
                <a:spcPct val="90000"/>
              </a:lnSpc>
              <a:spcBef>
                <a:spcPct val="10000"/>
              </a:spcBef>
              <a:buFont typeface="Wingdings" pitchFamily="2" charset="2"/>
              <a:buNone/>
            </a:pPr>
            <a:r>
              <a:rPr lang="en-US" altLang="en-IT" i="1" dirty="0"/>
              <a:t>		X</a:t>
            </a:r>
            <a:r>
              <a:rPr lang="en-US" altLang="en-IT" dirty="0"/>
              <a:t> </a:t>
            </a:r>
            <a:r>
              <a:rPr lang="en-US" altLang="en-IT" dirty="0">
                <a:sym typeface="Symbol" pitchFamily="2" charset="2"/>
              </a:rPr>
              <a:t> </a:t>
            </a:r>
            <a:r>
              <a:rPr lang="en-US" altLang="en-IT" i="1" dirty="0">
                <a:sym typeface="Symbol" pitchFamily="2" charset="2"/>
              </a:rPr>
              <a:t>Y</a:t>
            </a:r>
            <a:r>
              <a:rPr lang="en-US" altLang="en-IT" dirty="0">
                <a:sym typeface="Symbol" pitchFamily="2" charset="2"/>
              </a:rPr>
              <a:t>, where </a:t>
            </a:r>
            <a:r>
              <a:rPr lang="en-US" altLang="en-IT" i="1" dirty="0">
                <a:sym typeface="Symbol" pitchFamily="2" charset="2"/>
              </a:rPr>
              <a:t>X</a:t>
            </a:r>
            <a:r>
              <a:rPr lang="en-US" altLang="en-IT" dirty="0">
                <a:sym typeface="Symbol" pitchFamily="2" charset="2"/>
              </a:rPr>
              <a:t>, </a:t>
            </a:r>
            <a:r>
              <a:rPr lang="en-US" altLang="en-IT" i="1" dirty="0">
                <a:sym typeface="Symbol" pitchFamily="2" charset="2"/>
              </a:rPr>
              <a:t>Y</a:t>
            </a:r>
            <a:r>
              <a:rPr lang="en-US" altLang="en-IT" dirty="0">
                <a:sym typeface="Symbol" pitchFamily="2" charset="2"/>
              </a:rPr>
              <a:t>  </a:t>
            </a:r>
            <a:r>
              <a:rPr lang="en-US" altLang="en-IT" i="1" dirty="0">
                <a:sym typeface="Symbol" pitchFamily="2" charset="2"/>
              </a:rPr>
              <a:t>I, and X </a:t>
            </a:r>
            <a:r>
              <a:rPr lang="en-US" altLang="en-IT" dirty="0">
                <a:sym typeface="Symbol" pitchFamily="2" charset="2"/>
              </a:rPr>
              <a:t></a:t>
            </a:r>
            <a:r>
              <a:rPr lang="en-US" altLang="en-IT" i="1" dirty="0">
                <a:sym typeface="Symbol" pitchFamily="2" charset="2"/>
              </a:rPr>
              <a:t>Y</a:t>
            </a:r>
            <a:r>
              <a:rPr lang="en-US" altLang="en-IT" dirty="0">
                <a:sym typeface="Symbol" pitchFamily="2" charset="2"/>
              </a:rPr>
              <a:t>  = </a:t>
            </a:r>
          </a:p>
          <a:p>
            <a:pPr>
              <a:lnSpc>
                <a:spcPct val="90000"/>
              </a:lnSpc>
              <a:spcBef>
                <a:spcPct val="10000"/>
              </a:spcBef>
              <a:buFont typeface="Wingdings" pitchFamily="2" charset="2"/>
              <a:buNone/>
            </a:pPr>
            <a:endParaRPr lang="en-US" altLang="en-IT" i="1" dirty="0">
              <a:sym typeface="Symbol" pitchFamily="2" charset="2"/>
            </a:endParaRPr>
          </a:p>
          <a:p>
            <a:pPr>
              <a:lnSpc>
                <a:spcPct val="90000"/>
              </a:lnSpc>
            </a:pPr>
            <a:r>
              <a:rPr lang="en-US" altLang="en-IT" dirty="0"/>
              <a:t>An </a:t>
            </a:r>
            <a:r>
              <a:rPr lang="en-US" altLang="en-IT" dirty="0">
                <a:solidFill>
                  <a:srgbClr val="FF0000"/>
                </a:solidFill>
              </a:rPr>
              <a:t>itemset</a:t>
            </a:r>
            <a:r>
              <a:rPr lang="en-US" altLang="en-IT" dirty="0">
                <a:solidFill>
                  <a:schemeClr val="hlink"/>
                </a:solidFill>
              </a:rPr>
              <a:t> </a:t>
            </a:r>
            <a:r>
              <a:rPr lang="en-US" altLang="en-IT" dirty="0"/>
              <a:t>is a set of items.</a:t>
            </a:r>
          </a:p>
          <a:p>
            <a:pPr marL="742950" lvl="1" indent="-285750"/>
            <a:r>
              <a:rPr lang="en-US" altLang="en-IT" dirty="0"/>
              <a:t>E.g., X = {milk, bread, cereal} is an itemset.</a:t>
            </a:r>
          </a:p>
          <a:p>
            <a:pPr>
              <a:lnSpc>
                <a:spcPct val="90000"/>
              </a:lnSpc>
            </a:pPr>
            <a:r>
              <a:rPr lang="en-US" altLang="en-IT" dirty="0"/>
              <a:t>A </a:t>
            </a:r>
            <a:r>
              <a:rPr lang="en-US" altLang="en-IT" i="1" dirty="0">
                <a:solidFill>
                  <a:srgbClr val="FF0000"/>
                </a:solidFill>
              </a:rPr>
              <a:t>k</a:t>
            </a:r>
            <a:r>
              <a:rPr lang="en-US" altLang="en-IT" dirty="0">
                <a:solidFill>
                  <a:srgbClr val="FF0000"/>
                </a:solidFill>
              </a:rPr>
              <a:t>-itemset </a:t>
            </a:r>
            <a:r>
              <a:rPr lang="en-US" altLang="en-IT" dirty="0"/>
              <a:t>is an itemset with </a:t>
            </a:r>
            <a:r>
              <a:rPr lang="en-US" altLang="en-IT" i="1" dirty="0"/>
              <a:t>k</a:t>
            </a:r>
            <a:r>
              <a:rPr lang="en-US" altLang="en-IT" dirty="0"/>
              <a:t> items.</a:t>
            </a:r>
          </a:p>
          <a:p>
            <a:pPr marL="742950" lvl="1" indent="-285750"/>
            <a:r>
              <a:rPr lang="en-US" altLang="en-IT" dirty="0"/>
              <a:t>E.g., {milk, bread, cereal} is a 3-itemset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DC5C636-EC46-1DAC-026A-C543F7528D33}"/>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02C05494-E69D-10F1-6040-33205CEB4998}"/>
              </a:ext>
            </a:extLst>
          </p:cNvPr>
          <p:cNvSpPr>
            <a:spLocks noGrp="1"/>
          </p:cNvSpPr>
          <p:nvPr>
            <p:ph type="sldNum" sz="quarter" idx="11"/>
          </p:nvPr>
        </p:nvSpPr>
        <p:spPr/>
        <p:txBody>
          <a:bodyPr/>
          <a:lstStyle/>
          <a:p>
            <a:fld id="{029A6FCB-A520-EE48-B4FE-6434336CCF6C}" type="slidenum">
              <a:rPr lang="en-US" altLang="en-US"/>
              <a:pPr/>
              <a:t>15</a:t>
            </a:fld>
            <a:endParaRPr lang="en-US" altLang="en-US"/>
          </a:p>
        </p:txBody>
      </p:sp>
      <p:sp>
        <p:nvSpPr>
          <p:cNvPr id="679938" name="Rectangle 2">
            <a:extLst>
              <a:ext uri="{FF2B5EF4-FFF2-40B4-BE49-F238E27FC236}">
                <a16:creationId xmlns:a16="http://schemas.microsoft.com/office/drawing/2014/main" id="{0B2A7112-09D4-5F34-D5FC-AAF0D776E110}"/>
              </a:ext>
            </a:extLst>
          </p:cNvPr>
          <p:cNvSpPr>
            <a:spLocks noGrp="1" noChangeArrowheads="1"/>
          </p:cNvSpPr>
          <p:nvPr>
            <p:ph type="title"/>
          </p:nvPr>
        </p:nvSpPr>
        <p:spPr>
          <a:xfrm>
            <a:off x="838200" y="0"/>
            <a:ext cx="10515600" cy="1325563"/>
          </a:xfrm>
        </p:spPr>
        <p:txBody>
          <a:bodyPr/>
          <a:lstStyle/>
          <a:p>
            <a:r>
              <a:rPr lang="en-US" altLang="en-IT" dirty="0"/>
              <a:t>Rule strength measures</a:t>
            </a:r>
          </a:p>
        </p:txBody>
      </p:sp>
      <p:sp>
        <p:nvSpPr>
          <p:cNvPr id="679939" name="Rectangle 3">
            <a:extLst>
              <a:ext uri="{FF2B5EF4-FFF2-40B4-BE49-F238E27FC236}">
                <a16:creationId xmlns:a16="http://schemas.microsoft.com/office/drawing/2014/main" id="{C1C296E5-2033-7493-C93D-B1EA4845ABC1}"/>
              </a:ext>
            </a:extLst>
          </p:cNvPr>
          <p:cNvSpPr>
            <a:spLocks noGrp="1" noChangeArrowheads="1"/>
          </p:cNvSpPr>
          <p:nvPr>
            <p:ph type="body" idx="1"/>
          </p:nvPr>
        </p:nvSpPr>
        <p:spPr>
          <a:xfrm>
            <a:off x="1981200" y="1268414"/>
            <a:ext cx="8229600" cy="4859337"/>
          </a:xfrm>
        </p:spPr>
        <p:txBody>
          <a:bodyPr/>
          <a:lstStyle/>
          <a:p>
            <a:pPr>
              <a:lnSpc>
                <a:spcPct val="90000"/>
              </a:lnSpc>
            </a:pPr>
            <a:r>
              <a:rPr lang="en-US" altLang="en-IT">
                <a:solidFill>
                  <a:srgbClr val="FF0000"/>
                </a:solidFill>
              </a:rPr>
              <a:t>Support:</a:t>
            </a:r>
            <a:r>
              <a:rPr lang="en-US" altLang="en-IT"/>
              <a:t> The rule holds with </a:t>
            </a:r>
            <a:r>
              <a:rPr lang="en-US" altLang="en-IT">
                <a:solidFill>
                  <a:srgbClr val="3333CC"/>
                </a:solidFill>
              </a:rPr>
              <a:t>support</a:t>
            </a:r>
            <a:r>
              <a:rPr lang="en-US" altLang="en-IT"/>
              <a:t> </a:t>
            </a:r>
            <a:r>
              <a:rPr lang="en-US" altLang="en-IT" i="1"/>
              <a:t>sup</a:t>
            </a:r>
            <a:r>
              <a:rPr lang="en-US" altLang="en-IT"/>
              <a:t> in </a:t>
            </a:r>
            <a:r>
              <a:rPr lang="en-US" altLang="en-IT" i="1"/>
              <a:t>T</a:t>
            </a:r>
            <a:r>
              <a:rPr lang="en-US" altLang="en-IT"/>
              <a:t> (the transaction data set) if sup% of transactions</a:t>
            </a:r>
            <a:r>
              <a:rPr lang="en-US" altLang="en-IT" i="1"/>
              <a:t> </a:t>
            </a:r>
            <a:r>
              <a:rPr lang="en-US" altLang="en-IT"/>
              <a:t>contain </a:t>
            </a:r>
            <a:r>
              <a:rPr lang="en-US" altLang="en-IT" i="1"/>
              <a:t>X</a:t>
            </a:r>
            <a:r>
              <a:rPr lang="en-US" altLang="en-IT"/>
              <a:t> </a:t>
            </a:r>
            <a:r>
              <a:rPr lang="en-US" altLang="en-IT">
                <a:sym typeface="Symbol" pitchFamily="2" charset="2"/>
              </a:rPr>
              <a:t> </a:t>
            </a:r>
            <a:r>
              <a:rPr lang="en-US" altLang="en-IT" i="1">
                <a:sym typeface="Symbol" pitchFamily="2" charset="2"/>
              </a:rPr>
              <a:t>Y</a:t>
            </a:r>
            <a:r>
              <a:rPr lang="en-US" altLang="en-IT">
                <a:sym typeface="Symbol" pitchFamily="2" charset="2"/>
              </a:rPr>
              <a:t>. </a:t>
            </a:r>
          </a:p>
          <a:p>
            <a:pPr lvl="1">
              <a:lnSpc>
                <a:spcPct val="90000"/>
              </a:lnSpc>
            </a:pPr>
            <a:r>
              <a:rPr lang="en-US" altLang="en-IT" i="1">
                <a:solidFill>
                  <a:srgbClr val="3333CC"/>
                </a:solidFill>
                <a:sym typeface="Symbol" pitchFamily="2" charset="2"/>
              </a:rPr>
              <a:t>sup</a:t>
            </a:r>
            <a:r>
              <a:rPr lang="en-US" altLang="en-IT">
                <a:solidFill>
                  <a:srgbClr val="3333CC"/>
                </a:solidFill>
                <a:sym typeface="Symbol" pitchFamily="2" charset="2"/>
              </a:rPr>
              <a:t> = Pr(</a:t>
            </a:r>
            <a:r>
              <a:rPr lang="en-US" altLang="en-IT" i="1">
                <a:solidFill>
                  <a:srgbClr val="3333CC"/>
                </a:solidFill>
              </a:rPr>
              <a:t>X</a:t>
            </a:r>
            <a:r>
              <a:rPr lang="en-US" altLang="en-IT">
                <a:solidFill>
                  <a:srgbClr val="3333CC"/>
                </a:solidFill>
              </a:rPr>
              <a:t> </a:t>
            </a:r>
            <a:r>
              <a:rPr lang="en-US" altLang="en-IT">
                <a:solidFill>
                  <a:srgbClr val="3333CC"/>
                </a:solidFill>
                <a:sym typeface="Symbol" pitchFamily="2" charset="2"/>
              </a:rPr>
              <a:t> </a:t>
            </a:r>
            <a:r>
              <a:rPr lang="en-US" altLang="en-IT" i="1">
                <a:solidFill>
                  <a:srgbClr val="3333CC"/>
                </a:solidFill>
                <a:sym typeface="Symbol" pitchFamily="2" charset="2"/>
              </a:rPr>
              <a:t>Y</a:t>
            </a:r>
            <a:r>
              <a:rPr lang="en-US" altLang="en-IT">
                <a:solidFill>
                  <a:srgbClr val="3333CC"/>
                </a:solidFill>
                <a:sym typeface="Symbol" pitchFamily="2" charset="2"/>
              </a:rPr>
              <a:t>)</a:t>
            </a:r>
            <a:r>
              <a:rPr lang="en-US" altLang="en-IT" i="1">
                <a:solidFill>
                  <a:srgbClr val="3333CC"/>
                </a:solidFill>
                <a:sym typeface="Symbol" pitchFamily="2" charset="2"/>
              </a:rPr>
              <a:t>.</a:t>
            </a:r>
            <a:r>
              <a:rPr lang="en-US" altLang="en-IT" i="1">
                <a:sym typeface="Symbol" pitchFamily="2" charset="2"/>
              </a:rPr>
              <a:t> </a:t>
            </a:r>
            <a:endParaRPr lang="en-US" altLang="en-IT"/>
          </a:p>
          <a:p>
            <a:pPr>
              <a:lnSpc>
                <a:spcPct val="90000"/>
              </a:lnSpc>
            </a:pPr>
            <a:r>
              <a:rPr lang="en-US" altLang="en-IT">
                <a:solidFill>
                  <a:srgbClr val="FF0000"/>
                </a:solidFill>
              </a:rPr>
              <a:t>Confidence:</a:t>
            </a:r>
            <a:r>
              <a:rPr lang="en-US" altLang="en-IT"/>
              <a:t> The rule holds in </a:t>
            </a:r>
            <a:r>
              <a:rPr lang="en-US" altLang="en-IT" i="1"/>
              <a:t>T</a:t>
            </a:r>
            <a:r>
              <a:rPr lang="en-US" altLang="en-IT"/>
              <a:t> with </a:t>
            </a:r>
            <a:r>
              <a:rPr lang="en-US" altLang="en-IT">
                <a:solidFill>
                  <a:srgbClr val="3333CC"/>
                </a:solidFill>
              </a:rPr>
              <a:t>confidence </a:t>
            </a:r>
            <a:r>
              <a:rPr lang="en-US" altLang="en-IT" i="1"/>
              <a:t>conf</a:t>
            </a:r>
            <a:r>
              <a:rPr lang="en-US" altLang="en-IT"/>
              <a:t> if </a:t>
            </a:r>
            <a:r>
              <a:rPr lang="en-US" altLang="en-IT" i="1"/>
              <a:t>conf</a:t>
            </a:r>
            <a:r>
              <a:rPr lang="en-US" altLang="en-IT"/>
              <a:t>% of tranactions that contain </a:t>
            </a:r>
            <a:r>
              <a:rPr lang="en-US" altLang="en-IT" i="1"/>
              <a:t>X</a:t>
            </a:r>
            <a:r>
              <a:rPr lang="en-US" altLang="en-IT"/>
              <a:t> also contain </a:t>
            </a:r>
            <a:r>
              <a:rPr lang="en-US" altLang="en-IT" i="1"/>
              <a:t>Y.</a:t>
            </a:r>
          </a:p>
          <a:p>
            <a:pPr lvl="1">
              <a:lnSpc>
                <a:spcPct val="90000"/>
              </a:lnSpc>
            </a:pPr>
            <a:r>
              <a:rPr lang="en-US" altLang="en-IT" i="1">
                <a:solidFill>
                  <a:srgbClr val="3333CC"/>
                </a:solidFill>
              </a:rPr>
              <a:t>conf</a:t>
            </a:r>
            <a:r>
              <a:rPr lang="en-US" altLang="en-IT">
                <a:solidFill>
                  <a:srgbClr val="3333CC"/>
                </a:solidFill>
              </a:rPr>
              <a:t> = Pr(</a:t>
            </a:r>
            <a:r>
              <a:rPr lang="en-US" altLang="en-IT" i="1">
                <a:solidFill>
                  <a:srgbClr val="3333CC"/>
                </a:solidFill>
              </a:rPr>
              <a:t>Y</a:t>
            </a:r>
            <a:r>
              <a:rPr lang="en-US" altLang="en-IT">
                <a:solidFill>
                  <a:srgbClr val="3333CC"/>
                </a:solidFill>
              </a:rPr>
              <a:t> | </a:t>
            </a:r>
            <a:r>
              <a:rPr lang="en-US" altLang="en-IT" i="1">
                <a:solidFill>
                  <a:srgbClr val="3333CC"/>
                </a:solidFill>
              </a:rPr>
              <a:t>X</a:t>
            </a:r>
            <a:r>
              <a:rPr lang="en-US" altLang="en-IT">
                <a:solidFill>
                  <a:srgbClr val="3333CC"/>
                </a:solidFill>
              </a:rPr>
              <a:t>)</a:t>
            </a:r>
          </a:p>
          <a:p>
            <a:pPr>
              <a:lnSpc>
                <a:spcPct val="90000"/>
              </a:lnSpc>
            </a:pPr>
            <a:r>
              <a:rPr lang="en-US" altLang="en-IT">
                <a:sym typeface="Symbol" pitchFamily="2" charset="2"/>
              </a:rPr>
              <a:t>An association rule is a pattern that states when </a:t>
            </a:r>
            <a:r>
              <a:rPr lang="en-US" altLang="en-IT" i="1">
                <a:sym typeface="Symbol" pitchFamily="2" charset="2"/>
              </a:rPr>
              <a:t>X</a:t>
            </a:r>
            <a:r>
              <a:rPr lang="en-US" altLang="en-IT">
                <a:sym typeface="Symbol" pitchFamily="2" charset="2"/>
              </a:rPr>
              <a:t> occurs, </a:t>
            </a:r>
            <a:r>
              <a:rPr lang="en-US" altLang="en-IT" i="1">
                <a:sym typeface="Symbol" pitchFamily="2" charset="2"/>
              </a:rPr>
              <a:t>Y</a:t>
            </a:r>
            <a:r>
              <a:rPr lang="en-US" altLang="en-IT">
                <a:sym typeface="Symbol" pitchFamily="2" charset="2"/>
              </a:rPr>
              <a:t> occurs with certain probability. </a:t>
            </a:r>
            <a:endParaRPr lang="en-US" altLang="en-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09517BC8-BC8C-72AD-8BC5-190FFCCF6EFB}"/>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7B8C35D1-BDB5-8221-E388-636A2838F15E}"/>
              </a:ext>
            </a:extLst>
          </p:cNvPr>
          <p:cNvSpPr>
            <a:spLocks noGrp="1"/>
          </p:cNvSpPr>
          <p:nvPr>
            <p:ph type="sldNum" sz="quarter" idx="11"/>
          </p:nvPr>
        </p:nvSpPr>
        <p:spPr/>
        <p:txBody>
          <a:bodyPr/>
          <a:lstStyle/>
          <a:p>
            <a:fld id="{F82CE1AE-05ED-F34B-BD74-CB71D4E5149E}" type="slidenum">
              <a:rPr lang="en-US" altLang="en-US"/>
              <a:pPr/>
              <a:t>16</a:t>
            </a:fld>
            <a:endParaRPr lang="en-US" altLang="en-US"/>
          </a:p>
        </p:txBody>
      </p:sp>
      <p:sp>
        <p:nvSpPr>
          <p:cNvPr id="678914" name="Rectangle 2">
            <a:extLst>
              <a:ext uri="{FF2B5EF4-FFF2-40B4-BE49-F238E27FC236}">
                <a16:creationId xmlns:a16="http://schemas.microsoft.com/office/drawing/2014/main" id="{B6891BA7-995C-179B-B81C-1CF69FCE6D57}"/>
              </a:ext>
            </a:extLst>
          </p:cNvPr>
          <p:cNvSpPr>
            <a:spLocks noGrp="1" noChangeArrowheads="1"/>
          </p:cNvSpPr>
          <p:nvPr>
            <p:ph type="title"/>
          </p:nvPr>
        </p:nvSpPr>
        <p:spPr>
          <a:xfrm>
            <a:off x="1452971" y="0"/>
            <a:ext cx="7793037" cy="1143000"/>
          </a:xfrm>
        </p:spPr>
        <p:txBody>
          <a:bodyPr/>
          <a:lstStyle/>
          <a:p>
            <a:r>
              <a:rPr lang="en-US" altLang="en-IT" dirty="0"/>
              <a:t>Support and Confidence</a:t>
            </a:r>
          </a:p>
        </p:txBody>
      </p:sp>
      <p:sp>
        <p:nvSpPr>
          <p:cNvPr id="678915" name="Rectangle 3">
            <a:extLst>
              <a:ext uri="{FF2B5EF4-FFF2-40B4-BE49-F238E27FC236}">
                <a16:creationId xmlns:a16="http://schemas.microsoft.com/office/drawing/2014/main" id="{51F72E3C-22EC-8947-3D22-F43BC5D2D056}"/>
              </a:ext>
            </a:extLst>
          </p:cNvPr>
          <p:cNvSpPr>
            <a:spLocks noGrp="1" noChangeArrowheads="1"/>
          </p:cNvSpPr>
          <p:nvPr>
            <p:ph type="body" idx="1"/>
          </p:nvPr>
        </p:nvSpPr>
        <p:spPr>
          <a:xfrm>
            <a:off x="1955800" y="1341439"/>
            <a:ext cx="8077200" cy="4471987"/>
          </a:xfrm>
        </p:spPr>
        <p:txBody>
          <a:bodyPr/>
          <a:lstStyle/>
          <a:p>
            <a:r>
              <a:rPr lang="en-US" altLang="en-IT">
                <a:solidFill>
                  <a:srgbClr val="FF0000"/>
                </a:solidFill>
              </a:rPr>
              <a:t>Support count</a:t>
            </a:r>
            <a:r>
              <a:rPr lang="en-US" altLang="en-IT"/>
              <a:t>: The support count of an itemset </a:t>
            </a:r>
            <a:r>
              <a:rPr lang="en-US" altLang="en-IT" i="1"/>
              <a:t>X</a:t>
            </a:r>
            <a:r>
              <a:rPr lang="en-US" altLang="en-IT"/>
              <a:t>, denoted by </a:t>
            </a:r>
            <a:r>
              <a:rPr lang="en-US" altLang="en-IT" i="1">
                <a:solidFill>
                  <a:srgbClr val="FF0000"/>
                </a:solidFill>
              </a:rPr>
              <a:t>X.count</a:t>
            </a:r>
            <a:r>
              <a:rPr lang="en-US" altLang="en-IT"/>
              <a:t>, in a data set </a:t>
            </a:r>
            <a:r>
              <a:rPr lang="en-US" altLang="en-IT" i="1"/>
              <a:t>T</a:t>
            </a:r>
            <a:r>
              <a:rPr lang="en-US" altLang="en-IT"/>
              <a:t> is the number of transactions in </a:t>
            </a:r>
            <a:r>
              <a:rPr lang="en-US" altLang="en-IT" i="1"/>
              <a:t>T</a:t>
            </a:r>
            <a:r>
              <a:rPr lang="en-US" altLang="en-IT"/>
              <a:t> that contain </a:t>
            </a:r>
            <a:r>
              <a:rPr lang="en-US" altLang="en-IT" i="1"/>
              <a:t>X</a:t>
            </a:r>
            <a:r>
              <a:rPr lang="en-US" altLang="en-IT"/>
              <a:t>. Assume </a:t>
            </a:r>
            <a:r>
              <a:rPr lang="en-US" altLang="en-IT" i="1"/>
              <a:t>T</a:t>
            </a:r>
            <a:r>
              <a:rPr lang="en-US" altLang="en-IT"/>
              <a:t> has </a:t>
            </a:r>
            <a:r>
              <a:rPr lang="en-US" altLang="en-IT" i="1"/>
              <a:t>n</a:t>
            </a:r>
            <a:r>
              <a:rPr lang="en-US" altLang="en-IT"/>
              <a:t> transactions. </a:t>
            </a:r>
          </a:p>
          <a:p>
            <a:r>
              <a:rPr lang="en-US" altLang="en-IT"/>
              <a:t>Then, </a:t>
            </a:r>
          </a:p>
          <a:p>
            <a:endParaRPr lang="en-US" altLang="en-IT"/>
          </a:p>
        </p:txBody>
      </p:sp>
      <p:sp>
        <p:nvSpPr>
          <p:cNvPr id="678917" name="Rectangle 5">
            <a:extLst>
              <a:ext uri="{FF2B5EF4-FFF2-40B4-BE49-F238E27FC236}">
                <a16:creationId xmlns:a16="http://schemas.microsoft.com/office/drawing/2014/main" id="{17EABA8D-AB4C-F332-4CAB-DC86E8D44611}"/>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graphicFrame>
        <p:nvGraphicFramePr>
          <p:cNvPr id="678916" name="Object 4">
            <a:extLst>
              <a:ext uri="{FF2B5EF4-FFF2-40B4-BE49-F238E27FC236}">
                <a16:creationId xmlns:a16="http://schemas.microsoft.com/office/drawing/2014/main" id="{6071C51D-305D-B305-D0DA-5E3074AD6883}"/>
              </a:ext>
            </a:extLst>
          </p:cNvPr>
          <p:cNvGraphicFramePr>
            <a:graphicFrameLocks noChangeAspect="1"/>
          </p:cNvGraphicFramePr>
          <p:nvPr/>
        </p:nvGraphicFramePr>
        <p:xfrm>
          <a:off x="2892425" y="3609975"/>
          <a:ext cx="4427538" cy="1079500"/>
        </p:xfrm>
        <a:graphic>
          <a:graphicData uri="http://schemas.openxmlformats.org/presentationml/2006/ole">
            <mc:AlternateContent xmlns:mc="http://schemas.openxmlformats.org/markup-compatibility/2006">
              <mc:Choice xmlns:v="urn:schemas-microsoft-com:vml" Requires="v">
                <p:oleObj name="Equation" r:id="rId2" imgW="33642300" imgH="8483600" progId="Equation.3">
                  <p:embed/>
                </p:oleObj>
              </mc:Choice>
              <mc:Fallback>
                <p:oleObj name="Equation" r:id="rId2" imgW="33642300" imgH="8483600" progId="Equation.3">
                  <p:embed/>
                  <p:pic>
                    <p:nvPicPr>
                      <p:cNvPr id="678916" name="Object 4">
                        <a:extLst>
                          <a:ext uri="{FF2B5EF4-FFF2-40B4-BE49-F238E27FC236}">
                            <a16:creationId xmlns:a16="http://schemas.microsoft.com/office/drawing/2014/main" id="{6071C51D-305D-B305-D0DA-5E3074AD68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2425" y="3609975"/>
                        <a:ext cx="4427538" cy="1079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8919" name="Rectangle 7">
            <a:extLst>
              <a:ext uri="{FF2B5EF4-FFF2-40B4-BE49-F238E27FC236}">
                <a16:creationId xmlns:a16="http://schemas.microsoft.com/office/drawing/2014/main" id="{11564C78-515C-B05F-7D20-1000BB588894}"/>
              </a:ext>
            </a:extLst>
          </p:cNvPr>
          <p:cNvSpPr>
            <a:spLocks noChangeArrowheads="1"/>
          </p:cNvSpPr>
          <p:nvPr/>
        </p:nvSpPr>
        <p:spPr bwMode="auto">
          <a:xfrm>
            <a:off x="1524001" y="30585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graphicFrame>
        <p:nvGraphicFramePr>
          <p:cNvPr id="678918" name="Object 6">
            <a:extLst>
              <a:ext uri="{FF2B5EF4-FFF2-40B4-BE49-F238E27FC236}">
                <a16:creationId xmlns:a16="http://schemas.microsoft.com/office/drawing/2014/main" id="{C11415A4-035B-8D5B-4EA8-3F15DD965261}"/>
              </a:ext>
            </a:extLst>
          </p:cNvPr>
          <p:cNvGraphicFramePr>
            <a:graphicFrameLocks noChangeAspect="1"/>
          </p:cNvGraphicFramePr>
          <p:nvPr/>
        </p:nvGraphicFramePr>
        <p:xfrm>
          <a:off x="2927351" y="4833938"/>
          <a:ext cx="4608513" cy="1079500"/>
        </p:xfrm>
        <a:graphic>
          <a:graphicData uri="http://schemas.openxmlformats.org/presentationml/2006/ole">
            <mc:AlternateContent xmlns:mc="http://schemas.openxmlformats.org/markup-compatibility/2006">
              <mc:Choice xmlns:v="urn:schemas-microsoft-com:vml" Requires="v">
                <p:oleObj name="Equation" r:id="rId4" imgW="37160200" imgH="8483600" progId="Equation.3">
                  <p:embed/>
                </p:oleObj>
              </mc:Choice>
              <mc:Fallback>
                <p:oleObj name="Equation" r:id="rId4" imgW="37160200" imgH="8483600" progId="Equation.3">
                  <p:embed/>
                  <p:pic>
                    <p:nvPicPr>
                      <p:cNvPr id="678918" name="Object 6">
                        <a:extLst>
                          <a:ext uri="{FF2B5EF4-FFF2-40B4-BE49-F238E27FC236}">
                            <a16:creationId xmlns:a16="http://schemas.microsoft.com/office/drawing/2014/main" id="{C11415A4-035B-8D5B-4EA8-3F15DD9652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7351" y="4833938"/>
                        <a:ext cx="4608513" cy="1079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F7123066-4A1D-C9E4-45F8-A4BB76EF748A}"/>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8A1A5DE3-C013-174D-3E55-9B238C9CBF8B}"/>
              </a:ext>
            </a:extLst>
          </p:cNvPr>
          <p:cNvSpPr>
            <a:spLocks noGrp="1"/>
          </p:cNvSpPr>
          <p:nvPr>
            <p:ph type="sldNum" sz="quarter" idx="11"/>
          </p:nvPr>
        </p:nvSpPr>
        <p:spPr/>
        <p:txBody>
          <a:bodyPr/>
          <a:lstStyle/>
          <a:p>
            <a:fld id="{796775F0-1287-F341-A834-1BCAE5CD4EC7}" type="slidenum">
              <a:rPr lang="en-US" altLang="en-US"/>
              <a:pPr/>
              <a:t>17</a:t>
            </a:fld>
            <a:endParaRPr lang="en-US" altLang="en-US"/>
          </a:p>
        </p:txBody>
      </p:sp>
      <p:sp>
        <p:nvSpPr>
          <p:cNvPr id="649218" name="Rectangle 2">
            <a:extLst>
              <a:ext uri="{FF2B5EF4-FFF2-40B4-BE49-F238E27FC236}">
                <a16:creationId xmlns:a16="http://schemas.microsoft.com/office/drawing/2014/main" id="{BE466DFF-E80C-E84C-57BD-43C3469252BC}"/>
              </a:ext>
            </a:extLst>
          </p:cNvPr>
          <p:cNvSpPr>
            <a:spLocks noGrp="1" noChangeArrowheads="1"/>
          </p:cNvSpPr>
          <p:nvPr>
            <p:ph type="title"/>
          </p:nvPr>
        </p:nvSpPr>
        <p:spPr>
          <a:xfrm>
            <a:off x="1981200" y="381001"/>
            <a:ext cx="8229600" cy="1139825"/>
          </a:xfrm>
        </p:spPr>
        <p:txBody>
          <a:bodyPr/>
          <a:lstStyle/>
          <a:p>
            <a:r>
              <a:rPr lang="en-US" altLang="en-IT"/>
              <a:t>Goal and key features</a:t>
            </a:r>
          </a:p>
        </p:txBody>
      </p:sp>
      <p:sp>
        <p:nvSpPr>
          <p:cNvPr id="649219" name="Rectangle 3">
            <a:extLst>
              <a:ext uri="{FF2B5EF4-FFF2-40B4-BE49-F238E27FC236}">
                <a16:creationId xmlns:a16="http://schemas.microsoft.com/office/drawing/2014/main" id="{9A9B1954-8338-A414-8977-7714295BE2E2}"/>
              </a:ext>
            </a:extLst>
          </p:cNvPr>
          <p:cNvSpPr>
            <a:spLocks noGrp="1" noChangeArrowheads="1"/>
          </p:cNvSpPr>
          <p:nvPr>
            <p:ph type="body" idx="1"/>
          </p:nvPr>
        </p:nvSpPr>
        <p:spPr>
          <a:xfrm>
            <a:off x="2057400" y="1628775"/>
            <a:ext cx="8421688" cy="4503738"/>
          </a:xfrm>
        </p:spPr>
        <p:txBody>
          <a:bodyPr/>
          <a:lstStyle/>
          <a:p>
            <a:pPr>
              <a:spcAft>
                <a:spcPct val="50000"/>
              </a:spcAft>
            </a:pPr>
            <a:r>
              <a:rPr lang="en-US" altLang="en-IT" b="1">
                <a:solidFill>
                  <a:srgbClr val="FF0000"/>
                </a:solidFill>
              </a:rPr>
              <a:t>Goal:</a:t>
            </a:r>
            <a:r>
              <a:rPr lang="en-US" altLang="en-IT"/>
              <a:t> Find all rules that satisfy the user-specified </a:t>
            </a:r>
            <a:r>
              <a:rPr lang="en-US" altLang="en-IT" i="1">
                <a:solidFill>
                  <a:srgbClr val="FF0000"/>
                </a:solidFill>
              </a:rPr>
              <a:t>minimum support</a:t>
            </a:r>
            <a:r>
              <a:rPr lang="en-US" altLang="en-IT"/>
              <a:t> (minsup) and </a:t>
            </a:r>
            <a:r>
              <a:rPr lang="en-US" altLang="en-IT" i="1">
                <a:solidFill>
                  <a:srgbClr val="FF0000"/>
                </a:solidFill>
              </a:rPr>
              <a:t>minimum confidence</a:t>
            </a:r>
            <a:r>
              <a:rPr lang="en-US" altLang="en-IT" i="1"/>
              <a:t> </a:t>
            </a:r>
            <a:r>
              <a:rPr lang="en-US" altLang="en-IT"/>
              <a:t>(minconf).</a:t>
            </a:r>
            <a:endParaRPr lang="en-US" altLang="en-IT" i="1"/>
          </a:p>
          <a:p>
            <a:r>
              <a:rPr lang="en-US" altLang="en-IT" b="1">
                <a:solidFill>
                  <a:srgbClr val="FF0000"/>
                </a:solidFill>
              </a:rPr>
              <a:t>Key Features</a:t>
            </a:r>
          </a:p>
          <a:p>
            <a:pPr marL="742950" lvl="1" indent="-285750"/>
            <a:r>
              <a:rPr lang="en-US" altLang="en-IT">
                <a:solidFill>
                  <a:srgbClr val="FF0000"/>
                </a:solidFill>
              </a:rPr>
              <a:t>Completeness:</a:t>
            </a:r>
            <a:r>
              <a:rPr lang="en-US" altLang="en-IT"/>
              <a:t> find all rules.</a:t>
            </a:r>
          </a:p>
          <a:p>
            <a:pPr marL="742950" lvl="1" indent="-285750"/>
            <a:r>
              <a:rPr lang="en-US" altLang="en-IT">
                <a:solidFill>
                  <a:srgbClr val="FF0000"/>
                </a:solidFill>
              </a:rPr>
              <a:t>No target item(s)</a:t>
            </a:r>
            <a:r>
              <a:rPr lang="en-US" altLang="en-IT"/>
              <a:t> on the right-hand-side</a:t>
            </a:r>
          </a:p>
          <a:p>
            <a:pPr marL="742950" lvl="1" indent="-285750"/>
            <a:r>
              <a:rPr lang="en-US" altLang="en-IT"/>
              <a:t>Mining with data on </a:t>
            </a:r>
            <a:r>
              <a:rPr lang="en-US" altLang="en-IT">
                <a:solidFill>
                  <a:srgbClr val="FF0000"/>
                </a:solidFill>
              </a:rPr>
              <a:t>hard disk</a:t>
            </a:r>
            <a:r>
              <a:rPr lang="en-US" altLang="en-IT"/>
              <a:t> </a:t>
            </a:r>
            <a:r>
              <a:rPr lang="en-US" altLang="en-IT" sz="2200"/>
              <a:t>(not in memory)</a:t>
            </a:r>
            <a:r>
              <a:rPr lang="en-US" altLang="en-IT"/>
              <a:t> </a:t>
            </a:r>
            <a:endParaRPr lang="en-US" altLang="en-IT"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EB95A80D-F46F-3574-0AB4-6E43918C3CC3}"/>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AA9328B1-6E4E-ECD9-E4CF-50F81E311A9B}"/>
              </a:ext>
            </a:extLst>
          </p:cNvPr>
          <p:cNvSpPr>
            <a:spLocks noGrp="1"/>
          </p:cNvSpPr>
          <p:nvPr>
            <p:ph type="sldNum" sz="quarter" idx="11"/>
          </p:nvPr>
        </p:nvSpPr>
        <p:spPr/>
        <p:txBody>
          <a:bodyPr/>
          <a:lstStyle/>
          <a:p>
            <a:fld id="{EEE68A05-0DFA-834A-8A08-14F60CE50941}" type="slidenum">
              <a:rPr lang="en-US" altLang="en-US"/>
              <a:pPr/>
              <a:t>18</a:t>
            </a:fld>
            <a:endParaRPr lang="en-US" altLang="en-US"/>
          </a:p>
        </p:txBody>
      </p:sp>
      <p:sp>
        <p:nvSpPr>
          <p:cNvPr id="681986" name="Rectangle 2">
            <a:extLst>
              <a:ext uri="{FF2B5EF4-FFF2-40B4-BE49-F238E27FC236}">
                <a16:creationId xmlns:a16="http://schemas.microsoft.com/office/drawing/2014/main" id="{04DAB380-AA0D-2622-E3FD-5825D8D9D63E}"/>
              </a:ext>
            </a:extLst>
          </p:cNvPr>
          <p:cNvSpPr>
            <a:spLocks noGrp="1" noChangeArrowheads="1"/>
          </p:cNvSpPr>
          <p:nvPr>
            <p:ph type="title"/>
          </p:nvPr>
        </p:nvSpPr>
        <p:spPr>
          <a:xfrm>
            <a:off x="2362200" y="381000"/>
            <a:ext cx="7772400" cy="1104900"/>
          </a:xfrm>
        </p:spPr>
        <p:txBody>
          <a:bodyPr/>
          <a:lstStyle/>
          <a:p>
            <a:r>
              <a:rPr lang="en-GB" altLang="en-IT"/>
              <a:t>An example</a:t>
            </a:r>
          </a:p>
        </p:txBody>
      </p:sp>
      <p:sp>
        <p:nvSpPr>
          <p:cNvPr id="681987" name="Rectangle 3">
            <a:extLst>
              <a:ext uri="{FF2B5EF4-FFF2-40B4-BE49-F238E27FC236}">
                <a16:creationId xmlns:a16="http://schemas.microsoft.com/office/drawing/2014/main" id="{7215D6BA-7ADC-7FC9-F56A-E4984A999A8D}"/>
              </a:ext>
            </a:extLst>
          </p:cNvPr>
          <p:cNvSpPr>
            <a:spLocks noGrp="1" noChangeArrowheads="1"/>
          </p:cNvSpPr>
          <p:nvPr>
            <p:ph type="body" idx="1"/>
          </p:nvPr>
        </p:nvSpPr>
        <p:spPr>
          <a:xfrm>
            <a:off x="1955800" y="1808164"/>
            <a:ext cx="7772400" cy="4429125"/>
          </a:xfrm>
        </p:spPr>
        <p:txBody>
          <a:bodyPr/>
          <a:lstStyle/>
          <a:p>
            <a:r>
              <a:rPr lang="en-GB" altLang="en-IT"/>
              <a:t>Transaction data</a:t>
            </a:r>
            <a:endParaRPr lang="en-GB" altLang="en-IT" b="1"/>
          </a:p>
          <a:p>
            <a:pPr>
              <a:spcBef>
                <a:spcPct val="0"/>
              </a:spcBef>
            </a:pPr>
            <a:r>
              <a:rPr lang="en-GB" altLang="en-IT"/>
              <a:t>Assume:</a:t>
            </a:r>
          </a:p>
          <a:p>
            <a:pPr>
              <a:spcBef>
                <a:spcPct val="0"/>
              </a:spcBef>
              <a:buFont typeface="Wingdings" pitchFamily="2" charset="2"/>
              <a:buNone/>
            </a:pPr>
            <a:r>
              <a:rPr lang="en-GB" altLang="en-IT" sz="2100"/>
              <a:t>		minsup = 30%</a:t>
            </a:r>
          </a:p>
          <a:p>
            <a:pPr>
              <a:spcBef>
                <a:spcPct val="0"/>
              </a:spcBef>
              <a:buFont typeface="Wingdings" pitchFamily="2" charset="2"/>
              <a:buNone/>
            </a:pPr>
            <a:r>
              <a:rPr lang="en-GB" altLang="en-IT" sz="2100"/>
              <a:t>		minconf = 80%</a:t>
            </a:r>
          </a:p>
          <a:p>
            <a:pPr>
              <a:spcBef>
                <a:spcPct val="0"/>
              </a:spcBef>
            </a:pPr>
            <a:r>
              <a:rPr lang="en-GB" altLang="en-IT"/>
              <a:t>An example </a:t>
            </a:r>
            <a:r>
              <a:rPr lang="en-GB" altLang="en-IT">
                <a:solidFill>
                  <a:srgbClr val="FF0000"/>
                </a:solidFill>
              </a:rPr>
              <a:t>frequent </a:t>
            </a:r>
            <a:r>
              <a:rPr lang="en-GB" altLang="en-IT" i="1">
                <a:solidFill>
                  <a:srgbClr val="FF0000"/>
                </a:solidFill>
              </a:rPr>
              <a:t>itemset</a:t>
            </a:r>
            <a:r>
              <a:rPr lang="en-GB" altLang="en-IT"/>
              <a:t>:</a:t>
            </a:r>
            <a:r>
              <a:rPr lang="en-GB" altLang="en-IT" b="1"/>
              <a:t>    </a:t>
            </a:r>
          </a:p>
          <a:p>
            <a:pPr>
              <a:spcBef>
                <a:spcPct val="0"/>
              </a:spcBef>
              <a:buFont typeface="Wingdings" pitchFamily="2" charset="2"/>
              <a:buNone/>
            </a:pPr>
            <a:r>
              <a:rPr lang="en-GB" altLang="en-IT"/>
              <a:t>   </a:t>
            </a:r>
            <a:r>
              <a:rPr lang="en-GB" altLang="en-IT" sz="2100"/>
              <a:t>{Chicken, Clothes, Milk}    	[sup = 3/7]</a:t>
            </a:r>
          </a:p>
          <a:p>
            <a:pPr>
              <a:spcBef>
                <a:spcPct val="0"/>
              </a:spcBef>
            </a:pPr>
            <a:r>
              <a:rPr lang="en-GB" altLang="en-IT">
                <a:solidFill>
                  <a:srgbClr val="FF0000"/>
                </a:solidFill>
              </a:rPr>
              <a:t>Association rules</a:t>
            </a:r>
            <a:r>
              <a:rPr lang="en-GB" altLang="en-IT">
                <a:solidFill>
                  <a:schemeClr val="accent2"/>
                </a:solidFill>
              </a:rPr>
              <a:t> </a:t>
            </a:r>
            <a:r>
              <a:rPr lang="en-GB" altLang="en-IT"/>
              <a:t>from the itemset:</a:t>
            </a:r>
            <a:r>
              <a:rPr lang="en-GB" altLang="en-IT" b="1"/>
              <a:t>	</a:t>
            </a:r>
          </a:p>
          <a:p>
            <a:pPr>
              <a:spcBef>
                <a:spcPct val="0"/>
              </a:spcBef>
              <a:buFont typeface="Wingdings" pitchFamily="2" charset="2"/>
              <a:buNone/>
            </a:pPr>
            <a:r>
              <a:rPr lang="en-GB" altLang="en-IT" sz="2600"/>
              <a:t>	 </a:t>
            </a:r>
            <a:r>
              <a:rPr lang="en-GB" altLang="en-IT" sz="2100"/>
              <a:t>Clothes </a:t>
            </a:r>
            <a:r>
              <a:rPr lang="en-GB" altLang="en-IT" sz="2600">
                <a:sym typeface="Symbol" pitchFamily="2" charset="2"/>
              </a:rPr>
              <a:t> </a:t>
            </a:r>
            <a:r>
              <a:rPr lang="en-GB" altLang="en-IT" sz="2100"/>
              <a:t>Milk, </a:t>
            </a:r>
            <a:r>
              <a:rPr lang="en-GB" altLang="en-IT" sz="2000"/>
              <a:t>Chicken	</a:t>
            </a:r>
            <a:r>
              <a:rPr lang="en-GB" altLang="en-IT" sz="2100"/>
              <a:t>[sup = 3/7, conf = 3/3]</a:t>
            </a:r>
          </a:p>
          <a:p>
            <a:pPr>
              <a:spcBef>
                <a:spcPct val="0"/>
              </a:spcBef>
              <a:buFont typeface="Wingdings" pitchFamily="2" charset="2"/>
              <a:buNone/>
            </a:pPr>
            <a:r>
              <a:rPr lang="en-GB" altLang="en-IT" sz="2600"/>
              <a:t>	 </a:t>
            </a:r>
            <a:r>
              <a:rPr lang="en-GB" altLang="en-IT" sz="2100"/>
              <a:t>…				…</a:t>
            </a:r>
          </a:p>
          <a:p>
            <a:pPr>
              <a:spcBef>
                <a:spcPct val="0"/>
              </a:spcBef>
              <a:buFont typeface="Wingdings" pitchFamily="2" charset="2"/>
              <a:buNone/>
            </a:pPr>
            <a:r>
              <a:rPr lang="en-GB" altLang="en-IT" sz="2600"/>
              <a:t>	 </a:t>
            </a:r>
            <a:r>
              <a:rPr lang="en-GB" altLang="en-IT" sz="2100"/>
              <a:t>Clothes, </a:t>
            </a:r>
            <a:r>
              <a:rPr lang="en-GB" altLang="en-IT" sz="2000"/>
              <a:t>Chicken</a:t>
            </a:r>
            <a:r>
              <a:rPr lang="en-GB" altLang="en-IT" sz="2100"/>
              <a:t> </a:t>
            </a:r>
            <a:r>
              <a:rPr lang="en-GB" altLang="en-IT" sz="2600">
                <a:sym typeface="Symbol" pitchFamily="2" charset="2"/>
              </a:rPr>
              <a:t> </a:t>
            </a:r>
            <a:r>
              <a:rPr lang="en-GB" altLang="en-IT" sz="2100"/>
              <a:t>Milk, </a:t>
            </a:r>
            <a:r>
              <a:rPr lang="en-GB" altLang="en-IT" sz="2000"/>
              <a:t>	</a:t>
            </a:r>
            <a:r>
              <a:rPr lang="en-GB" altLang="en-IT" sz="2100"/>
              <a:t>[sup = 3/7, conf = 3/3]</a:t>
            </a:r>
          </a:p>
        </p:txBody>
      </p:sp>
      <p:sp>
        <p:nvSpPr>
          <p:cNvPr id="681988" name="Text Box 4">
            <a:extLst>
              <a:ext uri="{FF2B5EF4-FFF2-40B4-BE49-F238E27FC236}">
                <a16:creationId xmlns:a16="http://schemas.microsoft.com/office/drawing/2014/main" id="{6EDD1E8D-2F2A-7B2E-483A-56A437D73954}"/>
              </a:ext>
            </a:extLst>
          </p:cNvPr>
          <p:cNvSpPr txBox="1">
            <a:spLocks noChangeArrowheads="1"/>
          </p:cNvSpPr>
          <p:nvPr/>
        </p:nvSpPr>
        <p:spPr bwMode="auto">
          <a:xfrm>
            <a:off x="5772150" y="304801"/>
            <a:ext cx="4667250" cy="234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635000">
              <a:spcBef>
                <a:spcPct val="0"/>
              </a:spcBef>
              <a:defRPr>
                <a:solidFill>
                  <a:schemeClr val="tx1"/>
                </a:solidFill>
                <a:latin typeface="Arial" panose="020B0604020202020204" pitchFamily="34" charset="0"/>
              </a:defRPr>
            </a:lvl1pPr>
            <a:lvl2pPr marL="114300" defTabSz="635000">
              <a:spcBef>
                <a:spcPct val="0"/>
              </a:spcBef>
              <a:defRPr>
                <a:solidFill>
                  <a:schemeClr val="tx1"/>
                </a:solidFill>
                <a:latin typeface="Arial" panose="020B0604020202020204" pitchFamily="34" charset="0"/>
              </a:defRPr>
            </a:lvl2pPr>
            <a:lvl3pPr defTabSz="635000">
              <a:spcBef>
                <a:spcPct val="0"/>
              </a:spcBef>
              <a:defRPr>
                <a:solidFill>
                  <a:schemeClr val="tx1"/>
                </a:solidFill>
                <a:latin typeface="Arial" panose="020B0604020202020204" pitchFamily="34" charset="0"/>
              </a:defRPr>
            </a:lvl3pPr>
            <a:lvl4pPr defTabSz="635000">
              <a:spcBef>
                <a:spcPct val="0"/>
              </a:spcBef>
              <a:defRPr>
                <a:solidFill>
                  <a:schemeClr val="tx1"/>
                </a:solidFill>
                <a:latin typeface="Arial" panose="020B0604020202020204" pitchFamily="34" charset="0"/>
              </a:defRPr>
            </a:lvl4pPr>
            <a:lvl5pPr defTabSz="635000">
              <a:spcBef>
                <a:spcPct val="0"/>
              </a:spcBef>
              <a:defRPr>
                <a:solidFill>
                  <a:schemeClr val="tx1"/>
                </a:solidFill>
                <a:latin typeface="Arial" panose="020B0604020202020204" pitchFamily="34" charset="0"/>
              </a:defRPr>
            </a:lvl5pPr>
            <a:lvl6pPr defTabSz="635000" fontAlgn="base">
              <a:spcBef>
                <a:spcPct val="0"/>
              </a:spcBef>
              <a:spcAft>
                <a:spcPct val="0"/>
              </a:spcAft>
              <a:defRPr>
                <a:solidFill>
                  <a:schemeClr val="tx1"/>
                </a:solidFill>
                <a:latin typeface="Arial" panose="020B0604020202020204" pitchFamily="34" charset="0"/>
              </a:defRPr>
            </a:lvl6pPr>
            <a:lvl7pPr defTabSz="635000" fontAlgn="base">
              <a:spcBef>
                <a:spcPct val="0"/>
              </a:spcBef>
              <a:spcAft>
                <a:spcPct val="0"/>
              </a:spcAft>
              <a:defRPr>
                <a:solidFill>
                  <a:schemeClr val="tx1"/>
                </a:solidFill>
                <a:latin typeface="Arial" panose="020B0604020202020204" pitchFamily="34" charset="0"/>
              </a:defRPr>
            </a:lvl7pPr>
            <a:lvl8pPr defTabSz="635000" fontAlgn="base">
              <a:spcBef>
                <a:spcPct val="0"/>
              </a:spcBef>
              <a:spcAft>
                <a:spcPct val="0"/>
              </a:spcAft>
              <a:defRPr>
                <a:solidFill>
                  <a:schemeClr val="tx1"/>
                </a:solidFill>
                <a:latin typeface="Arial" panose="020B0604020202020204" pitchFamily="34" charset="0"/>
              </a:defRPr>
            </a:lvl8pPr>
            <a:lvl9pPr defTabSz="635000" fontAlgn="base">
              <a:spcBef>
                <a:spcPct val="0"/>
              </a:spcBef>
              <a:spcAft>
                <a:spcPct val="0"/>
              </a:spcAft>
              <a:defRPr>
                <a:solidFill>
                  <a:schemeClr val="tx1"/>
                </a:solidFill>
                <a:latin typeface="Arial" panose="020B0604020202020204" pitchFamily="34" charset="0"/>
              </a:defRPr>
            </a:lvl9pPr>
          </a:lstStyle>
          <a:p>
            <a:pPr lvl="1">
              <a:spcBef>
                <a:spcPct val="20000"/>
              </a:spcBef>
              <a:buFont typeface="Wingdings" pitchFamily="2" charset="2"/>
              <a:buNone/>
            </a:pPr>
            <a:r>
              <a:rPr lang="en-US" altLang="ja-JP">
                <a:ea typeface="ＭＳ Ｐゴシック" panose="020B0600070205080204" pitchFamily="34" charset="-128"/>
              </a:rPr>
              <a:t>t1:	Beef, Chicken, Milk</a:t>
            </a:r>
          </a:p>
          <a:p>
            <a:pPr lvl="1">
              <a:spcBef>
                <a:spcPct val="20000"/>
              </a:spcBef>
              <a:buFont typeface="Wingdings" pitchFamily="2" charset="2"/>
              <a:buNone/>
            </a:pPr>
            <a:r>
              <a:rPr lang="en-US" altLang="ja-JP">
                <a:ea typeface="ＭＳ Ｐゴシック" panose="020B0600070205080204" pitchFamily="34" charset="-128"/>
              </a:rPr>
              <a:t>t2:	Beef, Cheese</a:t>
            </a:r>
          </a:p>
          <a:p>
            <a:pPr lvl="1">
              <a:spcBef>
                <a:spcPct val="20000"/>
              </a:spcBef>
              <a:buFont typeface="Wingdings" pitchFamily="2" charset="2"/>
              <a:buNone/>
            </a:pPr>
            <a:r>
              <a:rPr lang="en-US" altLang="ja-JP">
                <a:ea typeface="ＭＳ Ｐゴシック" panose="020B0600070205080204" pitchFamily="34" charset="-128"/>
              </a:rPr>
              <a:t>t3:	Cheese, Boots</a:t>
            </a:r>
          </a:p>
          <a:p>
            <a:pPr lvl="1">
              <a:spcBef>
                <a:spcPct val="20000"/>
              </a:spcBef>
              <a:buFont typeface="Wingdings" pitchFamily="2" charset="2"/>
              <a:buNone/>
            </a:pPr>
            <a:r>
              <a:rPr lang="en-US" altLang="ja-JP">
                <a:ea typeface="ＭＳ Ｐゴシック" panose="020B0600070205080204" pitchFamily="34" charset="-128"/>
              </a:rPr>
              <a:t>t4:	Beef, Chicken, Cheese</a:t>
            </a:r>
          </a:p>
          <a:p>
            <a:pPr lvl="1">
              <a:spcBef>
                <a:spcPct val="20000"/>
              </a:spcBef>
              <a:buFont typeface="Wingdings" pitchFamily="2" charset="2"/>
              <a:buNone/>
            </a:pPr>
            <a:r>
              <a:rPr lang="en-US" altLang="ja-JP">
                <a:ea typeface="ＭＳ Ｐゴシック" panose="020B0600070205080204" pitchFamily="34" charset="-128"/>
              </a:rPr>
              <a:t>t5:	Beef, Chicken, Clothes, Cheese, Milk</a:t>
            </a:r>
          </a:p>
          <a:p>
            <a:pPr lvl="1">
              <a:spcBef>
                <a:spcPct val="20000"/>
              </a:spcBef>
              <a:buFont typeface="Wingdings" pitchFamily="2" charset="2"/>
              <a:buNone/>
            </a:pPr>
            <a:r>
              <a:rPr lang="en-US" altLang="ja-JP">
                <a:ea typeface="ＭＳ Ｐゴシック" panose="020B0600070205080204" pitchFamily="34" charset="-128"/>
              </a:rPr>
              <a:t>t6:	Chicken, Clothes, Milk</a:t>
            </a:r>
          </a:p>
          <a:p>
            <a:pPr lvl="1">
              <a:spcBef>
                <a:spcPct val="20000"/>
              </a:spcBef>
              <a:buFont typeface="Wingdings" pitchFamily="2" charset="2"/>
              <a:buNone/>
            </a:pPr>
            <a:r>
              <a:rPr lang="en-US" altLang="ja-JP">
                <a:ea typeface="ＭＳ Ｐゴシック" panose="020B0600070205080204" pitchFamily="34" charset="-128"/>
              </a:rPr>
              <a:t>t7:	Chicken, Milk, Clothes</a:t>
            </a:r>
            <a:endParaRPr lang="en-GB" altLang="en-IT">
              <a:solidFill>
                <a:schemeClr val="accent2"/>
              </a:solidFill>
            </a:endParaRPr>
          </a:p>
        </p:txBody>
      </p:sp>
      <p:sp>
        <p:nvSpPr>
          <p:cNvPr id="681989" name="Line 5">
            <a:extLst>
              <a:ext uri="{FF2B5EF4-FFF2-40B4-BE49-F238E27FC236}">
                <a16:creationId xmlns:a16="http://schemas.microsoft.com/office/drawing/2014/main" id="{79AAEDA4-BEC7-F759-97A4-DCCDAEBC9671}"/>
              </a:ext>
            </a:extLst>
          </p:cNvPr>
          <p:cNvSpPr>
            <a:spLocks noChangeShapeType="1"/>
          </p:cNvSpPr>
          <p:nvPr/>
        </p:nvSpPr>
        <p:spPr bwMode="auto">
          <a:xfrm flipV="1">
            <a:off x="4943476" y="1160463"/>
            <a:ext cx="900113" cy="608012"/>
          </a:xfrm>
          <a:prstGeom prst="line">
            <a:avLst/>
          </a:prstGeom>
          <a:noFill/>
          <a:ln w="19050">
            <a:solidFill>
              <a:schemeClr val="tx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681990" name="Rectangle 6">
            <a:extLst>
              <a:ext uri="{FF2B5EF4-FFF2-40B4-BE49-F238E27FC236}">
                <a16:creationId xmlns:a16="http://schemas.microsoft.com/office/drawing/2014/main" id="{DEFB8FBF-F65E-867D-C22E-DF09B5BE8B2F}"/>
              </a:ext>
            </a:extLst>
          </p:cNvPr>
          <p:cNvSpPr>
            <a:spLocks noChangeArrowheads="1"/>
          </p:cNvSpPr>
          <p:nvPr/>
        </p:nvSpPr>
        <p:spPr bwMode="auto">
          <a:xfrm>
            <a:off x="5916613" y="304800"/>
            <a:ext cx="4464050" cy="2439988"/>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02A2E0D7-0EBA-694E-7585-C927A90884AC}"/>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8981F098-9A25-B4F5-A544-D8FEDDC39AE3}"/>
              </a:ext>
            </a:extLst>
          </p:cNvPr>
          <p:cNvSpPr>
            <a:spLocks noGrp="1"/>
          </p:cNvSpPr>
          <p:nvPr>
            <p:ph type="sldNum" sz="quarter" idx="11"/>
          </p:nvPr>
        </p:nvSpPr>
        <p:spPr/>
        <p:txBody>
          <a:bodyPr/>
          <a:lstStyle/>
          <a:p>
            <a:fld id="{B6C73184-005B-F64B-B1F6-F2AA687F0C43}" type="slidenum">
              <a:rPr lang="en-US" altLang="en-US"/>
              <a:pPr/>
              <a:t>19</a:t>
            </a:fld>
            <a:endParaRPr lang="en-US" altLang="en-US"/>
          </a:p>
        </p:txBody>
      </p:sp>
      <p:sp>
        <p:nvSpPr>
          <p:cNvPr id="683010" name="Rectangle 2">
            <a:extLst>
              <a:ext uri="{FF2B5EF4-FFF2-40B4-BE49-F238E27FC236}">
                <a16:creationId xmlns:a16="http://schemas.microsoft.com/office/drawing/2014/main" id="{DA20CF2D-BC24-B804-6052-CD9FA1B42ECE}"/>
              </a:ext>
            </a:extLst>
          </p:cNvPr>
          <p:cNvSpPr>
            <a:spLocks noGrp="1" noChangeArrowheads="1"/>
          </p:cNvSpPr>
          <p:nvPr>
            <p:ph type="title"/>
          </p:nvPr>
        </p:nvSpPr>
        <p:spPr/>
        <p:txBody>
          <a:bodyPr/>
          <a:lstStyle/>
          <a:p>
            <a:r>
              <a:rPr lang="en-US" altLang="en-IT"/>
              <a:t>Transaction data representation</a:t>
            </a:r>
          </a:p>
        </p:txBody>
      </p:sp>
      <p:sp>
        <p:nvSpPr>
          <p:cNvPr id="683011" name="Rectangle 3">
            <a:extLst>
              <a:ext uri="{FF2B5EF4-FFF2-40B4-BE49-F238E27FC236}">
                <a16:creationId xmlns:a16="http://schemas.microsoft.com/office/drawing/2014/main" id="{DA0C9CB0-E93F-950B-4F88-E256EE495DFB}"/>
              </a:ext>
            </a:extLst>
          </p:cNvPr>
          <p:cNvSpPr>
            <a:spLocks noGrp="1" noChangeArrowheads="1"/>
          </p:cNvSpPr>
          <p:nvPr>
            <p:ph type="body" idx="1"/>
          </p:nvPr>
        </p:nvSpPr>
        <p:spPr>
          <a:xfrm>
            <a:off x="1981200" y="1557339"/>
            <a:ext cx="8229600" cy="4573587"/>
          </a:xfrm>
        </p:spPr>
        <p:txBody>
          <a:bodyPr/>
          <a:lstStyle/>
          <a:p>
            <a:r>
              <a:rPr lang="en-GB" altLang="ja-JP">
                <a:ea typeface="ＭＳ Ｐゴシック" panose="020B0600070205080204" pitchFamily="34" charset="-128"/>
              </a:rPr>
              <a:t>A simplistic view of shopping baskets, </a:t>
            </a:r>
          </a:p>
          <a:p>
            <a:r>
              <a:rPr lang="en-GB" altLang="ja-JP">
                <a:ea typeface="ＭＳ Ｐゴシック" panose="020B0600070205080204" pitchFamily="34" charset="-128"/>
              </a:rPr>
              <a:t>Some important information not considered. E.g, </a:t>
            </a:r>
          </a:p>
          <a:p>
            <a:pPr lvl="1"/>
            <a:r>
              <a:rPr lang="en-GB" altLang="ja-JP">
                <a:ea typeface="ＭＳ Ｐゴシック" panose="020B0600070205080204" pitchFamily="34" charset="-128"/>
              </a:rPr>
              <a:t>the quantity of each item purchased and </a:t>
            </a:r>
          </a:p>
          <a:p>
            <a:pPr lvl="1"/>
            <a:r>
              <a:rPr lang="en-GB" altLang="ja-JP">
                <a:ea typeface="ＭＳ Ｐゴシック" panose="020B0600070205080204" pitchFamily="34" charset="-128"/>
              </a:rPr>
              <a:t>the price paid. </a:t>
            </a:r>
            <a:endParaRPr lang="en-US" altLang="en-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6DE59539-29C6-9AD6-DC43-0C91F85150A9}"/>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0341F253-1866-091D-88AD-86DE6CA79FDA}"/>
              </a:ext>
            </a:extLst>
          </p:cNvPr>
          <p:cNvSpPr>
            <a:spLocks noGrp="1"/>
          </p:cNvSpPr>
          <p:nvPr>
            <p:ph type="sldNum" sz="quarter" idx="11"/>
          </p:nvPr>
        </p:nvSpPr>
        <p:spPr/>
        <p:txBody>
          <a:bodyPr/>
          <a:lstStyle/>
          <a:p>
            <a:fld id="{3575838B-94EC-C842-9A90-9B64B6788563}" type="slidenum">
              <a:rPr lang="en-US" altLang="en-US"/>
              <a:pPr/>
              <a:t>20</a:t>
            </a:fld>
            <a:endParaRPr lang="en-US" altLang="en-US"/>
          </a:p>
        </p:txBody>
      </p:sp>
      <p:sp>
        <p:nvSpPr>
          <p:cNvPr id="680962" name="Rectangle 2">
            <a:extLst>
              <a:ext uri="{FF2B5EF4-FFF2-40B4-BE49-F238E27FC236}">
                <a16:creationId xmlns:a16="http://schemas.microsoft.com/office/drawing/2014/main" id="{A50990AC-9247-6355-D0CA-FBFEB256DDE6}"/>
              </a:ext>
            </a:extLst>
          </p:cNvPr>
          <p:cNvSpPr>
            <a:spLocks noGrp="1" noChangeArrowheads="1"/>
          </p:cNvSpPr>
          <p:nvPr>
            <p:ph type="title"/>
          </p:nvPr>
        </p:nvSpPr>
        <p:spPr/>
        <p:txBody>
          <a:bodyPr/>
          <a:lstStyle/>
          <a:p>
            <a:r>
              <a:rPr lang="en-US" altLang="en-IT"/>
              <a:t>Many mining algorithms</a:t>
            </a:r>
          </a:p>
        </p:txBody>
      </p:sp>
      <p:sp>
        <p:nvSpPr>
          <p:cNvPr id="680963" name="Rectangle 3">
            <a:extLst>
              <a:ext uri="{FF2B5EF4-FFF2-40B4-BE49-F238E27FC236}">
                <a16:creationId xmlns:a16="http://schemas.microsoft.com/office/drawing/2014/main" id="{65708DA9-64BD-402F-FB34-6643F79A05A6}"/>
              </a:ext>
            </a:extLst>
          </p:cNvPr>
          <p:cNvSpPr>
            <a:spLocks noGrp="1" noChangeArrowheads="1"/>
          </p:cNvSpPr>
          <p:nvPr>
            <p:ph type="body" idx="1"/>
          </p:nvPr>
        </p:nvSpPr>
        <p:spPr>
          <a:xfrm>
            <a:off x="1981200" y="1304925"/>
            <a:ext cx="8229600" cy="4826000"/>
          </a:xfrm>
        </p:spPr>
        <p:txBody>
          <a:bodyPr/>
          <a:lstStyle/>
          <a:p>
            <a:r>
              <a:rPr lang="en-US" altLang="en-IT" sz="3200" dirty="0">
                <a:solidFill>
                  <a:srgbClr val="FF0000"/>
                </a:solidFill>
              </a:rPr>
              <a:t>There are a large number of them!!</a:t>
            </a:r>
            <a:r>
              <a:rPr lang="en-US" altLang="en-IT" sz="2600" dirty="0"/>
              <a:t> </a:t>
            </a:r>
          </a:p>
          <a:p>
            <a:r>
              <a:rPr lang="en-US" altLang="ja-JP" sz="2600" dirty="0">
                <a:ea typeface="ＭＳ Ｐゴシック" panose="020B0600070205080204" pitchFamily="34" charset="-128"/>
              </a:rPr>
              <a:t>They use different strategies and data structures. </a:t>
            </a:r>
          </a:p>
          <a:p>
            <a:r>
              <a:rPr lang="en-US" altLang="ja-JP" sz="2600" dirty="0">
                <a:ea typeface="ＭＳ Ｐゴシック" panose="020B0600070205080204" pitchFamily="34" charset="-128"/>
              </a:rPr>
              <a:t>Their resulting sets of rules are all the same. </a:t>
            </a:r>
          </a:p>
          <a:p>
            <a:pPr lvl="1"/>
            <a:r>
              <a:rPr lang="en-US" altLang="ja-JP" sz="2200" dirty="0">
                <a:solidFill>
                  <a:srgbClr val="3333CC"/>
                </a:solidFill>
                <a:ea typeface="ＭＳ Ｐゴシック" panose="020B0600070205080204" pitchFamily="34" charset="-128"/>
              </a:rPr>
              <a:t>Given a transaction data set </a:t>
            </a:r>
            <a:r>
              <a:rPr lang="en-US" altLang="ja-JP" sz="2200" i="1" dirty="0">
                <a:solidFill>
                  <a:srgbClr val="3333CC"/>
                </a:solidFill>
                <a:ea typeface="ＭＳ Ｐゴシック" panose="020B0600070205080204" pitchFamily="34" charset="-128"/>
              </a:rPr>
              <a:t>T</a:t>
            </a:r>
            <a:r>
              <a:rPr lang="en-US" altLang="ja-JP" sz="2200" dirty="0">
                <a:solidFill>
                  <a:srgbClr val="3333CC"/>
                </a:solidFill>
                <a:ea typeface="ＭＳ Ｐゴシック" panose="020B0600070205080204" pitchFamily="34" charset="-128"/>
              </a:rPr>
              <a:t>, and a minimum support and a minimum confident, the set of association rules existing in </a:t>
            </a:r>
            <a:r>
              <a:rPr lang="en-US" altLang="ja-JP" sz="2200" i="1" dirty="0">
                <a:solidFill>
                  <a:srgbClr val="3333CC"/>
                </a:solidFill>
                <a:ea typeface="ＭＳ Ｐゴシック" panose="020B0600070205080204" pitchFamily="34" charset="-128"/>
              </a:rPr>
              <a:t>T</a:t>
            </a:r>
            <a:r>
              <a:rPr lang="en-US" altLang="ja-JP" sz="2200" dirty="0">
                <a:solidFill>
                  <a:srgbClr val="3333CC"/>
                </a:solidFill>
                <a:ea typeface="ＭＳ Ｐゴシック" panose="020B0600070205080204" pitchFamily="34" charset="-128"/>
              </a:rPr>
              <a:t> is uniquely determined.</a:t>
            </a:r>
            <a:r>
              <a:rPr lang="en-US" altLang="ja-JP" sz="2200" dirty="0">
                <a:ea typeface="ＭＳ Ｐゴシック" panose="020B0600070205080204" pitchFamily="34" charset="-128"/>
              </a:rPr>
              <a:t> </a:t>
            </a:r>
          </a:p>
          <a:p>
            <a:r>
              <a:rPr lang="en-US" altLang="ja-JP" sz="2600" dirty="0">
                <a:ea typeface="ＭＳ Ｐゴシック" panose="020B0600070205080204" pitchFamily="34" charset="-128"/>
              </a:rPr>
              <a:t>Any algorithm should find the same set of rules although their computational efficiencies and memory requirements may be different. </a:t>
            </a:r>
          </a:p>
          <a:p>
            <a:r>
              <a:rPr lang="en-US" altLang="en-IT" sz="2600" dirty="0"/>
              <a:t>We study a few and focus on one: </a:t>
            </a:r>
            <a:r>
              <a:rPr lang="en-US" altLang="en-IT" sz="2600" dirty="0">
                <a:solidFill>
                  <a:srgbClr val="FF0000"/>
                </a:solidFill>
              </a:rPr>
              <a:t>the </a:t>
            </a:r>
            <a:r>
              <a:rPr lang="en-US" altLang="en-IT" sz="2600" dirty="0" err="1">
                <a:solidFill>
                  <a:srgbClr val="FF0000"/>
                </a:solidFill>
              </a:rPr>
              <a:t>Apriori</a:t>
            </a:r>
            <a:r>
              <a:rPr lang="en-US" altLang="en-IT" sz="2600" dirty="0">
                <a:solidFill>
                  <a:srgbClr val="FF0000"/>
                </a:solidFill>
              </a:rPr>
              <a:t> Algorithm</a:t>
            </a:r>
          </a:p>
          <a:p>
            <a:endParaRPr lang="en-US" altLang="en-IT"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A5FD315-6BED-DD55-4884-EE1B5E92DB25}"/>
              </a:ext>
            </a:extLst>
          </p:cNvPr>
          <p:cNvSpPr>
            <a:spLocks noGrp="1"/>
          </p:cNvSpPr>
          <p:nvPr>
            <p:ph type="sldNum" sz="quarter" idx="12"/>
          </p:nvPr>
        </p:nvSpPr>
        <p:spPr/>
        <p:txBody>
          <a:bodyPr/>
          <a:lstStyle/>
          <a:p>
            <a:fld id="{D6609BBD-B58F-8D45-8D8E-AB7A3CB7AFA2}" type="slidenum">
              <a:rPr lang="en-US" altLang="en-IT"/>
              <a:pPr/>
              <a:t>21</a:t>
            </a:fld>
            <a:endParaRPr lang="en-US" altLang="en-IT"/>
          </a:p>
        </p:txBody>
      </p:sp>
      <p:sp>
        <p:nvSpPr>
          <p:cNvPr id="7174" name="Rectangle 6">
            <a:extLst>
              <a:ext uri="{FF2B5EF4-FFF2-40B4-BE49-F238E27FC236}">
                <a16:creationId xmlns:a16="http://schemas.microsoft.com/office/drawing/2014/main" id="{EE1259E5-D552-C901-C002-5BD2D280C320}"/>
              </a:ext>
            </a:extLst>
          </p:cNvPr>
          <p:cNvSpPr>
            <a:spLocks noGrp="1" noChangeArrowheads="1"/>
          </p:cNvSpPr>
          <p:nvPr>
            <p:ph type="title"/>
          </p:nvPr>
        </p:nvSpPr>
        <p:spPr/>
        <p:txBody>
          <a:bodyPr/>
          <a:lstStyle/>
          <a:p>
            <a:pPr algn="ctr"/>
            <a:r>
              <a:rPr lang="en-US" altLang="en-IT" sz="4000"/>
              <a:t>Formal Statement of the Problem</a:t>
            </a:r>
          </a:p>
        </p:txBody>
      </p:sp>
      <p:sp>
        <p:nvSpPr>
          <p:cNvPr id="7175" name="Rectangle 7" descr="Rectangle: Click to edit Master text styles&#13;&#10;Second level&#13;&#10;Third level&#13;&#10;Fourth level&#13;&#10;Fifth level">
            <a:extLst>
              <a:ext uri="{FF2B5EF4-FFF2-40B4-BE49-F238E27FC236}">
                <a16:creationId xmlns:a16="http://schemas.microsoft.com/office/drawing/2014/main" id="{DAE6A227-B775-C296-847A-4A8CC1E62ED0}"/>
              </a:ext>
            </a:extLst>
          </p:cNvPr>
          <p:cNvSpPr>
            <a:spLocks noGrp="1" noChangeArrowheads="1"/>
          </p:cNvSpPr>
          <p:nvPr>
            <p:ph type="body" idx="1"/>
          </p:nvPr>
        </p:nvSpPr>
        <p:spPr>
          <a:xfrm>
            <a:off x="2133600" y="1828800"/>
            <a:ext cx="8229600" cy="4191000"/>
          </a:xfrm>
        </p:spPr>
        <p:txBody>
          <a:bodyPr/>
          <a:lstStyle/>
          <a:p>
            <a:pPr>
              <a:lnSpc>
                <a:spcPct val="90000"/>
              </a:lnSpc>
            </a:pPr>
            <a:r>
              <a:rPr lang="en-US" altLang="en-IT" i="1">
                <a:latin typeface="Times New Roman" panose="02020603050405020304" pitchFamily="18" charset="0"/>
              </a:rPr>
              <a:t>I</a:t>
            </a:r>
            <a:r>
              <a:rPr lang="en-US" altLang="en-IT">
                <a:latin typeface="Times New Roman" panose="02020603050405020304" pitchFamily="18" charset="0"/>
              </a:rPr>
              <a:t> = { </a:t>
            </a:r>
            <a:r>
              <a:rPr lang="en-US" altLang="en-IT" i="1">
                <a:latin typeface="Times New Roman" panose="02020603050405020304" pitchFamily="18" charset="0"/>
              </a:rPr>
              <a:t>i</a:t>
            </a:r>
            <a:r>
              <a:rPr lang="en-US" altLang="en-IT" i="1" baseline="-25000">
                <a:latin typeface="Times New Roman" panose="02020603050405020304" pitchFamily="18" charset="0"/>
              </a:rPr>
              <a:t>1</a:t>
            </a:r>
            <a:r>
              <a:rPr lang="en-US" altLang="en-IT">
                <a:latin typeface="Times New Roman" panose="02020603050405020304" pitchFamily="18" charset="0"/>
              </a:rPr>
              <a:t> , </a:t>
            </a:r>
            <a:r>
              <a:rPr lang="en-US" altLang="en-IT" i="1">
                <a:latin typeface="Times New Roman" panose="02020603050405020304" pitchFamily="18" charset="0"/>
              </a:rPr>
              <a:t>i</a:t>
            </a:r>
            <a:r>
              <a:rPr lang="en-US" altLang="en-IT" i="1" baseline="-25000">
                <a:latin typeface="Times New Roman" panose="02020603050405020304" pitchFamily="18" charset="0"/>
              </a:rPr>
              <a:t>2</a:t>
            </a:r>
            <a:r>
              <a:rPr lang="en-US" altLang="en-IT">
                <a:latin typeface="Times New Roman" panose="02020603050405020304" pitchFamily="18" charset="0"/>
              </a:rPr>
              <a:t> , … , </a:t>
            </a:r>
            <a:r>
              <a:rPr lang="en-US" altLang="en-IT" i="1">
                <a:latin typeface="Times New Roman" panose="02020603050405020304" pitchFamily="18" charset="0"/>
              </a:rPr>
              <a:t>i</a:t>
            </a:r>
            <a:r>
              <a:rPr lang="en-US" altLang="en-IT" i="1" baseline="-25000">
                <a:latin typeface="Times New Roman" panose="02020603050405020304" pitchFamily="18" charset="0"/>
              </a:rPr>
              <a:t>m</a:t>
            </a:r>
            <a:r>
              <a:rPr lang="en-US" altLang="en-IT">
                <a:latin typeface="Times New Roman" panose="02020603050405020304" pitchFamily="18" charset="0"/>
              </a:rPr>
              <a:t> }</a:t>
            </a:r>
            <a:r>
              <a:rPr lang="en-US" altLang="en-IT"/>
              <a:t> is a set of items</a:t>
            </a:r>
          </a:p>
          <a:p>
            <a:pPr>
              <a:lnSpc>
                <a:spcPct val="90000"/>
              </a:lnSpc>
            </a:pPr>
            <a:r>
              <a:rPr lang="en-US" altLang="en-IT" i="1">
                <a:latin typeface="Times New Roman" panose="02020603050405020304" pitchFamily="18" charset="0"/>
              </a:rPr>
              <a:t>D</a:t>
            </a:r>
            <a:r>
              <a:rPr lang="en-US" altLang="en-IT"/>
              <a:t> is a set of transactions </a:t>
            </a:r>
            <a:r>
              <a:rPr lang="en-US" altLang="en-IT" i="1">
                <a:latin typeface="Times New Roman" panose="02020603050405020304" pitchFamily="18" charset="0"/>
              </a:rPr>
              <a:t>T</a:t>
            </a:r>
          </a:p>
          <a:p>
            <a:pPr>
              <a:lnSpc>
                <a:spcPct val="90000"/>
              </a:lnSpc>
            </a:pPr>
            <a:r>
              <a:rPr lang="en-US" altLang="en-IT"/>
              <a:t>Each transaction </a:t>
            </a:r>
            <a:r>
              <a:rPr lang="en-US" altLang="en-IT" i="1">
                <a:latin typeface="Times New Roman" panose="02020603050405020304" pitchFamily="18" charset="0"/>
              </a:rPr>
              <a:t>T</a:t>
            </a:r>
            <a:r>
              <a:rPr lang="en-US" altLang="en-IT"/>
              <a:t> is a set of items (subset of </a:t>
            </a:r>
            <a:r>
              <a:rPr lang="en-US" altLang="en-IT" i="1">
                <a:latin typeface="Times New Roman" panose="02020603050405020304" pitchFamily="18" charset="0"/>
              </a:rPr>
              <a:t>I</a:t>
            </a:r>
            <a:r>
              <a:rPr lang="en-US" altLang="en-IT"/>
              <a:t>)</a:t>
            </a:r>
          </a:p>
          <a:p>
            <a:pPr>
              <a:lnSpc>
                <a:spcPct val="90000"/>
              </a:lnSpc>
            </a:pPr>
            <a:r>
              <a:rPr lang="en-US" altLang="en-IT" i="1">
                <a:latin typeface="Times New Roman" panose="02020603050405020304" pitchFamily="18" charset="0"/>
              </a:rPr>
              <a:t>TID</a:t>
            </a:r>
            <a:r>
              <a:rPr lang="en-US" altLang="en-IT"/>
              <a:t> is a unique identifier that is associated with each transaction</a:t>
            </a:r>
          </a:p>
          <a:p>
            <a:pPr>
              <a:lnSpc>
                <a:spcPct val="90000"/>
              </a:lnSpc>
            </a:pPr>
            <a:r>
              <a:rPr lang="en-US" altLang="en-IT"/>
              <a:t>The problem is to generate all </a:t>
            </a:r>
            <a:r>
              <a:rPr lang="en-US" altLang="en-IT" i="1"/>
              <a:t>association rules</a:t>
            </a:r>
            <a:r>
              <a:rPr lang="en-US" altLang="en-IT"/>
              <a:t> that have </a:t>
            </a:r>
            <a:r>
              <a:rPr lang="en-US" altLang="en-IT" i="1"/>
              <a:t>support</a:t>
            </a:r>
            <a:r>
              <a:rPr lang="en-US" altLang="en-IT"/>
              <a:t> and </a:t>
            </a:r>
            <a:r>
              <a:rPr lang="en-US" altLang="en-IT" i="1"/>
              <a:t>confidence</a:t>
            </a:r>
            <a:r>
              <a:rPr lang="en-US" altLang="en-IT"/>
              <a:t> greater than the user-specified minimum support and minimum confidence</a:t>
            </a: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2B986D5-818C-D0C6-6988-3CB04E858EE2}"/>
              </a:ext>
            </a:extLst>
          </p:cNvPr>
          <p:cNvSpPr>
            <a:spLocks noGrp="1"/>
          </p:cNvSpPr>
          <p:nvPr>
            <p:ph type="sldNum" sz="quarter" idx="12"/>
          </p:nvPr>
        </p:nvSpPr>
        <p:spPr/>
        <p:txBody>
          <a:bodyPr/>
          <a:lstStyle/>
          <a:p>
            <a:fld id="{BA8C326D-785D-B840-B491-23BC43B522F7}" type="slidenum">
              <a:rPr lang="en-US" altLang="en-IT"/>
              <a:pPr/>
              <a:t>22</a:t>
            </a:fld>
            <a:endParaRPr lang="en-US" altLang="en-IT"/>
          </a:p>
        </p:txBody>
      </p:sp>
      <p:sp>
        <p:nvSpPr>
          <p:cNvPr id="22530" name="Rectangle 2">
            <a:extLst>
              <a:ext uri="{FF2B5EF4-FFF2-40B4-BE49-F238E27FC236}">
                <a16:creationId xmlns:a16="http://schemas.microsoft.com/office/drawing/2014/main" id="{6991F8DD-B84F-E09B-2993-022B8A8410B8}"/>
              </a:ext>
            </a:extLst>
          </p:cNvPr>
          <p:cNvSpPr>
            <a:spLocks noGrp="1" noChangeArrowheads="1"/>
          </p:cNvSpPr>
          <p:nvPr>
            <p:ph type="title"/>
          </p:nvPr>
        </p:nvSpPr>
        <p:spPr/>
        <p:txBody>
          <a:bodyPr/>
          <a:lstStyle/>
          <a:p>
            <a:pPr algn="ctr"/>
            <a:r>
              <a:rPr lang="en-US" altLang="en-IT"/>
              <a:t>Problem Decomposition</a:t>
            </a:r>
          </a:p>
        </p:txBody>
      </p:sp>
      <p:sp>
        <p:nvSpPr>
          <p:cNvPr id="22531" name="Rectangle 3" descr="Rectangle: Click to edit Master text styles&#13;&#10;Second level&#13;&#10;Third level&#13;&#10;Fourth level&#13;&#10;Fifth level">
            <a:extLst>
              <a:ext uri="{FF2B5EF4-FFF2-40B4-BE49-F238E27FC236}">
                <a16:creationId xmlns:a16="http://schemas.microsoft.com/office/drawing/2014/main" id="{6D20C733-3BF1-8133-6ABE-5F47C38E686A}"/>
              </a:ext>
            </a:extLst>
          </p:cNvPr>
          <p:cNvSpPr>
            <a:spLocks noGrp="1" noChangeArrowheads="1"/>
          </p:cNvSpPr>
          <p:nvPr>
            <p:ph type="body" idx="1"/>
          </p:nvPr>
        </p:nvSpPr>
        <p:spPr>
          <a:xfrm>
            <a:off x="2133600" y="1905000"/>
            <a:ext cx="8229600" cy="4114800"/>
          </a:xfrm>
        </p:spPr>
        <p:txBody>
          <a:bodyPr/>
          <a:lstStyle/>
          <a:p>
            <a:pPr marL="609600" indent="-609600">
              <a:buNone/>
            </a:pPr>
            <a:r>
              <a:rPr lang="en-US" altLang="en-IT" sz="2400"/>
              <a:t>The problem can be decomposed into two subproblems:</a:t>
            </a:r>
          </a:p>
          <a:p>
            <a:pPr marL="609600" indent="-609600">
              <a:buFont typeface="Wingdings" pitchFamily="2" charset="2"/>
              <a:buAutoNum type="arabicPeriod"/>
            </a:pPr>
            <a:r>
              <a:rPr lang="en-US" altLang="en-IT"/>
              <a:t>Find all sets of items (</a:t>
            </a:r>
            <a:r>
              <a:rPr lang="en-US" altLang="en-IT" i="1"/>
              <a:t>itemsets</a:t>
            </a:r>
            <a:r>
              <a:rPr lang="en-US" altLang="en-IT"/>
              <a:t>) that have support (number of transactions) greater than the minimum support (</a:t>
            </a:r>
            <a:r>
              <a:rPr lang="en-US" altLang="en-IT" i="1"/>
              <a:t>large itemsets</a:t>
            </a:r>
            <a:r>
              <a:rPr lang="en-US" altLang="en-IT"/>
              <a:t>).</a:t>
            </a:r>
          </a:p>
          <a:p>
            <a:pPr marL="609600" indent="-609600">
              <a:buFont typeface="Wingdings" pitchFamily="2" charset="2"/>
              <a:buAutoNum type="arabicPeriod"/>
            </a:pPr>
            <a:r>
              <a:rPr lang="en-US" altLang="en-IT"/>
              <a:t>Use the </a:t>
            </a:r>
            <a:r>
              <a:rPr lang="en-US" altLang="en-IT" i="1"/>
              <a:t>large itemsets</a:t>
            </a:r>
            <a:r>
              <a:rPr lang="en-US" altLang="en-IT"/>
              <a:t> to generate the desired rules.</a:t>
            </a:r>
          </a:p>
          <a:p>
            <a:pPr marL="990600" lvl="1" indent="-533400">
              <a:buNone/>
            </a:pPr>
            <a:r>
              <a:rPr lang="en-US" altLang="en-IT"/>
              <a:t>	For each </a:t>
            </a:r>
            <a:r>
              <a:rPr lang="en-US" altLang="en-IT" i="1"/>
              <a:t>large itemset </a:t>
            </a:r>
            <a:r>
              <a:rPr lang="en-US" altLang="en-IT" i="1">
                <a:latin typeface="Times New Roman" panose="02020603050405020304" pitchFamily="18" charset="0"/>
              </a:rPr>
              <a:t>l</a:t>
            </a:r>
            <a:r>
              <a:rPr lang="en-US" altLang="en-IT"/>
              <a:t>, find all non-empty subsets, and for each subset </a:t>
            </a:r>
            <a:r>
              <a:rPr lang="en-US" altLang="en-IT" i="1">
                <a:latin typeface="Times New Roman" panose="02020603050405020304" pitchFamily="18" charset="0"/>
              </a:rPr>
              <a:t>a</a:t>
            </a:r>
            <a:r>
              <a:rPr lang="en-US" altLang="en-IT"/>
              <a:t> generate a rule </a:t>
            </a:r>
            <a:r>
              <a:rPr lang="en-US" altLang="en-IT">
                <a:latin typeface="Times New Roman" panose="02020603050405020304" pitchFamily="18" charset="0"/>
              </a:rPr>
              <a:t>a ==&gt; (l-a)</a:t>
            </a:r>
            <a:r>
              <a:rPr lang="en-US" altLang="en-IT"/>
              <a:t> if its confidence is greater than the minimum confidence.</a:t>
            </a:r>
            <a:endParaRPr lang="en-US" altLang="en-IT" i="1">
              <a:latin typeface="Times New Roman" panose="02020603050405020304" pitchFamily="18" charset="0"/>
            </a:endParaRPr>
          </a:p>
          <a:p>
            <a:pPr marL="609600" indent="-609600">
              <a:buFont typeface="Wingdings" pitchFamily="2" charset="2"/>
              <a:buAutoNum type="arabicPeriod"/>
            </a:pPr>
            <a:endParaRPr lang="en-US" altLang="en-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6146BE6-E476-6246-24A6-A4D5F5215281}"/>
              </a:ext>
            </a:extLst>
          </p:cNvPr>
          <p:cNvSpPr>
            <a:spLocks noGrp="1"/>
          </p:cNvSpPr>
          <p:nvPr>
            <p:ph type="sldNum" sz="quarter" idx="12"/>
          </p:nvPr>
        </p:nvSpPr>
        <p:spPr/>
        <p:txBody>
          <a:bodyPr/>
          <a:lstStyle/>
          <a:p>
            <a:fld id="{0411987A-F2F6-B14A-8EB5-5CAE830285C4}" type="slidenum">
              <a:rPr lang="en-US" altLang="en-IT"/>
              <a:pPr/>
              <a:t>23</a:t>
            </a:fld>
            <a:endParaRPr lang="en-US" altLang="en-IT"/>
          </a:p>
        </p:txBody>
      </p:sp>
      <p:sp>
        <p:nvSpPr>
          <p:cNvPr id="23554" name="Rectangle 2">
            <a:extLst>
              <a:ext uri="{FF2B5EF4-FFF2-40B4-BE49-F238E27FC236}">
                <a16:creationId xmlns:a16="http://schemas.microsoft.com/office/drawing/2014/main" id="{25BA13CD-51CC-D4A5-30B3-521DF5EE95F6}"/>
              </a:ext>
            </a:extLst>
          </p:cNvPr>
          <p:cNvSpPr>
            <a:spLocks noGrp="1" noChangeArrowheads="1"/>
          </p:cNvSpPr>
          <p:nvPr>
            <p:ph type="title"/>
          </p:nvPr>
        </p:nvSpPr>
        <p:spPr/>
        <p:txBody>
          <a:bodyPr/>
          <a:lstStyle/>
          <a:p>
            <a:pPr algn="ctr"/>
            <a:r>
              <a:rPr lang="en-US" altLang="en-IT"/>
              <a:t>General Algorithm</a:t>
            </a:r>
          </a:p>
        </p:txBody>
      </p:sp>
      <p:sp>
        <p:nvSpPr>
          <p:cNvPr id="23555" name="Rectangle 3" descr="Rectangle: Click to edit Master text styles&#13;&#10;Second level&#13;&#10;Third level&#13;&#10;Fourth level&#13;&#10;Fifth level">
            <a:extLst>
              <a:ext uri="{FF2B5EF4-FFF2-40B4-BE49-F238E27FC236}">
                <a16:creationId xmlns:a16="http://schemas.microsoft.com/office/drawing/2014/main" id="{2EEF73D6-7861-EC89-B396-B7433FE4D1A8}"/>
              </a:ext>
            </a:extLst>
          </p:cNvPr>
          <p:cNvSpPr>
            <a:spLocks noGrp="1" noChangeArrowheads="1"/>
          </p:cNvSpPr>
          <p:nvPr>
            <p:ph type="body" idx="1"/>
          </p:nvPr>
        </p:nvSpPr>
        <p:spPr>
          <a:xfrm>
            <a:off x="2133600" y="1600200"/>
            <a:ext cx="8229600" cy="4419600"/>
          </a:xfrm>
        </p:spPr>
        <p:txBody>
          <a:bodyPr/>
          <a:lstStyle/>
          <a:p>
            <a:pPr marL="609600" indent="-609600">
              <a:buFont typeface="Wingdings" pitchFamily="2" charset="2"/>
              <a:buAutoNum type="arabicPeriod"/>
            </a:pPr>
            <a:r>
              <a:rPr lang="en-US" altLang="en-IT"/>
              <a:t>In the first pass, the support of each individual item is counted, and the </a:t>
            </a:r>
            <a:r>
              <a:rPr lang="en-US" altLang="en-IT" i="1"/>
              <a:t>large</a:t>
            </a:r>
            <a:r>
              <a:rPr lang="en-US" altLang="en-IT"/>
              <a:t> ones are determined</a:t>
            </a:r>
          </a:p>
          <a:p>
            <a:pPr marL="609600" indent="-609600">
              <a:buFont typeface="Wingdings" pitchFamily="2" charset="2"/>
              <a:buAutoNum type="arabicPeriod"/>
            </a:pPr>
            <a:r>
              <a:rPr lang="en-US" altLang="en-IT"/>
              <a:t>In each subsequent pass, the </a:t>
            </a:r>
            <a:r>
              <a:rPr lang="en-US" altLang="en-IT" i="1"/>
              <a:t>large</a:t>
            </a:r>
            <a:r>
              <a:rPr lang="en-US" altLang="en-IT"/>
              <a:t> itemsets determined in the previous pass is used to generate new itemsets called </a:t>
            </a:r>
            <a:r>
              <a:rPr lang="en-US" altLang="en-IT" i="1"/>
              <a:t>candidate</a:t>
            </a:r>
            <a:r>
              <a:rPr lang="en-US" altLang="en-IT"/>
              <a:t> itemsets.</a:t>
            </a:r>
          </a:p>
          <a:p>
            <a:pPr marL="609600" indent="-609600">
              <a:buFont typeface="Wingdings" pitchFamily="2" charset="2"/>
              <a:buAutoNum type="arabicPeriod"/>
            </a:pPr>
            <a:r>
              <a:rPr lang="en-US" altLang="en-IT"/>
              <a:t>The support of each </a:t>
            </a:r>
            <a:r>
              <a:rPr lang="en-US" altLang="en-IT" i="1"/>
              <a:t>candidate</a:t>
            </a:r>
            <a:r>
              <a:rPr lang="en-US" altLang="en-IT"/>
              <a:t> itemset is counted, and the </a:t>
            </a:r>
            <a:r>
              <a:rPr lang="en-US" altLang="en-IT" i="1"/>
              <a:t>large</a:t>
            </a:r>
            <a:r>
              <a:rPr lang="en-US" altLang="en-IT"/>
              <a:t> ones are determined.</a:t>
            </a:r>
          </a:p>
          <a:p>
            <a:pPr marL="609600" indent="-609600">
              <a:buFont typeface="Wingdings" pitchFamily="2" charset="2"/>
              <a:buAutoNum type="arabicPeriod"/>
            </a:pPr>
            <a:r>
              <a:rPr lang="en-US" altLang="en-IT"/>
              <a:t>This process continues until no new </a:t>
            </a:r>
            <a:r>
              <a:rPr lang="en-US" altLang="en-IT" i="1"/>
              <a:t>large</a:t>
            </a:r>
            <a:r>
              <a:rPr lang="en-US" altLang="en-IT"/>
              <a:t> itemsets are found.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5116FCA-C0B3-C497-2FA2-68E660AB6422}"/>
              </a:ext>
            </a:extLst>
          </p:cNvPr>
          <p:cNvSpPr>
            <a:spLocks noGrp="1"/>
          </p:cNvSpPr>
          <p:nvPr>
            <p:ph type="sldNum" sz="quarter" idx="12"/>
          </p:nvPr>
        </p:nvSpPr>
        <p:spPr/>
        <p:txBody>
          <a:bodyPr/>
          <a:lstStyle/>
          <a:p>
            <a:fld id="{B1B4420E-3DBE-6549-BA23-C5FB84EB39CD}" type="slidenum">
              <a:rPr lang="en-US" altLang="en-IT"/>
              <a:pPr/>
              <a:t>24</a:t>
            </a:fld>
            <a:endParaRPr lang="en-US" altLang="en-IT"/>
          </a:p>
        </p:txBody>
      </p:sp>
      <p:sp>
        <p:nvSpPr>
          <p:cNvPr id="8198" name="Rectangle 6">
            <a:extLst>
              <a:ext uri="{FF2B5EF4-FFF2-40B4-BE49-F238E27FC236}">
                <a16:creationId xmlns:a16="http://schemas.microsoft.com/office/drawing/2014/main" id="{FB0E2EF3-42A8-8508-3D6F-CEBCB829009D}"/>
              </a:ext>
            </a:extLst>
          </p:cNvPr>
          <p:cNvSpPr>
            <a:spLocks noGrp="1" noChangeArrowheads="1"/>
          </p:cNvSpPr>
          <p:nvPr>
            <p:ph type="title"/>
          </p:nvPr>
        </p:nvSpPr>
        <p:spPr/>
        <p:txBody>
          <a:bodyPr/>
          <a:lstStyle/>
          <a:p>
            <a:pPr algn="ctr"/>
            <a:r>
              <a:rPr lang="en-US" altLang="en-IT"/>
              <a:t>AIS Algorithm</a:t>
            </a:r>
          </a:p>
        </p:txBody>
      </p:sp>
      <p:sp>
        <p:nvSpPr>
          <p:cNvPr id="8199" name="Rectangle 7" descr="Rectangle: Click to edit Master text styles&#13;&#10;Second level&#13;&#10;Third level&#13;&#10;Fourth level&#13;&#10;Fifth level">
            <a:extLst>
              <a:ext uri="{FF2B5EF4-FFF2-40B4-BE49-F238E27FC236}">
                <a16:creationId xmlns:a16="http://schemas.microsoft.com/office/drawing/2014/main" id="{91EA0A9C-0648-DE79-6071-56A68556F315}"/>
              </a:ext>
            </a:extLst>
          </p:cNvPr>
          <p:cNvSpPr>
            <a:spLocks noGrp="1" noChangeArrowheads="1"/>
          </p:cNvSpPr>
          <p:nvPr>
            <p:ph type="body" idx="1"/>
          </p:nvPr>
        </p:nvSpPr>
        <p:spPr>
          <a:xfrm>
            <a:off x="520995" y="1488558"/>
            <a:ext cx="9842205" cy="4531242"/>
          </a:xfrm>
        </p:spPr>
        <p:txBody>
          <a:bodyPr/>
          <a:lstStyle/>
          <a:p>
            <a:pPr marL="609600" indent="-609600"/>
            <a:r>
              <a:rPr lang="en-US" altLang="en-IT" sz="2400" i="1" dirty="0"/>
              <a:t>Candidate</a:t>
            </a:r>
            <a:r>
              <a:rPr lang="en-US" altLang="en-IT" sz="2400" dirty="0"/>
              <a:t> </a:t>
            </a:r>
            <a:r>
              <a:rPr lang="en-US" altLang="en-IT" sz="2400" dirty="0" err="1"/>
              <a:t>itemsets</a:t>
            </a:r>
            <a:r>
              <a:rPr lang="en-US" altLang="en-IT" sz="2400" dirty="0"/>
              <a:t> are generated and counted on-the-fly as the database is scanned.</a:t>
            </a:r>
          </a:p>
          <a:p>
            <a:pPr marL="1066800" lvl="1" indent="-609600">
              <a:buFont typeface="Wingdings" pitchFamily="2" charset="2"/>
              <a:buAutoNum type="arabicPeriod"/>
            </a:pPr>
            <a:r>
              <a:rPr lang="en-US" altLang="en-IT" sz="2000" dirty="0"/>
              <a:t>For each transaction, it is determined which of the </a:t>
            </a:r>
            <a:r>
              <a:rPr lang="en-US" altLang="en-IT" sz="2000" i="1" dirty="0"/>
              <a:t>large</a:t>
            </a:r>
            <a:r>
              <a:rPr lang="en-US" altLang="en-IT" sz="2000" dirty="0"/>
              <a:t> </a:t>
            </a:r>
            <a:r>
              <a:rPr lang="en-US" altLang="en-IT" sz="2000" dirty="0" err="1"/>
              <a:t>itemsets</a:t>
            </a:r>
            <a:r>
              <a:rPr lang="en-US" altLang="en-IT" sz="2000" dirty="0"/>
              <a:t> of the previous pass are contained in this transaction.</a:t>
            </a:r>
          </a:p>
          <a:p>
            <a:pPr marL="1066800" lvl="1" indent="-609600">
              <a:buFont typeface="Wingdings" pitchFamily="2" charset="2"/>
              <a:buAutoNum type="arabicPeriod"/>
            </a:pPr>
            <a:r>
              <a:rPr lang="en-US" altLang="en-IT" sz="2000" dirty="0"/>
              <a:t>New </a:t>
            </a:r>
            <a:r>
              <a:rPr lang="en-US" altLang="en-IT" sz="2000" i="1" dirty="0"/>
              <a:t>candidate</a:t>
            </a:r>
            <a:r>
              <a:rPr lang="en-US" altLang="en-IT" sz="2000" dirty="0"/>
              <a:t> </a:t>
            </a:r>
            <a:r>
              <a:rPr lang="en-US" altLang="en-IT" sz="2000" dirty="0" err="1"/>
              <a:t>itemsets</a:t>
            </a:r>
            <a:r>
              <a:rPr lang="en-US" altLang="en-IT" sz="2000" dirty="0"/>
              <a:t> are generated by extending these </a:t>
            </a:r>
            <a:r>
              <a:rPr lang="en-US" altLang="en-IT" sz="2000" i="1" dirty="0"/>
              <a:t>large</a:t>
            </a:r>
            <a:r>
              <a:rPr lang="en-US" altLang="en-IT" sz="2000" dirty="0"/>
              <a:t> </a:t>
            </a:r>
            <a:r>
              <a:rPr lang="en-US" altLang="en-IT" sz="2000" dirty="0" err="1"/>
              <a:t>itemsets</a:t>
            </a:r>
            <a:r>
              <a:rPr lang="en-US" altLang="en-IT" sz="2000" dirty="0"/>
              <a:t> with other items in this transaction.</a:t>
            </a:r>
          </a:p>
          <a:p>
            <a:pPr marL="609600" indent="-609600"/>
            <a:endParaRPr lang="en-US" altLang="en-IT" sz="2400" dirty="0"/>
          </a:p>
          <a:p>
            <a:pPr marL="609600" indent="-609600"/>
            <a:r>
              <a:rPr lang="en-US" altLang="en-IT" sz="2400" dirty="0"/>
              <a:t>The disadvantage is that this results in unnecessarily generating and counting too many </a:t>
            </a:r>
            <a:r>
              <a:rPr lang="en-US" altLang="en-IT" sz="2400" i="1" dirty="0"/>
              <a:t>candidate</a:t>
            </a:r>
            <a:r>
              <a:rPr lang="en-US" altLang="en-IT" sz="2400" dirty="0"/>
              <a:t> </a:t>
            </a:r>
            <a:r>
              <a:rPr lang="en-US" altLang="en-IT" sz="2400" dirty="0" err="1"/>
              <a:t>itemsets</a:t>
            </a:r>
            <a:r>
              <a:rPr lang="en-US" altLang="en-IT" sz="2400" dirty="0"/>
              <a:t> that turn out to be </a:t>
            </a:r>
            <a:r>
              <a:rPr lang="en-US" altLang="en-IT" sz="2400" i="1" dirty="0"/>
              <a:t>small</a:t>
            </a:r>
            <a:r>
              <a:rPr lang="en-US" altLang="en-IT" sz="2400" dirty="0"/>
              <a:t>.</a:t>
            </a: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09CBCD62-2BA1-D849-E238-0EAC21D4EC62}"/>
              </a:ext>
            </a:extLst>
          </p:cNvPr>
          <p:cNvSpPr>
            <a:spLocks noGrp="1"/>
          </p:cNvSpPr>
          <p:nvPr>
            <p:ph type="sldNum" sz="quarter" idx="12"/>
          </p:nvPr>
        </p:nvSpPr>
        <p:spPr/>
        <p:txBody>
          <a:bodyPr/>
          <a:lstStyle/>
          <a:p>
            <a:fld id="{BF5A2365-6D9C-584C-84F4-46B40FE01EE0}" type="slidenum">
              <a:rPr lang="en-US" altLang="en-IT"/>
              <a:pPr/>
              <a:t>25</a:t>
            </a:fld>
            <a:endParaRPr lang="en-US" altLang="en-IT"/>
          </a:p>
        </p:txBody>
      </p:sp>
      <p:sp>
        <p:nvSpPr>
          <p:cNvPr id="24578" name="Rectangle 2">
            <a:extLst>
              <a:ext uri="{FF2B5EF4-FFF2-40B4-BE49-F238E27FC236}">
                <a16:creationId xmlns:a16="http://schemas.microsoft.com/office/drawing/2014/main" id="{CCE6834C-9A6A-771A-AD32-0BD3DC01D276}"/>
              </a:ext>
            </a:extLst>
          </p:cNvPr>
          <p:cNvSpPr>
            <a:spLocks noGrp="1" noChangeArrowheads="1"/>
          </p:cNvSpPr>
          <p:nvPr>
            <p:ph type="title"/>
          </p:nvPr>
        </p:nvSpPr>
        <p:spPr/>
        <p:txBody>
          <a:bodyPr/>
          <a:lstStyle/>
          <a:p>
            <a:pPr algn="ctr"/>
            <a:r>
              <a:rPr lang="en-US" altLang="en-IT"/>
              <a:t>Example</a:t>
            </a:r>
          </a:p>
        </p:txBody>
      </p:sp>
      <p:graphicFrame>
        <p:nvGraphicFramePr>
          <p:cNvPr id="24636" name="Group 60">
            <a:extLst>
              <a:ext uri="{FF2B5EF4-FFF2-40B4-BE49-F238E27FC236}">
                <a16:creationId xmlns:a16="http://schemas.microsoft.com/office/drawing/2014/main" id="{093C1242-C49D-D2E5-0C30-20D75CFB04AF}"/>
              </a:ext>
            </a:extLst>
          </p:cNvPr>
          <p:cNvGraphicFramePr>
            <a:graphicFrameLocks noGrp="1"/>
          </p:cNvGraphicFramePr>
          <p:nvPr/>
        </p:nvGraphicFramePr>
        <p:xfrm>
          <a:off x="2438400" y="2025650"/>
          <a:ext cx="1847850" cy="2016760"/>
        </p:xfrm>
        <a:graphic>
          <a:graphicData uri="http://schemas.openxmlformats.org/drawingml/2006/table">
            <a:tbl>
              <a:tblPr/>
              <a:tblGrid>
                <a:gridCol w="766763">
                  <a:extLst>
                    <a:ext uri="{9D8B030D-6E8A-4147-A177-3AD203B41FA5}">
                      <a16:colId xmlns:a16="http://schemas.microsoft.com/office/drawing/2014/main" val="2080452732"/>
                    </a:ext>
                  </a:extLst>
                </a:gridCol>
                <a:gridCol w="1081087">
                  <a:extLst>
                    <a:ext uri="{9D8B030D-6E8A-4147-A177-3AD203B41FA5}">
                      <a16:colId xmlns:a16="http://schemas.microsoft.com/office/drawing/2014/main" val="2495980288"/>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TID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74168770"/>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1 3 4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59502861"/>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00359366"/>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1 2 3 5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329547"/>
                  </a:ext>
                </a:extLst>
              </a:tr>
              <a:tr h="304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400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7542204"/>
                  </a:ext>
                </a:extLst>
              </a:tr>
            </a:tbl>
          </a:graphicData>
        </a:graphic>
      </p:graphicFrame>
      <p:sp>
        <p:nvSpPr>
          <p:cNvPr id="24637" name="Text Box 61">
            <a:extLst>
              <a:ext uri="{FF2B5EF4-FFF2-40B4-BE49-F238E27FC236}">
                <a16:creationId xmlns:a16="http://schemas.microsoft.com/office/drawing/2014/main" id="{F17AC82E-C27F-4D54-0719-1156873EDD9B}"/>
              </a:ext>
            </a:extLst>
          </p:cNvPr>
          <p:cNvSpPr txBox="1">
            <a:spLocks noChangeArrowheads="1"/>
          </p:cNvSpPr>
          <p:nvPr/>
        </p:nvSpPr>
        <p:spPr bwMode="auto">
          <a:xfrm>
            <a:off x="2438400" y="1524000"/>
            <a:ext cx="1828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Database</a:t>
            </a:r>
          </a:p>
        </p:txBody>
      </p:sp>
      <p:graphicFrame>
        <p:nvGraphicFramePr>
          <p:cNvPr id="24663" name="Group 87">
            <a:extLst>
              <a:ext uri="{FF2B5EF4-FFF2-40B4-BE49-F238E27FC236}">
                <a16:creationId xmlns:a16="http://schemas.microsoft.com/office/drawing/2014/main" id="{C9A0B8B5-07FF-589A-5F08-B520F70A2F6A}"/>
              </a:ext>
            </a:extLst>
          </p:cNvPr>
          <p:cNvGraphicFramePr>
            <a:graphicFrameLocks noGrp="1"/>
          </p:cNvGraphicFramePr>
          <p:nvPr/>
        </p:nvGraphicFramePr>
        <p:xfrm>
          <a:off x="4800600" y="2025650"/>
          <a:ext cx="2389188" cy="2016760"/>
        </p:xfrm>
        <a:graphic>
          <a:graphicData uri="http://schemas.openxmlformats.org/drawingml/2006/table">
            <a:tbl>
              <a:tblPr/>
              <a:tblGrid>
                <a:gridCol w="1190625">
                  <a:extLst>
                    <a:ext uri="{9D8B030D-6E8A-4147-A177-3AD203B41FA5}">
                      <a16:colId xmlns:a16="http://schemas.microsoft.com/office/drawing/2014/main" val="4010926005"/>
                    </a:ext>
                  </a:extLst>
                </a:gridCol>
                <a:gridCol w="1198563">
                  <a:extLst>
                    <a:ext uri="{9D8B030D-6E8A-4147-A177-3AD203B41FA5}">
                      <a16:colId xmlns:a16="http://schemas.microsoft.com/office/drawing/2014/main" val="852518490"/>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Support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1137423"/>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54809250"/>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36589562"/>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0001574"/>
                  </a:ext>
                </a:extLst>
              </a:tr>
              <a:tr h="304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74299492"/>
                  </a:ext>
                </a:extLst>
              </a:tr>
            </a:tbl>
          </a:graphicData>
        </a:graphic>
      </p:graphicFrame>
      <p:sp>
        <p:nvSpPr>
          <p:cNvPr id="24658" name="Text Box 82">
            <a:extLst>
              <a:ext uri="{FF2B5EF4-FFF2-40B4-BE49-F238E27FC236}">
                <a16:creationId xmlns:a16="http://schemas.microsoft.com/office/drawing/2014/main" id="{3EF93248-A214-A04C-EA32-151B70E5BE50}"/>
              </a:ext>
            </a:extLst>
          </p:cNvPr>
          <p:cNvSpPr txBox="1">
            <a:spLocks noChangeArrowheads="1"/>
          </p:cNvSpPr>
          <p:nvPr/>
        </p:nvSpPr>
        <p:spPr bwMode="auto">
          <a:xfrm>
            <a:off x="4819650" y="1524000"/>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L</a:t>
            </a:r>
            <a:r>
              <a:rPr lang="en-US" altLang="en-IT" baseline="-25000"/>
              <a:t>1</a:t>
            </a:r>
            <a:endParaRPr lang="en-US" altLang="en-IT"/>
          </a:p>
        </p:txBody>
      </p:sp>
      <p:graphicFrame>
        <p:nvGraphicFramePr>
          <p:cNvPr id="24704" name="Group 128">
            <a:extLst>
              <a:ext uri="{FF2B5EF4-FFF2-40B4-BE49-F238E27FC236}">
                <a16:creationId xmlns:a16="http://schemas.microsoft.com/office/drawing/2014/main" id="{521D899F-1FDA-E042-648D-8673D6030120}"/>
              </a:ext>
            </a:extLst>
          </p:cNvPr>
          <p:cNvGraphicFramePr>
            <a:graphicFrameLocks noGrp="1"/>
          </p:cNvGraphicFramePr>
          <p:nvPr/>
        </p:nvGraphicFramePr>
        <p:xfrm>
          <a:off x="7772400" y="2025650"/>
          <a:ext cx="2389188" cy="3601720"/>
        </p:xfrm>
        <a:graphic>
          <a:graphicData uri="http://schemas.openxmlformats.org/drawingml/2006/table">
            <a:tbl>
              <a:tblPr/>
              <a:tblGrid>
                <a:gridCol w="1190625">
                  <a:extLst>
                    <a:ext uri="{9D8B030D-6E8A-4147-A177-3AD203B41FA5}">
                      <a16:colId xmlns:a16="http://schemas.microsoft.com/office/drawing/2014/main" val="2589932350"/>
                    </a:ext>
                  </a:extLst>
                </a:gridCol>
                <a:gridCol w="1198563">
                  <a:extLst>
                    <a:ext uri="{9D8B030D-6E8A-4147-A177-3AD203B41FA5}">
                      <a16:colId xmlns:a16="http://schemas.microsoft.com/office/drawing/2014/main" val="3739452576"/>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Support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99108381"/>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55357182"/>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58630152"/>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 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29065356"/>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0661421"/>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9800831"/>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6399023"/>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28521707"/>
                  </a:ext>
                </a:extLst>
              </a:tr>
              <a:tr h="304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21340633"/>
                  </a:ext>
                </a:extLst>
              </a:tr>
            </a:tbl>
          </a:graphicData>
        </a:graphic>
      </p:graphicFrame>
      <p:sp>
        <p:nvSpPr>
          <p:cNvPr id="24684" name="Text Box 108">
            <a:extLst>
              <a:ext uri="{FF2B5EF4-FFF2-40B4-BE49-F238E27FC236}">
                <a16:creationId xmlns:a16="http://schemas.microsoft.com/office/drawing/2014/main" id="{3F5C9733-E458-E10A-8F87-D4D63077E334}"/>
              </a:ext>
            </a:extLst>
          </p:cNvPr>
          <p:cNvSpPr txBox="1">
            <a:spLocks noChangeArrowheads="1"/>
          </p:cNvSpPr>
          <p:nvPr/>
        </p:nvSpPr>
        <p:spPr bwMode="auto">
          <a:xfrm>
            <a:off x="7791450" y="1524000"/>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C</a:t>
            </a:r>
            <a:r>
              <a:rPr lang="en-US" altLang="en-IT" baseline="-25000"/>
              <a:t>2</a:t>
            </a:r>
            <a:endParaRPr lang="en-US" altLang="en-IT"/>
          </a:p>
        </p:txBody>
      </p:sp>
      <p:graphicFrame>
        <p:nvGraphicFramePr>
          <p:cNvPr id="24734" name="Group 158">
            <a:extLst>
              <a:ext uri="{FF2B5EF4-FFF2-40B4-BE49-F238E27FC236}">
                <a16:creationId xmlns:a16="http://schemas.microsoft.com/office/drawing/2014/main" id="{6B5F7AA7-76F5-BB71-57A8-CDCBE5E53441}"/>
              </a:ext>
            </a:extLst>
          </p:cNvPr>
          <p:cNvGraphicFramePr>
            <a:graphicFrameLocks noGrp="1"/>
          </p:cNvGraphicFramePr>
          <p:nvPr/>
        </p:nvGraphicFramePr>
        <p:xfrm>
          <a:off x="3276600" y="4692651"/>
          <a:ext cx="2389188" cy="1620520"/>
        </p:xfrm>
        <a:graphic>
          <a:graphicData uri="http://schemas.openxmlformats.org/drawingml/2006/table">
            <a:tbl>
              <a:tblPr/>
              <a:tblGrid>
                <a:gridCol w="1190625">
                  <a:extLst>
                    <a:ext uri="{9D8B030D-6E8A-4147-A177-3AD203B41FA5}">
                      <a16:colId xmlns:a16="http://schemas.microsoft.com/office/drawing/2014/main" val="3911414196"/>
                    </a:ext>
                  </a:extLst>
                </a:gridCol>
                <a:gridCol w="1198563">
                  <a:extLst>
                    <a:ext uri="{9D8B030D-6E8A-4147-A177-3AD203B41FA5}">
                      <a16:colId xmlns:a16="http://schemas.microsoft.com/office/drawing/2014/main" val="2971920979"/>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Support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0496473"/>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 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7653100"/>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28270412"/>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1389649"/>
                  </a:ext>
                </a:extLst>
              </a:tr>
            </a:tbl>
          </a:graphicData>
        </a:graphic>
      </p:graphicFrame>
      <p:sp>
        <p:nvSpPr>
          <p:cNvPr id="24725" name="Text Box 149">
            <a:extLst>
              <a:ext uri="{FF2B5EF4-FFF2-40B4-BE49-F238E27FC236}">
                <a16:creationId xmlns:a16="http://schemas.microsoft.com/office/drawing/2014/main" id="{B97247F0-B67B-2B39-91F3-701FDCA5B35F}"/>
              </a:ext>
            </a:extLst>
          </p:cNvPr>
          <p:cNvSpPr txBox="1">
            <a:spLocks noChangeArrowheads="1"/>
          </p:cNvSpPr>
          <p:nvPr/>
        </p:nvSpPr>
        <p:spPr bwMode="auto">
          <a:xfrm>
            <a:off x="3295650" y="4191000"/>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C</a:t>
            </a:r>
            <a:r>
              <a:rPr lang="en-US" altLang="en-IT" baseline="-25000"/>
              <a:t>3</a:t>
            </a:r>
            <a:endParaRPr lang="en-US" altLang="en-IT"/>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4636"/>
                                        </p:tgtEl>
                                        <p:attrNameLst>
                                          <p:attrName>style.visibility</p:attrName>
                                        </p:attrNameLst>
                                      </p:cBhvr>
                                      <p:to>
                                        <p:strVal val="visible"/>
                                      </p:to>
                                    </p:set>
                                    <p:anim calcmode="lin" valueType="num">
                                      <p:cBhvr additive="base">
                                        <p:cTn id="7" dur="500" fill="hold"/>
                                        <p:tgtEl>
                                          <p:spTgt spid="24636"/>
                                        </p:tgtEl>
                                        <p:attrNameLst>
                                          <p:attrName>ppt_x</p:attrName>
                                        </p:attrNameLst>
                                      </p:cBhvr>
                                      <p:tavLst>
                                        <p:tav tm="0">
                                          <p:val>
                                            <p:strVal val="0-#ppt_w/2"/>
                                          </p:val>
                                        </p:tav>
                                        <p:tav tm="100000">
                                          <p:val>
                                            <p:strVal val="#ppt_x"/>
                                          </p:val>
                                        </p:tav>
                                      </p:tavLst>
                                    </p:anim>
                                    <p:anim calcmode="lin" valueType="num">
                                      <p:cBhvr additive="base">
                                        <p:cTn id="8" dur="500" fill="hold"/>
                                        <p:tgtEl>
                                          <p:spTgt spid="2463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24637"/>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1" fill="hold" nodeType="clickEffect">
                                  <p:stCondLst>
                                    <p:cond delay="0"/>
                                  </p:stCondLst>
                                  <p:childTnLst>
                                    <p:set>
                                      <p:cBhvr>
                                        <p:cTn id="15" dur="1" fill="hold">
                                          <p:stCondLst>
                                            <p:cond delay="0"/>
                                          </p:stCondLst>
                                        </p:cTn>
                                        <p:tgtEl>
                                          <p:spTgt spid="24663"/>
                                        </p:tgtEl>
                                        <p:attrNameLst>
                                          <p:attrName>style.visibility</p:attrName>
                                        </p:attrNameLst>
                                      </p:cBhvr>
                                      <p:to>
                                        <p:strVal val="visible"/>
                                      </p:to>
                                    </p:set>
                                    <p:anim calcmode="lin" valueType="num">
                                      <p:cBhvr additive="base">
                                        <p:cTn id="16" dur="500" fill="hold"/>
                                        <p:tgtEl>
                                          <p:spTgt spid="24663"/>
                                        </p:tgtEl>
                                        <p:attrNameLst>
                                          <p:attrName>ppt_x</p:attrName>
                                        </p:attrNameLst>
                                      </p:cBhvr>
                                      <p:tavLst>
                                        <p:tav tm="0">
                                          <p:val>
                                            <p:strVal val="#ppt_x"/>
                                          </p:val>
                                        </p:tav>
                                        <p:tav tm="100000">
                                          <p:val>
                                            <p:strVal val="#ppt_x"/>
                                          </p:val>
                                        </p:tav>
                                      </p:tavLst>
                                    </p:anim>
                                    <p:anim calcmode="lin" valueType="num">
                                      <p:cBhvr additive="base">
                                        <p:cTn id="17" dur="500" fill="hold"/>
                                        <p:tgtEl>
                                          <p:spTgt spid="24663"/>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2465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24704"/>
                                        </p:tgtEl>
                                        <p:attrNameLst>
                                          <p:attrName>style.visibility</p:attrName>
                                        </p:attrNameLst>
                                      </p:cBhvr>
                                      <p:to>
                                        <p:strVal val="visible"/>
                                      </p:to>
                                    </p:set>
                                    <p:anim calcmode="lin" valueType="num">
                                      <p:cBhvr additive="base">
                                        <p:cTn id="25" dur="500" fill="hold"/>
                                        <p:tgtEl>
                                          <p:spTgt spid="24704"/>
                                        </p:tgtEl>
                                        <p:attrNameLst>
                                          <p:attrName>ppt_x</p:attrName>
                                        </p:attrNameLst>
                                      </p:cBhvr>
                                      <p:tavLst>
                                        <p:tav tm="0">
                                          <p:val>
                                            <p:strVal val="1+#ppt_w/2"/>
                                          </p:val>
                                        </p:tav>
                                        <p:tav tm="100000">
                                          <p:val>
                                            <p:strVal val="#ppt_x"/>
                                          </p:val>
                                        </p:tav>
                                      </p:tavLst>
                                    </p:anim>
                                    <p:anim calcmode="lin" valueType="num">
                                      <p:cBhvr additive="base">
                                        <p:cTn id="26" dur="500" fill="hold"/>
                                        <p:tgtEl>
                                          <p:spTgt spid="24704"/>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24684"/>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24734"/>
                                        </p:tgtEl>
                                        <p:attrNameLst>
                                          <p:attrName>style.visibility</p:attrName>
                                        </p:attrNameLst>
                                      </p:cBhvr>
                                      <p:to>
                                        <p:strVal val="visible"/>
                                      </p:to>
                                    </p:set>
                                    <p:anim calcmode="lin" valueType="num">
                                      <p:cBhvr additive="base">
                                        <p:cTn id="34" dur="500" fill="hold"/>
                                        <p:tgtEl>
                                          <p:spTgt spid="24734"/>
                                        </p:tgtEl>
                                        <p:attrNameLst>
                                          <p:attrName>ppt_x</p:attrName>
                                        </p:attrNameLst>
                                      </p:cBhvr>
                                      <p:tavLst>
                                        <p:tav tm="0">
                                          <p:val>
                                            <p:strVal val="#ppt_x"/>
                                          </p:val>
                                        </p:tav>
                                        <p:tav tm="100000">
                                          <p:val>
                                            <p:strVal val="#ppt_x"/>
                                          </p:val>
                                        </p:tav>
                                      </p:tavLst>
                                    </p:anim>
                                    <p:anim calcmode="lin" valueType="num">
                                      <p:cBhvr additive="base">
                                        <p:cTn id="35" dur="500" fill="hold"/>
                                        <p:tgtEl>
                                          <p:spTgt spid="24734"/>
                                        </p:tgtEl>
                                        <p:attrNameLst>
                                          <p:attrName>ppt_y</p:attrName>
                                        </p:attrNameLst>
                                      </p:cBhvr>
                                      <p:tavLst>
                                        <p:tav tm="0">
                                          <p:val>
                                            <p:strVal val="1+#ppt_h/2"/>
                                          </p:val>
                                        </p:tav>
                                        <p:tav tm="100000">
                                          <p:val>
                                            <p:strVal val="#ppt_y"/>
                                          </p:val>
                                        </p:tav>
                                      </p:tavLst>
                                    </p:anim>
                                  </p:childTnLst>
                                </p:cTn>
                              </p:par>
                            </p:childTnLst>
                          </p:cTn>
                        </p:par>
                        <p:par>
                          <p:cTn id="36" fill="hold" nodeType="afterGroup">
                            <p:stCondLst>
                              <p:cond delay="500"/>
                            </p:stCondLst>
                            <p:childTnLst>
                              <p:par>
                                <p:cTn id="37" presetID="1" presetClass="entr" presetSubtype="0" fill="hold" grpId="0" nodeType="afterEffect">
                                  <p:stCondLst>
                                    <p:cond delay="0"/>
                                  </p:stCondLst>
                                  <p:childTnLst>
                                    <p:set>
                                      <p:cBhvr>
                                        <p:cTn id="38" dur="1" fill="hold">
                                          <p:stCondLst>
                                            <p:cond delay="499"/>
                                          </p:stCondLst>
                                        </p:cTn>
                                        <p:tgtEl>
                                          <p:spTgt spid="247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37" grpId="0" autoUpdateAnimBg="0"/>
      <p:bldP spid="24658" grpId="0" autoUpdateAnimBg="0"/>
      <p:bldP spid="24684" grpId="0" autoUpdateAnimBg="0"/>
      <p:bldP spid="2472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0EE16DA-5ED4-7807-DCC6-25056C51E15D}"/>
              </a:ext>
            </a:extLst>
          </p:cNvPr>
          <p:cNvSpPr>
            <a:spLocks noGrp="1"/>
          </p:cNvSpPr>
          <p:nvPr>
            <p:ph type="sldNum" sz="quarter" idx="12"/>
          </p:nvPr>
        </p:nvSpPr>
        <p:spPr/>
        <p:txBody>
          <a:bodyPr/>
          <a:lstStyle/>
          <a:p>
            <a:fld id="{86E0810B-E890-3946-85FD-A7DB9B5594E2}" type="slidenum">
              <a:rPr lang="en-US" altLang="en-IT"/>
              <a:pPr/>
              <a:t>26</a:t>
            </a:fld>
            <a:endParaRPr lang="en-US" altLang="en-IT"/>
          </a:p>
        </p:txBody>
      </p:sp>
      <p:sp>
        <p:nvSpPr>
          <p:cNvPr id="9222" name="Rectangle 6">
            <a:extLst>
              <a:ext uri="{FF2B5EF4-FFF2-40B4-BE49-F238E27FC236}">
                <a16:creationId xmlns:a16="http://schemas.microsoft.com/office/drawing/2014/main" id="{C6C7E029-902C-65E4-BA18-931A5476466B}"/>
              </a:ext>
            </a:extLst>
          </p:cNvPr>
          <p:cNvSpPr>
            <a:spLocks noGrp="1" noChangeArrowheads="1"/>
          </p:cNvSpPr>
          <p:nvPr>
            <p:ph type="title"/>
          </p:nvPr>
        </p:nvSpPr>
        <p:spPr/>
        <p:txBody>
          <a:bodyPr/>
          <a:lstStyle/>
          <a:p>
            <a:pPr algn="ctr"/>
            <a:r>
              <a:rPr lang="en-US" altLang="en-IT" dirty="0"/>
              <a:t>SETM Algorithm</a:t>
            </a:r>
          </a:p>
        </p:txBody>
      </p:sp>
      <p:sp>
        <p:nvSpPr>
          <p:cNvPr id="9223" name="Rectangle 7" descr="Rectangle: Click to edit Master text styles&#13;&#10;Second level&#13;&#10;Third level&#13;&#10;Fourth level&#13;&#10;Fifth level">
            <a:extLst>
              <a:ext uri="{FF2B5EF4-FFF2-40B4-BE49-F238E27FC236}">
                <a16:creationId xmlns:a16="http://schemas.microsoft.com/office/drawing/2014/main" id="{7FFDAA0C-8FF7-067C-40D2-C9871EDB30D4}"/>
              </a:ext>
            </a:extLst>
          </p:cNvPr>
          <p:cNvSpPr>
            <a:spLocks noGrp="1" noChangeArrowheads="1"/>
          </p:cNvSpPr>
          <p:nvPr>
            <p:ph type="body" idx="1"/>
          </p:nvPr>
        </p:nvSpPr>
        <p:spPr>
          <a:xfrm>
            <a:off x="2133600" y="1752600"/>
            <a:ext cx="8229600" cy="4267200"/>
          </a:xfrm>
        </p:spPr>
        <p:txBody>
          <a:bodyPr/>
          <a:lstStyle/>
          <a:p>
            <a:pPr>
              <a:lnSpc>
                <a:spcPct val="90000"/>
              </a:lnSpc>
            </a:pPr>
            <a:r>
              <a:rPr lang="en-US" altLang="en-IT" sz="2400" i="1" dirty="0"/>
              <a:t>Candidate</a:t>
            </a:r>
            <a:r>
              <a:rPr lang="en-US" altLang="en-IT" sz="2400" dirty="0"/>
              <a:t> </a:t>
            </a:r>
            <a:r>
              <a:rPr lang="en-US" altLang="en-IT" sz="2400" dirty="0" err="1"/>
              <a:t>itemsets</a:t>
            </a:r>
            <a:r>
              <a:rPr lang="en-US" altLang="en-IT" sz="2400" dirty="0"/>
              <a:t> are generated on-the-fly as the database is scanned but counted at the end of the pass.</a:t>
            </a:r>
          </a:p>
          <a:p>
            <a:pPr>
              <a:lnSpc>
                <a:spcPct val="90000"/>
              </a:lnSpc>
              <a:buFont typeface="Wingdings" pitchFamily="2" charset="2"/>
              <a:buAutoNum type="arabicPeriod"/>
            </a:pPr>
            <a:r>
              <a:rPr lang="en-US" altLang="en-IT" sz="2400" dirty="0"/>
              <a:t>New </a:t>
            </a:r>
            <a:r>
              <a:rPr lang="en-US" altLang="en-IT" sz="2400" i="1" dirty="0"/>
              <a:t>candidate</a:t>
            </a:r>
            <a:r>
              <a:rPr lang="en-US" altLang="en-IT" sz="2400" dirty="0"/>
              <a:t> </a:t>
            </a:r>
            <a:r>
              <a:rPr lang="en-US" altLang="en-IT" sz="2400" dirty="0" err="1"/>
              <a:t>itemsets</a:t>
            </a:r>
            <a:r>
              <a:rPr lang="en-US" altLang="en-IT" sz="2400" dirty="0"/>
              <a:t> are generated the same way as in AIS algorithm, but the TID of the generating transaction is saved with the </a:t>
            </a:r>
            <a:r>
              <a:rPr lang="en-US" altLang="en-IT" sz="2400" i="1" dirty="0"/>
              <a:t>candidate</a:t>
            </a:r>
            <a:r>
              <a:rPr lang="en-US" altLang="en-IT" sz="2400" dirty="0"/>
              <a:t> itemset in a sequential structure.</a:t>
            </a:r>
          </a:p>
          <a:p>
            <a:pPr>
              <a:lnSpc>
                <a:spcPct val="90000"/>
              </a:lnSpc>
              <a:buFont typeface="Wingdings" pitchFamily="2" charset="2"/>
              <a:buAutoNum type="arabicPeriod"/>
            </a:pPr>
            <a:r>
              <a:rPr lang="en-US" altLang="en-IT" sz="2400" dirty="0"/>
              <a:t>At the end of the pass, the support count of </a:t>
            </a:r>
            <a:r>
              <a:rPr lang="en-US" altLang="en-IT" sz="2400" i="1" dirty="0"/>
              <a:t>candidate</a:t>
            </a:r>
            <a:r>
              <a:rPr lang="en-US" altLang="en-IT" sz="2400" dirty="0"/>
              <a:t> </a:t>
            </a:r>
            <a:r>
              <a:rPr lang="en-US" altLang="en-IT" sz="2400" dirty="0" err="1"/>
              <a:t>itemsets</a:t>
            </a:r>
            <a:r>
              <a:rPr lang="en-US" altLang="en-IT" sz="2400" dirty="0"/>
              <a:t> is determined by aggregating this sequential structure</a:t>
            </a:r>
          </a:p>
          <a:p>
            <a:pPr>
              <a:lnSpc>
                <a:spcPct val="90000"/>
              </a:lnSpc>
            </a:pPr>
            <a:r>
              <a:rPr lang="en-US" altLang="en-IT" sz="2400" dirty="0"/>
              <a:t>It has the same disadvantage of the AIS algorithm.</a:t>
            </a:r>
          </a:p>
          <a:p>
            <a:pPr>
              <a:lnSpc>
                <a:spcPct val="90000"/>
              </a:lnSpc>
            </a:pPr>
            <a:r>
              <a:rPr lang="en-US" altLang="en-IT" sz="2400" dirty="0"/>
              <a:t>Another disadvantage is that for each </a:t>
            </a:r>
            <a:r>
              <a:rPr lang="en-US" altLang="en-IT" sz="2400" i="1" dirty="0"/>
              <a:t>candidate</a:t>
            </a:r>
            <a:r>
              <a:rPr lang="en-US" altLang="en-IT" sz="2400" dirty="0"/>
              <a:t> itemset, there are as many entries as its support value.</a:t>
            </a: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6E0F5DDF-B36B-C4AD-B79B-A9BF89C3E6B2}"/>
              </a:ext>
            </a:extLst>
          </p:cNvPr>
          <p:cNvSpPr>
            <a:spLocks noGrp="1"/>
          </p:cNvSpPr>
          <p:nvPr>
            <p:ph type="sldNum" sz="quarter" idx="12"/>
          </p:nvPr>
        </p:nvSpPr>
        <p:spPr/>
        <p:txBody>
          <a:bodyPr/>
          <a:lstStyle/>
          <a:p>
            <a:fld id="{22361C29-8626-C74F-9981-18CB5309C89A}" type="slidenum">
              <a:rPr lang="en-US" altLang="en-IT"/>
              <a:pPr/>
              <a:t>27</a:t>
            </a:fld>
            <a:endParaRPr lang="en-US" altLang="en-IT"/>
          </a:p>
        </p:txBody>
      </p:sp>
      <p:sp>
        <p:nvSpPr>
          <p:cNvPr id="28674" name="Rectangle 2">
            <a:extLst>
              <a:ext uri="{FF2B5EF4-FFF2-40B4-BE49-F238E27FC236}">
                <a16:creationId xmlns:a16="http://schemas.microsoft.com/office/drawing/2014/main" id="{F90E2D46-0B70-316B-4DB4-72660FBC39C8}"/>
              </a:ext>
            </a:extLst>
          </p:cNvPr>
          <p:cNvSpPr>
            <a:spLocks noGrp="1" noChangeArrowheads="1"/>
          </p:cNvSpPr>
          <p:nvPr>
            <p:ph type="title"/>
          </p:nvPr>
        </p:nvSpPr>
        <p:spPr/>
        <p:txBody>
          <a:bodyPr/>
          <a:lstStyle/>
          <a:p>
            <a:pPr algn="ctr"/>
            <a:r>
              <a:rPr lang="en-US" altLang="en-IT"/>
              <a:t>Example</a:t>
            </a:r>
          </a:p>
        </p:txBody>
      </p:sp>
      <p:graphicFrame>
        <p:nvGraphicFramePr>
          <p:cNvPr id="28675" name="Group 3">
            <a:extLst>
              <a:ext uri="{FF2B5EF4-FFF2-40B4-BE49-F238E27FC236}">
                <a16:creationId xmlns:a16="http://schemas.microsoft.com/office/drawing/2014/main" id="{F81F0C74-CCCB-0CC8-6331-5E349400C5F4}"/>
              </a:ext>
            </a:extLst>
          </p:cNvPr>
          <p:cNvGraphicFramePr>
            <a:graphicFrameLocks noGrp="1"/>
          </p:cNvGraphicFramePr>
          <p:nvPr/>
        </p:nvGraphicFramePr>
        <p:xfrm>
          <a:off x="2438400" y="2025650"/>
          <a:ext cx="1847850" cy="2016760"/>
        </p:xfrm>
        <a:graphic>
          <a:graphicData uri="http://schemas.openxmlformats.org/drawingml/2006/table">
            <a:tbl>
              <a:tblPr/>
              <a:tblGrid>
                <a:gridCol w="766763">
                  <a:extLst>
                    <a:ext uri="{9D8B030D-6E8A-4147-A177-3AD203B41FA5}">
                      <a16:colId xmlns:a16="http://schemas.microsoft.com/office/drawing/2014/main" val="2289244403"/>
                    </a:ext>
                  </a:extLst>
                </a:gridCol>
                <a:gridCol w="1081087">
                  <a:extLst>
                    <a:ext uri="{9D8B030D-6E8A-4147-A177-3AD203B41FA5}">
                      <a16:colId xmlns:a16="http://schemas.microsoft.com/office/drawing/2014/main" val="149730439"/>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TID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28305170"/>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1 3 4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27469285"/>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597391"/>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1 2 3 5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59555401"/>
                  </a:ext>
                </a:extLst>
              </a:tr>
              <a:tr h="304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400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9736096"/>
                  </a:ext>
                </a:extLst>
              </a:tr>
            </a:tbl>
          </a:graphicData>
        </a:graphic>
      </p:graphicFrame>
      <p:sp>
        <p:nvSpPr>
          <p:cNvPr id="28695" name="Text Box 23">
            <a:extLst>
              <a:ext uri="{FF2B5EF4-FFF2-40B4-BE49-F238E27FC236}">
                <a16:creationId xmlns:a16="http://schemas.microsoft.com/office/drawing/2014/main" id="{73FFD00D-0F08-548C-011E-F4B83A8613B9}"/>
              </a:ext>
            </a:extLst>
          </p:cNvPr>
          <p:cNvSpPr txBox="1">
            <a:spLocks noChangeArrowheads="1"/>
          </p:cNvSpPr>
          <p:nvPr/>
        </p:nvSpPr>
        <p:spPr bwMode="auto">
          <a:xfrm>
            <a:off x="2438400" y="1524000"/>
            <a:ext cx="1828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Database</a:t>
            </a:r>
          </a:p>
        </p:txBody>
      </p:sp>
      <p:graphicFrame>
        <p:nvGraphicFramePr>
          <p:cNvPr id="28696" name="Group 24">
            <a:extLst>
              <a:ext uri="{FF2B5EF4-FFF2-40B4-BE49-F238E27FC236}">
                <a16:creationId xmlns:a16="http://schemas.microsoft.com/office/drawing/2014/main" id="{FC2CE8D6-AA35-D0DC-5789-EDD41F1BC746}"/>
              </a:ext>
            </a:extLst>
          </p:cNvPr>
          <p:cNvGraphicFramePr>
            <a:graphicFrameLocks noGrp="1"/>
          </p:cNvGraphicFramePr>
          <p:nvPr/>
        </p:nvGraphicFramePr>
        <p:xfrm>
          <a:off x="4800600" y="2025650"/>
          <a:ext cx="2389188" cy="2016760"/>
        </p:xfrm>
        <a:graphic>
          <a:graphicData uri="http://schemas.openxmlformats.org/drawingml/2006/table">
            <a:tbl>
              <a:tblPr/>
              <a:tblGrid>
                <a:gridCol w="1190625">
                  <a:extLst>
                    <a:ext uri="{9D8B030D-6E8A-4147-A177-3AD203B41FA5}">
                      <a16:colId xmlns:a16="http://schemas.microsoft.com/office/drawing/2014/main" val="445863423"/>
                    </a:ext>
                  </a:extLst>
                </a:gridCol>
                <a:gridCol w="1198563">
                  <a:extLst>
                    <a:ext uri="{9D8B030D-6E8A-4147-A177-3AD203B41FA5}">
                      <a16:colId xmlns:a16="http://schemas.microsoft.com/office/drawing/2014/main" val="2915007501"/>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Support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38541555"/>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5261874"/>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64088798"/>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6027902"/>
                  </a:ext>
                </a:extLst>
              </a:tr>
              <a:tr h="304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1985629"/>
                  </a:ext>
                </a:extLst>
              </a:tr>
            </a:tbl>
          </a:graphicData>
        </a:graphic>
      </p:graphicFrame>
      <p:sp>
        <p:nvSpPr>
          <p:cNvPr id="28716" name="Text Box 44">
            <a:extLst>
              <a:ext uri="{FF2B5EF4-FFF2-40B4-BE49-F238E27FC236}">
                <a16:creationId xmlns:a16="http://schemas.microsoft.com/office/drawing/2014/main" id="{2DC2CE70-390F-5F06-6534-3E53A3A065E0}"/>
              </a:ext>
            </a:extLst>
          </p:cNvPr>
          <p:cNvSpPr txBox="1">
            <a:spLocks noChangeArrowheads="1"/>
          </p:cNvSpPr>
          <p:nvPr/>
        </p:nvSpPr>
        <p:spPr bwMode="auto">
          <a:xfrm>
            <a:off x="4819650" y="1524000"/>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L</a:t>
            </a:r>
            <a:r>
              <a:rPr lang="en-US" altLang="en-IT" baseline="-25000"/>
              <a:t>1</a:t>
            </a:r>
            <a:endParaRPr lang="en-US" altLang="en-IT"/>
          </a:p>
        </p:txBody>
      </p:sp>
      <p:graphicFrame>
        <p:nvGraphicFramePr>
          <p:cNvPr id="28810" name="Group 138">
            <a:extLst>
              <a:ext uri="{FF2B5EF4-FFF2-40B4-BE49-F238E27FC236}">
                <a16:creationId xmlns:a16="http://schemas.microsoft.com/office/drawing/2014/main" id="{D11B8D8F-9C8F-3ACB-71ED-5E4559CD0DEA}"/>
              </a:ext>
            </a:extLst>
          </p:cNvPr>
          <p:cNvGraphicFramePr>
            <a:graphicFrameLocks noGrp="1"/>
          </p:cNvGraphicFramePr>
          <p:nvPr/>
        </p:nvGraphicFramePr>
        <p:xfrm>
          <a:off x="7772400" y="2025651"/>
          <a:ext cx="1550988" cy="4693920"/>
        </p:xfrm>
        <a:graphic>
          <a:graphicData uri="http://schemas.openxmlformats.org/drawingml/2006/table">
            <a:tbl>
              <a:tblPr/>
              <a:tblGrid>
                <a:gridCol w="990600">
                  <a:extLst>
                    <a:ext uri="{9D8B030D-6E8A-4147-A177-3AD203B41FA5}">
                      <a16:colId xmlns:a16="http://schemas.microsoft.com/office/drawing/2014/main" val="1595704719"/>
                    </a:ext>
                  </a:extLst>
                </a:gridCol>
                <a:gridCol w="560388">
                  <a:extLst>
                    <a:ext uri="{9D8B030D-6E8A-4147-A177-3AD203B41FA5}">
                      <a16:colId xmlns:a16="http://schemas.microsoft.com/office/drawing/2014/main" val="2700099016"/>
                    </a:ext>
                  </a:extLst>
                </a:gridCol>
              </a:tblGrid>
              <a:tr h="18415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1" i="0" u="none" strike="noStrike" cap="none" normalizeH="0" baseline="0">
                          <a:ln>
                            <a:noFill/>
                          </a:ln>
                          <a:solidFill>
                            <a:schemeClr val="tx1"/>
                          </a:solidFill>
                          <a:effectLst/>
                          <a:latin typeface="Tahoma" panose="020B0604030504040204" pitchFamily="34" charset="0"/>
                        </a:rPr>
                        <a:t>TID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2094922"/>
                  </a:ext>
                </a:extLst>
              </a:tr>
              <a:tr h="180975">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{1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7805417"/>
                  </a:ext>
                </a:extLst>
              </a:tr>
              <a:tr h="180975">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{1 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3817167"/>
                  </a:ext>
                </a:extLst>
              </a:tr>
              <a:tr h="180975">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{3 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6674883"/>
                  </a:ext>
                </a:extLst>
              </a:tr>
              <a:tr h="180975">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{2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200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3825705"/>
                  </a:ext>
                </a:extLst>
              </a:tr>
              <a:tr h="180975">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{2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200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98628210"/>
                  </a:ext>
                </a:extLst>
              </a:tr>
              <a:tr h="180975">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200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0896051"/>
                  </a:ext>
                </a:extLst>
              </a:tr>
              <a:tr h="180975">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{1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300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6123348"/>
                  </a:ext>
                </a:extLst>
              </a:tr>
              <a:tr h="180975">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{1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300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51765422"/>
                  </a:ext>
                </a:extLst>
              </a:tr>
              <a:tr h="180975">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{1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300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7164058"/>
                  </a:ext>
                </a:extLst>
              </a:tr>
              <a:tr h="180975">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{2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300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524313"/>
                  </a:ext>
                </a:extLst>
              </a:tr>
              <a:tr h="334963">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{2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300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8779918"/>
                  </a:ext>
                </a:extLst>
              </a:tr>
              <a:tr h="334963">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300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8391677"/>
                  </a:ext>
                </a:extLst>
              </a:tr>
              <a:tr h="180975">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{2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1600" b="0" i="0" u="none" strike="noStrike" cap="none" normalizeH="0" baseline="0">
                          <a:ln>
                            <a:noFill/>
                          </a:ln>
                          <a:solidFill>
                            <a:schemeClr val="tx1"/>
                          </a:solidFill>
                          <a:effectLst/>
                          <a:latin typeface="Tahoma" panose="020B0604030504040204" pitchFamily="34" charset="0"/>
                        </a:rPr>
                        <a:t>400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78003570"/>
                  </a:ext>
                </a:extLst>
              </a:tr>
            </a:tbl>
          </a:graphicData>
        </a:graphic>
      </p:graphicFrame>
      <p:sp>
        <p:nvSpPr>
          <p:cNvPr id="28749" name="Text Box 77">
            <a:extLst>
              <a:ext uri="{FF2B5EF4-FFF2-40B4-BE49-F238E27FC236}">
                <a16:creationId xmlns:a16="http://schemas.microsoft.com/office/drawing/2014/main" id="{3647E7BA-6F6B-D02D-79D3-DB32A0F47BEE}"/>
              </a:ext>
            </a:extLst>
          </p:cNvPr>
          <p:cNvSpPr txBox="1">
            <a:spLocks noChangeArrowheads="1"/>
          </p:cNvSpPr>
          <p:nvPr/>
        </p:nvSpPr>
        <p:spPr bwMode="auto">
          <a:xfrm>
            <a:off x="7791450" y="1524000"/>
            <a:ext cx="15049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C</a:t>
            </a:r>
            <a:r>
              <a:rPr lang="en-US" altLang="en-IT" baseline="-25000"/>
              <a:t>2</a:t>
            </a:r>
            <a:endParaRPr lang="en-US" altLang="en-IT"/>
          </a:p>
        </p:txBody>
      </p:sp>
      <p:graphicFrame>
        <p:nvGraphicFramePr>
          <p:cNvPr id="28816" name="Group 144">
            <a:extLst>
              <a:ext uri="{FF2B5EF4-FFF2-40B4-BE49-F238E27FC236}">
                <a16:creationId xmlns:a16="http://schemas.microsoft.com/office/drawing/2014/main" id="{50556B73-F9A8-F261-C955-45D9C09CAAF1}"/>
              </a:ext>
            </a:extLst>
          </p:cNvPr>
          <p:cNvGraphicFramePr>
            <a:graphicFrameLocks noGrp="1"/>
          </p:cNvGraphicFramePr>
          <p:nvPr/>
        </p:nvGraphicFramePr>
        <p:xfrm>
          <a:off x="3581401" y="4692650"/>
          <a:ext cx="1844675" cy="2016760"/>
        </p:xfrm>
        <a:graphic>
          <a:graphicData uri="http://schemas.openxmlformats.org/drawingml/2006/table">
            <a:tbl>
              <a:tblPr/>
              <a:tblGrid>
                <a:gridCol w="1190625">
                  <a:extLst>
                    <a:ext uri="{9D8B030D-6E8A-4147-A177-3AD203B41FA5}">
                      <a16:colId xmlns:a16="http://schemas.microsoft.com/office/drawing/2014/main" val="956545509"/>
                    </a:ext>
                  </a:extLst>
                </a:gridCol>
                <a:gridCol w="654050">
                  <a:extLst>
                    <a:ext uri="{9D8B030D-6E8A-4147-A177-3AD203B41FA5}">
                      <a16:colId xmlns:a16="http://schemas.microsoft.com/office/drawing/2014/main" val="313337137"/>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TID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11688632"/>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 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90653353"/>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10130270"/>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74088457"/>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54492556"/>
                  </a:ext>
                </a:extLst>
              </a:tr>
            </a:tbl>
          </a:graphicData>
        </a:graphic>
      </p:graphicFrame>
      <p:sp>
        <p:nvSpPr>
          <p:cNvPr id="28767" name="Text Box 95">
            <a:extLst>
              <a:ext uri="{FF2B5EF4-FFF2-40B4-BE49-F238E27FC236}">
                <a16:creationId xmlns:a16="http://schemas.microsoft.com/office/drawing/2014/main" id="{E73DE7C5-9CAF-D03E-FFA3-6EA96D5B376C}"/>
              </a:ext>
            </a:extLst>
          </p:cNvPr>
          <p:cNvSpPr txBox="1">
            <a:spLocks noChangeArrowheads="1"/>
          </p:cNvSpPr>
          <p:nvPr/>
        </p:nvSpPr>
        <p:spPr bwMode="auto">
          <a:xfrm>
            <a:off x="3600450" y="4191000"/>
            <a:ext cx="18097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C</a:t>
            </a:r>
            <a:r>
              <a:rPr lang="en-US" altLang="en-IT" baseline="-25000"/>
              <a:t>3</a:t>
            </a:r>
            <a:endParaRPr lang="en-US" altLang="en-IT"/>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additive="base">
                                        <p:cTn id="7" dur="500" fill="hold"/>
                                        <p:tgtEl>
                                          <p:spTgt spid="28675"/>
                                        </p:tgtEl>
                                        <p:attrNameLst>
                                          <p:attrName>ppt_x</p:attrName>
                                        </p:attrNameLst>
                                      </p:cBhvr>
                                      <p:tavLst>
                                        <p:tav tm="0">
                                          <p:val>
                                            <p:strVal val="0-#ppt_w/2"/>
                                          </p:val>
                                        </p:tav>
                                        <p:tav tm="100000">
                                          <p:val>
                                            <p:strVal val="#ppt_x"/>
                                          </p:val>
                                        </p:tav>
                                      </p:tavLst>
                                    </p:anim>
                                    <p:anim calcmode="lin" valueType="num">
                                      <p:cBhvr additive="base">
                                        <p:cTn id="8" dur="500" fill="hold"/>
                                        <p:tgtEl>
                                          <p:spTgt spid="2867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28695"/>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1" fill="hold" nodeType="clickEffect">
                                  <p:stCondLst>
                                    <p:cond delay="0"/>
                                  </p:stCondLst>
                                  <p:childTnLst>
                                    <p:set>
                                      <p:cBhvr>
                                        <p:cTn id="15" dur="1" fill="hold">
                                          <p:stCondLst>
                                            <p:cond delay="0"/>
                                          </p:stCondLst>
                                        </p:cTn>
                                        <p:tgtEl>
                                          <p:spTgt spid="28696"/>
                                        </p:tgtEl>
                                        <p:attrNameLst>
                                          <p:attrName>style.visibility</p:attrName>
                                        </p:attrNameLst>
                                      </p:cBhvr>
                                      <p:to>
                                        <p:strVal val="visible"/>
                                      </p:to>
                                    </p:set>
                                    <p:anim calcmode="lin" valueType="num">
                                      <p:cBhvr additive="base">
                                        <p:cTn id="16" dur="500" fill="hold"/>
                                        <p:tgtEl>
                                          <p:spTgt spid="28696"/>
                                        </p:tgtEl>
                                        <p:attrNameLst>
                                          <p:attrName>ppt_x</p:attrName>
                                        </p:attrNameLst>
                                      </p:cBhvr>
                                      <p:tavLst>
                                        <p:tav tm="0">
                                          <p:val>
                                            <p:strVal val="#ppt_x"/>
                                          </p:val>
                                        </p:tav>
                                        <p:tav tm="100000">
                                          <p:val>
                                            <p:strVal val="#ppt_x"/>
                                          </p:val>
                                        </p:tav>
                                      </p:tavLst>
                                    </p:anim>
                                    <p:anim calcmode="lin" valueType="num">
                                      <p:cBhvr additive="base">
                                        <p:cTn id="17" dur="500" fill="hold"/>
                                        <p:tgtEl>
                                          <p:spTgt spid="28696"/>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2871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28810"/>
                                        </p:tgtEl>
                                        <p:attrNameLst>
                                          <p:attrName>style.visibility</p:attrName>
                                        </p:attrNameLst>
                                      </p:cBhvr>
                                      <p:to>
                                        <p:strVal val="visible"/>
                                      </p:to>
                                    </p:set>
                                    <p:anim calcmode="lin" valueType="num">
                                      <p:cBhvr additive="base">
                                        <p:cTn id="25" dur="500" fill="hold"/>
                                        <p:tgtEl>
                                          <p:spTgt spid="28810"/>
                                        </p:tgtEl>
                                        <p:attrNameLst>
                                          <p:attrName>ppt_x</p:attrName>
                                        </p:attrNameLst>
                                      </p:cBhvr>
                                      <p:tavLst>
                                        <p:tav tm="0">
                                          <p:val>
                                            <p:strVal val="1+#ppt_w/2"/>
                                          </p:val>
                                        </p:tav>
                                        <p:tav tm="100000">
                                          <p:val>
                                            <p:strVal val="#ppt_x"/>
                                          </p:val>
                                        </p:tav>
                                      </p:tavLst>
                                    </p:anim>
                                    <p:anim calcmode="lin" valueType="num">
                                      <p:cBhvr additive="base">
                                        <p:cTn id="26" dur="500" fill="hold"/>
                                        <p:tgtEl>
                                          <p:spTgt spid="28810"/>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28749"/>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28816"/>
                                        </p:tgtEl>
                                        <p:attrNameLst>
                                          <p:attrName>style.visibility</p:attrName>
                                        </p:attrNameLst>
                                      </p:cBhvr>
                                      <p:to>
                                        <p:strVal val="visible"/>
                                      </p:to>
                                    </p:set>
                                    <p:anim calcmode="lin" valueType="num">
                                      <p:cBhvr additive="base">
                                        <p:cTn id="34" dur="500" fill="hold"/>
                                        <p:tgtEl>
                                          <p:spTgt spid="28816"/>
                                        </p:tgtEl>
                                        <p:attrNameLst>
                                          <p:attrName>ppt_x</p:attrName>
                                        </p:attrNameLst>
                                      </p:cBhvr>
                                      <p:tavLst>
                                        <p:tav tm="0">
                                          <p:val>
                                            <p:strVal val="#ppt_x"/>
                                          </p:val>
                                        </p:tav>
                                        <p:tav tm="100000">
                                          <p:val>
                                            <p:strVal val="#ppt_x"/>
                                          </p:val>
                                        </p:tav>
                                      </p:tavLst>
                                    </p:anim>
                                    <p:anim calcmode="lin" valueType="num">
                                      <p:cBhvr additive="base">
                                        <p:cTn id="35" dur="500" fill="hold"/>
                                        <p:tgtEl>
                                          <p:spTgt spid="28816"/>
                                        </p:tgtEl>
                                        <p:attrNameLst>
                                          <p:attrName>ppt_y</p:attrName>
                                        </p:attrNameLst>
                                      </p:cBhvr>
                                      <p:tavLst>
                                        <p:tav tm="0">
                                          <p:val>
                                            <p:strVal val="1+#ppt_h/2"/>
                                          </p:val>
                                        </p:tav>
                                        <p:tav tm="100000">
                                          <p:val>
                                            <p:strVal val="#ppt_y"/>
                                          </p:val>
                                        </p:tav>
                                      </p:tavLst>
                                    </p:anim>
                                  </p:childTnLst>
                                </p:cTn>
                              </p:par>
                            </p:childTnLst>
                          </p:cTn>
                        </p:par>
                        <p:par>
                          <p:cTn id="36" fill="hold" nodeType="afterGroup">
                            <p:stCondLst>
                              <p:cond delay="500"/>
                            </p:stCondLst>
                            <p:childTnLst>
                              <p:par>
                                <p:cTn id="37" presetID="1" presetClass="entr" presetSubtype="0" fill="hold" grpId="0" nodeType="afterEffect">
                                  <p:stCondLst>
                                    <p:cond delay="0"/>
                                  </p:stCondLst>
                                  <p:childTnLst>
                                    <p:set>
                                      <p:cBhvr>
                                        <p:cTn id="38" dur="1" fill="hold">
                                          <p:stCondLst>
                                            <p:cond delay="499"/>
                                          </p:stCondLst>
                                        </p:cTn>
                                        <p:tgtEl>
                                          <p:spTgt spid="287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95" grpId="0" autoUpdateAnimBg="0"/>
      <p:bldP spid="28716" grpId="0" autoUpdateAnimBg="0"/>
      <p:bldP spid="28749" grpId="0" autoUpdateAnimBg="0"/>
      <p:bldP spid="2876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7BAC922-415D-16E2-5142-3DD6C9F36B7B}"/>
              </a:ext>
            </a:extLst>
          </p:cNvPr>
          <p:cNvSpPr>
            <a:spLocks noGrp="1"/>
          </p:cNvSpPr>
          <p:nvPr>
            <p:ph type="sldNum" sz="quarter" idx="12"/>
          </p:nvPr>
        </p:nvSpPr>
        <p:spPr/>
        <p:txBody>
          <a:bodyPr/>
          <a:lstStyle/>
          <a:p>
            <a:fld id="{09FF8521-C91A-424D-A6F6-0A4AF86DC736}" type="slidenum">
              <a:rPr lang="en-US" altLang="en-IT"/>
              <a:pPr/>
              <a:t>28</a:t>
            </a:fld>
            <a:endParaRPr lang="en-US" altLang="en-IT"/>
          </a:p>
        </p:txBody>
      </p:sp>
      <p:sp>
        <p:nvSpPr>
          <p:cNvPr id="10246" name="Rectangle 6">
            <a:extLst>
              <a:ext uri="{FF2B5EF4-FFF2-40B4-BE49-F238E27FC236}">
                <a16:creationId xmlns:a16="http://schemas.microsoft.com/office/drawing/2014/main" id="{FC05E8D2-AFA2-5A8F-B83A-D5BA80D2353D}"/>
              </a:ext>
            </a:extLst>
          </p:cNvPr>
          <p:cNvSpPr>
            <a:spLocks noGrp="1" noChangeArrowheads="1"/>
          </p:cNvSpPr>
          <p:nvPr>
            <p:ph type="title"/>
          </p:nvPr>
        </p:nvSpPr>
        <p:spPr/>
        <p:txBody>
          <a:bodyPr/>
          <a:lstStyle/>
          <a:p>
            <a:pPr algn="ctr"/>
            <a:r>
              <a:rPr lang="en-US" altLang="en-IT"/>
              <a:t>Apriori Algorithm</a:t>
            </a:r>
          </a:p>
        </p:txBody>
      </p:sp>
      <p:sp>
        <p:nvSpPr>
          <p:cNvPr id="10247" name="Rectangle 7" descr="Rectangle: Click to edit Master text styles&#13;&#10;Second level&#13;&#10;Third level&#13;&#10;Fourth level&#13;&#10;Fifth level">
            <a:extLst>
              <a:ext uri="{FF2B5EF4-FFF2-40B4-BE49-F238E27FC236}">
                <a16:creationId xmlns:a16="http://schemas.microsoft.com/office/drawing/2014/main" id="{59403C56-021C-4430-F1E2-A3BB26B03AF8}"/>
              </a:ext>
            </a:extLst>
          </p:cNvPr>
          <p:cNvSpPr>
            <a:spLocks noGrp="1" noChangeArrowheads="1"/>
          </p:cNvSpPr>
          <p:nvPr>
            <p:ph type="body" idx="1"/>
          </p:nvPr>
        </p:nvSpPr>
        <p:spPr>
          <a:xfrm>
            <a:off x="2133600" y="1752600"/>
            <a:ext cx="8229600" cy="4267200"/>
          </a:xfrm>
        </p:spPr>
        <p:txBody>
          <a:bodyPr/>
          <a:lstStyle/>
          <a:p>
            <a:r>
              <a:rPr lang="en-US" altLang="en-IT" i="1"/>
              <a:t>Candidate</a:t>
            </a:r>
            <a:r>
              <a:rPr lang="en-US" altLang="en-IT"/>
              <a:t> itemsets are generated using only the </a:t>
            </a:r>
            <a:r>
              <a:rPr lang="en-US" altLang="en-IT" i="1"/>
              <a:t>large</a:t>
            </a:r>
            <a:r>
              <a:rPr lang="en-US" altLang="en-IT"/>
              <a:t> itemsets of the previous pass without considering the transactions in the database.</a:t>
            </a:r>
          </a:p>
          <a:p>
            <a:pPr>
              <a:buFont typeface="Wingdings" pitchFamily="2" charset="2"/>
              <a:buAutoNum type="arabicPeriod"/>
            </a:pPr>
            <a:r>
              <a:rPr lang="en-US" altLang="en-IT"/>
              <a:t>The </a:t>
            </a:r>
            <a:r>
              <a:rPr lang="en-US" altLang="en-IT" i="1"/>
              <a:t>large</a:t>
            </a:r>
            <a:r>
              <a:rPr lang="en-US" altLang="en-IT"/>
              <a:t> itemset of the previous pass is joined with itself to generate all itemsets whose size is higher by 1.</a:t>
            </a:r>
          </a:p>
          <a:p>
            <a:pPr>
              <a:buFont typeface="Wingdings" pitchFamily="2" charset="2"/>
              <a:buAutoNum type="arabicPeriod"/>
            </a:pPr>
            <a:r>
              <a:rPr lang="en-US" altLang="en-IT"/>
              <a:t>Each generated itemset, that has a subset which is not </a:t>
            </a:r>
            <a:r>
              <a:rPr lang="en-US" altLang="en-IT" i="1"/>
              <a:t>large</a:t>
            </a:r>
            <a:r>
              <a:rPr lang="en-US" altLang="en-IT"/>
              <a:t>, is deleted. The remaining itemsets are the </a:t>
            </a:r>
            <a:r>
              <a:rPr lang="en-US" altLang="en-IT" i="1"/>
              <a:t>candidate</a:t>
            </a:r>
            <a:r>
              <a:rPr lang="en-US" altLang="en-IT"/>
              <a:t> ones.</a:t>
            </a: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7254C84-C37F-2220-414C-77BE2CC3D480}"/>
              </a:ext>
            </a:extLst>
          </p:cNvPr>
          <p:cNvSpPr>
            <a:spLocks noGrp="1"/>
          </p:cNvSpPr>
          <p:nvPr>
            <p:ph type="sldNum" sz="quarter" idx="12"/>
          </p:nvPr>
        </p:nvSpPr>
        <p:spPr/>
        <p:txBody>
          <a:bodyPr/>
          <a:lstStyle/>
          <a:p>
            <a:fld id="{1AFB3C51-A46D-9E41-80B0-20F29B4316E3}" type="slidenum">
              <a:rPr lang="en-US" altLang="en-IT"/>
              <a:pPr/>
              <a:t>29</a:t>
            </a:fld>
            <a:endParaRPr lang="en-US" altLang="en-IT"/>
          </a:p>
        </p:txBody>
      </p:sp>
      <p:sp>
        <p:nvSpPr>
          <p:cNvPr id="30722" name="Rectangle 2">
            <a:extLst>
              <a:ext uri="{FF2B5EF4-FFF2-40B4-BE49-F238E27FC236}">
                <a16:creationId xmlns:a16="http://schemas.microsoft.com/office/drawing/2014/main" id="{1E60F9F4-BC1A-8CC9-95C8-4AA7E59D0CB9}"/>
              </a:ext>
            </a:extLst>
          </p:cNvPr>
          <p:cNvSpPr>
            <a:spLocks noGrp="1" noChangeArrowheads="1"/>
          </p:cNvSpPr>
          <p:nvPr>
            <p:ph type="title"/>
          </p:nvPr>
        </p:nvSpPr>
        <p:spPr/>
        <p:txBody>
          <a:bodyPr/>
          <a:lstStyle/>
          <a:p>
            <a:pPr algn="ctr"/>
            <a:r>
              <a:rPr lang="en-US" altLang="en-IT"/>
              <a:t>Example</a:t>
            </a:r>
          </a:p>
        </p:txBody>
      </p:sp>
      <p:graphicFrame>
        <p:nvGraphicFramePr>
          <p:cNvPr id="30723" name="Group 3">
            <a:extLst>
              <a:ext uri="{FF2B5EF4-FFF2-40B4-BE49-F238E27FC236}">
                <a16:creationId xmlns:a16="http://schemas.microsoft.com/office/drawing/2014/main" id="{07AB669A-2F15-992F-FECA-7C882418B5AA}"/>
              </a:ext>
            </a:extLst>
          </p:cNvPr>
          <p:cNvGraphicFramePr>
            <a:graphicFrameLocks noGrp="1"/>
          </p:cNvGraphicFramePr>
          <p:nvPr/>
        </p:nvGraphicFramePr>
        <p:xfrm>
          <a:off x="2438400" y="2025650"/>
          <a:ext cx="1847850" cy="2016760"/>
        </p:xfrm>
        <a:graphic>
          <a:graphicData uri="http://schemas.openxmlformats.org/drawingml/2006/table">
            <a:tbl>
              <a:tblPr/>
              <a:tblGrid>
                <a:gridCol w="766763">
                  <a:extLst>
                    <a:ext uri="{9D8B030D-6E8A-4147-A177-3AD203B41FA5}">
                      <a16:colId xmlns:a16="http://schemas.microsoft.com/office/drawing/2014/main" val="1669981392"/>
                    </a:ext>
                  </a:extLst>
                </a:gridCol>
                <a:gridCol w="1081087">
                  <a:extLst>
                    <a:ext uri="{9D8B030D-6E8A-4147-A177-3AD203B41FA5}">
                      <a16:colId xmlns:a16="http://schemas.microsoft.com/office/drawing/2014/main" val="2097035548"/>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TID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63012150"/>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1 3 4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3579709"/>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30661625"/>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1 2 3 5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9364894"/>
                  </a:ext>
                </a:extLst>
              </a:tr>
              <a:tr h="304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400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64528123"/>
                  </a:ext>
                </a:extLst>
              </a:tr>
            </a:tbl>
          </a:graphicData>
        </a:graphic>
      </p:graphicFrame>
      <p:sp>
        <p:nvSpPr>
          <p:cNvPr id="30743" name="Text Box 23">
            <a:extLst>
              <a:ext uri="{FF2B5EF4-FFF2-40B4-BE49-F238E27FC236}">
                <a16:creationId xmlns:a16="http://schemas.microsoft.com/office/drawing/2014/main" id="{330681B9-D659-B24E-E9C3-D7CDFC9C2AC3}"/>
              </a:ext>
            </a:extLst>
          </p:cNvPr>
          <p:cNvSpPr txBox="1">
            <a:spLocks noChangeArrowheads="1"/>
          </p:cNvSpPr>
          <p:nvPr/>
        </p:nvSpPr>
        <p:spPr bwMode="auto">
          <a:xfrm>
            <a:off x="2438400" y="1524000"/>
            <a:ext cx="1828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Database</a:t>
            </a:r>
          </a:p>
        </p:txBody>
      </p:sp>
      <p:graphicFrame>
        <p:nvGraphicFramePr>
          <p:cNvPr id="30744" name="Group 24">
            <a:extLst>
              <a:ext uri="{FF2B5EF4-FFF2-40B4-BE49-F238E27FC236}">
                <a16:creationId xmlns:a16="http://schemas.microsoft.com/office/drawing/2014/main" id="{5850DF25-2BD9-CF1A-ACB5-C74349835D62}"/>
              </a:ext>
            </a:extLst>
          </p:cNvPr>
          <p:cNvGraphicFramePr>
            <a:graphicFrameLocks noGrp="1"/>
          </p:cNvGraphicFramePr>
          <p:nvPr/>
        </p:nvGraphicFramePr>
        <p:xfrm>
          <a:off x="4800600" y="2025650"/>
          <a:ext cx="2389188" cy="2016760"/>
        </p:xfrm>
        <a:graphic>
          <a:graphicData uri="http://schemas.openxmlformats.org/drawingml/2006/table">
            <a:tbl>
              <a:tblPr/>
              <a:tblGrid>
                <a:gridCol w="1190625">
                  <a:extLst>
                    <a:ext uri="{9D8B030D-6E8A-4147-A177-3AD203B41FA5}">
                      <a16:colId xmlns:a16="http://schemas.microsoft.com/office/drawing/2014/main" val="2401668152"/>
                    </a:ext>
                  </a:extLst>
                </a:gridCol>
                <a:gridCol w="1198563">
                  <a:extLst>
                    <a:ext uri="{9D8B030D-6E8A-4147-A177-3AD203B41FA5}">
                      <a16:colId xmlns:a16="http://schemas.microsoft.com/office/drawing/2014/main" val="2137228007"/>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Support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31222326"/>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7726329"/>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54227184"/>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08077201"/>
                  </a:ext>
                </a:extLst>
              </a:tr>
              <a:tr h="304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80466505"/>
                  </a:ext>
                </a:extLst>
              </a:tr>
            </a:tbl>
          </a:graphicData>
        </a:graphic>
      </p:graphicFrame>
      <p:sp>
        <p:nvSpPr>
          <p:cNvPr id="30764" name="Text Box 44">
            <a:extLst>
              <a:ext uri="{FF2B5EF4-FFF2-40B4-BE49-F238E27FC236}">
                <a16:creationId xmlns:a16="http://schemas.microsoft.com/office/drawing/2014/main" id="{8F9EB64A-4DBD-E7E4-C7BB-29A3982E38A3}"/>
              </a:ext>
            </a:extLst>
          </p:cNvPr>
          <p:cNvSpPr txBox="1">
            <a:spLocks noChangeArrowheads="1"/>
          </p:cNvSpPr>
          <p:nvPr/>
        </p:nvSpPr>
        <p:spPr bwMode="auto">
          <a:xfrm>
            <a:off x="4819650" y="1524000"/>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L</a:t>
            </a:r>
            <a:r>
              <a:rPr lang="en-US" altLang="en-IT" baseline="-25000"/>
              <a:t>1</a:t>
            </a:r>
            <a:endParaRPr lang="en-US" altLang="en-IT"/>
          </a:p>
        </p:txBody>
      </p:sp>
      <p:graphicFrame>
        <p:nvGraphicFramePr>
          <p:cNvPr id="30816" name="Group 96">
            <a:extLst>
              <a:ext uri="{FF2B5EF4-FFF2-40B4-BE49-F238E27FC236}">
                <a16:creationId xmlns:a16="http://schemas.microsoft.com/office/drawing/2014/main" id="{D87DFD0D-94D2-7CD1-D2D5-6A31C9BB1C60}"/>
              </a:ext>
            </a:extLst>
          </p:cNvPr>
          <p:cNvGraphicFramePr>
            <a:graphicFrameLocks noGrp="1"/>
          </p:cNvGraphicFramePr>
          <p:nvPr/>
        </p:nvGraphicFramePr>
        <p:xfrm>
          <a:off x="7772400" y="2025651"/>
          <a:ext cx="2389188" cy="2809240"/>
        </p:xfrm>
        <a:graphic>
          <a:graphicData uri="http://schemas.openxmlformats.org/drawingml/2006/table">
            <a:tbl>
              <a:tblPr/>
              <a:tblGrid>
                <a:gridCol w="1190625">
                  <a:extLst>
                    <a:ext uri="{9D8B030D-6E8A-4147-A177-3AD203B41FA5}">
                      <a16:colId xmlns:a16="http://schemas.microsoft.com/office/drawing/2014/main" val="3712268014"/>
                    </a:ext>
                  </a:extLst>
                </a:gridCol>
                <a:gridCol w="1198563">
                  <a:extLst>
                    <a:ext uri="{9D8B030D-6E8A-4147-A177-3AD203B41FA5}">
                      <a16:colId xmlns:a16="http://schemas.microsoft.com/office/drawing/2014/main" val="681851585"/>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Support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8516782"/>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80235420"/>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61712209"/>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76495606"/>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80085614"/>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0339782"/>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4021964"/>
                  </a:ext>
                </a:extLst>
              </a:tr>
            </a:tbl>
          </a:graphicData>
        </a:graphic>
      </p:graphicFrame>
      <p:sp>
        <p:nvSpPr>
          <p:cNvPr id="30797" name="Text Box 77">
            <a:extLst>
              <a:ext uri="{FF2B5EF4-FFF2-40B4-BE49-F238E27FC236}">
                <a16:creationId xmlns:a16="http://schemas.microsoft.com/office/drawing/2014/main" id="{67F8F6AF-B219-2B54-3B09-8C95778CD304}"/>
              </a:ext>
            </a:extLst>
          </p:cNvPr>
          <p:cNvSpPr txBox="1">
            <a:spLocks noChangeArrowheads="1"/>
          </p:cNvSpPr>
          <p:nvPr/>
        </p:nvSpPr>
        <p:spPr bwMode="auto">
          <a:xfrm>
            <a:off x="7791450" y="1524000"/>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C</a:t>
            </a:r>
            <a:r>
              <a:rPr lang="en-US" altLang="en-IT" baseline="-25000"/>
              <a:t>2</a:t>
            </a:r>
            <a:endParaRPr lang="en-US" altLang="en-IT"/>
          </a:p>
        </p:txBody>
      </p:sp>
      <p:graphicFrame>
        <p:nvGraphicFramePr>
          <p:cNvPr id="30818" name="Group 98">
            <a:extLst>
              <a:ext uri="{FF2B5EF4-FFF2-40B4-BE49-F238E27FC236}">
                <a16:creationId xmlns:a16="http://schemas.microsoft.com/office/drawing/2014/main" id="{2967D9D9-B6B4-A6F9-2B7C-E71B34D0F11A}"/>
              </a:ext>
            </a:extLst>
          </p:cNvPr>
          <p:cNvGraphicFramePr>
            <a:graphicFrameLocks noGrp="1"/>
          </p:cNvGraphicFramePr>
          <p:nvPr/>
        </p:nvGraphicFramePr>
        <p:xfrm>
          <a:off x="2057400" y="5105400"/>
          <a:ext cx="2389188" cy="828040"/>
        </p:xfrm>
        <a:graphic>
          <a:graphicData uri="http://schemas.openxmlformats.org/drawingml/2006/table">
            <a:tbl>
              <a:tblPr/>
              <a:tblGrid>
                <a:gridCol w="1190625">
                  <a:extLst>
                    <a:ext uri="{9D8B030D-6E8A-4147-A177-3AD203B41FA5}">
                      <a16:colId xmlns:a16="http://schemas.microsoft.com/office/drawing/2014/main" val="2033571322"/>
                    </a:ext>
                  </a:extLst>
                </a:gridCol>
                <a:gridCol w="1198563">
                  <a:extLst>
                    <a:ext uri="{9D8B030D-6E8A-4147-A177-3AD203B41FA5}">
                      <a16:colId xmlns:a16="http://schemas.microsoft.com/office/drawing/2014/main" val="2708080671"/>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Support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86490523"/>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91302123"/>
                  </a:ext>
                </a:extLst>
              </a:tr>
            </a:tbl>
          </a:graphicData>
        </a:graphic>
      </p:graphicFrame>
      <p:sp>
        <p:nvSpPr>
          <p:cNvPr id="30815" name="Text Box 95">
            <a:extLst>
              <a:ext uri="{FF2B5EF4-FFF2-40B4-BE49-F238E27FC236}">
                <a16:creationId xmlns:a16="http://schemas.microsoft.com/office/drawing/2014/main" id="{A9C84252-919D-78E6-9A7A-D54E8C18D707}"/>
              </a:ext>
            </a:extLst>
          </p:cNvPr>
          <p:cNvSpPr txBox="1">
            <a:spLocks noChangeArrowheads="1"/>
          </p:cNvSpPr>
          <p:nvPr/>
        </p:nvSpPr>
        <p:spPr bwMode="auto">
          <a:xfrm>
            <a:off x="2076450" y="4603750"/>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C</a:t>
            </a:r>
            <a:r>
              <a:rPr lang="en-US" altLang="en-IT" baseline="-25000"/>
              <a:t>3</a:t>
            </a:r>
            <a:endParaRPr lang="en-US" altLang="en-IT"/>
          </a:p>
        </p:txBody>
      </p:sp>
      <p:graphicFrame>
        <p:nvGraphicFramePr>
          <p:cNvPr id="30836" name="Group 116">
            <a:extLst>
              <a:ext uri="{FF2B5EF4-FFF2-40B4-BE49-F238E27FC236}">
                <a16:creationId xmlns:a16="http://schemas.microsoft.com/office/drawing/2014/main" id="{DAABEA0D-B529-AE71-431B-397D00C6E37A}"/>
              </a:ext>
            </a:extLst>
          </p:cNvPr>
          <p:cNvGraphicFramePr>
            <a:graphicFrameLocks noGrp="1"/>
          </p:cNvGraphicFramePr>
          <p:nvPr/>
        </p:nvGraphicFramePr>
        <p:xfrm>
          <a:off x="6223000" y="4876801"/>
          <a:ext cx="1320800" cy="1224280"/>
        </p:xfrm>
        <a:graphic>
          <a:graphicData uri="http://schemas.openxmlformats.org/drawingml/2006/table">
            <a:tbl>
              <a:tblPr/>
              <a:tblGrid>
                <a:gridCol w="1320800">
                  <a:extLst>
                    <a:ext uri="{9D8B030D-6E8A-4147-A177-3AD203B41FA5}">
                      <a16:colId xmlns:a16="http://schemas.microsoft.com/office/drawing/2014/main" val="2100095217"/>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2 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37720930"/>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2413337"/>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3246529"/>
                  </a:ext>
                </a:extLst>
              </a:tr>
            </a:tbl>
          </a:graphicData>
        </a:graphic>
      </p:graphicFrame>
      <p:sp>
        <p:nvSpPr>
          <p:cNvPr id="30839" name="AutoShape 119">
            <a:extLst>
              <a:ext uri="{FF2B5EF4-FFF2-40B4-BE49-F238E27FC236}">
                <a16:creationId xmlns:a16="http://schemas.microsoft.com/office/drawing/2014/main" id="{22941A66-B328-C606-EC7C-1CB04DDF46E4}"/>
              </a:ext>
            </a:extLst>
          </p:cNvPr>
          <p:cNvSpPr>
            <a:spLocks noChangeArrowheads="1"/>
          </p:cNvSpPr>
          <p:nvPr/>
        </p:nvSpPr>
        <p:spPr bwMode="auto">
          <a:xfrm rot="10800000">
            <a:off x="8153400" y="5029200"/>
            <a:ext cx="990600" cy="685800"/>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0841" name="AutoShape 121">
            <a:extLst>
              <a:ext uri="{FF2B5EF4-FFF2-40B4-BE49-F238E27FC236}">
                <a16:creationId xmlns:a16="http://schemas.microsoft.com/office/drawing/2014/main" id="{F1B093B0-8351-09EC-D006-F324A4C528FA}"/>
              </a:ext>
            </a:extLst>
          </p:cNvPr>
          <p:cNvSpPr>
            <a:spLocks noChangeArrowheads="1"/>
          </p:cNvSpPr>
          <p:nvPr/>
        </p:nvSpPr>
        <p:spPr bwMode="auto">
          <a:xfrm>
            <a:off x="4724400" y="5334000"/>
            <a:ext cx="990600" cy="381000"/>
          </a:xfrm>
          <a:prstGeom prst="leftArrow">
            <a:avLst>
              <a:gd name="adj1" fmla="val 50000"/>
              <a:gd name="adj2" fmla="val 6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0723"/>
                                        </p:tgtEl>
                                        <p:attrNameLst>
                                          <p:attrName>style.visibility</p:attrName>
                                        </p:attrNameLst>
                                      </p:cBhvr>
                                      <p:to>
                                        <p:strVal val="visible"/>
                                      </p:to>
                                    </p:set>
                                    <p:anim calcmode="lin" valueType="num">
                                      <p:cBhvr additive="base">
                                        <p:cTn id="7" dur="500" fill="hold"/>
                                        <p:tgtEl>
                                          <p:spTgt spid="30723"/>
                                        </p:tgtEl>
                                        <p:attrNameLst>
                                          <p:attrName>ppt_x</p:attrName>
                                        </p:attrNameLst>
                                      </p:cBhvr>
                                      <p:tavLst>
                                        <p:tav tm="0">
                                          <p:val>
                                            <p:strVal val="0-#ppt_w/2"/>
                                          </p:val>
                                        </p:tav>
                                        <p:tav tm="100000">
                                          <p:val>
                                            <p:strVal val="#ppt_x"/>
                                          </p:val>
                                        </p:tav>
                                      </p:tavLst>
                                    </p:anim>
                                    <p:anim calcmode="lin" valueType="num">
                                      <p:cBhvr additive="base">
                                        <p:cTn id="8" dur="500" fill="hold"/>
                                        <p:tgtEl>
                                          <p:spTgt spid="3072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3074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1" fill="hold" nodeType="clickEffect">
                                  <p:stCondLst>
                                    <p:cond delay="0"/>
                                  </p:stCondLst>
                                  <p:childTnLst>
                                    <p:set>
                                      <p:cBhvr>
                                        <p:cTn id="15" dur="1" fill="hold">
                                          <p:stCondLst>
                                            <p:cond delay="0"/>
                                          </p:stCondLst>
                                        </p:cTn>
                                        <p:tgtEl>
                                          <p:spTgt spid="30744"/>
                                        </p:tgtEl>
                                        <p:attrNameLst>
                                          <p:attrName>style.visibility</p:attrName>
                                        </p:attrNameLst>
                                      </p:cBhvr>
                                      <p:to>
                                        <p:strVal val="visible"/>
                                      </p:to>
                                    </p:set>
                                    <p:anim calcmode="lin" valueType="num">
                                      <p:cBhvr additive="base">
                                        <p:cTn id="16" dur="500" fill="hold"/>
                                        <p:tgtEl>
                                          <p:spTgt spid="30744"/>
                                        </p:tgtEl>
                                        <p:attrNameLst>
                                          <p:attrName>ppt_x</p:attrName>
                                        </p:attrNameLst>
                                      </p:cBhvr>
                                      <p:tavLst>
                                        <p:tav tm="0">
                                          <p:val>
                                            <p:strVal val="#ppt_x"/>
                                          </p:val>
                                        </p:tav>
                                        <p:tav tm="100000">
                                          <p:val>
                                            <p:strVal val="#ppt_x"/>
                                          </p:val>
                                        </p:tav>
                                      </p:tavLst>
                                    </p:anim>
                                    <p:anim calcmode="lin" valueType="num">
                                      <p:cBhvr additive="base">
                                        <p:cTn id="17" dur="500" fill="hold"/>
                                        <p:tgtEl>
                                          <p:spTgt spid="30744"/>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3076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30816"/>
                                        </p:tgtEl>
                                        <p:attrNameLst>
                                          <p:attrName>style.visibility</p:attrName>
                                        </p:attrNameLst>
                                      </p:cBhvr>
                                      <p:to>
                                        <p:strVal val="visible"/>
                                      </p:to>
                                    </p:set>
                                    <p:anim calcmode="lin" valueType="num">
                                      <p:cBhvr additive="base">
                                        <p:cTn id="25" dur="500" fill="hold"/>
                                        <p:tgtEl>
                                          <p:spTgt spid="30816"/>
                                        </p:tgtEl>
                                        <p:attrNameLst>
                                          <p:attrName>ppt_x</p:attrName>
                                        </p:attrNameLst>
                                      </p:cBhvr>
                                      <p:tavLst>
                                        <p:tav tm="0">
                                          <p:val>
                                            <p:strVal val="1+#ppt_w/2"/>
                                          </p:val>
                                        </p:tav>
                                        <p:tav tm="100000">
                                          <p:val>
                                            <p:strVal val="#ppt_x"/>
                                          </p:val>
                                        </p:tav>
                                      </p:tavLst>
                                    </p:anim>
                                    <p:anim calcmode="lin" valueType="num">
                                      <p:cBhvr additive="base">
                                        <p:cTn id="26" dur="500" fill="hold"/>
                                        <p:tgtEl>
                                          <p:spTgt spid="30816"/>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30797"/>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30839"/>
                                        </p:tgtEl>
                                        <p:attrNameLst>
                                          <p:attrName>style.visibility</p:attrName>
                                        </p:attrNameLst>
                                      </p:cBhvr>
                                      <p:to>
                                        <p:strVal val="visible"/>
                                      </p:to>
                                    </p:set>
                                  </p:childTnLst>
                                </p:cTn>
                              </p:par>
                            </p:childTnLst>
                          </p:cTn>
                        </p:par>
                        <p:par>
                          <p:cTn id="34" fill="hold" nodeType="afterGroup">
                            <p:stCondLst>
                              <p:cond delay="500"/>
                            </p:stCondLst>
                            <p:childTnLst>
                              <p:par>
                                <p:cTn id="35" presetID="2" presetClass="entr" presetSubtype="4" fill="hold" nodeType="afterEffect">
                                  <p:stCondLst>
                                    <p:cond delay="0"/>
                                  </p:stCondLst>
                                  <p:childTnLst>
                                    <p:set>
                                      <p:cBhvr>
                                        <p:cTn id="36" dur="1" fill="hold">
                                          <p:stCondLst>
                                            <p:cond delay="0"/>
                                          </p:stCondLst>
                                        </p:cTn>
                                        <p:tgtEl>
                                          <p:spTgt spid="30836"/>
                                        </p:tgtEl>
                                        <p:attrNameLst>
                                          <p:attrName>style.visibility</p:attrName>
                                        </p:attrNameLst>
                                      </p:cBhvr>
                                      <p:to>
                                        <p:strVal val="visible"/>
                                      </p:to>
                                    </p:set>
                                    <p:anim calcmode="lin" valueType="num">
                                      <p:cBhvr additive="base">
                                        <p:cTn id="37" dur="500" fill="hold"/>
                                        <p:tgtEl>
                                          <p:spTgt spid="30836"/>
                                        </p:tgtEl>
                                        <p:attrNameLst>
                                          <p:attrName>ppt_x</p:attrName>
                                        </p:attrNameLst>
                                      </p:cBhvr>
                                      <p:tavLst>
                                        <p:tav tm="0">
                                          <p:val>
                                            <p:strVal val="#ppt_x"/>
                                          </p:val>
                                        </p:tav>
                                        <p:tav tm="100000">
                                          <p:val>
                                            <p:strVal val="#ppt_x"/>
                                          </p:val>
                                        </p:tav>
                                      </p:tavLst>
                                    </p:anim>
                                    <p:anim calcmode="lin" valueType="num">
                                      <p:cBhvr additive="base">
                                        <p:cTn id="38" dur="500" fill="hold"/>
                                        <p:tgtEl>
                                          <p:spTgt spid="30836"/>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30841"/>
                                        </p:tgtEl>
                                        <p:attrNameLst>
                                          <p:attrName>style.visibility</p:attrName>
                                        </p:attrNameLst>
                                      </p:cBhvr>
                                      <p:to>
                                        <p:strVal val="visible"/>
                                      </p:to>
                                    </p:set>
                                  </p:childTnLst>
                                </p:cTn>
                              </p:par>
                            </p:childTnLst>
                          </p:cTn>
                        </p:par>
                        <p:par>
                          <p:cTn id="43" fill="hold" nodeType="afterGroup">
                            <p:stCondLst>
                              <p:cond delay="500"/>
                            </p:stCondLst>
                            <p:childTnLst>
                              <p:par>
                                <p:cTn id="44" presetID="2" presetClass="entr" presetSubtype="8" fill="hold" nodeType="afterEffect">
                                  <p:stCondLst>
                                    <p:cond delay="0"/>
                                  </p:stCondLst>
                                  <p:childTnLst>
                                    <p:set>
                                      <p:cBhvr>
                                        <p:cTn id="45" dur="1" fill="hold">
                                          <p:stCondLst>
                                            <p:cond delay="0"/>
                                          </p:stCondLst>
                                        </p:cTn>
                                        <p:tgtEl>
                                          <p:spTgt spid="30818"/>
                                        </p:tgtEl>
                                        <p:attrNameLst>
                                          <p:attrName>style.visibility</p:attrName>
                                        </p:attrNameLst>
                                      </p:cBhvr>
                                      <p:to>
                                        <p:strVal val="visible"/>
                                      </p:to>
                                    </p:set>
                                    <p:anim calcmode="lin" valueType="num">
                                      <p:cBhvr additive="base">
                                        <p:cTn id="46" dur="500" fill="hold"/>
                                        <p:tgtEl>
                                          <p:spTgt spid="30818"/>
                                        </p:tgtEl>
                                        <p:attrNameLst>
                                          <p:attrName>ppt_x</p:attrName>
                                        </p:attrNameLst>
                                      </p:cBhvr>
                                      <p:tavLst>
                                        <p:tav tm="0">
                                          <p:val>
                                            <p:strVal val="0-#ppt_w/2"/>
                                          </p:val>
                                        </p:tav>
                                        <p:tav tm="100000">
                                          <p:val>
                                            <p:strVal val="#ppt_x"/>
                                          </p:val>
                                        </p:tav>
                                      </p:tavLst>
                                    </p:anim>
                                    <p:anim calcmode="lin" valueType="num">
                                      <p:cBhvr additive="base">
                                        <p:cTn id="47" dur="500" fill="hold"/>
                                        <p:tgtEl>
                                          <p:spTgt spid="30818"/>
                                        </p:tgtEl>
                                        <p:attrNameLst>
                                          <p:attrName>ppt_y</p:attrName>
                                        </p:attrNameLst>
                                      </p:cBhvr>
                                      <p:tavLst>
                                        <p:tav tm="0">
                                          <p:val>
                                            <p:strVal val="#ppt_y"/>
                                          </p:val>
                                        </p:tav>
                                        <p:tav tm="100000">
                                          <p:val>
                                            <p:strVal val="#ppt_y"/>
                                          </p:val>
                                        </p:tav>
                                      </p:tavLst>
                                    </p:anim>
                                  </p:childTnLst>
                                </p:cTn>
                              </p:par>
                            </p:childTnLst>
                          </p:cTn>
                        </p:par>
                        <p:par>
                          <p:cTn id="48" fill="hold" nodeType="afterGroup">
                            <p:stCondLst>
                              <p:cond delay="1000"/>
                            </p:stCondLst>
                            <p:childTnLst>
                              <p:par>
                                <p:cTn id="49" presetID="1" presetClass="entr" presetSubtype="0" fill="hold" grpId="0" nodeType="afterEffect">
                                  <p:stCondLst>
                                    <p:cond delay="0"/>
                                  </p:stCondLst>
                                  <p:childTnLst>
                                    <p:set>
                                      <p:cBhvr>
                                        <p:cTn id="50" dur="1" fill="hold">
                                          <p:stCondLst>
                                            <p:cond delay="499"/>
                                          </p:stCondLst>
                                        </p:cTn>
                                        <p:tgtEl>
                                          <p:spTgt spid="308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3" grpId="0" autoUpdateAnimBg="0"/>
      <p:bldP spid="30764" grpId="0" autoUpdateAnimBg="0"/>
      <p:bldP spid="30797" grpId="0" autoUpdateAnimBg="0"/>
      <p:bldP spid="30815"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63CDE06-1906-1D62-2DD7-7BEFD770D760}"/>
              </a:ext>
            </a:extLst>
          </p:cNvPr>
          <p:cNvSpPr>
            <a:spLocks noGrp="1"/>
          </p:cNvSpPr>
          <p:nvPr>
            <p:ph type="sldNum" sz="quarter" idx="12"/>
          </p:nvPr>
        </p:nvSpPr>
        <p:spPr/>
        <p:txBody>
          <a:bodyPr/>
          <a:lstStyle/>
          <a:p>
            <a:fld id="{4F409525-7747-1C44-AF1C-BF878096CBCC}" type="slidenum">
              <a:rPr lang="en-US" altLang="en-IT"/>
              <a:pPr/>
              <a:t>30</a:t>
            </a:fld>
            <a:endParaRPr lang="en-US" altLang="en-IT"/>
          </a:p>
        </p:txBody>
      </p:sp>
      <p:sp>
        <p:nvSpPr>
          <p:cNvPr id="11270" name="Rectangle 6">
            <a:extLst>
              <a:ext uri="{FF2B5EF4-FFF2-40B4-BE49-F238E27FC236}">
                <a16:creationId xmlns:a16="http://schemas.microsoft.com/office/drawing/2014/main" id="{3D7F7928-4B9C-8AD4-AB3E-EA08C77556EC}"/>
              </a:ext>
            </a:extLst>
          </p:cNvPr>
          <p:cNvSpPr>
            <a:spLocks noGrp="1" noChangeArrowheads="1"/>
          </p:cNvSpPr>
          <p:nvPr>
            <p:ph type="title"/>
          </p:nvPr>
        </p:nvSpPr>
        <p:spPr/>
        <p:txBody>
          <a:bodyPr/>
          <a:lstStyle/>
          <a:p>
            <a:pPr algn="ctr"/>
            <a:r>
              <a:rPr lang="en-US" altLang="en-IT"/>
              <a:t>AprioriTid Algorithm</a:t>
            </a:r>
          </a:p>
        </p:txBody>
      </p:sp>
      <p:sp>
        <p:nvSpPr>
          <p:cNvPr id="11271" name="Rectangle 7" descr="Rectangle: Click to edit Master text styles&#13;&#10;Second level&#13;&#10;Third level&#13;&#10;Fourth level&#13;&#10;Fifth level">
            <a:extLst>
              <a:ext uri="{FF2B5EF4-FFF2-40B4-BE49-F238E27FC236}">
                <a16:creationId xmlns:a16="http://schemas.microsoft.com/office/drawing/2014/main" id="{B8AE15FA-CD10-D5FD-ECC1-4CEDE9022F18}"/>
              </a:ext>
            </a:extLst>
          </p:cNvPr>
          <p:cNvSpPr>
            <a:spLocks noGrp="1" noChangeArrowheads="1"/>
          </p:cNvSpPr>
          <p:nvPr>
            <p:ph type="body" idx="1"/>
          </p:nvPr>
        </p:nvSpPr>
        <p:spPr>
          <a:xfrm>
            <a:off x="2133600" y="1752600"/>
            <a:ext cx="8229600" cy="4267200"/>
          </a:xfrm>
        </p:spPr>
        <p:txBody>
          <a:bodyPr/>
          <a:lstStyle/>
          <a:p>
            <a:pPr>
              <a:lnSpc>
                <a:spcPct val="90000"/>
              </a:lnSpc>
            </a:pPr>
            <a:r>
              <a:rPr lang="en-US" altLang="en-IT" sz="2400"/>
              <a:t>The database is not used at all for counting the support of </a:t>
            </a:r>
            <a:r>
              <a:rPr lang="en-US" altLang="en-IT" sz="2400" i="1"/>
              <a:t>candidate</a:t>
            </a:r>
            <a:r>
              <a:rPr lang="en-US" altLang="en-IT" sz="2400"/>
              <a:t> itemsets after the first pass.</a:t>
            </a:r>
          </a:p>
          <a:p>
            <a:pPr>
              <a:lnSpc>
                <a:spcPct val="90000"/>
              </a:lnSpc>
              <a:buFont typeface="Wingdings" pitchFamily="2" charset="2"/>
              <a:buAutoNum type="arabicPeriod"/>
            </a:pPr>
            <a:r>
              <a:rPr lang="en-US" altLang="en-IT" sz="2400"/>
              <a:t>The </a:t>
            </a:r>
            <a:r>
              <a:rPr lang="en-US" altLang="en-IT" sz="2400" i="1"/>
              <a:t>candidate</a:t>
            </a:r>
            <a:r>
              <a:rPr lang="en-US" altLang="en-IT" sz="2400"/>
              <a:t> itemsets are generated the same way as in Apriori algorithm.</a:t>
            </a:r>
            <a:endParaRPr lang="en-US" altLang="en-IT" sz="2400" i="1"/>
          </a:p>
          <a:p>
            <a:pPr>
              <a:lnSpc>
                <a:spcPct val="90000"/>
              </a:lnSpc>
              <a:buFont typeface="Wingdings" pitchFamily="2" charset="2"/>
              <a:buAutoNum type="arabicPeriod"/>
            </a:pPr>
            <a:r>
              <a:rPr lang="en-US" altLang="en-IT" sz="2400"/>
              <a:t>Another set C’ is generated of which each member has the TID of each transaction and the large itemsets present in this transaction. This set is used to count the support of each </a:t>
            </a:r>
            <a:r>
              <a:rPr lang="en-US" altLang="en-IT" sz="2400" i="1"/>
              <a:t>candidate</a:t>
            </a:r>
            <a:r>
              <a:rPr lang="en-US" altLang="en-IT" sz="2400"/>
              <a:t> itemset.</a:t>
            </a:r>
          </a:p>
          <a:p>
            <a:pPr>
              <a:lnSpc>
                <a:spcPct val="90000"/>
              </a:lnSpc>
            </a:pPr>
            <a:r>
              <a:rPr lang="en-US" altLang="en-IT" sz="2400"/>
              <a:t>The advantage is that the number of entries in C’ may be smaller than the number of transactions in the database, especially in the later passes.</a:t>
            </a: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481B806F-730C-4830-A968-D3FC6F350202}"/>
              </a:ext>
            </a:extLst>
          </p:cNvPr>
          <p:cNvSpPr>
            <a:spLocks noGrp="1"/>
          </p:cNvSpPr>
          <p:nvPr>
            <p:ph type="sldNum" sz="quarter" idx="12"/>
          </p:nvPr>
        </p:nvSpPr>
        <p:spPr/>
        <p:txBody>
          <a:bodyPr/>
          <a:lstStyle/>
          <a:p>
            <a:fld id="{D43FF6F1-EAEF-E449-9575-36B8BCAE5F70}" type="slidenum">
              <a:rPr lang="en-US" altLang="en-IT"/>
              <a:pPr/>
              <a:t>31</a:t>
            </a:fld>
            <a:endParaRPr lang="en-US" altLang="en-IT"/>
          </a:p>
        </p:txBody>
      </p:sp>
      <p:sp>
        <p:nvSpPr>
          <p:cNvPr id="32770" name="Rectangle 2">
            <a:extLst>
              <a:ext uri="{FF2B5EF4-FFF2-40B4-BE49-F238E27FC236}">
                <a16:creationId xmlns:a16="http://schemas.microsoft.com/office/drawing/2014/main" id="{6E224023-1A57-CE6D-CF29-AB8599403730}"/>
              </a:ext>
            </a:extLst>
          </p:cNvPr>
          <p:cNvSpPr>
            <a:spLocks noGrp="1" noChangeArrowheads="1"/>
          </p:cNvSpPr>
          <p:nvPr>
            <p:ph type="title"/>
          </p:nvPr>
        </p:nvSpPr>
        <p:spPr>
          <a:xfrm>
            <a:off x="2133600" y="228600"/>
            <a:ext cx="7772400" cy="762000"/>
          </a:xfrm>
        </p:spPr>
        <p:txBody>
          <a:bodyPr/>
          <a:lstStyle/>
          <a:p>
            <a:pPr algn="ctr"/>
            <a:r>
              <a:rPr lang="en-US" altLang="en-IT"/>
              <a:t>Example</a:t>
            </a:r>
          </a:p>
        </p:txBody>
      </p:sp>
      <p:graphicFrame>
        <p:nvGraphicFramePr>
          <p:cNvPr id="32771" name="Group 3">
            <a:extLst>
              <a:ext uri="{FF2B5EF4-FFF2-40B4-BE49-F238E27FC236}">
                <a16:creationId xmlns:a16="http://schemas.microsoft.com/office/drawing/2014/main" id="{8CD96557-D928-6E65-726C-13546D2101C2}"/>
              </a:ext>
            </a:extLst>
          </p:cNvPr>
          <p:cNvGraphicFramePr>
            <a:graphicFrameLocks noGrp="1"/>
          </p:cNvGraphicFramePr>
          <p:nvPr/>
        </p:nvGraphicFramePr>
        <p:xfrm>
          <a:off x="2438400" y="2025650"/>
          <a:ext cx="1847850" cy="2016760"/>
        </p:xfrm>
        <a:graphic>
          <a:graphicData uri="http://schemas.openxmlformats.org/drawingml/2006/table">
            <a:tbl>
              <a:tblPr/>
              <a:tblGrid>
                <a:gridCol w="766763">
                  <a:extLst>
                    <a:ext uri="{9D8B030D-6E8A-4147-A177-3AD203B41FA5}">
                      <a16:colId xmlns:a16="http://schemas.microsoft.com/office/drawing/2014/main" val="278176373"/>
                    </a:ext>
                  </a:extLst>
                </a:gridCol>
                <a:gridCol w="1081087">
                  <a:extLst>
                    <a:ext uri="{9D8B030D-6E8A-4147-A177-3AD203B41FA5}">
                      <a16:colId xmlns:a16="http://schemas.microsoft.com/office/drawing/2014/main" val="1271431872"/>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TID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17250089"/>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1 3 4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66216614"/>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36675956"/>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1 2 3 5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2947623"/>
                  </a:ext>
                </a:extLst>
              </a:tr>
              <a:tr h="304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400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61229886"/>
                  </a:ext>
                </a:extLst>
              </a:tr>
            </a:tbl>
          </a:graphicData>
        </a:graphic>
      </p:graphicFrame>
      <p:sp>
        <p:nvSpPr>
          <p:cNvPr id="32791" name="Text Box 23">
            <a:extLst>
              <a:ext uri="{FF2B5EF4-FFF2-40B4-BE49-F238E27FC236}">
                <a16:creationId xmlns:a16="http://schemas.microsoft.com/office/drawing/2014/main" id="{E010C3AD-8FC8-1946-399C-74DAB2A9347C}"/>
              </a:ext>
            </a:extLst>
          </p:cNvPr>
          <p:cNvSpPr txBox="1">
            <a:spLocks noChangeArrowheads="1"/>
          </p:cNvSpPr>
          <p:nvPr/>
        </p:nvSpPr>
        <p:spPr bwMode="auto">
          <a:xfrm>
            <a:off x="2438400" y="1524000"/>
            <a:ext cx="1828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Database</a:t>
            </a:r>
          </a:p>
        </p:txBody>
      </p:sp>
      <p:graphicFrame>
        <p:nvGraphicFramePr>
          <p:cNvPr id="32792" name="Group 24">
            <a:extLst>
              <a:ext uri="{FF2B5EF4-FFF2-40B4-BE49-F238E27FC236}">
                <a16:creationId xmlns:a16="http://schemas.microsoft.com/office/drawing/2014/main" id="{59BD3B15-81C1-93CE-9CE6-A5FAE5FD2275}"/>
              </a:ext>
            </a:extLst>
          </p:cNvPr>
          <p:cNvGraphicFramePr>
            <a:graphicFrameLocks noGrp="1"/>
          </p:cNvGraphicFramePr>
          <p:nvPr/>
        </p:nvGraphicFramePr>
        <p:xfrm>
          <a:off x="4800600" y="2025650"/>
          <a:ext cx="2389188" cy="2016760"/>
        </p:xfrm>
        <a:graphic>
          <a:graphicData uri="http://schemas.openxmlformats.org/drawingml/2006/table">
            <a:tbl>
              <a:tblPr/>
              <a:tblGrid>
                <a:gridCol w="1190625">
                  <a:extLst>
                    <a:ext uri="{9D8B030D-6E8A-4147-A177-3AD203B41FA5}">
                      <a16:colId xmlns:a16="http://schemas.microsoft.com/office/drawing/2014/main" val="2936571735"/>
                    </a:ext>
                  </a:extLst>
                </a:gridCol>
                <a:gridCol w="1198563">
                  <a:extLst>
                    <a:ext uri="{9D8B030D-6E8A-4147-A177-3AD203B41FA5}">
                      <a16:colId xmlns:a16="http://schemas.microsoft.com/office/drawing/2014/main" val="1886799981"/>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Support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0078088"/>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6066540"/>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38726176"/>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79078996"/>
                  </a:ext>
                </a:extLst>
              </a:tr>
              <a:tr h="304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57792275"/>
                  </a:ext>
                </a:extLst>
              </a:tr>
            </a:tbl>
          </a:graphicData>
        </a:graphic>
      </p:graphicFrame>
      <p:sp>
        <p:nvSpPr>
          <p:cNvPr id="32812" name="Text Box 44">
            <a:extLst>
              <a:ext uri="{FF2B5EF4-FFF2-40B4-BE49-F238E27FC236}">
                <a16:creationId xmlns:a16="http://schemas.microsoft.com/office/drawing/2014/main" id="{75473D9C-7B1D-72F7-8188-553902346369}"/>
              </a:ext>
            </a:extLst>
          </p:cNvPr>
          <p:cNvSpPr txBox="1">
            <a:spLocks noChangeArrowheads="1"/>
          </p:cNvSpPr>
          <p:nvPr/>
        </p:nvSpPr>
        <p:spPr bwMode="auto">
          <a:xfrm>
            <a:off x="4819650" y="1524000"/>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L</a:t>
            </a:r>
            <a:r>
              <a:rPr lang="en-US" altLang="en-IT" baseline="-25000"/>
              <a:t>1</a:t>
            </a:r>
            <a:endParaRPr lang="en-US" altLang="en-IT"/>
          </a:p>
        </p:txBody>
      </p:sp>
      <p:graphicFrame>
        <p:nvGraphicFramePr>
          <p:cNvPr id="32813" name="Group 45">
            <a:extLst>
              <a:ext uri="{FF2B5EF4-FFF2-40B4-BE49-F238E27FC236}">
                <a16:creationId xmlns:a16="http://schemas.microsoft.com/office/drawing/2014/main" id="{FAE1B2C5-C517-4A36-F6EE-0F161287F195}"/>
              </a:ext>
            </a:extLst>
          </p:cNvPr>
          <p:cNvGraphicFramePr>
            <a:graphicFrameLocks noGrp="1"/>
          </p:cNvGraphicFramePr>
          <p:nvPr/>
        </p:nvGraphicFramePr>
        <p:xfrm>
          <a:off x="7772400" y="1235076"/>
          <a:ext cx="2389188" cy="2809240"/>
        </p:xfrm>
        <a:graphic>
          <a:graphicData uri="http://schemas.openxmlformats.org/drawingml/2006/table">
            <a:tbl>
              <a:tblPr/>
              <a:tblGrid>
                <a:gridCol w="1190625">
                  <a:extLst>
                    <a:ext uri="{9D8B030D-6E8A-4147-A177-3AD203B41FA5}">
                      <a16:colId xmlns:a16="http://schemas.microsoft.com/office/drawing/2014/main" val="3950826584"/>
                    </a:ext>
                  </a:extLst>
                </a:gridCol>
                <a:gridCol w="1198563">
                  <a:extLst>
                    <a:ext uri="{9D8B030D-6E8A-4147-A177-3AD203B41FA5}">
                      <a16:colId xmlns:a16="http://schemas.microsoft.com/office/drawing/2014/main" val="2571889066"/>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Support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94258804"/>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69384360"/>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29966259"/>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15385090"/>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1760922"/>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205608"/>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91813344"/>
                  </a:ext>
                </a:extLst>
              </a:tr>
            </a:tbl>
          </a:graphicData>
        </a:graphic>
      </p:graphicFrame>
      <p:sp>
        <p:nvSpPr>
          <p:cNvPr id="32839" name="Text Box 71">
            <a:extLst>
              <a:ext uri="{FF2B5EF4-FFF2-40B4-BE49-F238E27FC236}">
                <a16:creationId xmlns:a16="http://schemas.microsoft.com/office/drawing/2014/main" id="{D924D624-2DA8-F1B7-74A7-8D8E5A5A5C52}"/>
              </a:ext>
            </a:extLst>
          </p:cNvPr>
          <p:cNvSpPr txBox="1">
            <a:spLocks noChangeArrowheads="1"/>
          </p:cNvSpPr>
          <p:nvPr/>
        </p:nvSpPr>
        <p:spPr bwMode="auto">
          <a:xfrm>
            <a:off x="7791450" y="733425"/>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C</a:t>
            </a:r>
            <a:r>
              <a:rPr lang="en-US" altLang="en-IT" baseline="-25000"/>
              <a:t>2</a:t>
            </a:r>
            <a:endParaRPr lang="en-US" altLang="en-IT"/>
          </a:p>
        </p:txBody>
      </p:sp>
      <p:graphicFrame>
        <p:nvGraphicFramePr>
          <p:cNvPr id="32840" name="Group 72">
            <a:extLst>
              <a:ext uri="{FF2B5EF4-FFF2-40B4-BE49-F238E27FC236}">
                <a16:creationId xmlns:a16="http://schemas.microsoft.com/office/drawing/2014/main" id="{7D003DEC-0574-772C-DF1F-339CB4F7B336}"/>
              </a:ext>
            </a:extLst>
          </p:cNvPr>
          <p:cNvGraphicFramePr>
            <a:graphicFrameLocks noGrp="1"/>
          </p:cNvGraphicFramePr>
          <p:nvPr/>
        </p:nvGraphicFramePr>
        <p:xfrm>
          <a:off x="1676400" y="5878514"/>
          <a:ext cx="2389188" cy="828040"/>
        </p:xfrm>
        <a:graphic>
          <a:graphicData uri="http://schemas.openxmlformats.org/drawingml/2006/table">
            <a:tbl>
              <a:tblPr/>
              <a:tblGrid>
                <a:gridCol w="1190625">
                  <a:extLst>
                    <a:ext uri="{9D8B030D-6E8A-4147-A177-3AD203B41FA5}">
                      <a16:colId xmlns:a16="http://schemas.microsoft.com/office/drawing/2014/main" val="1307945224"/>
                    </a:ext>
                  </a:extLst>
                </a:gridCol>
                <a:gridCol w="1198563">
                  <a:extLst>
                    <a:ext uri="{9D8B030D-6E8A-4147-A177-3AD203B41FA5}">
                      <a16:colId xmlns:a16="http://schemas.microsoft.com/office/drawing/2014/main" val="1370770714"/>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Itemset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1" i="0" u="none" strike="noStrike" cap="none" normalizeH="0" baseline="0">
                          <a:ln>
                            <a:noFill/>
                          </a:ln>
                          <a:solidFill>
                            <a:schemeClr val="tx1"/>
                          </a:solidFill>
                          <a:effectLst/>
                          <a:latin typeface="Tahoma" panose="020B0604030504040204" pitchFamily="34" charset="0"/>
                        </a:rPr>
                        <a:t>Support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71866791"/>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71381885"/>
                  </a:ext>
                </a:extLst>
              </a:tr>
            </a:tbl>
          </a:graphicData>
        </a:graphic>
      </p:graphicFrame>
      <p:sp>
        <p:nvSpPr>
          <p:cNvPr id="32851" name="Text Box 83">
            <a:extLst>
              <a:ext uri="{FF2B5EF4-FFF2-40B4-BE49-F238E27FC236}">
                <a16:creationId xmlns:a16="http://schemas.microsoft.com/office/drawing/2014/main" id="{B92A3A4E-3EE7-0911-F028-F0351AF3EC65}"/>
              </a:ext>
            </a:extLst>
          </p:cNvPr>
          <p:cNvSpPr txBox="1">
            <a:spLocks noChangeArrowheads="1"/>
          </p:cNvSpPr>
          <p:nvPr/>
        </p:nvSpPr>
        <p:spPr bwMode="auto">
          <a:xfrm>
            <a:off x="1695450" y="5376863"/>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C</a:t>
            </a:r>
            <a:r>
              <a:rPr lang="en-US" altLang="en-IT" baseline="-25000"/>
              <a:t>3</a:t>
            </a:r>
            <a:endParaRPr lang="en-US" altLang="en-IT"/>
          </a:p>
        </p:txBody>
      </p:sp>
      <p:graphicFrame>
        <p:nvGraphicFramePr>
          <p:cNvPr id="32884" name="Group 116">
            <a:extLst>
              <a:ext uri="{FF2B5EF4-FFF2-40B4-BE49-F238E27FC236}">
                <a16:creationId xmlns:a16="http://schemas.microsoft.com/office/drawing/2014/main" id="{3A35C1E2-C4F1-319B-4110-5865F9D8A9D7}"/>
              </a:ext>
            </a:extLst>
          </p:cNvPr>
          <p:cNvGraphicFramePr>
            <a:graphicFrameLocks noGrp="1"/>
          </p:cNvGraphicFramePr>
          <p:nvPr/>
        </p:nvGraphicFramePr>
        <p:xfrm>
          <a:off x="5978526" y="4706938"/>
          <a:ext cx="3698875" cy="1925320"/>
        </p:xfrm>
        <a:graphic>
          <a:graphicData uri="http://schemas.openxmlformats.org/drawingml/2006/table">
            <a:tbl>
              <a:tblPr/>
              <a:tblGrid>
                <a:gridCol w="1320800">
                  <a:extLst>
                    <a:ext uri="{9D8B030D-6E8A-4147-A177-3AD203B41FA5}">
                      <a16:colId xmlns:a16="http://schemas.microsoft.com/office/drawing/2014/main" val="4051424707"/>
                    </a:ext>
                  </a:extLst>
                </a:gridCol>
                <a:gridCol w="2378075">
                  <a:extLst>
                    <a:ext uri="{9D8B030D-6E8A-4147-A177-3AD203B41FA5}">
                      <a16:colId xmlns:a16="http://schemas.microsoft.com/office/drawing/2014/main" val="572419205"/>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48069358"/>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{2 5}, {3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5267412"/>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{1 2}, {1 3}, {1 5}, {2 3}, {2 5}, {3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20681526"/>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400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4801496"/>
                  </a:ext>
                </a:extLst>
              </a:tr>
            </a:tbl>
          </a:graphicData>
        </a:graphic>
      </p:graphicFrame>
      <p:sp>
        <p:nvSpPr>
          <p:cNvPr id="32885" name="Text Box 117">
            <a:extLst>
              <a:ext uri="{FF2B5EF4-FFF2-40B4-BE49-F238E27FC236}">
                <a16:creationId xmlns:a16="http://schemas.microsoft.com/office/drawing/2014/main" id="{350D2DEF-E324-74AB-3D12-F5BDB1B70130}"/>
              </a:ext>
            </a:extLst>
          </p:cNvPr>
          <p:cNvSpPr txBox="1">
            <a:spLocks noChangeArrowheads="1"/>
          </p:cNvSpPr>
          <p:nvPr/>
        </p:nvSpPr>
        <p:spPr bwMode="auto">
          <a:xfrm>
            <a:off x="5978525" y="4191000"/>
            <a:ext cx="3657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C’</a:t>
            </a:r>
            <a:r>
              <a:rPr lang="en-US" altLang="en-IT" baseline="-25000"/>
              <a:t>2</a:t>
            </a:r>
            <a:endParaRPr lang="en-US" altLang="en-IT"/>
          </a:p>
        </p:txBody>
      </p:sp>
      <p:graphicFrame>
        <p:nvGraphicFramePr>
          <p:cNvPr id="32907" name="Group 139">
            <a:extLst>
              <a:ext uri="{FF2B5EF4-FFF2-40B4-BE49-F238E27FC236}">
                <a16:creationId xmlns:a16="http://schemas.microsoft.com/office/drawing/2014/main" id="{DC204896-3761-3DC2-2854-5389C9A31086}"/>
              </a:ext>
            </a:extLst>
          </p:cNvPr>
          <p:cNvGraphicFramePr>
            <a:graphicFrameLocks noGrp="1"/>
          </p:cNvGraphicFramePr>
          <p:nvPr/>
        </p:nvGraphicFramePr>
        <p:xfrm>
          <a:off x="3276601" y="4724400"/>
          <a:ext cx="2322513" cy="828040"/>
        </p:xfrm>
        <a:graphic>
          <a:graphicData uri="http://schemas.openxmlformats.org/drawingml/2006/table">
            <a:tbl>
              <a:tblPr/>
              <a:tblGrid>
                <a:gridCol w="1320800">
                  <a:extLst>
                    <a:ext uri="{9D8B030D-6E8A-4147-A177-3AD203B41FA5}">
                      <a16:colId xmlns:a16="http://schemas.microsoft.com/office/drawing/2014/main" val="1784223643"/>
                    </a:ext>
                  </a:extLst>
                </a:gridCol>
                <a:gridCol w="1001713">
                  <a:extLst>
                    <a:ext uri="{9D8B030D-6E8A-4147-A177-3AD203B41FA5}">
                      <a16:colId xmlns:a16="http://schemas.microsoft.com/office/drawing/2014/main" val="1333961893"/>
                    </a:ext>
                  </a:extLst>
                </a:gridCol>
              </a:tblGrid>
              <a:tr h="431800">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33665559"/>
                  </a:ext>
                </a:extLst>
              </a:tr>
              <a:tr h="395288">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300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en-IT" sz="2000" b="0" i="0" u="none" strike="noStrike" cap="none" normalizeH="0" baseline="0">
                          <a:ln>
                            <a:noFill/>
                          </a:ln>
                          <a:solidFill>
                            <a:schemeClr val="tx1"/>
                          </a:solidFill>
                          <a:effectLst/>
                          <a:latin typeface="Tahoma" panose="020B0604030504040204" pitchFamily="34" charset="0"/>
                        </a:rPr>
                        <a:t>{2 3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25865577"/>
                  </a:ext>
                </a:extLst>
              </a:tr>
            </a:tbl>
          </a:graphicData>
        </a:graphic>
      </p:graphicFrame>
      <p:sp>
        <p:nvSpPr>
          <p:cNvPr id="32903" name="Text Box 135">
            <a:extLst>
              <a:ext uri="{FF2B5EF4-FFF2-40B4-BE49-F238E27FC236}">
                <a16:creationId xmlns:a16="http://schemas.microsoft.com/office/drawing/2014/main" id="{1FFFD28E-D4EF-7EE0-7FB7-D3059849852E}"/>
              </a:ext>
            </a:extLst>
          </p:cNvPr>
          <p:cNvSpPr txBox="1">
            <a:spLocks noChangeArrowheads="1"/>
          </p:cNvSpPr>
          <p:nvPr/>
        </p:nvSpPr>
        <p:spPr bwMode="auto">
          <a:xfrm>
            <a:off x="3276600" y="4208463"/>
            <a:ext cx="2286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C’</a:t>
            </a:r>
            <a:r>
              <a:rPr lang="en-US" altLang="en-IT" baseline="-25000"/>
              <a:t>3</a:t>
            </a:r>
            <a:endParaRPr lang="en-US" altLang="en-IT"/>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additive="base">
                                        <p:cTn id="7" dur="500" fill="hold"/>
                                        <p:tgtEl>
                                          <p:spTgt spid="32771"/>
                                        </p:tgtEl>
                                        <p:attrNameLst>
                                          <p:attrName>ppt_x</p:attrName>
                                        </p:attrNameLst>
                                      </p:cBhvr>
                                      <p:tavLst>
                                        <p:tav tm="0">
                                          <p:val>
                                            <p:strVal val="0-#ppt_w/2"/>
                                          </p:val>
                                        </p:tav>
                                        <p:tav tm="100000">
                                          <p:val>
                                            <p:strVal val="#ppt_x"/>
                                          </p:val>
                                        </p:tav>
                                      </p:tavLst>
                                    </p:anim>
                                    <p:anim calcmode="lin" valueType="num">
                                      <p:cBhvr additive="base">
                                        <p:cTn id="8" dur="500" fill="hold"/>
                                        <p:tgtEl>
                                          <p:spTgt spid="32771"/>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32791"/>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1" fill="hold" nodeType="clickEffect">
                                  <p:stCondLst>
                                    <p:cond delay="0"/>
                                  </p:stCondLst>
                                  <p:childTnLst>
                                    <p:set>
                                      <p:cBhvr>
                                        <p:cTn id="15" dur="1" fill="hold">
                                          <p:stCondLst>
                                            <p:cond delay="0"/>
                                          </p:stCondLst>
                                        </p:cTn>
                                        <p:tgtEl>
                                          <p:spTgt spid="32792"/>
                                        </p:tgtEl>
                                        <p:attrNameLst>
                                          <p:attrName>style.visibility</p:attrName>
                                        </p:attrNameLst>
                                      </p:cBhvr>
                                      <p:to>
                                        <p:strVal val="visible"/>
                                      </p:to>
                                    </p:set>
                                    <p:anim calcmode="lin" valueType="num">
                                      <p:cBhvr additive="base">
                                        <p:cTn id="16" dur="500" fill="hold"/>
                                        <p:tgtEl>
                                          <p:spTgt spid="32792"/>
                                        </p:tgtEl>
                                        <p:attrNameLst>
                                          <p:attrName>ppt_x</p:attrName>
                                        </p:attrNameLst>
                                      </p:cBhvr>
                                      <p:tavLst>
                                        <p:tav tm="0">
                                          <p:val>
                                            <p:strVal val="#ppt_x"/>
                                          </p:val>
                                        </p:tav>
                                        <p:tav tm="100000">
                                          <p:val>
                                            <p:strVal val="#ppt_x"/>
                                          </p:val>
                                        </p:tav>
                                      </p:tavLst>
                                    </p:anim>
                                    <p:anim calcmode="lin" valueType="num">
                                      <p:cBhvr additive="base">
                                        <p:cTn id="17" dur="500" fill="hold"/>
                                        <p:tgtEl>
                                          <p:spTgt spid="32792"/>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328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32884"/>
                                        </p:tgtEl>
                                        <p:attrNameLst>
                                          <p:attrName>style.visibility</p:attrName>
                                        </p:attrNameLst>
                                      </p:cBhvr>
                                      <p:to>
                                        <p:strVal val="visible"/>
                                      </p:to>
                                    </p:set>
                                    <p:anim calcmode="lin" valueType="num">
                                      <p:cBhvr additive="base">
                                        <p:cTn id="25" dur="500" fill="hold"/>
                                        <p:tgtEl>
                                          <p:spTgt spid="32884"/>
                                        </p:tgtEl>
                                        <p:attrNameLst>
                                          <p:attrName>ppt_x</p:attrName>
                                        </p:attrNameLst>
                                      </p:cBhvr>
                                      <p:tavLst>
                                        <p:tav tm="0">
                                          <p:val>
                                            <p:strVal val="1+#ppt_w/2"/>
                                          </p:val>
                                        </p:tav>
                                        <p:tav tm="100000">
                                          <p:val>
                                            <p:strVal val="#ppt_x"/>
                                          </p:val>
                                        </p:tav>
                                      </p:tavLst>
                                    </p:anim>
                                    <p:anim calcmode="lin" valueType="num">
                                      <p:cBhvr additive="base">
                                        <p:cTn id="26" dur="500" fill="hold"/>
                                        <p:tgtEl>
                                          <p:spTgt spid="32884"/>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32885"/>
                                        </p:tgtEl>
                                        <p:attrNameLst>
                                          <p:attrName>style.visibility</p:attrName>
                                        </p:attrNameLst>
                                      </p:cBhvr>
                                      <p:to>
                                        <p:strVal val="visible"/>
                                      </p:to>
                                    </p:set>
                                  </p:childTnLst>
                                </p:cTn>
                              </p:par>
                            </p:childTnLst>
                          </p:cTn>
                        </p:par>
                        <p:par>
                          <p:cTn id="30" fill="hold" nodeType="afterGroup">
                            <p:stCondLst>
                              <p:cond delay="1000"/>
                            </p:stCondLst>
                            <p:childTnLst>
                              <p:par>
                                <p:cTn id="31" presetID="1" presetClass="entr" presetSubtype="0" fill="hold" nodeType="afterEffect">
                                  <p:stCondLst>
                                    <p:cond delay="0"/>
                                  </p:stCondLst>
                                  <p:childTnLst>
                                    <p:set>
                                      <p:cBhvr>
                                        <p:cTn id="32" dur="1" fill="hold">
                                          <p:stCondLst>
                                            <p:cond delay="499"/>
                                          </p:stCondLst>
                                        </p:cTn>
                                        <p:tgtEl>
                                          <p:spTgt spid="32813"/>
                                        </p:tgtEl>
                                        <p:attrNameLst>
                                          <p:attrName>style.visibility</p:attrName>
                                        </p:attrNameLst>
                                      </p:cBhvr>
                                      <p:to>
                                        <p:strVal val="visible"/>
                                      </p:to>
                                    </p:set>
                                  </p:childTnLst>
                                </p:cTn>
                              </p:par>
                            </p:childTnLst>
                          </p:cTn>
                        </p:par>
                        <p:par>
                          <p:cTn id="33" fill="hold" nodeType="afterGroup">
                            <p:stCondLst>
                              <p:cond delay="1500"/>
                            </p:stCondLst>
                            <p:childTnLst>
                              <p:par>
                                <p:cTn id="34" presetID="1" presetClass="entr" presetSubtype="0" fill="hold" grpId="0" nodeType="afterEffect">
                                  <p:stCondLst>
                                    <p:cond delay="0"/>
                                  </p:stCondLst>
                                  <p:childTnLst>
                                    <p:set>
                                      <p:cBhvr>
                                        <p:cTn id="35" dur="1" fill="hold">
                                          <p:stCondLst>
                                            <p:cond delay="499"/>
                                          </p:stCondLst>
                                        </p:cTn>
                                        <p:tgtEl>
                                          <p:spTgt spid="32839"/>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32907"/>
                                        </p:tgtEl>
                                        <p:attrNameLst>
                                          <p:attrName>style.visibility</p:attrName>
                                        </p:attrNameLst>
                                      </p:cBhvr>
                                      <p:to>
                                        <p:strVal val="visible"/>
                                      </p:to>
                                    </p:set>
                                    <p:anim calcmode="lin" valueType="num">
                                      <p:cBhvr additive="base">
                                        <p:cTn id="40" dur="500" fill="hold"/>
                                        <p:tgtEl>
                                          <p:spTgt spid="32907"/>
                                        </p:tgtEl>
                                        <p:attrNameLst>
                                          <p:attrName>ppt_x</p:attrName>
                                        </p:attrNameLst>
                                      </p:cBhvr>
                                      <p:tavLst>
                                        <p:tav tm="0">
                                          <p:val>
                                            <p:strVal val="#ppt_x"/>
                                          </p:val>
                                        </p:tav>
                                        <p:tav tm="100000">
                                          <p:val>
                                            <p:strVal val="#ppt_x"/>
                                          </p:val>
                                        </p:tav>
                                      </p:tavLst>
                                    </p:anim>
                                    <p:anim calcmode="lin" valueType="num">
                                      <p:cBhvr additive="base">
                                        <p:cTn id="41" dur="500" fill="hold"/>
                                        <p:tgtEl>
                                          <p:spTgt spid="32907"/>
                                        </p:tgtEl>
                                        <p:attrNameLst>
                                          <p:attrName>ppt_y</p:attrName>
                                        </p:attrNameLst>
                                      </p:cBhvr>
                                      <p:tavLst>
                                        <p:tav tm="0">
                                          <p:val>
                                            <p:strVal val="1+#ppt_h/2"/>
                                          </p:val>
                                        </p:tav>
                                        <p:tav tm="100000">
                                          <p:val>
                                            <p:strVal val="#ppt_y"/>
                                          </p:val>
                                        </p:tav>
                                      </p:tavLst>
                                    </p:anim>
                                  </p:childTnLst>
                                </p:cTn>
                              </p:par>
                            </p:childTnLst>
                          </p:cTn>
                        </p:par>
                        <p:par>
                          <p:cTn id="42" fill="hold" nodeType="afterGroup">
                            <p:stCondLst>
                              <p:cond delay="500"/>
                            </p:stCondLst>
                            <p:childTnLst>
                              <p:par>
                                <p:cTn id="43" presetID="1" presetClass="entr" presetSubtype="0" fill="hold" grpId="0" nodeType="afterEffect">
                                  <p:stCondLst>
                                    <p:cond delay="0"/>
                                  </p:stCondLst>
                                  <p:childTnLst>
                                    <p:set>
                                      <p:cBhvr>
                                        <p:cTn id="44" dur="1" fill="hold">
                                          <p:stCondLst>
                                            <p:cond delay="499"/>
                                          </p:stCondLst>
                                        </p:cTn>
                                        <p:tgtEl>
                                          <p:spTgt spid="32903"/>
                                        </p:tgtEl>
                                        <p:attrNameLst>
                                          <p:attrName>style.visibility</p:attrName>
                                        </p:attrNameLst>
                                      </p:cBhvr>
                                      <p:to>
                                        <p:strVal val="visible"/>
                                      </p:to>
                                    </p:set>
                                  </p:childTnLst>
                                </p:cTn>
                              </p:par>
                            </p:childTnLst>
                          </p:cTn>
                        </p:par>
                        <p:par>
                          <p:cTn id="45" fill="hold" nodeType="afterGroup">
                            <p:stCondLst>
                              <p:cond delay="1000"/>
                            </p:stCondLst>
                            <p:childTnLst>
                              <p:par>
                                <p:cTn id="46" presetID="1" presetClass="entr" presetSubtype="0" fill="hold" nodeType="afterEffect">
                                  <p:stCondLst>
                                    <p:cond delay="0"/>
                                  </p:stCondLst>
                                  <p:childTnLst>
                                    <p:set>
                                      <p:cBhvr>
                                        <p:cTn id="47" dur="1" fill="hold">
                                          <p:stCondLst>
                                            <p:cond delay="499"/>
                                          </p:stCondLst>
                                        </p:cTn>
                                        <p:tgtEl>
                                          <p:spTgt spid="32840"/>
                                        </p:tgtEl>
                                        <p:attrNameLst>
                                          <p:attrName>style.visibility</p:attrName>
                                        </p:attrNameLst>
                                      </p:cBhvr>
                                      <p:to>
                                        <p:strVal val="visible"/>
                                      </p:to>
                                    </p:set>
                                  </p:childTnLst>
                                </p:cTn>
                              </p:par>
                            </p:childTnLst>
                          </p:cTn>
                        </p:par>
                        <p:par>
                          <p:cTn id="48" fill="hold" nodeType="afterGroup">
                            <p:stCondLst>
                              <p:cond delay="1500"/>
                            </p:stCondLst>
                            <p:childTnLst>
                              <p:par>
                                <p:cTn id="49" presetID="1" presetClass="entr" presetSubtype="0" fill="hold" grpId="0" nodeType="afterEffect">
                                  <p:stCondLst>
                                    <p:cond delay="0"/>
                                  </p:stCondLst>
                                  <p:childTnLst>
                                    <p:set>
                                      <p:cBhvr>
                                        <p:cTn id="50" dur="1" fill="hold">
                                          <p:stCondLst>
                                            <p:cond delay="499"/>
                                          </p:stCondLst>
                                        </p:cTn>
                                        <p:tgtEl>
                                          <p:spTgt spid="328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91" grpId="0" autoUpdateAnimBg="0"/>
      <p:bldP spid="32812" grpId="0" autoUpdateAnimBg="0"/>
      <p:bldP spid="32839" grpId="0" autoUpdateAnimBg="0"/>
      <p:bldP spid="32851" grpId="0" autoUpdateAnimBg="0"/>
      <p:bldP spid="32885" grpId="0" autoUpdateAnimBg="0"/>
      <p:bldP spid="3290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21B21324-D4C9-23B9-1672-92D75E645F97}"/>
              </a:ext>
            </a:extLst>
          </p:cNvPr>
          <p:cNvSpPr>
            <a:spLocks noGrp="1"/>
          </p:cNvSpPr>
          <p:nvPr>
            <p:ph type="sldNum" sz="quarter" idx="12"/>
          </p:nvPr>
        </p:nvSpPr>
        <p:spPr/>
        <p:txBody>
          <a:bodyPr/>
          <a:lstStyle/>
          <a:p>
            <a:fld id="{241CD628-FCA7-EA46-8595-24D16E9232C4}" type="slidenum">
              <a:rPr lang="en-US" altLang="en-IT"/>
              <a:pPr/>
              <a:t>32</a:t>
            </a:fld>
            <a:endParaRPr lang="en-US" altLang="en-IT"/>
          </a:p>
        </p:txBody>
      </p:sp>
      <p:sp>
        <p:nvSpPr>
          <p:cNvPr id="21506" name="Rectangle 2">
            <a:extLst>
              <a:ext uri="{FF2B5EF4-FFF2-40B4-BE49-F238E27FC236}">
                <a16:creationId xmlns:a16="http://schemas.microsoft.com/office/drawing/2014/main" id="{6668CE89-F3CB-4696-E898-F2F7665C92D2}"/>
              </a:ext>
            </a:extLst>
          </p:cNvPr>
          <p:cNvSpPr>
            <a:spLocks noGrp="1" noChangeArrowheads="1"/>
          </p:cNvSpPr>
          <p:nvPr>
            <p:ph type="title"/>
          </p:nvPr>
        </p:nvSpPr>
        <p:spPr/>
        <p:txBody>
          <a:bodyPr/>
          <a:lstStyle/>
          <a:p>
            <a:pPr algn="ctr"/>
            <a:r>
              <a:rPr lang="en-US" altLang="en-IT"/>
              <a:t>Performance Analysis</a:t>
            </a:r>
          </a:p>
        </p:txBody>
      </p:sp>
      <p:graphicFrame>
        <p:nvGraphicFramePr>
          <p:cNvPr id="21509" name="Object 5">
            <a:extLst>
              <a:ext uri="{FF2B5EF4-FFF2-40B4-BE49-F238E27FC236}">
                <a16:creationId xmlns:a16="http://schemas.microsoft.com/office/drawing/2014/main" id="{219EEE13-F422-8153-62DD-7772B01E23DC}"/>
              </a:ext>
            </a:extLst>
          </p:cNvPr>
          <p:cNvGraphicFramePr>
            <a:graphicFrameLocks noChangeAspect="1"/>
          </p:cNvGraphicFramePr>
          <p:nvPr/>
        </p:nvGraphicFramePr>
        <p:xfrm>
          <a:off x="2305050" y="2000250"/>
          <a:ext cx="3943350" cy="3257550"/>
        </p:xfrm>
        <a:graphic>
          <a:graphicData uri="http://schemas.openxmlformats.org/presentationml/2006/ole">
            <mc:AlternateContent xmlns:mc="http://schemas.openxmlformats.org/markup-compatibility/2006">
              <mc:Choice xmlns:v="urn:schemas-microsoft-com:vml" Requires="v">
                <p:oleObj name="Bitmap Image" r:id="rId2" imgW="5257800" imgH="4343400" progId="Paint.Picture">
                  <p:embed/>
                </p:oleObj>
              </mc:Choice>
              <mc:Fallback>
                <p:oleObj name="Bitmap Image" r:id="rId2" imgW="5257800" imgH="4343400" progId="Paint.Picture">
                  <p:embed/>
                  <p:pic>
                    <p:nvPicPr>
                      <p:cNvPr id="21509" name="Object 5">
                        <a:extLst>
                          <a:ext uri="{FF2B5EF4-FFF2-40B4-BE49-F238E27FC236}">
                            <a16:creationId xmlns:a16="http://schemas.microsoft.com/office/drawing/2014/main" id="{219EEE13-F422-8153-62DD-7772B01E23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5050" y="2000250"/>
                        <a:ext cx="3943350"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0" name="Object 6">
            <a:extLst>
              <a:ext uri="{FF2B5EF4-FFF2-40B4-BE49-F238E27FC236}">
                <a16:creationId xmlns:a16="http://schemas.microsoft.com/office/drawing/2014/main" id="{B073B7F9-B4F9-DE8F-3ABE-CF363B9C0CEA}"/>
              </a:ext>
            </a:extLst>
          </p:cNvPr>
          <p:cNvGraphicFramePr>
            <a:graphicFrameLocks noChangeAspect="1"/>
          </p:cNvGraphicFramePr>
          <p:nvPr/>
        </p:nvGraphicFramePr>
        <p:xfrm>
          <a:off x="6448426" y="2047876"/>
          <a:ext cx="3914775" cy="3209925"/>
        </p:xfrm>
        <a:graphic>
          <a:graphicData uri="http://schemas.openxmlformats.org/presentationml/2006/ole">
            <mc:AlternateContent xmlns:mc="http://schemas.openxmlformats.org/markup-compatibility/2006">
              <mc:Choice xmlns:v="urn:schemas-microsoft-com:vml" Requires="v">
                <p:oleObj name="Bitmap Image" r:id="rId4" imgW="5219700" imgH="4279900" progId="Paint.Picture">
                  <p:embed/>
                </p:oleObj>
              </mc:Choice>
              <mc:Fallback>
                <p:oleObj name="Bitmap Image" r:id="rId4" imgW="5219700" imgH="4279900" progId="Paint.Picture">
                  <p:embed/>
                  <p:pic>
                    <p:nvPicPr>
                      <p:cNvPr id="21510" name="Object 6">
                        <a:extLst>
                          <a:ext uri="{FF2B5EF4-FFF2-40B4-BE49-F238E27FC236}">
                            <a16:creationId xmlns:a16="http://schemas.microsoft.com/office/drawing/2014/main" id="{B073B7F9-B4F9-DE8F-3ABE-CF363B9C0C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8426" y="2047876"/>
                        <a:ext cx="3914775" cy="320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1510"/>
                                        </p:tgtEl>
                                        <p:attrNameLst>
                                          <p:attrName>style.visibility</p:attrName>
                                        </p:attrNameLst>
                                      </p:cBhvr>
                                      <p:to>
                                        <p:strVal val="visible"/>
                                      </p:to>
                                    </p:set>
                                    <p:anim calcmode="lin" valueType="num">
                                      <p:cBhvr additive="base">
                                        <p:cTn id="7" dur="500" fill="hold"/>
                                        <p:tgtEl>
                                          <p:spTgt spid="21510"/>
                                        </p:tgtEl>
                                        <p:attrNameLst>
                                          <p:attrName>ppt_x</p:attrName>
                                        </p:attrNameLst>
                                      </p:cBhvr>
                                      <p:tavLst>
                                        <p:tav tm="0">
                                          <p:val>
                                            <p:strVal val="1+#ppt_w/2"/>
                                          </p:val>
                                        </p:tav>
                                        <p:tav tm="100000">
                                          <p:val>
                                            <p:strVal val="#ppt_x"/>
                                          </p:val>
                                        </p:tav>
                                      </p:tavLst>
                                    </p:anim>
                                    <p:anim calcmode="lin" valueType="num">
                                      <p:cBhvr additive="base">
                                        <p:cTn id="8" dur="500" fill="hold"/>
                                        <p:tgtEl>
                                          <p:spTgt spid="215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8E49B209-7991-9682-8692-D71CAF14AA22}"/>
              </a:ext>
            </a:extLst>
          </p:cNvPr>
          <p:cNvSpPr>
            <a:spLocks noGrp="1"/>
          </p:cNvSpPr>
          <p:nvPr>
            <p:ph type="sldNum" sz="quarter" idx="12"/>
          </p:nvPr>
        </p:nvSpPr>
        <p:spPr/>
        <p:txBody>
          <a:bodyPr/>
          <a:lstStyle/>
          <a:p>
            <a:fld id="{A84EDFE8-73F3-E848-8822-D37F6FB9CA87}" type="slidenum">
              <a:rPr lang="en-US" altLang="en-IT"/>
              <a:pPr/>
              <a:t>33</a:t>
            </a:fld>
            <a:endParaRPr lang="en-US" altLang="en-IT"/>
          </a:p>
        </p:txBody>
      </p:sp>
      <p:sp>
        <p:nvSpPr>
          <p:cNvPr id="33794" name="Rectangle 2">
            <a:extLst>
              <a:ext uri="{FF2B5EF4-FFF2-40B4-BE49-F238E27FC236}">
                <a16:creationId xmlns:a16="http://schemas.microsoft.com/office/drawing/2014/main" id="{3B3F25EF-C5D0-3D61-6A73-EE9006E78345}"/>
              </a:ext>
            </a:extLst>
          </p:cNvPr>
          <p:cNvSpPr>
            <a:spLocks noGrp="1" noChangeArrowheads="1"/>
          </p:cNvSpPr>
          <p:nvPr>
            <p:ph type="title"/>
          </p:nvPr>
        </p:nvSpPr>
        <p:spPr/>
        <p:txBody>
          <a:bodyPr/>
          <a:lstStyle/>
          <a:p>
            <a:pPr algn="ctr"/>
            <a:r>
              <a:rPr lang="en-US" altLang="en-IT" dirty="0" err="1"/>
              <a:t>Apriori</a:t>
            </a:r>
            <a:r>
              <a:rPr lang="en-US" altLang="en-IT" dirty="0"/>
              <a:t>-Hybrid Algorithm</a:t>
            </a:r>
          </a:p>
        </p:txBody>
      </p:sp>
      <p:sp>
        <p:nvSpPr>
          <p:cNvPr id="33795" name="Rectangle 3" descr="Rectangle: Click to edit Master text styles&#13;&#10;Second level&#13;&#10;Third level&#13;&#10;Fourth level&#13;&#10;Fifth level">
            <a:extLst>
              <a:ext uri="{FF2B5EF4-FFF2-40B4-BE49-F238E27FC236}">
                <a16:creationId xmlns:a16="http://schemas.microsoft.com/office/drawing/2014/main" id="{B3CA98B0-437C-07BA-AD08-34C5BFD8C946}"/>
              </a:ext>
            </a:extLst>
          </p:cNvPr>
          <p:cNvSpPr>
            <a:spLocks noGrp="1" noChangeArrowheads="1"/>
          </p:cNvSpPr>
          <p:nvPr>
            <p:ph type="body" idx="1"/>
          </p:nvPr>
        </p:nvSpPr>
        <p:spPr>
          <a:xfrm>
            <a:off x="2362200" y="1752600"/>
            <a:ext cx="7772400" cy="4267200"/>
          </a:xfrm>
        </p:spPr>
        <p:txBody>
          <a:bodyPr/>
          <a:lstStyle/>
          <a:p>
            <a:pPr marL="533400" indent="-533400">
              <a:buNone/>
            </a:pPr>
            <a:r>
              <a:rPr lang="en-US" altLang="en-IT"/>
              <a:t>Performance Analysis shows that:</a:t>
            </a:r>
          </a:p>
          <a:p>
            <a:pPr marL="533400" indent="-533400">
              <a:buFont typeface="Wingdings" pitchFamily="2" charset="2"/>
              <a:buAutoNum type="arabicPeriod"/>
            </a:pPr>
            <a:r>
              <a:rPr lang="en-US" altLang="en-IT"/>
              <a:t>Apriori does better than AprioriTid in the earlier passes.</a:t>
            </a:r>
          </a:p>
          <a:p>
            <a:pPr marL="533400" indent="-533400">
              <a:buFont typeface="Wingdings" pitchFamily="2" charset="2"/>
              <a:buAutoNum type="arabicPeriod"/>
            </a:pPr>
            <a:r>
              <a:rPr lang="en-US" altLang="en-IT"/>
              <a:t>AprioriTid does better than Apriori in the later passes.</a:t>
            </a:r>
          </a:p>
          <a:p>
            <a:pPr marL="533400" indent="-533400"/>
            <a:r>
              <a:rPr lang="en-US" altLang="en-IT"/>
              <a:t>Hence, a hybrid algorithm can be designed that uses Apriori in the initial passes and switches to AprioriTid when it expects that the set C’ will fit in memory.</a:t>
            </a: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FE50350-F3DF-284F-D5DA-20C44513F9C0}"/>
              </a:ext>
            </a:extLst>
          </p:cNvPr>
          <p:cNvSpPr>
            <a:spLocks noGrp="1" noChangeArrowheads="1"/>
          </p:cNvSpPr>
          <p:nvPr>
            <p:ph type="title"/>
          </p:nvPr>
        </p:nvSpPr>
        <p:spPr/>
        <p:txBody>
          <a:bodyPr/>
          <a:lstStyle/>
          <a:p>
            <a:r>
              <a:rPr lang="en-GB" altLang="en-IT"/>
              <a:t>Example Association Rule</a:t>
            </a:r>
            <a:endParaRPr lang="en-AU" altLang="en-IT"/>
          </a:p>
        </p:txBody>
      </p:sp>
      <p:sp>
        <p:nvSpPr>
          <p:cNvPr id="8195" name="Rectangle 3">
            <a:extLst>
              <a:ext uri="{FF2B5EF4-FFF2-40B4-BE49-F238E27FC236}">
                <a16:creationId xmlns:a16="http://schemas.microsoft.com/office/drawing/2014/main" id="{29FA665F-1A78-D24F-1493-22943F2FD6BA}"/>
              </a:ext>
            </a:extLst>
          </p:cNvPr>
          <p:cNvSpPr>
            <a:spLocks noGrp="1" noChangeArrowheads="1"/>
          </p:cNvSpPr>
          <p:nvPr>
            <p:ph type="body" idx="1"/>
          </p:nvPr>
        </p:nvSpPr>
        <p:spPr/>
        <p:txBody>
          <a:bodyPr/>
          <a:lstStyle/>
          <a:p>
            <a:pPr>
              <a:lnSpc>
                <a:spcPct val="72000"/>
              </a:lnSpc>
              <a:spcBef>
                <a:spcPts val="1013"/>
              </a:spcBef>
              <a:buNone/>
            </a:pPr>
            <a:r>
              <a:rPr lang="en-GB" altLang="en-IT">
                <a:solidFill>
                  <a:srgbClr val="0000FF"/>
                </a:solidFill>
              </a:rPr>
              <a:t>	90% of transactions that purchase bread and butter also purchase milk</a:t>
            </a:r>
          </a:p>
          <a:p>
            <a:pPr>
              <a:lnSpc>
                <a:spcPct val="72000"/>
              </a:lnSpc>
              <a:spcBef>
                <a:spcPts val="1013"/>
              </a:spcBef>
              <a:buNone/>
            </a:pPr>
            <a:endParaRPr lang="en-GB" altLang="en-IT">
              <a:solidFill>
                <a:srgbClr val="800000"/>
              </a:solidFill>
            </a:endParaRPr>
          </a:p>
          <a:p>
            <a:pPr>
              <a:lnSpc>
                <a:spcPct val="72000"/>
              </a:lnSpc>
              <a:spcBef>
                <a:spcPts val="1013"/>
              </a:spcBef>
              <a:buNone/>
            </a:pPr>
            <a:r>
              <a:rPr lang="en-GB" altLang="en-IT"/>
              <a:t>	Antecedent: </a:t>
            </a:r>
            <a:r>
              <a:rPr lang="en-GB" altLang="en-IT">
                <a:solidFill>
                  <a:srgbClr val="800080"/>
                </a:solidFill>
              </a:rPr>
              <a:t>bread and butter</a:t>
            </a:r>
          </a:p>
          <a:p>
            <a:pPr>
              <a:lnSpc>
                <a:spcPct val="72000"/>
              </a:lnSpc>
              <a:spcBef>
                <a:spcPts val="1013"/>
              </a:spcBef>
              <a:buNone/>
            </a:pPr>
            <a:r>
              <a:rPr lang="en-GB" altLang="en-IT"/>
              <a:t>	Consequent: </a:t>
            </a:r>
            <a:r>
              <a:rPr lang="en-GB" altLang="en-IT">
                <a:solidFill>
                  <a:srgbClr val="800080"/>
                </a:solidFill>
              </a:rPr>
              <a:t>milk</a:t>
            </a:r>
          </a:p>
          <a:p>
            <a:pPr>
              <a:lnSpc>
                <a:spcPct val="72000"/>
              </a:lnSpc>
              <a:spcBef>
                <a:spcPts val="1013"/>
              </a:spcBef>
              <a:buNone/>
            </a:pPr>
            <a:r>
              <a:rPr lang="en-GB" altLang="en-IT"/>
              <a:t>	Confidence factor: </a:t>
            </a:r>
            <a:r>
              <a:rPr lang="en-GB" altLang="en-IT">
                <a:solidFill>
                  <a:srgbClr val="800080"/>
                </a:solidFill>
              </a:rPr>
              <a:t>90%</a:t>
            </a:r>
            <a:endParaRPr lang="en-AU" altLang="en-IT">
              <a:solidFill>
                <a:srgbClr val="80008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4" name="Rectangle 4">
            <a:extLst>
              <a:ext uri="{FF2B5EF4-FFF2-40B4-BE49-F238E27FC236}">
                <a16:creationId xmlns:a16="http://schemas.microsoft.com/office/drawing/2014/main" id="{E7A83EE3-5CE6-1A0C-BF5C-CC121EE84E22}"/>
              </a:ext>
            </a:extLst>
          </p:cNvPr>
          <p:cNvSpPr>
            <a:spLocks noGrp="1" noChangeArrowheads="1"/>
          </p:cNvSpPr>
          <p:nvPr>
            <p:ph type="title"/>
          </p:nvPr>
        </p:nvSpPr>
        <p:spPr/>
        <p:txBody>
          <a:bodyPr/>
          <a:lstStyle/>
          <a:p>
            <a:r>
              <a:rPr lang="en-GB" altLang="en-IT"/>
              <a:t>Example Queries</a:t>
            </a:r>
            <a:endParaRPr lang="en-AU" altLang="en-IT"/>
          </a:p>
        </p:txBody>
      </p:sp>
      <p:sp>
        <p:nvSpPr>
          <p:cNvPr id="10245" name="Rectangle 5">
            <a:extLst>
              <a:ext uri="{FF2B5EF4-FFF2-40B4-BE49-F238E27FC236}">
                <a16:creationId xmlns:a16="http://schemas.microsoft.com/office/drawing/2014/main" id="{F312F0C1-D51E-DC22-C434-18C01D1AD673}"/>
              </a:ext>
            </a:extLst>
          </p:cNvPr>
          <p:cNvSpPr>
            <a:spLocks noGrp="1" noChangeArrowheads="1"/>
          </p:cNvSpPr>
          <p:nvPr>
            <p:ph type="body" idx="1"/>
          </p:nvPr>
        </p:nvSpPr>
        <p:spPr>
          <a:xfrm>
            <a:off x="2209800" y="1752600"/>
            <a:ext cx="7772400" cy="4343400"/>
          </a:xfrm>
        </p:spPr>
        <p:txBody>
          <a:bodyPr>
            <a:normAutofit lnSpcReduction="10000"/>
          </a:bodyPr>
          <a:lstStyle/>
          <a:p>
            <a:r>
              <a:rPr lang="en-GB" altLang="en-IT"/>
              <a:t>Find all the rules that have “Uludağ  Gazozu” as consequent.</a:t>
            </a:r>
          </a:p>
          <a:p>
            <a:r>
              <a:rPr lang="en-GB" altLang="en-IT"/>
              <a:t>Find all rules that have “Diet Coke” in the antecedent.</a:t>
            </a:r>
          </a:p>
          <a:p>
            <a:r>
              <a:rPr lang="en-GB" altLang="en-IT"/>
              <a:t>Find all rules that have “sausage” in the antecedent and “mustard” in the consequent.</a:t>
            </a:r>
          </a:p>
          <a:p>
            <a:r>
              <a:rPr lang="en-GB" altLang="en-IT"/>
              <a:t>Find all the rules relating items located on shelves A and B in the store.</a:t>
            </a:r>
          </a:p>
          <a:p>
            <a:r>
              <a:rPr lang="en-GB" altLang="en-IT"/>
              <a:t>Find the “best” (most </a:t>
            </a:r>
            <a:r>
              <a:rPr lang="en-GB" altLang="en-IT" i="1">
                <a:solidFill>
                  <a:srgbClr val="000099"/>
                </a:solidFill>
              </a:rPr>
              <a:t>confident</a:t>
            </a:r>
            <a:r>
              <a:rPr lang="en-GB" altLang="en-IT"/>
              <a:t>) </a:t>
            </a:r>
            <a:r>
              <a:rPr lang="en-GB" altLang="en-IT" i="1"/>
              <a:t>k</a:t>
            </a:r>
            <a:r>
              <a:rPr lang="en-GB" altLang="en-IT"/>
              <a:t> rules  that have “Uludağ  Gazozu” in the consequent.</a:t>
            </a:r>
            <a:endParaRPr lang="en-AU" altLang="en-IT"/>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3D9F616-01D1-31C2-1E1E-7B598F1E4C09}"/>
              </a:ext>
            </a:extLst>
          </p:cNvPr>
          <p:cNvSpPr>
            <a:spLocks noGrp="1" noChangeArrowheads="1"/>
          </p:cNvSpPr>
          <p:nvPr>
            <p:ph type="title"/>
          </p:nvPr>
        </p:nvSpPr>
        <p:spPr/>
        <p:txBody>
          <a:bodyPr/>
          <a:lstStyle/>
          <a:p>
            <a:r>
              <a:rPr lang="en-GB" altLang="en-IT"/>
              <a:t>Discovering Large Itemsets</a:t>
            </a:r>
            <a:endParaRPr lang="en-AU" altLang="en-IT"/>
          </a:p>
        </p:txBody>
      </p:sp>
      <p:sp>
        <p:nvSpPr>
          <p:cNvPr id="22531" name="Rectangle 3">
            <a:extLst>
              <a:ext uri="{FF2B5EF4-FFF2-40B4-BE49-F238E27FC236}">
                <a16:creationId xmlns:a16="http://schemas.microsoft.com/office/drawing/2014/main" id="{72058096-4F56-A8CD-063E-5D853EE85023}"/>
              </a:ext>
            </a:extLst>
          </p:cNvPr>
          <p:cNvSpPr>
            <a:spLocks noGrp="1" noChangeArrowheads="1"/>
          </p:cNvSpPr>
          <p:nvPr>
            <p:ph type="body" idx="1"/>
          </p:nvPr>
        </p:nvSpPr>
        <p:spPr/>
        <p:txBody>
          <a:bodyPr/>
          <a:lstStyle/>
          <a:p>
            <a:pPr>
              <a:spcBef>
                <a:spcPts val="1013"/>
              </a:spcBef>
              <a:buNone/>
            </a:pPr>
            <a:r>
              <a:rPr lang="en-GB" altLang="en-IT">
                <a:solidFill>
                  <a:srgbClr val="990000"/>
                </a:solidFill>
              </a:rPr>
              <a:t>Apriori</a:t>
            </a:r>
            <a:r>
              <a:rPr lang="en-GB" altLang="en-IT"/>
              <a:t> and </a:t>
            </a:r>
            <a:r>
              <a:rPr lang="en-GB" altLang="en-IT">
                <a:solidFill>
                  <a:srgbClr val="990000"/>
                </a:solidFill>
              </a:rPr>
              <a:t>AprioriTid</a:t>
            </a:r>
            <a:r>
              <a:rPr lang="en-GB" altLang="en-IT"/>
              <a:t> algorithms:</a:t>
            </a:r>
          </a:p>
          <a:p>
            <a:pPr>
              <a:spcBef>
                <a:spcPts val="1013"/>
              </a:spcBef>
              <a:buNone/>
            </a:pPr>
            <a:r>
              <a:rPr lang="en-GB" altLang="en-IT"/>
              <a:t>Basic intuition:</a:t>
            </a:r>
          </a:p>
          <a:p>
            <a:pPr>
              <a:spcBef>
                <a:spcPts val="1013"/>
              </a:spcBef>
              <a:buNone/>
            </a:pPr>
            <a:r>
              <a:rPr lang="en-GB" altLang="en-IT">
                <a:solidFill>
                  <a:srgbClr val="000099"/>
                </a:solidFill>
              </a:rPr>
              <a:t>Any subset of a large itemset must be large</a:t>
            </a:r>
          </a:p>
          <a:p>
            <a:pPr>
              <a:spcBef>
                <a:spcPts val="1013"/>
              </a:spcBef>
              <a:buNone/>
            </a:pPr>
            <a:r>
              <a:rPr lang="en-GB" altLang="en-IT"/>
              <a:t>	Itemset having </a:t>
            </a:r>
            <a:r>
              <a:rPr lang="en-GB" altLang="en-IT" i="1"/>
              <a:t>k</a:t>
            </a:r>
            <a:r>
              <a:rPr lang="en-GB" altLang="en-IT"/>
              <a:t> items can be generated by joining large itemsets having </a:t>
            </a:r>
            <a:r>
              <a:rPr lang="en-GB" altLang="en-IT" i="1"/>
              <a:t>k-1</a:t>
            </a:r>
            <a:r>
              <a:rPr lang="en-GB" altLang="en-IT"/>
              <a:t> items, and deleting those that contain any subset that is not large.</a:t>
            </a:r>
          </a:p>
          <a:p>
            <a:pPr>
              <a:spcBef>
                <a:spcPts val="1013"/>
              </a:spcBef>
              <a:buNone/>
            </a:pPr>
            <a:r>
              <a:rPr lang="en-GB" altLang="en-IT"/>
              <a:t>Def. </a:t>
            </a:r>
            <a:r>
              <a:rPr lang="en-GB" altLang="en-IT" i="1">
                <a:solidFill>
                  <a:srgbClr val="990000"/>
                </a:solidFill>
              </a:rPr>
              <a:t>k</a:t>
            </a:r>
            <a:r>
              <a:rPr lang="en-GB" altLang="en-IT">
                <a:solidFill>
                  <a:srgbClr val="990000"/>
                </a:solidFill>
              </a:rPr>
              <a:t>-itemset</a:t>
            </a:r>
            <a:r>
              <a:rPr lang="en-GB" altLang="en-IT"/>
              <a:t>: large itemset with </a:t>
            </a:r>
            <a:r>
              <a:rPr lang="en-GB" altLang="en-IT" i="1"/>
              <a:t>k</a:t>
            </a:r>
            <a:r>
              <a:rPr lang="en-GB" altLang="en-IT"/>
              <a:t> items.</a:t>
            </a:r>
            <a:endParaRPr lang="en-AU" altLang="en-IT"/>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472FD43C-5699-4C87-8903-F271F13957E7}"/>
              </a:ext>
            </a:extLst>
          </p:cNvPr>
          <p:cNvSpPr>
            <a:spLocks noGrp="1" noChangeArrowheads="1"/>
          </p:cNvSpPr>
          <p:nvPr>
            <p:ph type="title"/>
          </p:nvPr>
        </p:nvSpPr>
        <p:spPr/>
        <p:txBody>
          <a:bodyPr/>
          <a:lstStyle/>
          <a:p>
            <a:r>
              <a:rPr lang="en-GB" altLang="en-IT" dirty="0" err="1"/>
              <a:t>Apriori</a:t>
            </a:r>
            <a:r>
              <a:rPr lang="en-GB" altLang="en-IT" dirty="0"/>
              <a:t> Algorithm (pseudocode)</a:t>
            </a:r>
            <a:endParaRPr lang="en-AU" altLang="en-IT" dirty="0"/>
          </a:p>
        </p:txBody>
      </p:sp>
      <p:sp>
        <p:nvSpPr>
          <p:cNvPr id="24579" name="Rectangle 3">
            <a:extLst>
              <a:ext uri="{FF2B5EF4-FFF2-40B4-BE49-F238E27FC236}">
                <a16:creationId xmlns:a16="http://schemas.microsoft.com/office/drawing/2014/main" id="{D0EA3A6E-E2E6-6DB2-09F0-837FE2ABED99}"/>
              </a:ext>
            </a:extLst>
          </p:cNvPr>
          <p:cNvSpPr>
            <a:spLocks noGrp="1" noChangeArrowheads="1"/>
          </p:cNvSpPr>
          <p:nvPr>
            <p:ph type="body" idx="1"/>
          </p:nvPr>
        </p:nvSpPr>
        <p:spPr>
          <a:xfrm>
            <a:off x="2209800" y="1981200"/>
            <a:ext cx="7924800" cy="4343400"/>
          </a:xfrm>
        </p:spPr>
        <p:txBody>
          <a:bodyPr/>
          <a:lstStyle/>
          <a:p>
            <a:pPr>
              <a:spcBef>
                <a:spcPct val="0"/>
              </a:spcBef>
              <a:buFont typeface="Monotype Sorts" pitchFamily="2" charset="2"/>
              <a:buNone/>
            </a:pPr>
            <a:r>
              <a:rPr lang="en-GB" altLang="en-IT" i="1"/>
              <a:t>L</a:t>
            </a:r>
            <a:r>
              <a:rPr lang="en-GB" altLang="en-IT" baseline="-25000"/>
              <a:t>1</a:t>
            </a:r>
            <a:r>
              <a:rPr lang="en-GB" altLang="en-IT"/>
              <a:t> = { large 1-itemsets }</a:t>
            </a:r>
            <a:endParaRPr lang="en-GB" altLang="en-IT">
              <a:solidFill>
                <a:srgbClr val="660033"/>
              </a:solidFill>
            </a:endParaRPr>
          </a:p>
          <a:p>
            <a:pPr>
              <a:spcBef>
                <a:spcPct val="0"/>
              </a:spcBef>
              <a:buFont typeface="Monotype Sorts" pitchFamily="2" charset="2"/>
              <a:buNone/>
            </a:pPr>
            <a:r>
              <a:rPr lang="en-GB" altLang="en-IT"/>
              <a:t>for (</a:t>
            </a:r>
            <a:r>
              <a:rPr lang="en-GB" altLang="en-IT" i="1"/>
              <a:t>k</a:t>
            </a:r>
            <a:r>
              <a:rPr lang="en-GB" altLang="en-IT"/>
              <a:t>=2; </a:t>
            </a:r>
            <a:r>
              <a:rPr lang="en-GB" altLang="en-IT" i="1"/>
              <a:t>L</a:t>
            </a:r>
            <a:r>
              <a:rPr lang="en-GB" altLang="en-IT" baseline="-25000"/>
              <a:t>k-1</a:t>
            </a:r>
            <a:r>
              <a:rPr lang="en-GB" altLang="en-IT">
                <a:sym typeface="Symbol" pitchFamily="2" charset="2"/>
              </a:rPr>
              <a:t></a:t>
            </a:r>
            <a:r>
              <a:rPr lang="en-GB" altLang="en-IT"/>
              <a:t>; </a:t>
            </a:r>
            <a:r>
              <a:rPr lang="en-GB" altLang="en-IT" i="1"/>
              <a:t>k</a:t>
            </a:r>
            <a:r>
              <a:rPr lang="en-GB" altLang="en-IT"/>
              <a:t>++) do begin</a:t>
            </a:r>
            <a:endParaRPr lang="en-GB" altLang="en-IT" b="1"/>
          </a:p>
          <a:p>
            <a:pPr>
              <a:spcBef>
                <a:spcPct val="0"/>
              </a:spcBef>
              <a:buFont typeface="Monotype Sorts" pitchFamily="2" charset="2"/>
              <a:buNone/>
            </a:pPr>
            <a:r>
              <a:rPr lang="en-GB" altLang="en-IT"/>
              <a:t>	</a:t>
            </a:r>
            <a:r>
              <a:rPr lang="en-GB" altLang="en-IT" i="1"/>
              <a:t>C</a:t>
            </a:r>
            <a:r>
              <a:rPr lang="en-GB" altLang="en-IT" baseline="-25000"/>
              <a:t>k</a:t>
            </a:r>
            <a:r>
              <a:rPr lang="en-GB" altLang="en-IT"/>
              <a:t> = apriori-gen(</a:t>
            </a:r>
            <a:r>
              <a:rPr lang="en-GB" altLang="en-IT" i="1"/>
              <a:t>L</a:t>
            </a:r>
            <a:r>
              <a:rPr lang="en-GB" altLang="en-IT" baseline="-25000"/>
              <a:t>k-1</a:t>
            </a:r>
            <a:r>
              <a:rPr lang="en-GB" altLang="en-IT"/>
              <a:t>); </a:t>
            </a:r>
            <a:r>
              <a:rPr lang="en-GB" altLang="en-IT" sz="2400">
                <a:solidFill>
                  <a:srgbClr val="006600"/>
                </a:solidFill>
              </a:rPr>
              <a:t>// New candidates</a:t>
            </a:r>
            <a:endParaRPr lang="en-GB" altLang="en-IT"/>
          </a:p>
          <a:p>
            <a:pPr>
              <a:spcBef>
                <a:spcPct val="0"/>
              </a:spcBef>
              <a:buFont typeface="Monotype Sorts" pitchFamily="2" charset="2"/>
              <a:buNone/>
            </a:pPr>
            <a:r>
              <a:rPr lang="en-GB" altLang="en-IT"/>
              <a:t>	forall transactions </a:t>
            </a:r>
            <a:r>
              <a:rPr lang="en-GB" altLang="en-IT" i="1"/>
              <a:t>t </a:t>
            </a:r>
            <a:r>
              <a:rPr lang="en-GB" altLang="en-IT"/>
              <a:t> </a:t>
            </a:r>
            <a:r>
              <a:rPr lang="en-GB" altLang="en-IT">
                <a:sym typeface="Symbol" pitchFamily="2" charset="2"/>
              </a:rPr>
              <a:t></a:t>
            </a:r>
            <a:r>
              <a:rPr lang="en-GB" altLang="en-IT"/>
              <a:t> </a:t>
            </a:r>
            <a:r>
              <a:rPr lang="en-GB" altLang="en-IT" i="1">
                <a:latin typeface="Verdana" panose="020B0604030504040204" pitchFamily="34" charset="0"/>
              </a:rPr>
              <a:t>D</a:t>
            </a:r>
            <a:r>
              <a:rPr lang="en-GB" altLang="en-IT"/>
              <a:t> do begin</a:t>
            </a:r>
            <a:endParaRPr lang="en-GB" altLang="en-IT" b="1">
              <a:solidFill>
                <a:srgbClr val="660033"/>
              </a:solidFill>
            </a:endParaRPr>
          </a:p>
          <a:p>
            <a:pPr>
              <a:spcBef>
                <a:spcPct val="0"/>
              </a:spcBef>
              <a:buFont typeface="Monotype Sorts" pitchFamily="2" charset="2"/>
              <a:buNone/>
            </a:pPr>
            <a:r>
              <a:rPr lang="en-GB" altLang="en-IT" b="1"/>
              <a:t>		</a:t>
            </a:r>
            <a:r>
              <a:rPr lang="en-GB" altLang="en-IT" i="1"/>
              <a:t>C’</a:t>
            </a:r>
            <a:r>
              <a:rPr lang="en-GB" altLang="en-IT" baseline="-25000"/>
              <a:t>t</a:t>
            </a:r>
            <a:r>
              <a:rPr lang="en-GB" altLang="en-IT"/>
              <a:t> = subset (</a:t>
            </a:r>
            <a:r>
              <a:rPr lang="en-GB" altLang="en-IT" i="1"/>
              <a:t>C</a:t>
            </a:r>
            <a:r>
              <a:rPr lang="en-GB" altLang="en-IT" baseline="-25000"/>
              <a:t>k</a:t>
            </a:r>
            <a:r>
              <a:rPr lang="en-GB" altLang="en-IT"/>
              <a:t>, </a:t>
            </a:r>
            <a:r>
              <a:rPr lang="en-GB" altLang="en-IT" i="1"/>
              <a:t>t</a:t>
            </a:r>
            <a:r>
              <a:rPr lang="en-GB" altLang="en-IT"/>
              <a:t>) </a:t>
            </a:r>
            <a:r>
              <a:rPr lang="en-GB" altLang="en-IT" sz="2400">
                <a:solidFill>
                  <a:srgbClr val="006600"/>
                </a:solidFill>
              </a:rPr>
              <a:t>// Candidates contained in </a:t>
            </a:r>
            <a:r>
              <a:rPr lang="en-GB" altLang="en-IT" sz="2400" i="1">
                <a:solidFill>
                  <a:srgbClr val="006600"/>
                </a:solidFill>
              </a:rPr>
              <a:t>t</a:t>
            </a:r>
            <a:endParaRPr lang="en-GB" altLang="en-IT" i="1"/>
          </a:p>
          <a:p>
            <a:pPr>
              <a:spcBef>
                <a:spcPct val="0"/>
              </a:spcBef>
              <a:buFont typeface="Monotype Sorts" pitchFamily="2" charset="2"/>
              <a:buNone/>
            </a:pPr>
            <a:r>
              <a:rPr lang="en-GB" altLang="en-IT"/>
              <a:t>		forall candidates </a:t>
            </a:r>
            <a:r>
              <a:rPr lang="en-GB" altLang="en-IT" i="1"/>
              <a:t>c</a:t>
            </a:r>
            <a:r>
              <a:rPr lang="en-GB" altLang="en-IT"/>
              <a:t> </a:t>
            </a:r>
            <a:r>
              <a:rPr lang="en-GB" altLang="en-IT">
                <a:sym typeface="Symbol" pitchFamily="2" charset="2"/>
              </a:rPr>
              <a:t></a:t>
            </a:r>
            <a:r>
              <a:rPr lang="en-GB" altLang="en-IT"/>
              <a:t> </a:t>
            </a:r>
            <a:r>
              <a:rPr lang="en-GB" altLang="en-IT" i="1"/>
              <a:t>C</a:t>
            </a:r>
            <a:r>
              <a:rPr lang="en-GB" altLang="en-IT" baseline="-25000"/>
              <a:t>t</a:t>
            </a:r>
            <a:r>
              <a:rPr lang="en-GB" altLang="en-IT"/>
              <a:t> do </a:t>
            </a:r>
            <a:r>
              <a:rPr lang="en-GB" altLang="en-IT" i="1"/>
              <a:t>c</a:t>
            </a:r>
            <a:r>
              <a:rPr lang="en-GB" altLang="en-IT"/>
              <a:t>.count++</a:t>
            </a:r>
          </a:p>
          <a:p>
            <a:pPr>
              <a:spcBef>
                <a:spcPct val="0"/>
              </a:spcBef>
              <a:buFont typeface="Monotype Sorts" pitchFamily="2" charset="2"/>
              <a:buNone/>
            </a:pPr>
            <a:r>
              <a:rPr lang="en-GB" altLang="en-IT"/>
              <a:t>	end</a:t>
            </a:r>
            <a:endParaRPr lang="en-GB" altLang="en-IT" b="1"/>
          </a:p>
          <a:p>
            <a:pPr>
              <a:spcBef>
                <a:spcPct val="0"/>
              </a:spcBef>
              <a:buFont typeface="Monotype Sorts" pitchFamily="2" charset="2"/>
              <a:buNone/>
            </a:pPr>
            <a:r>
              <a:rPr lang="en-GB" altLang="en-IT"/>
              <a:t>	 </a:t>
            </a:r>
            <a:r>
              <a:rPr lang="en-GB" altLang="en-IT" i="1"/>
              <a:t>L</a:t>
            </a:r>
            <a:r>
              <a:rPr lang="en-GB" altLang="en-IT" baseline="-25000"/>
              <a:t>k</a:t>
            </a:r>
            <a:r>
              <a:rPr lang="en-GB" altLang="en-IT"/>
              <a:t> = {</a:t>
            </a:r>
            <a:r>
              <a:rPr lang="en-GB" altLang="en-IT" i="1"/>
              <a:t>c</a:t>
            </a:r>
            <a:r>
              <a:rPr lang="en-GB" altLang="en-IT"/>
              <a:t> </a:t>
            </a:r>
            <a:r>
              <a:rPr lang="en-GB" altLang="en-IT">
                <a:sym typeface="Symbol" pitchFamily="2" charset="2"/>
              </a:rPr>
              <a:t></a:t>
            </a:r>
            <a:r>
              <a:rPr lang="en-GB" altLang="en-IT"/>
              <a:t> </a:t>
            </a:r>
            <a:r>
              <a:rPr lang="en-GB" altLang="en-IT" i="1"/>
              <a:t>C</a:t>
            </a:r>
            <a:r>
              <a:rPr lang="en-GB" altLang="en-IT" baseline="-25000"/>
              <a:t>t</a:t>
            </a:r>
            <a:r>
              <a:rPr lang="en-GB" altLang="en-IT"/>
              <a:t> | </a:t>
            </a:r>
            <a:r>
              <a:rPr lang="en-GB" altLang="en-IT" i="1"/>
              <a:t>c</a:t>
            </a:r>
            <a:r>
              <a:rPr lang="en-GB" altLang="en-IT"/>
              <a:t>.count </a:t>
            </a:r>
            <a:r>
              <a:rPr lang="en-GB" altLang="en-IT">
                <a:sym typeface="Symbol" pitchFamily="2" charset="2"/>
              </a:rPr>
              <a:t></a:t>
            </a:r>
            <a:r>
              <a:rPr lang="en-GB" altLang="en-IT"/>
              <a:t>  minsup}</a:t>
            </a:r>
          </a:p>
          <a:p>
            <a:pPr>
              <a:spcBef>
                <a:spcPct val="0"/>
              </a:spcBef>
              <a:buFont typeface="Monotype Sorts" pitchFamily="2" charset="2"/>
              <a:buNone/>
            </a:pPr>
            <a:r>
              <a:rPr lang="en-GB" altLang="en-IT"/>
              <a:t>end</a:t>
            </a:r>
            <a:endParaRPr lang="en-GB" altLang="en-IT" b="1"/>
          </a:p>
          <a:p>
            <a:pPr>
              <a:spcBef>
                <a:spcPct val="0"/>
              </a:spcBef>
              <a:buFont typeface="Monotype Sorts" pitchFamily="2" charset="2"/>
              <a:buNone/>
            </a:pPr>
            <a:r>
              <a:rPr lang="en-GB" altLang="en-IT"/>
              <a:t>Return  </a:t>
            </a:r>
            <a:r>
              <a:rPr lang="en-GB" altLang="en-IT" sz="4800">
                <a:sym typeface="Symbol" pitchFamily="2" charset="2"/>
              </a:rPr>
              <a:t></a:t>
            </a:r>
            <a:r>
              <a:rPr lang="en-GB" altLang="en-IT" baseline="-25000"/>
              <a:t>k </a:t>
            </a:r>
            <a:r>
              <a:rPr lang="en-GB" altLang="en-IT" i="1"/>
              <a:t>L</a:t>
            </a:r>
            <a:r>
              <a:rPr lang="en-GB" altLang="en-IT" baseline="-25000"/>
              <a:t>k</a:t>
            </a:r>
            <a:endParaRPr lang="en-AU" altLang="en-IT"/>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8" name="Rectangle 4">
            <a:extLst>
              <a:ext uri="{FF2B5EF4-FFF2-40B4-BE49-F238E27FC236}">
                <a16:creationId xmlns:a16="http://schemas.microsoft.com/office/drawing/2014/main" id="{698BD2EB-8291-7ECA-F3C2-9DD0BEC14912}"/>
              </a:ext>
            </a:extLst>
          </p:cNvPr>
          <p:cNvSpPr>
            <a:spLocks noGrp="1" noChangeArrowheads="1"/>
          </p:cNvSpPr>
          <p:nvPr>
            <p:ph type="title"/>
          </p:nvPr>
        </p:nvSpPr>
        <p:spPr/>
        <p:txBody>
          <a:bodyPr/>
          <a:lstStyle/>
          <a:p>
            <a:r>
              <a:rPr lang="en-GB" altLang="en-IT"/>
              <a:t>Apriori Candidate Generation</a:t>
            </a:r>
            <a:endParaRPr lang="en-AU" altLang="en-IT"/>
          </a:p>
        </p:txBody>
      </p:sp>
      <p:sp>
        <p:nvSpPr>
          <p:cNvPr id="26629" name="Rectangle 5">
            <a:extLst>
              <a:ext uri="{FF2B5EF4-FFF2-40B4-BE49-F238E27FC236}">
                <a16:creationId xmlns:a16="http://schemas.microsoft.com/office/drawing/2014/main" id="{FDF1EFDD-4451-E914-B5D5-647E6B582A5E}"/>
              </a:ext>
            </a:extLst>
          </p:cNvPr>
          <p:cNvSpPr>
            <a:spLocks noGrp="1" noChangeArrowheads="1"/>
          </p:cNvSpPr>
          <p:nvPr>
            <p:ph type="body" idx="1"/>
          </p:nvPr>
        </p:nvSpPr>
        <p:spPr/>
        <p:txBody>
          <a:bodyPr/>
          <a:lstStyle/>
          <a:p>
            <a:pPr>
              <a:buFont typeface="Monotype Sorts" pitchFamily="2" charset="2"/>
              <a:buNone/>
            </a:pPr>
            <a:r>
              <a:rPr lang="en-GB" altLang="en-IT">
                <a:solidFill>
                  <a:srgbClr val="800000"/>
                </a:solidFill>
              </a:rPr>
              <a:t>apriori-gen(</a:t>
            </a:r>
            <a:r>
              <a:rPr lang="en-GB" altLang="en-IT" i="1">
                <a:solidFill>
                  <a:srgbClr val="800000"/>
                </a:solidFill>
              </a:rPr>
              <a:t>L</a:t>
            </a:r>
            <a:r>
              <a:rPr lang="en-GB" altLang="en-IT" baseline="-25000">
                <a:solidFill>
                  <a:srgbClr val="800000"/>
                </a:solidFill>
              </a:rPr>
              <a:t>k-1</a:t>
            </a:r>
            <a:r>
              <a:rPr lang="en-GB" altLang="en-IT">
                <a:solidFill>
                  <a:srgbClr val="800000"/>
                </a:solidFill>
              </a:rPr>
              <a:t>):</a:t>
            </a:r>
            <a:endParaRPr lang="en-GB" altLang="en-IT"/>
          </a:p>
          <a:p>
            <a:pPr>
              <a:lnSpc>
                <a:spcPct val="120000"/>
              </a:lnSpc>
              <a:buFont typeface="Monotype Sorts" pitchFamily="2" charset="2"/>
              <a:buNone/>
            </a:pPr>
            <a:r>
              <a:rPr lang="en-GB" altLang="en-IT"/>
              <a:t>Returns a superset of the set of all large </a:t>
            </a:r>
            <a:r>
              <a:rPr lang="en-GB" altLang="en-IT" i="1"/>
              <a:t>k</a:t>
            </a:r>
            <a:r>
              <a:rPr lang="en-GB" altLang="en-IT"/>
              <a:t>-items</a:t>
            </a:r>
          </a:p>
          <a:p>
            <a:r>
              <a:rPr lang="en-GB" altLang="en-IT"/>
              <a:t>First select two itemsets </a:t>
            </a:r>
            <a:r>
              <a:rPr lang="en-GB" altLang="en-IT" i="1">
                <a:solidFill>
                  <a:srgbClr val="000099"/>
                </a:solidFill>
              </a:rPr>
              <a:t>p</a:t>
            </a:r>
            <a:r>
              <a:rPr lang="en-GB" altLang="en-IT"/>
              <a:t>, </a:t>
            </a:r>
            <a:r>
              <a:rPr lang="en-GB" altLang="en-IT" i="1">
                <a:solidFill>
                  <a:srgbClr val="000099"/>
                </a:solidFill>
              </a:rPr>
              <a:t>q</a:t>
            </a:r>
            <a:r>
              <a:rPr lang="en-GB" altLang="en-IT"/>
              <a:t> from </a:t>
            </a:r>
            <a:r>
              <a:rPr lang="en-GB" altLang="en-IT" i="1">
                <a:solidFill>
                  <a:srgbClr val="000099"/>
                </a:solidFill>
              </a:rPr>
              <a:t>L</a:t>
            </a:r>
            <a:r>
              <a:rPr lang="en-GB" altLang="en-IT" baseline="-25000">
                <a:solidFill>
                  <a:srgbClr val="000099"/>
                </a:solidFill>
              </a:rPr>
              <a:t>k-1</a:t>
            </a:r>
            <a:r>
              <a:rPr lang="en-GB" altLang="en-IT"/>
              <a:t> s.t.</a:t>
            </a:r>
          </a:p>
          <a:p>
            <a:pPr>
              <a:buFont typeface="Monotype Sorts" pitchFamily="2" charset="2"/>
              <a:buNone/>
            </a:pPr>
            <a:r>
              <a:rPr lang="en-GB" altLang="en-IT"/>
              <a:t>	first </a:t>
            </a:r>
            <a:r>
              <a:rPr lang="en-GB" altLang="en-IT" i="1"/>
              <a:t>k</a:t>
            </a:r>
            <a:r>
              <a:rPr lang="en-GB" altLang="en-IT"/>
              <a:t>-2 items of </a:t>
            </a:r>
            <a:r>
              <a:rPr lang="en-GB" altLang="en-IT" i="1">
                <a:solidFill>
                  <a:srgbClr val="000099"/>
                </a:solidFill>
              </a:rPr>
              <a:t>p</a:t>
            </a:r>
            <a:r>
              <a:rPr lang="en-GB" altLang="en-IT"/>
              <a:t> and </a:t>
            </a:r>
            <a:r>
              <a:rPr lang="en-GB" altLang="en-IT" i="1">
                <a:solidFill>
                  <a:srgbClr val="000099"/>
                </a:solidFill>
              </a:rPr>
              <a:t>q</a:t>
            </a:r>
            <a:r>
              <a:rPr lang="en-GB" altLang="en-IT"/>
              <a:t> are the same,</a:t>
            </a:r>
          </a:p>
          <a:p>
            <a:pPr>
              <a:buFont typeface="Monotype Sorts" pitchFamily="2" charset="2"/>
              <a:buNone/>
            </a:pPr>
            <a:r>
              <a:rPr lang="en-GB" altLang="en-IT"/>
              <a:t>	form a new candidate </a:t>
            </a:r>
            <a:r>
              <a:rPr lang="en-GB" altLang="en-IT" i="1"/>
              <a:t>k</a:t>
            </a:r>
            <a:r>
              <a:rPr lang="en-GB" altLang="en-IT"/>
              <a:t>-itemset </a:t>
            </a:r>
            <a:r>
              <a:rPr lang="en-GB" altLang="en-IT" i="1">
                <a:solidFill>
                  <a:srgbClr val="000099"/>
                </a:solidFill>
              </a:rPr>
              <a:t>c</a:t>
            </a:r>
            <a:r>
              <a:rPr lang="en-GB" altLang="en-IT"/>
              <a:t> as</a:t>
            </a:r>
          </a:p>
          <a:p>
            <a:pPr>
              <a:buFont typeface="Monotype Sorts" pitchFamily="2" charset="2"/>
              <a:buNone/>
            </a:pPr>
            <a:r>
              <a:rPr lang="en-GB" altLang="en-IT"/>
              <a:t>		common </a:t>
            </a:r>
            <a:r>
              <a:rPr lang="en-GB" altLang="en-IT" i="1"/>
              <a:t>k</a:t>
            </a:r>
            <a:r>
              <a:rPr lang="en-GB" altLang="en-IT"/>
              <a:t>-2 items + 2 differing items</a:t>
            </a:r>
          </a:p>
          <a:p>
            <a:r>
              <a:rPr lang="en-GB" altLang="en-IT"/>
              <a:t>Prune those </a:t>
            </a:r>
            <a:r>
              <a:rPr lang="en-GB" altLang="en-IT" i="1">
                <a:solidFill>
                  <a:srgbClr val="000099"/>
                </a:solidFill>
              </a:rPr>
              <a:t>c</a:t>
            </a:r>
            <a:r>
              <a:rPr lang="en-GB" altLang="en-IT"/>
              <a:t>, s.t. some (</a:t>
            </a:r>
            <a:r>
              <a:rPr lang="en-GB" altLang="en-IT" i="1"/>
              <a:t>k</a:t>
            </a:r>
            <a:r>
              <a:rPr lang="en-GB" altLang="en-IT"/>
              <a:t>-1) subset of </a:t>
            </a:r>
            <a:r>
              <a:rPr lang="en-GB" altLang="en-IT" i="1">
                <a:solidFill>
                  <a:srgbClr val="000099"/>
                </a:solidFill>
              </a:rPr>
              <a:t>c</a:t>
            </a:r>
            <a:r>
              <a:rPr lang="en-GB" altLang="en-IT"/>
              <a:t> is not in </a:t>
            </a:r>
            <a:r>
              <a:rPr lang="en-GB" altLang="en-IT" i="1">
                <a:solidFill>
                  <a:srgbClr val="000099"/>
                </a:solidFill>
              </a:rPr>
              <a:t>L</a:t>
            </a:r>
            <a:r>
              <a:rPr lang="en-GB" altLang="en-IT" baseline="-25000">
                <a:solidFill>
                  <a:srgbClr val="000099"/>
                </a:solidFill>
              </a:rPr>
              <a:t>k-1</a:t>
            </a:r>
            <a:r>
              <a:rPr lang="en-GB" altLang="en-IT"/>
              <a:t> </a:t>
            </a:r>
            <a:endParaRPr lang="en-AU" altLang="en-IT"/>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105C8C6-5FAF-4489-AF07-698FBDADE139}"/>
              </a:ext>
            </a:extLst>
          </p:cNvPr>
          <p:cNvSpPr>
            <a:spLocks noGrp="1" noChangeArrowheads="1"/>
          </p:cNvSpPr>
          <p:nvPr>
            <p:ph type="title"/>
          </p:nvPr>
        </p:nvSpPr>
        <p:spPr/>
        <p:txBody>
          <a:bodyPr/>
          <a:lstStyle/>
          <a:p>
            <a:r>
              <a:rPr lang="en-GB" altLang="en-IT"/>
              <a:t>Apriori Algorithm (cont.)</a:t>
            </a:r>
            <a:endParaRPr lang="en-AU" altLang="en-IT"/>
          </a:p>
        </p:txBody>
      </p:sp>
      <p:sp>
        <p:nvSpPr>
          <p:cNvPr id="28675" name="Rectangle 3">
            <a:extLst>
              <a:ext uri="{FF2B5EF4-FFF2-40B4-BE49-F238E27FC236}">
                <a16:creationId xmlns:a16="http://schemas.microsoft.com/office/drawing/2014/main" id="{0CF46BD6-FAFA-3C11-AD0C-C8C518B81177}"/>
              </a:ext>
            </a:extLst>
          </p:cNvPr>
          <p:cNvSpPr>
            <a:spLocks noGrp="1" noChangeArrowheads="1"/>
          </p:cNvSpPr>
          <p:nvPr>
            <p:ph type="body" idx="1"/>
          </p:nvPr>
        </p:nvSpPr>
        <p:spPr>
          <a:xfrm>
            <a:off x="2209800" y="1981200"/>
            <a:ext cx="8077200" cy="4267200"/>
          </a:xfrm>
        </p:spPr>
        <p:txBody>
          <a:bodyPr/>
          <a:lstStyle/>
          <a:p>
            <a:pPr>
              <a:spcBef>
                <a:spcPts val="1013"/>
              </a:spcBef>
            </a:pPr>
            <a:r>
              <a:rPr lang="en-GB" altLang="en-IT"/>
              <a:t>Go thru all transactions in </a:t>
            </a:r>
            <a:r>
              <a:rPr lang="en-GB" altLang="en-IT" i="1">
                <a:latin typeface="Lucida Console" panose="020B0609040504020204" pitchFamily="49" charset="0"/>
              </a:rPr>
              <a:t>D</a:t>
            </a:r>
            <a:r>
              <a:rPr lang="en-GB" altLang="en-IT"/>
              <a:t>,</a:t>
            </a:r>
            <a:br>
              <a:rPr lang="en-GB" altLang="en-IT"/>
            </a:br>
            <a:r>
              <a:rPr lang="en-GB" altLang="en-IT"/>
              <a:t>increment the counts of all itemsets in </a:t>
            </a:r>
            <a:r>
              <a:rPr lang="en-GB" altLang="en-IT" i="1"/>
              <a:t>C</a:t>
            </a:r>
            <a:r>
              <a:rPr lang="en-GB" altLang="en-IT" baseline="-25000"/>
              <a:t>k</a:t>
            </a:r>
            <a:endParaRPr lang="en-GB" altLang="en-IT"/>
          </a:p>
          <a:p>
            <a:pPr>
              <a:spcBef>
                <a:spcPts val="1225"/>
              </a:spcBef>
            </a:pPr>
            <a:r>
              <a:rPr lang="en-GB" altLang="en-IT" i="1"/>
              <a:t>L</a:t>
            </a:r>
            <a:r>
              <a:rPr lang="en-GB" altLang="en-IT" baseline="-25000"/>
              <a:t>k</a:t>
            </a:r>
            <a:r>
              <a:rPr lang="en-GB" altLang="en-IT"/>
              <a:t> is the set of all large itemsets in </a:t>
            </a:r>
            <a:r>
              <a:rPr lang="en-GB" altLang="en-IT" i="1"/>
              <a:t>C</a:t>
            </a:r>
            <a:r>
              <a:rPr lang="en-GB" altLang="en-IT" baseline="-25000"/>
              <a:t>k</a:t>
            </a:r>
            <a:endParaRPr lang="en-GB" altLang="en-IT"/>
          </a:p>
          <a:p>
            <a:pPr>
              <a:spcBef>
                <a:spcPts val="1013"/>
              </a:spcBef>
            </a:pPr>
            <a:r>
              <a:rPr lang="en-GB" altLang="en-IT"/>
              <a:t>For minsup </a:t>
            </a:r>
            <a:r>
              <a:rPr lang="en-GB" altLang="en-IT" i="1"/>
              <a:t>s</a:t>
            </a:r>
            <a:r>
              <a:rPr lang="en-GB" altLang="en-IT"/>
              <a:t>=30%,</a:t>
            </a:r>
          </a:p>
          <a:p>
            <a:pPr>
              <a:spcBef>
                <a:spcPts val="500"/>
              </a:spcBef>
              <a:buNone/>
            </a:pPr>
            <a:r>
              <a:rPr lang="en-GB" altLang="en-IT" sz="2400" i="1">
                <a:latin typeface="Courier New" panose="02070309020205020404" pitchFamily="49" charset="0"/>
              </a:rPr>
              <a:t>L</a:t>
            </a:r>
            <a:r>
              <a:rPr lang="en-GB" altLang="en-IT" sz="2400">
                <a:latin typeface="Courier New" panose="02070309020205020404" pitchFamily="49" charset="0"/>
              </a:rPr>
              <a:t>= {{bread}, {cheese}, {cucumber}, {onion},</a:t>
            </a:r>
            <a:br>
              <a:rPr lang="en-GB" altLang="en-IT" sz="2400">
                <a:latin typeface="Courier New" panose="02070309020205020404" pitchFamily="49" charset="0"/>
              </a:rPr>
            </a:br>
            <a:r>
              <a:rPr lang="en-GB" altLang="en-IT" sz="2400">
                <a:latin typeface="Courier New" panose="02070309020205020404" pitchFamily="49" charset="0"/>
              </a:rPr>
              <a:t>  {parsley}, {salt}, {tomato}, </a:t>
            </a:r>
            <a:br>
              <a:rPr lang="en-GB" altLang="en-IT" sz="2400">
                <a:latin typeface="Courier New" panose="02070309020205020404" pitchFamily="49" charset="0"/>
              </a:rPr>
            </a:br>
            <a:r>
              <a:rPr lang="en-GB" altLang="en-IT" sz="2400">
                <a:latin typeface="Courier New" panose="02070309020205020404" pitchFamily="49" charset="0"/>
              </a:rPr>
              <a:t>  {cucumber, onion}, {cucumber, parsley},</a:t>
            </a:r>
          </a:p>
          <a:p>
            <a:pPr>
              <a:spcBef>
                <a:spcPts val="500"/>
              </a:spcBef>
              <a:buNone/>
            </a:pPr>
            <a:r>
              <a:rPr lang="en-GB" altLang="en-IT" sz="2400">
                <a:latin typeface="Courier New" panose="02070309020205020404" pitchFamily="49" charset="0"/>
              </a:rPr>
              <a:t>    {cucumber, tomato}, {onion, tomato}, </a:t>
            </a:r>
          </a:p>
          <a:p>
            <a:pPr>
              <a:spcBef>
                <a:spcPts val="500"/>
              </a:spcBef>
              <a:buNone/>
            </a:pPr>
            <a:r>
              <a:rPr lang="en-GB" altLang="en-IT" sz="2400">
                <a:latin typeface="Courier New" panose="02070309020205020404" pitchFamily="49" charset="0"/>
              </a:rPr>
              <a:t>    {parsley, tomato},</a:t>
            </a:r>
          </a:p>
          <a:p>
            <a:pPr>
              <a:spcBef>
                <a:spcPts val="500"/>
              </a:spcBef>
              <a:buNone/>
            </a:pPr>
            <a:r>
              <a:rPr lang="en-GB" altLang="en-IT" sz="2400">
                <a:latin typeface="Courier New" panose="02070309020205020404" pitchFamily="49" charset="0"/>
              </a:rPr>
              <a:t>    {cucumber, parsley, tomato}}</a:t>
            </a:r>
            <a:endParaRPr lang="en-AU" altLang="en-IT" sz="2000">
              <a:latin typeface="Courier New" panose="02070309020205020404" pitchFamily="49"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1FE4534E-3977-0F6B-7C40-92FA01911CF1}"/>
              </a:ext>
            </a:extLst>
          </p:cNvPr>
          <p:cNvSpPr>
            <a:spLocks noGrp="1" noChangeArrowheads="1"/>
          </p:cNvSpPr>
          <p:nvPr>
            <p:ph type="title"/>
          </p:nvPr>
        </p:nvSpPr>
        <p:spPr/>
        <p:txBody>
          <a:bodyPr/>
          <a:lstStyle/>
          <a:p>
            <a:r>
              <a:rPr lang="en-AU" altLang="en-IT"/>
              <a:t>Subset Function</a:t>
            </a:r>
          </a:p>
        </p:txBody>
      </p:sp>
      <p:sp>
        <p:nvSpPr>
          <p:cNvPr id="30723" name="Rectangle 3">
            <a:extLst>
              <a:ext uri="{FF2B5EF4-FFF2-40B4-BE49-F238E27FC236}">
                <a16:creationId xmlns:a16="http://schemas.microsoft.com/office/drawing/2014/main" id="{A13A0F0F-BEFB-7F57-CA60-52F1F5C715CB}"/>
              </a:ext>
            </a:extLst>
          </p:cNvPr>
          <p:cNvSpPr>
            <a:spLocks noGrp="1" noChangeArrowheads="1"/>
          </p:cNvSpPr>
          <p:nvPr>
            <p:ph type="body" idx="1"/>
          </p:nvPr>
        </p:nvSpPr>
        <p:spPr/>
        <p:txBody>
          <a:bodyPr/>
          <a:lstStyle/>
          <a:p>
            <a:pPr>
              <a:buFont typeface="Monotype Sorts" pitchFamily="2" charset="2"/>
              <a:buNone/>
            </a:pPr>
            <a:r>
              <a:rPr lang="en-AU" altLang="en-IT">
                <a:solidFill>
                  <a:srgbClr val="800000"/>
                </a:solidFill>
              </a:rPr>
              <a:t>Subset (</a:t>
            </a:r>
            <a:r>
              <a:rPr lang="en-AU" altLang="en-IT" i="1">
                <a:solidFill>
                  <a:srgbClr val="800000"/>
                </a:solidFill>
              </a:rPr>
              <a:t>C</a:t>
            </a:r>
            <a:r>
              <a:rPr lang="en-AU" altLang="en-IT" baseline="-25000">
                <a:solidFill>
                  <a:srgbClr val="800000"/>
                </a:solidFill>
              </a:rPr>
              <a:t>k</a:t>
            </a:r>
            <a:r>
              <a:rPr lang="en-AU" altLang="en-IT">
                <a:solidFill>
                  <a:srgbClr val="800000"/>
                </a:solidFill>
              </a:rPr>
              <a:t>, </a:t>
            </a:r>
            <a:r>
              <a:rPr lang="en-AU" altLang="en-IT" i="1">
                <a:solidFill>
                  <a:srgbClr val="800000"/>
                </a:solidFill>
              </a:rPr>
              <a:t>t</a:t>
            </a:r>
            <a:r>
              <a:rPr lang="en-AU" altLang="en-IT">
                <a:solidFill>
                  <a:srgbClr val="800000"/>
                </a:solidFill>
              </a:rPr>
              <a:t>):</a:t>
            </a:r>
            <a:r>
              <a:rPr lang="en-AU" altLang="en-IT"/>
              <a:t> candidate itemsets contained in </a:t>
            </a:r>
            <a:r>
              <a:rPr lang="en-AU" altLang="en-IT" i="1"/>
              <a:t>t</a:t>
            </a:r>
          </a:p>
          <a:p>
            <a:r>
              <a:rPr lang="en-AU" altLang="en-IT"/>
              <a:t>Candidate itemsets in</a:t>
            </a:r>
            <a:r>
              <a:rPr lang="en-AU" altLang="en-IT" i="1"/>
              <a:t> C</a:t>
            </a:r>
            <a:r>
              <a:rPr lang="en-AU" altLang="en-IT" baseline="-25000"/>
              <a:t>k</a:t>
            </a:r>
            <a:r>
              <a:rPr lang="en-AU" altLang="en-IT"/>
              <a:t> are stored in a</a:t>
            </a:r>
            <a:r>
              <a:rPr lang="en-AU" altLang="en-IT" i="1"/>
              <a:t> </a:t>
            </a:r>
            <a:r>
              <a:rPr lang="en-AU" altLang="en-IT" i="1">
                <a:solidFill>
                  <a:srgbClr val="000099"/>
                </a:solidFill>
              </a:rPr>
              <a:t>hash-tree</a:t>
            </a:r>
          </a:p>
          <a:p>
            <a:r>
              <a:rPr lang="en-AU" altLang="en-IT">
                <a:solidFill>
                  <a:srgbClr val="800000"/>
                </a:solidFill>
              </a:rPr>
              <a:t>Leaf node:</a:t>
            </a:r>
            <a:r>
              <a:rPr lang="en-AU" altLang="en-IT"/>
              <a:t> contains a list of itemsets</a:t>
            </a:r>
          </a:p>
          <a:p>
            <a:r>
              <a:rPr lang="en-AU" altLang="en-IT">
                <a:solidFill>
                  <a:srgbClr val="800000"/>
                </a:solidFill>
              </a:rPr>
              <a:t>Interior node</a:t>
            </a:r>
            <a:r>
              <a:rPr lang="en-AU" altLang="en-IT"/>
              <a:t>: contains a hash table</a:t>
            </a:r>
          </a:p>
          <a:p>
            <a:pPr lvl="1"/>
            <a:r>
              <a:rPr lang="en-AU" altLang="en-IT"/>
              <a:t>Each bucket points to another node</a:t>
            </a:r>
          </a:p>
          <a:p>
            <a:pPr lvl="1"/>
            <a:r>
              <a:rPr lang="en-AU" altLang="en-IT"/>
              <a:t>Depth of root = 1</a:t>
            </a:r>
          </a:p>
          <a:p>
            <a:pPr lvl="1"/>
            <a:r>
              <a:rPr lang="en-AU" altLang="en-IT"/>
              <a:t>Buckets of a node at depth </a:t>
            </a:r>
            <a:r>
              <a:rPr lang="en-AU" altLang="en-IT" i="1"/>
              <a:t>d</a:t>
            </a:r>
            <a:r>
              <a:rPr lang="en-AU" altLang="en-IT"/>
              <a:t> points to nodes at depth </a:t>
            </a:r>
            <a:r>
              <a:rPr lang="en-AU" altLang="en-IT" i="1"/>
              <a:t>d</a:t>
            </a:r>
            <a:r>
              <a:rPr lang="en-AU" altLang="en-IT"/>
              <a:t>+1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E97A698-56FE-372E-67AE-748C5A7F00CA}"/>
              </a:ext>
            </a:extLst>
          </p:cNvPr>
          <p:cNvSpPr>
            <a:spLocks noGrp="1" noChangeArrowheads="1"/>
          </p:cNvSpPr>
          <p:nvPr>
            <p:ph type="title"/>
          </p:nvPr>
        </p:nvSpPr>
        <p:spPr/>
        <p:txBody>
          <a:bodyPr/>
          <a:lstStyle/>
          <a:p>
            <a:r>
              <a:rPr lang="en-AU" altLang="en-IT"/>
              <a:t>Subset Function (cont.)</a:t>
            </a:r>
          </a:p>
        </p:txBody>
      </p:sp>
      <p:sp>
        <p:nvSpPr>
          <p:cNvPr id="32771" name="Rectangle 3">
            <a:extLst>
              <a:ext uri="{FF2B5EF4-FFF2-40B4-BE49-F238E27FC236}">
                <a16:creationId xmlns:a16="http://schemas.microsoft.com/office/drawing/2014/main" id="{E4B025B1-8CFD-2A2A-14F8-308B4092A6CD}"/>
              </a:ext>
            </a:extLst>
          </p:cNvPr>
          <p:cNvSpPr>
            <a:spLocks noGrp="1" noChangeArrowheads="1"/>
          </p:cNvSpPr>
          <p:nvPr>
            <p:ph type="body" idx="1"/>
          </p:nvPr>
        </p:nvSpPr>
        <p:spPr>
          <a:xfrm>
            <a:off x="2286000" y="1752600"/>
            <a:ext cx="7924800" cy="4724400"/>
          </a:xfrm>
        </p:spPr>
        <p:txBody>
          <a:bodyPr/>
          <a:lstStyle/>
          <a:p>
            <a:pPr>
              <a:buFont typeface="Monotype Sorts" pitchFamily="2" charset="2"/>
              <a:buNone/>
            </a:pPr>
            <a:r>
              <a:rPr lang="en-AU" altLang="en-IT">
                <a:solidFill>
                  <a:srgbClr val="000099"/>
                </a:solidFill>
              </a:rPr>
              <a:t>Construction of hash-tree for </a:t>
            </a:r>
            <a:r>
              <a:rPr lang="en-AU" altLang="en-IT" i="1">
                <a:solidFill>
                  <a:srgbClr val="000099"/>
                </a:solidFill>
              </a:rPr>
              <a:t>C</a:t>
            </a:r>
            <a:r>
              <a:rPr lang="en-AU" altLang="en-IT" baseline="-25000">
                <a:solidFill>
                  <a:srgbClr val="000099"/>
                </a:solidFill>
              </a:rPr>
              <a:t>k</a:t>
            </a:r>
            <a:endParaRPr lang="en-AU" altLang="en-IT"/>
          </a:p>
          <a:p>
            <a:r>
              <a:rPr lang="en-AU" altLang="en-IT"/>
              <a:t>To add itemset </a:t>
            </a:r>
            <a:r>
              <a:rPr lang="en-AU" altLang="en-IT" i="1">
                <a:solidFill>
                  <a:srgbClr val="000099"/>
                </a:solidFill>
              </a:rPr>
              <a:t>c</a:t>
            </a:r>
            <a:r>
              <a:rPr lang="en-AU" altLang="en-IT"/>
              <a:t>:</a:t>
            </a:r>
          </a:p>
          <a:p>
            <a:pPr lvl="1"/>
            <a:r>
              <a:rPr lang="en-AU" altLang="en-IT"/>
              <a:t>start from the root</a:t>
            </a:r>
          </a:p>
          <a:p>
            <a:pPr lvl="1"/>
            <a:r>
              <a:rPr lang="en-AU" altLang="en-IT"/>
              <a:t>go down until reaching a leaf node</a:t>
            </a:r>
          </a:p>
          <a:p>
            <a:pPr lvl="1"/>
            <a:r>
              <a:rPr lang="en-AU" altLang="en-IT"/>
              <a:t>At interior node at depth </a:t>
            </a:r>
            <a:r>
              <a:rPr lang="en-AU" altLang="en-IT" i="1"/>
              <a:t>d</a:t>
            </a:r>
            <a:r>
              <a:rPr lang="en-AU" altLang="en-IT"/>
              <a:t>, to choose the branch to follow, apply a hash function to the </a:t>
            </a:r>
            <a:r>
              <a:rPr lang="en-AU" altLang="en-IT" i="1"/>
              <a:t>d</a:t>
            </a:r>
            <a:r>
              <a:rPr lang="en-AU" altLang="en-IT"/>
              <a:t> th item of </a:t>
            </a:r>
            <a:r>
              <a:rPr lang="en-AU" altLang="en-IT" i="1">
                <a:solidFill>
                  <a:srgbClr val="000099"/>
                </a:solidFill>
              </a:rPr>
              <a:t>c</a:t>
            </a:r>
          </a:p>
          <a:p>
            <a:r>
              <a:rPr lang="en-AU" altLang="en-IT"/>
              <a:t>All nodes are initially created as leaves</a:t>
            </a:r>
          </a:p>
          <a:p>
            <a:r>
              <a:rPr lang="en-AU" altLang="en-IT"/>
              <a:t>A leaf is converted into internal when the number of nodes exceeds a threshold. </a:t>
            </a:r>
            <a:endParaRPr lang="en-AU" altLang="en-IT" i="1">
              <a:solidFill>
                <a:srgbClr val="000099"/>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9528F20-8D1A-6511-886D-C1D121ED2574}"/>
              </a:ext>
            </a:extLst>
          </p:cNvPr>
          <p:cNvSpPr>
            <a:spLocks noGrp="1" noChangeArrowheads="1"/>
          </p:cNvSpPr>
          <p:nvPr>
            <p:ph type="title"/>
          </p:nvPr>
        </p:nvSpPr>
        <p:spPr/>
        <p:txBody>
          <a:bodyPr/>
          <a:lstStyle/>
          <a:p>
            <a:r>
              <a:rPr lang="en-AU" altLang="en-IT"/>
              <a:t>Subset Function (cont.)</a:t>
            </a:r>
          </a:p>
        </p:txBody>
      </p:sp>
      <p:sp>
        <p:nvSpPr>
          <p:cNvPr id="34819" name="Rectangle 3">
            <a:extLst>
              <a:ext uri="{FF2B5EF4-FFF2-40B4-BE49-F238E27FC236}">
                <a16:creationId xmlns:a16="http://schemas.microsoft.com/office/drawing/2014/main" id="{45002733-0914-D908-C051-309CA94CDE81}"/>
              </a:ext>
            </a:extLst>
          </p:cNvPr>
          <p:cNvSpPr>
            <a:spLocks noGrp="1" noChangeArrowheads="1"/>
          </p:cNvSpPr>
          <p:nvPr>
            <p:ph type="body" idx="1"/>
          </p:nvPr>
        </p:nvSpPr>
        <p:spPr/>
        <p:txBody>
          <a:bodyPr/>
          <a:lstStyle/>
          <a:p>
            <a:r>
              <a:rPr lang="en-AU" altLang="en-IT"/>
              <a:t>After constructing the hash-tree for </a:t>
            </a:r>
            <a:r>
              <a:rPr lang="en-AU" altLang="en-IT" i="1">
                <a:solidFill>
                  <a:srgbClr val="000099"/>
                </a:solidFill>
              </a:rPr>
              <a:t>C</a:t>
            </a:r>
            <a:r>
              <a:rPr lang="en-AU" altLang="en-IT" baseline="-25000">
                <a:solidFill>
                  <a:srgbClr val="000099"/>
                </a:solidFill>
              </a:rPr>
              <a:t>k</a:t>
            </a:r>
            <a:r>
              <a:rPr lang="en-AU" altLang="en-IT"/>
              <a:t>, subset function finds candidates contained in </a:t>
            </a:r>
            <a:r>
              <a:rPr lang="en-AU" altLang="en-IT" i="1">
                <a:solidFill>
                  <a:srgbClr val="000099"/>
                </a:solidFill>
              </a:rPr>
              <a:t>t</a:t>
            </a:r>
            <a:r>
              <a:rPr lang="en-AU" altLang="en-IT"/>
              <a:t> as follows:</a:t>
            </a:r>
          </a:p>
          <a:p>
            <a:pPr lvl="1"/>
            <a:r>
              <a:rPr lang="en-AU" altLang="en-IT"/>
              <a:t>At a leaf, find itemsets contained in </a:t>
            </a:r>
            <a:r>
              <a:rPr lang="en-AU" altLang="en-IT" i="1">
                <a:solidFill>
                  <a:srgbClr val="000099"/>
                </a:solidFill>
              </a:rPr>
              <a:t>t</a:t>
            </a:r>
            <a:endParaRPr lang="en-AU" altLang="en-IT"/>
          </a:p>
          <a:p>
            <a:pPr lvl="1"/>
            <a:r>
              <a:rPr lang="en-AU" altLang="en-IT"/>
              <a:t>At an interior node reached by hashing on item </a:t>
            </a:r>
            <a:r>
              <a:rPr lang="en-AU" altLang="en-IT" i="1">
                <a:solidFill>
                  <a:srgbClr val="000099"/>
                </a:solidFill>
              </a:rPr>
              <a:t>i</a:t>
            </a:r>
            <a:r>
              <a:rPr lang="en-AU" altLang="en-IT"/>
              <a:t>, hash on each item that comes after </a:t>
            </a:r>
            <a:r>
              <a:rPr lang="en-AU" altLang="en-IT" i="1">
                <a:solidFill>
                  <a:srgbClr val="000099"/>
                </a:solidFill>
              </a:rPr>
              <a:t>i</a:t>
            </a:r>
            <a:r>
              <a:rPr lang="en-AU" altLang="en-IT"/>
              <a:t> in </a:t>
            </a:r>
            <a:r>
              <a:rPr lang="en-AU" altLang="en-IT" i="1">
                <a:solidFill>
                  <a:srgbClr val="000099"/>
                </a:solidFill>
              </a:rPr>
              <a:t>t</a:t>
            </a:r>
            <a:r>
              <a:rPr lang="en-AU" altLang="en-IT"/>
              <a:t>, recursively apply to the nodes in the corresponding bucket</a:t>
            </a:r>
          </a:p>
          <a:p>
            <a:pPr lvl="1"/>
            <a:r>
              <a:rPr lang="en-AU" altLang="en-IT"/>
              <a:t>At root, hash on every item in </a:t>
            </a:r>
            <a:r>
              <a:rPr lang="en-AU" altLang="en-IT" i="1">
                <a:solidFill>
                  <a:srgbClr val="000099"/>
                </a:solidFill>
              </a:rPr>
              <a:t>t</a:t>
            </a:r>
            <a:r>
              <a:rPr lang="en-AU" altLang="en-IT"/>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A2B1621-8BC6-66F8-DC99-97887DCFD551}"/>
              </a:ext>
            </a:extLst>
          </p:cNvPr>
          <p:cNvSpPr>
            <a:spLocks noGrp="1" noChangeArrowheads="1"/>
          </p:cNvSpPr>
          <p:nvPr>
            <p:ph type="title"/>
          </p:nvPr>
        </p:nvSpPr>
        <p:spPr/>
        <p:txBody>
          <a:bodyPr/>
          <a:lstStyle/>
          <a:p>
            <a:r>
              <a:rPr lang="en-AU" altLang="en-IT"/>
              <a:t>AprioriTid Algorithm</a:t>
            </a:r>
          </a:p>
        </p:txBody>
      </p:sp>
      <p:sp>
        <p:nvSpPr>
          <p:cNvPr id="36867" name="Rectangle 3">
            <a:extLst>
              <a:ext uri="{FF2B5EF4-FFF2-40B4-BE49-F238E27FC236}">
                <a16:creationId xmlns:a16="http://schemas.microsoft.com/office/drawing/2014/main" id="{D8F8F01E-D548-EABD-FAE8-E3AFF8E44B76}"/>
              </a:ext>
            </a:extLst>
          </p:cNvPr>
          <p:cNvSpPr>
            <a:spLocks noGrp="1" noChangeArrowheads="1"/>
          </p:cNvSpPr>
          <p:nvPr>
            <p:ph type="body" idx="1"/>
          </p:nvPr>
        </p:nvSpPr>
        <p:spPr>
          <a:xfrm>
            <a:off x="2209800" y="1981200"/>
            <a:ext cx="8153400" cy="4343400"/>
          </a:xfrm>
        </p:spPr>
        <p:txBody>
          <a:bodyPr/>
          <a:lstStyle/>
          <a:p>
            <a:r>
              <a:rPr lang="en-AU" altLang="en-IT"/>
              <a:t>Uses apriori-gen to generate candidates</a:t>
            </a:r>
          </a:p>
          <a:p>
            <a:r>
              <a:rPr lang="en-AU" altLang="en-IT"/>
              <a:t>Database </a:t>
            </a:r>
            <a:r>
              <a:rPr lang="en-GB" altLang="en-IT" i="1">
                <a:latin typeface="Lucida Console" panose="020B0609040504020204" pitchFamily="49" charset="0"/>
              </a:rPr>
              <a:t>D</a:t>
            </a:r>
            <a:r>
              <a:rPr lang="en-AU" altLang="en-IT"/>
              <a:t> is not used for counting support after the first pass</a:t>
            </a:r>
          </a:p>
          <a:p>
            <a:r>
              <a:rPr lang="en-AU" altLang="en-IT"/>
              <a:t>The set </a:t>
            </a:r>
            <a:r>
              <a:rPr lang="en-AU" altLang="en-IT" i="1" u="sng">
                <a:solidFill>
                  <a:srgbClr val="000099"/>
                </a:solidFill>
              </a:rPr>
              <a:t>C</a:t>
            </a:r>
            <a:r>
              <a:rPr lang="en-AU" altLang="en-IT" baseline="-25000">
                <a:solidFill>
                  <a:srgbClr val="000099"/>
                </a:solidFill>
              </a:rPr>
              <a:t>k</a:t>
            </a:r>
            <a:r>
              <a:rPr lang="en-AU" altLang="en-IT"/>
              <a:t> is used, for this purpose</a:t>
            </a:r>
          </a:p>
          <a:p>
            <a:r>
              <a:rPr lang="en-AU" altLang="en-IT"/>
              <a:t>Elements of </a:t>
            </a:r>
            <a:r>
              <a:rPr lang="en-AU" altLang="en-IT" i="1" u="sng">
                <a:solidFill>
                  <a:srgbClr val="000099"/>
                </a:solidFill>
              </a:rPr>
              <a:t>C</a:t>
            </a:r>
            <a:r>
              <a:rPr lang="en-AU" altLang="en-IT" baseline="-25000">
                <a:solidFill>
                  <a:srgbClr val="000099"/>
                </a:solidFill>
              </a:rPr>
              <a:t>k</a:t>
            </a:r>
            <a:r>
              <a:rPr lang="en-AU" altLang="en-IT"/>
              <a:t> are in the form &lt;</a:t>
            </a:r>
            <a:r>
              <a:rPr lang="en-AU" altLang="en-IT" i="1"/>
              <a:t>TID</a:t>
            </a:r>
            <a:r>
              <a:rPr lang="en-AU" altLang="en-IT"/>
              <a:t>, {</a:t>
            </a:r>
            <a:r>
              <a:rPr lang="en-AU" altLang="en-IT" i="1">
                <a:solidFill>
                  <a:srgbClr val="000099"/>
                </a:solidFill>
              </a:rPr>
              <a:t>X</a:t>
            </a:r>
            <a:r>
              <a:rPr lang="en-AU" altLang="en-IT" baseline="-25000">
                <a:solidFill>
                  <a:srgbClr val="000099"/>
                </a:solidFill>
              </a:rPr>
              <a:t>k</a:t>
            </a:r>
            <a:r>
              <a:rPr lang="en-AU" altLang="en-IT"/>
              <a:t>}&gt; where each </a:t>
            </a:r>
            <a:r>
              <a:rPr lang="en-AU" altLang="en-IT" i="1">
                <a:solidFill>
                  <a:srgbClr val="000099"/>
                </a:solidFill>
              </a:rPr>
              <a:t>X</a:t>
            </a:r>
            <a:r>
              <a:rPr lang="en-AU" altLang="en-IT" baseline="-25000">
                <a:solidFill>
                  <a:srgbClr val="000099"/>
                </a:solidFill>
              </a:rPr>
              <a:t>k</a:t>
            </a:r>
            <a:r>
              <a:rPr lang="en-AU" altLang="en-IT"/>
              <a:t> is a potentially large </a:t>
            </a:r>
            <a:r>
              <a:rPr lang="en-AU" altLang="en-IT" i="1"/>
              <a:t>k</a:t>
            </a:r>
            <a:r>
              <a:rPr lang="en-AU" altLang="en-IT"/>
              <a:t>-itemset present in the transaction with identifier </a:t>
            </a:r>
            <a:r>
              <a:rPr lang="en-AU" altLang="en-IT" i="1"/>
              <a:t>TID</a:t>
            </a:r>
            <a:r>
              <a:rPr lang="en-AU" altLang="en-IT"/>
              <a:t>.</a:t>
            </a:r>
          </a:p>
          <a:p>
            <a:r>
              <a:rPr lang="en-AU" altLang="en-IT"/>
              <a:t>The member of </a:t>
            </a:r>
            <a:r>
              <a:rPr lang="en-AU" altLang="en-IT" i="1" u="sng">
                <a:solidFill>
                  <a:srgbClr val="000099"/>
                </a:solidFill>
              </a:rPr>
              <a:t>C</a:t>
            </a:r>
            <a:r>
              <a:rPr lang="en-AU" altLang="en-IT" baseline="-25000">
                <a:solidFill>
                  <a:srgbClr val="000099"/>
                </a:solidFill>
              </a:rPr>
              <a:t>k</a:t>
            </a:r>
            <a:r>
              <a:rPr lang="en-AU" altLang="en-IT"/>
              <a:t> corresponding to transaction </a:t>
            </a:r>
            <a:r>
              <a:rPr lang="en-AU" altLang="en-IT" i="1">
                <a:solidFill>
                  <a:srgbClr val="000099"/>
                </a:solidFill>
              </a:rPr>
              <a:t>t</a:t>
            </a:r>
            <a:r>
              <a:rPr lang="en-AU" altLang="en-IT"/>
              <a:t> is </a:t>
            </a:r>
            <a:br>
              <a:rPr lang="en-AU" altLang="en-IT"/>
            </a:br>
            <a:r>
              <a:rPr lang="en-AU" altLang="en-IT"/>
              <a:t>	&lt;</a:t>
            </a:r>
            <a:r>
              <a:rPr lang="en-AU" altLang="en-IT" i="1">
                <a:solidFill>
                  <a:srgbClr val="000099"/>
                </a:solidFill>
              </a:rPr>
              <a:t>t.TID</a:t>
            </a:r>
            <a:r>
              <a:rPr lang="en-AU" altLang="en-IT"/>
              <a:t>, {</a:t>
            </a:r>
            <a:r>
              <a:rPr lang="en-AU" altLang="en-IT" i="1">
                <a:solidFill>
                  <a:srgbClr val="000099"/>
                </a:solidFill>
              </a:rPr>
              <a:t>c</a:t>
            </a:r>
            <a:r>
              <a:rPr lang="en-AU" altLang="en-IT"/>
              <a:t> </a:t>
            </a:r>
            <a:r>
              <a:rPr lang="en-AU" altLang="en-IT">
                <a:sym typeface="Symbol" pitchFamily="2" charset="2"/>
              </a:rPr>
              <a:t></a:t>
            </a:r>
            <a:r>
              <a:rPr lang="en-AU" altLang="en-IT"/>
              <a:t> </a:t>
            </a:r>
            <a:r>
              <a:rPr lang="en-AU" altLang="en-IT" i="1" u="sng">
                <a:solidFill>
                  <a:srgbClr val="000099"/>
                </a:solidFill>
              </a:rPr>
              <a:t>C</a:t>
            </a:r>
            <a:r>
              <a:rPr lang="en-AU" altLang="en-IT" baseline="-25000">
                <a:solidFill>
                  <a:srgbClr val="000099"/>
                </a:solidFill>
              </a:rPr>
              <a:t>k</a:t>
            </a:r>
            <a:r>
              <a:rPr lang="en-AU" altLang="en-IT">
                <a:solidFill>
                  <a:srgbClr val="000099"/>
                </a:solidFill>
              </a:rPr>
              <a:t> </a:t>
            </a:r>
            <a:r>
              <a:rPr lang="en-AU" altLang="en-IT"/>
              <a:t>|</a:t>
            </a:r>
            <a:r>
              <a:rPr lang="en-AU" altLang="en-IT">
                <a:solidFill>
                  <a:srgbClr val="000099"/>
                </a:solidFill>
              </a:rPr>
              <a:t> </a:t>
            </a:r>
            <a:r>
              <a:rPr lang="en-AU" altLang="en-IT" i="1">
                <a:solidFill>
                  <a:srgbClr val="000099"/>
                </a:solidFill>
              </a:rPr>
              <a:t>c</a:t>
            </a:r>
            <a:r>
              <a:rPr lang="en-AU" altLang="en-IT">
                <a:solidFill>
                  <a:srgbClr val="000099"/>
                </a:solidFill>
              </a:rPr>
              <a:t> </a:t>
            </a:r>
            <a:r>
              <a:rPr lang="en-AU" altLang="en-IT"/>
              <a:t>contained in</a:t>
            </a:r>
            <a:r>
              <a:rPr lang="en-AU" altLang="en-IT">
                <a:solidFill>
                  <a:srgbClr val="000099"/>
                </a:solidFill>
              </a:rPr>
              <a:t> </a:t>
            </a:r>
            <a:r>
              <a:rPr lang="en-AU" altLang="en-IT" i="1">
                <a:solidFill>
                  <a:srgbClr val="000099"/>
                </a:solidFill>
              </a:rPr>
              <a:t>t</a:t>
            </a:r>
            <a:r>
              <a:rPr lang="en-AU" altLang="en-IT"/>
              <a:t>}&gt;</a:t>
            </a:r>
            <a:endParaRPr lang="en-AU" altLang="en-IT" baseline="-25000">
              <a:solidFill>
                <a:srgbClr val="000099"/>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007BB1A-046B-C4EC-58B4-929C001E35BC}"/>
              </a:ext>
            </a:extLst>
          </p:cNvPr>
          <p:cNvSpPr>
            <a:spLocks noGrp="1" noChangeArrowheads="1"/>
          </p:cNvSpPr>
          <p:nvPr>
            <p:ph type="title"/>
          </p:nvPr>
        </p:nvSpPr>
        <p:spPr/>
        <p:txBody>
          <a:bodyPr/>
          <a:lstStyle/>
          <a:p>
            <a:r>
              <a:rPr lang="en-AU" altLang="en-IT"/>
              <a:t>AprioriTid Algorithm (cont.)</a:t>
            </a:r>
          </a:p>
        </p:txBody>
      </p:sp>
      <p:sp>
        <p:nvSpPr>
          <p:cNvPr id="38915" name="Rectangle 3">
            <a:extLst>
              <a:ext uri="{FF2B5EF4-FFF2-40B4-BE49-F238E27FC236}">
                <a16:creationId xmlns:a16="http://schemas.microsoft.com/office/drawing/2014/main" id="{85B6657F-D266-39F2-CF57-CDAD7C2A09E9}"/>
              </a:ext>
            </a:extLst>
          </p:cNvPr>
          <p:cNvSpPr>
            <a:spLocks noGrp="1" noChangeArrowheads="1"/>
          </p:cNvSpPr>
          <p:nvPr>
            <p:ph type="body" idx="1"/>
          </p:nvPr>
        </p:nvSpPr>
        <p:spPr>
          <a:xfrm>
            <a:off x="1752600" y="1524000"/>
            <a:ext cx="8686800" cy="5105400"/>
          </a:xfrm>
        </p:spPr>
        <p:txBody>
          <a:bodyPr>
            <a:normAutofit lnSpcReduction="10000"/>
          </a:bodyPr>
          <a:lstStyle/>
          <a:p>
            <a:pPr>
              <a:spcBef>
                <a:spcPct val="0"/>
              </a:spcBef>
              <a:buFont typeface="Monotype Sorts" pitchFamily="2" charset="2"/>
              <a:buNone/>
            </a:pPr>
            <a:r>
              <a:rPr lang="en-GB" altLang="en-IT" i="1"/>
              <a:t>L</a:t>
            </a:r>
            <a:r>
              <a:rPr lang="en-GB" altLang="en-IT" baseline="-25000"/>
              <a:t>1</a:t>
            </a:r>
            <a:r>
              <a:rPr lang="en-GB" altLang="en-IT"/>
              <a:t> = { large 1-itemsets }</a:t>
            </a:r>
            <a:endParaRPr lang="en-GB" altLang="en-IT" sz="2400">
              <a:solidFill>
                <a:srgbClr val="660033"/>
              </a:solidFill>
            </a:endParaRPr>
          </a:p>
          <a:p>
            <a:pPr>
              <a:spcBef>
                <a:spcPct val="0"/>
              </a:spcBef>
              <a:buFont typeface="Monotype Sorts" pitchFamily="2" charset="2"/>
              <a:buNone/>
            </a:pPr>
            <a:r>
              <a:rPr lang="en-GB" altLang="en-IT"/>
              <a:t>for (</a:t>
            </a:r>
            <a:r>
              <a:rPr lang="en-GB" altLang="en-IT" i="1"/>
              <a:t>k</a:t>
            </a:r>
            <a:r>
              <a:rPr lang="en-GB" altLang="en-IT"/>
              <a:t>=2; </a:t>
            </a:r>
            <a:r>
              <a:rPr lang="en-GB" altLang="en-IT" i="1"/>
              <a:t>L</a:t>
            </a:r>
            <a:r>
              <a:rPr lang="en-GB" altLang="en-IT" baseline="-25000"/>
              <a:t>k-1</a:t>
            </a:r>
            <a:r>
              <a:rPr lang="en-GB" altLang="en-IT">
                <a:sym typeface="Symbol" pitchFamily="2" charset="2"/>
              </a:rPr>
              <a:t></a:t>
            </a:r>
            <a:r>
              <a:rPr lang="en-GB" altLang="en-IT"/>
              <a:t>; </a:t>
            </a:r>
            <a:r>
              <a:rPr lang="en-GB" altLang="en-IT" i="1"/>
              <a:t>k</a:t>
            </a:r>
            <a:r>
              <a:rPr lang="en-GB" altLang="en-IT"/>
              <a:t>++) do begin</a:t>
            </a:r>
            <a:endParaRPr lang="en-GB" altLang="en-IT" sz="2400" b="1"/>
          </a:p>
          <a:p>
            <a:pPr>
              <a:spcBef>
                <a:spcPct val="0"/>
              </a:spcBef>
              <a:buFont typeface="Monotype Sorts" pitchFamily="2" charset="2"/>
              <a:buNone/>
            </a:pPr>
            <a:r>
              <a:rPr lang="en-GB" altLang="en-IT" sz="2400"/>
              <a:t>	</a:t>
            </a:r>
            <a:r>
              <a:rPr lang="en-GB" altLang="en-IT" i="1"/>
              <a:t>C</a:t>
            </a:r>
            <a:r>
              <a:rPr lang="en-GB" altLang="en-IT" baseline="-25000"/>
              <a:t>k</a:t>
            </a:r>
            <a:r>
              <a:rPr lang="en-GB" altLang="en-IT"/>
              <a:t> = apriori-gen(</a:t>
            </a:r>
            <a:r>
              <a:rPr lang="en-GB" altLang="en-IT" i="1"/>
              <a:t>L</a:t>
            </a:r>
            <a:r>
              <a:rPr lang="en-GB" altLang="en-IT" baseline="-25000"/>
              <a:t>k-1</a:t>
            </a:r>
            <a:r>
              <a:rPr lang="en-GB" altLang="en-IT"/>
              <a:t>); </a:t>
            </a:r>
            <a:r>
              <a:rPr lang="en-GB" altLang="en-IT">
                <a:solidFill>
                  <a:srgbClr val="009900"/>
                </a:solidFill>
              </a:rPr>
              <a:t>// New candidates</a:t>
            </a:r>
            <a:endParaRPr lang="en-GB" altLang="en-IT">
              <a:solidFill>
                <a:srgbClr val="006600"/>
              </a:solidFill>
            </a:endParaRPr>
          </a:p>
          <a:p>
            <a:pPr>
              <a:spcBef>
                <a:spcPct val="0"/>
              </a:spcBef>
              <a:buFont typeface="Monotype Sorts" pitchFamily="2" charset="2"/>
              <a:buNone/>
            </a:pPr>
            <a:r>
              <a:rPr lang="en-GB" altLang="en-IT">
                <a:solidFill>
                  <a:srgbClr val="006600"/>
                </a:solidFill>
              </a:rPr>
              <a:t>	 </a:t>
            </a:r>
            <a:r>
              <a:rPr lang="en-GB" altLang="en-IT" i="1" u="sng"/>
              <a:t>C</a:t>
            </a:r>
            <a:r>
              <a:rPr lang="en-GB" altLang="en-IT" baseline="-25000"/>
              <a:t>k </a:t>
            </a:r>
            <a:r>
              <a:rPr lang="en-GB" altLang="en-IT"/>
              <a:t>= </a:t>
            </a:r>
            <a:r>
              <a:rPr lang="en-GB" altLang="en-IT">
                <a:sym typeface="Symbol" pitchFamily="2" charset="2"/>
              </a:rPr>
              <a:t></a:t>
            </a:r>
            <a:endParaRPr lang="en-GB" altLang="en-IT"/>
          </a:p>
          <a:p>
            <a:pPr>
              <a:spcBef>
                <a:spcPct val="0"/>
              </a:spcBef>
              <a:buFont typeface="Monotype Sorts" pitchFamily="2" charset="2"/>
              <a:buNone/>
            </a:pPr>
            <a:r>
              <a:rPr lang="en-GB" altLang="en-IT"/>
              <a:t>	forall transactions </a:t>
            </a:r>
            <a:r>
              <a:rPr lang="en-GB" altLang="en-IT" i="1"/>
              <a:t>t </a:t>
            </a:r>
            <a:r>
              <a:rPr lang="en-GB" altLang="en-IT"/>
              <a:t> </a:t>
            </a:r>
            <a:r>
              <a:rPr lang="en-GB" altLang="en-IT">
                <a:sym typeface="Symbol" pitchFamily="2" charset="2"/>
              </a:rPr>
              <a:t></a:t>
            </a:r>
            <a:r>
              <a:rPr lang="en-GB" altLang="en-IT"/>
              <a:t> </a:t>
            </a:r>
            <a:r>
              <a:rPr lang="en-GB" altLang="en-IT" i="1" u="sng"/>
              <a:t>C</a:t>
            </a:r>
            <a:r>
              <a:rPr lang="en-GB" altLang="en-IT" baseline="-25000"/>
              <a:t>k</a:t>
            </a:r>
            <a:r>
              <a:rPr lang="en-GB" altLang="en-IT"/>
              <a:t> do begin</a:t>
            </a:r>
            <a:endParaRPr lang="en-GB" altLang="en-IT" sz="2400"/>
          </a:p>
          <a:p>
            <a:pPr>
              <a:spcBef>
                <a:spcPct val="0"/>
              </a:spcBef>
              <a:buFont typeface="Monotype Sorts" pitchFamily="2" charset="2"/>
              <a:buNone/>
            </a:pPr>
            <a:r>
              <a:rPr lang="en-GB" altLang="en-IT" sz="2400"/>
              <a:t>		</a:t>
            </a:r>
            <a:r>
              <a:rPr lang="en-GB" altLang="en-IT">
                <a:solidFill>
                  <a:srgbClr val="009900"/>
                </a:solidFill>
              </a:rPr>
              <a:t>// Determine candidates in </a:t>
            </a:r>
            <a:r>
              <a:rPr lang="en-GB" altLang="en-IT" i="1">
                <a:solidFill>
                  <a:srgbClr val="009900"/>
                </a:solidFill>
              </a:rPr>
              <a:t>C</a:t>
            </a:r>
            <a:r>
              <a:rPr lang="en-GB" altLang="en-IT" baseline="-25000">
                <a:solidFill>
                  <a:srgbClr val="009900"/>
                </a:solidFill>
              </a:rPr>
              <a:t>k</a:t>
            </a:r>
            <a:r>
              <a:rPr lang="en-GB" altLang="en-IT">
                <a:solidFill>
                  <a:srgbClr val="009900"/>
                </a:solidFill>
              </a:rPr>
              <a:t> contained in </a:t>
            </a:r>
            <a:r>
              <a:rPr lang="en-GB" altLang="en-IT" i="1">
                <a:solidFill>
                  <a:srgbClr val="009900"/>
                </a:solidFill>
              </a:rPr>
              <a:t>t</a:t>
            </a:r>
            <a:r>
              <a:rPr lang="en-GB" altLang="en-IT">
                <a:solidFill>
                  <a:srgbClr val="009900"/>
                </a:solidFill>
              </a:rPr>
              <a:t>.TID</a:t>
            </a:r>
            <a:endParaRPr lang="en-GB" altLang="en-IT" b="1">
              <a:solidFill>
                <a:srgbClr val="660033"/>
              </a:solidFill>
            </a:endParaRPr>
          </a:p>
          <a:p>
            <a:pPr>
              <a:spcBef>
                <a:spcPct val="0"/>
              </a:spcBef>
              <a:buFont typeface="Monotype Sorts" pitchFamily="2" charset="2"/>
              <a:buNone/>
            </a:pPr>
            <a:r>
              <a:rPr lang="en-GB" altLang="en-IT" b="1"/>
              <a:t>		</a:t>
            </a:r>
            <a:r>
              <a:rPr lang="en-GB" altLang="en-IT" i="1"/>
              <a:t>C’</a:t>
            </a:r>
            <a:r>
              <a:rPr lang="en-GB" altLang="en-IT" baseline="-25000"/>
              <a:t>t</a:t>
            </a:r>
            <a:r>
              <a:rPr lang="en-GB" altLang="en-IT"/>
              <a:t> = {</a:t>
            </a:r>
            <a:r>
              <a:rPr lang="en-GB" altLang="en-IT" i="1"/>
              <a:t>c</a:t>
            </a:r>
            <a:r>
              <a:rPr lang="en-GB" altLang="en-IT"/>
              <a:t> </a:t>
            </a:r>
            <a:r>
              <a:rPr lang="en-GB" altLang="en-IT">
                <a:sym typeface="Symbol" pitchFamily="2" charset="2"/>
              </a:rPr>
              <a:t></a:t>
            </a:r>
            <a:r>
              <a:rPr lang="en-GB" altLang="en-IT"/>
              <a:t> </a:t>
            </a:r>
            <a:r>
              <a:rPr lang="en-GB" altLang="en-IT" i="1"/>
              <a:t>C</a:t>
            </a:r>
            <a:r>
              <a:rPr lang="en-GB" altLang="en-IT" baseline="-25000"/>
              <a:t>k </a:t>
            </a:r>
            <a:r>
              <a:rPr lang="en-GB" altLang="en-IT"/>
              <a:t>| last two elements of </a:t>
            </a:r>
            <a:r>
              <a:rPr lang="en-GB" altLang="en-IT" i="1"/>
              <a:t>c</a:t>
            </a:r>
            <a:r>
              <a:rPr lang="en-GB" altLang="en-IT"/>
              <a:t> are in </a:t>
            </a:r>
            <a:r>
              <a:rPr lang="en-GB" altLang="en-IT" i="1"/>
              <a:t>t </a:t>
            </a:r>
            <a:r>
              <a:rPr lang="en-GB" altLang="en-IT"/>
              <a:t>}</a:t>
            </a:r>
            <a:endParaRPr lang="en-GB" altLang="en-IT" i="1"/>
          </a:p>
          <a:p>
            <a:pPr>
              <a:spcBef>
                <a:spcPct val="0"/>
              </a:spcBef>
              <a:buFont typeface="Monotype Sorts" pitchFamily="2" charset="2"/>
              <a:buNone/>
            </a:pPr>
            <a:r>
              <a:rPr lang="en-GB" altLang="en-IT"/>
              <a:t>		forall candidates </a:t>
            </a:r>
            <a:r>
              <a:rPr lang="en-GB" altLang="en-IT" i="1"/>
              <a:t>c</a:t>
            </a:r>
            <a:r>
              <a:rPr lang="en-GB" altLang="en-IT"/>
              <a:t> </a:t>
            </a:r>
            <a:r>
              <a:rPr lang="en-GB" altLang="en-IT">
                <a:sym typeface="Symbol" pitchFamily="2" charset="2"/>
              </a:rPr>
              <a:t></a:t>
            </a:r>
            <a:r>
              <a:rPr lang="en-GB" altLang="en-IT"/>
              <a:t> </a:t>
            </a:r>
            <a:r>
              <a:rPr lang="en-GB" altLang="en-IT" i="1"/>
              <a:t>C’</a:t>
            </a:r>
            <a:r>
              <a:rPr lang="en-GB" altLang="en-IT" baseline="-25000"/>
              <a:t>t</a:t>
            </a:r>
            <a:r>
              <a:rPr lang="en-GB" altLang="en-IT"/>
              <a:t> do </a:t>
            </a:r>
            <a:r>
              <a:rPr lang="en-GB" altLang="en-IT" i="1"/>
              <a:t>c</a:t>
            </a:r>
            <a:r>
              <a:rPr lang="en-GB" altLang="en-IT"/>
              <a:t>.count++</a:t>
            </a:r>
          </a:p>
          <a:p>
            <a:pPr>
              <a:spcBef>
                <a:spcPct val="0"/>
              </a:spcBef>
              <a:buFont typeface="Monotype Sorts" pitchFamily="2" charset="2"/>
              <a:buNone/>
            </a:pPr>
            <a:r>
              <a:rPr lang="en-GB" altLang="en-IT"/>
              <a:t>		if (</a:t>
            </a:r>
            <a:r>
              <a:rPr lang="en-GB" altLang="en-IT" i="1"/>
              <a:t>C</a:t>
            </a:r>
            <a:r>
              <a:rPr lang="en-GB" altLang="en-IT" baseline="-25000"/>
              <a:t>t</a:t>
            </a:r>
            <a:r>
              <a:rPr lang="en-GB" altLang="en-IT"/>
              <a:t> </a:t>
            </a:r>
            <a:r>
              <a:rPr lang="en-GB" altLang="en-IT">
                <a:sym typeface="Symbol" pitchFamily="2" charset="2"/>
              </a:rPr>
              <a:t>) then </a:t>
            </a:r>
            <a:r>
              <a:rPr lang="en-GB" altLang="en-IT" i="1" u="sng"/>
              <a:t>C</a:t>
            </a:r>
            <a:r>
              <a:rPr lang="en-GB" altLang="en-IT" baseline="-25000"/>
              <a:t>k </a:t>
            </a:r>
            <a:r>
              <a:rPr lang="en-GB" altLang="en-IT"/>
              <a:t>= += &lt;</a:t>
            </a:r>
            <a:r>
              <a:rPr lang="en-GB" altLang="en-IT" i="1"/>
              <a:t>t</a:t>
            </a:r>
            <a:r>
              <a:rPr lang="en-GB" altLang="en-IT"/>
              <a:t>.TID, </a:t>
            </a:r>
            <a:r>
              <a:rPr lang="en-GB" altLang="en-IT" i="1"/>
              <a:t>C’</a:t>
            </a:r>
            <a:r>
              <a:rPr lang="en-GB" altLang="en-IT" baseline="-25000"/>
              <a:t>t</a:t>
            </a:r>
            <a:r>
              <a:rPr lang="en-GB" altLang="en-IT"/>
              <a:t>&gt;</a:t>
            </a:r>
          </a:p>
          <a:p>
            <a:pPr>
              <a:spcBef>
                <a:spcPct val="0"/>
              </a:spcBef>
              <a:buFont typeface="Monotype Sorts" pitchFamily="2" charset="2"/>
              <a:buNone/>
            </a:pPr>
            <a:r>
              <a:rPr lang="en-GB" altLang="en-IT"/>
              <a:t>	end</a:t>
            </a:r>
            <a:endParaRPr lang="en-GB" altLang="en-IT" b="1"/>
          </a:p>
          <a:p>
            <a:pPr>
              <a:spcBef>
                <a:spcPct val="0"/>
              </a:spcBef>
              <a:buFont typeface="Monotype Sorts" pitchFamily="2" charset="2"/>
              <a:buNone/>
            </a:pPr>
            <a:r>
              <a:rPr lang="en-GB" altLang="en-IT"/>
              <a:t>	 </a:t>
            </a:r>
            <a:r>
              <a:rPr lang="en-GB" altLang="en-IT" i="1"/>
              <a:t>L</a:t>
            </a:r>
            <a:r>
              <a:rPr lang="en-GB" altLang="en-IT" baseline="-25000"/>
              <a:t>k</a:t>
            </a:r>
            <a:r>
              <a:rPr lang="en-GB" altLang="en-IT"/>
              <a:t> = {</a:t>
            </a:r>
            <a:r>
              <a:rPr lang="en-GB" altLang="en-IT" i="1"/>
              <a:t>c</a:t>
            </a:r>
            <a:r>
              <a:rPr lang="en-GB" altLang="en-IT"/>
              <a:t> </a:t>
            </a:r>
            <a:r>
              <a:rPr lang="en-GB" altLang="en-IT">
                <a:sym typeface="Symbol" pitchFamily="2" charset="2"/>
              </a:rPr>
              <a:t></a:t>
            </a:r>
            <a:r>
              <a:rPr lang="en-GB" altLang="en-IT"/>
              <a:t> </a:t>
            </a:r>
            <a:r>
              <a:rPr lang="en-GB" altLang="en-IT" i="1"/>
              <a:t>C’</a:t>
            </a:r>
            <a:r>
              <a:rPr lang="en-GB" altLang="en-IT" baseline="-25000"/>
              <a:t>t</a:t>
            </a:r>
            <a:r>
              <a:rPr lang="en-GB" altLang="en-IT"/>
              <a:t> | </a:t>
            </a:r>
            <a:r>
              <a:rPr lang="en-GB" altLang="en-IT" i="1"/>
              <a:t>c</a:t>
            </a:r>
            <a:r>
              <a:rPr lang="en-GB" altLang="en-IT"/>
              <a:t>.count </a:t>
            </a:r>
            <a:r>
              <a:rPr lang="en-GB" altLang="en-IT">
                <a:sym typeface="Symbol" pitchFamily="2" charset="2"/>
              </a:rPr>
              <a:t></a:t>
            </a:r>
            <a:r>
              <a:rPr lang="en-GB" altLang="en-IT"/>
              <a:t>  minsup}</a:t>
            </a:r>
          </a:p>
          <a:p>
            <a:pPr>
              <a:spcBef>
                <a:spcPct val="0"/>
              </a:spcBef>
              <a:buFont typeface="Monotype Sorts" pitchFamily="2" charset="2"/>
              <a:buNone/>
            </a:pPr>
            <a:r>
              <a:rPr lang="en-GB" altLang="en-IT"/>
              <a:t>end</a:t>
            </a:r>
          </a:p>
          <a:p>
            <a:pPr>
              <a:lnSpc>
                <a:spcPct val="70000"/>
              </a:lnSpc>
              <a:spcBef>
                <a:spcPct val="0"/>
              </a:spcBef>
              <a:buFont typeface="Monotype Sorts" pitchFamily="2" charset="2"/>
              <a:buNone/>
            </a:pPr>
            <a:r>
              <a:rPr lang="en-GB" altLang="en-IT"/>
              <a:t>Return</a:t>
            </a:r>
            <a:r>
              <a:rPr lang="en-GB" altLang="en-IT" b="1"/>
              <a:t> </a:t>
            </a:r>
            <a:r>
              <a:rPr lang="en-GB" altLang="en-IT" sz="4000">
                <a:sym typeface="Symbol" pitchFamily="2" charset="2"/>
              </a:rPr>
              <a:t></a:t>
            </a:r>
            <a:r>
              <a:rPr lang="en-GB" altLang="en-IT" baseline="-25000"/>
              <a:t>k </a:t>
            </a:r>
            <a:r>
              <a:rPr lang="en-GB" altLang="en-IT" i="1"/>
              <a:t>L</a:t>
            </a:r>
            <a:r>
              <a:rPr lang="en-GB" altLang="en-IT" baseline="-25000"/>
              <a:t>k</a:t>
            </a:r>
            <a:endParaRPr lang="en-AU" altLang="en-IT" baseline="-250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5FC927D-8A87-4303-0909-9D6C9AC41645}"/>
              </a:ext>
            </a:extLst>
          </p:cNvPr>
          <p:cNvSpPr>
            <a:spLocks noGrp="1" noChangeArrowheads="1"/>
          </p:cNvSpPr>
          <p:nvPr>
            <p:ph type="title"/>
          </p:nvPr>
        </p:nvSpPr>
        <p:spPr/>
        <p:txBody>
          <a:bodyPr/>
          <a:lstStyle/>
          <a:p>
            <a:r>
              <a:rPr lang="en-AU" altLang="en-IT"/>
              <a:t>Example</a:t>
            </a:r>
          </a:p>
        </p:txBody>
      </p:sp>
      <p:sp>
        <p:nvSpPr>
          <p:cNvPr id="40963" name="Rectangle 3">
            <a:extLst>
              <a:ext uri="{FF2B5EF4-FFF2-40B4-BE49-F238E27FC236}">
                <a16:creationId xmlns:a16="http://schemas.microsoft.com/office/drawing/2014/main" id="{7408C46A-4EE7-9980-6C91-215BA7BA8587}"/>
              </a:ext>
            </a:extLst>
          </p:cNvPr>
          <p:cNvSpPr>
            <a:spLocks noGrp="1" noChangeArrowheads="1"/>
          </p:cNvSpPr>
          <p:nvPr>
            <p:ph type="body" idx="1"/>
          </p:nvPr>
        </p:nvSpPr>
        <p:spPr>
          <a:xfrm>
            <a:off x="1905000" y="1905000"/>
            <a:ext cx="8458200" cy="4191000"/>
          </a:xfrm>
        </p:spPr>
        <p:txBody>
          <a:bodyPr/>
          <a:lstStyle/>
          <a:p>
            <a:pPr>
              <a:buFont typeface="Monotype Sorts" pitchFamily="2" charset="2"/>
              <a:buNone/>
            </a:pPr>
            <a:r>
              <a:rPr lang="en-AU" altLang="en-IT">
                <a:solidFill>
                  <a:srgbClr val="000099"/>
                </a:solidFill>
              </a:rPr>
              <a:t>minsup = 2 transactions, </a:t>
            </a:r>
            <a:r>
              <a:rPr lang="en-AU" altLang="en-IT" i="1">
                <a:solidFill>
                  <a:srgbClr val="000099"/>
                </a:solidFill>
              </a:rPr>
              <a:t>s</a:t>
            </a:r>
            <a:r>
              <a:rPr lang="en-AU" altLang="en-IT">
                <a:solidFill>
                  <a:srgbClr val="000099"/>
                </a:solidFill>
              </a:rPr>
              <a:t>=50</a:t>
            </a:r>
          </a:p>
          <a:p>
            <a:pPr>
              <a:spcBef>
                <a:spcPct val="0"/>
              </a:spcBef>
              <a:buFont typeface="Monotype Sorts" pitchFamily="2" charset="2"/>
              <a:buNone/>
            </a:pPr>
            <a:r>
              <a:rPr lang="en-AU" altLang="en-IT" sz="2000" b="1" i="1">
                <a:latin typeface="Courier New" panose="02070309020205020404" pitchFamily="49" charset="0"/>
              </a:rPr>
              <a:t>D</a:t>
            </a:r>
            <a:r>
              <a:rPr lang="en-AU" altLang="en-IT" sz="2000">
                <a:latin typeface="Courier New" panose="02070309020205020404" pitchFamily="49" charset="0"/>
              </a:rPr>
              <a:t>: </a:t>
            </a:r>
            <a:r>
              <a:rPr lang="en-AU" altLang="en-IT" sz="2000" b="1" u="sng">
                <a:latin typeface="Courier New" panose="02070309020205020404" pitchFamily="49" charset="0"/>
              </a:rPr>
              <a:t>TID</a:t>
            </a:r>
            <a:r>
              <a:rPr lang="en-AU" altLang="en-IT" sz="2000" b="1">
                <a:latin typeface="Courier New" panose="02070309020205020404" pitchFamily="49" charset="0"/>
              </a:rPr>
              <a:t> </a:t>
            </a:r>
            <a:r>
              <a:rPr lang="en-AU" altLang="en-IT" sz="2000" b="1" u="sng">
                <a:latin typeface="Courier New" panose="02070309020205020404" pitchFamily="49" charset="0"/>
              </a:rPr>
              <a:t>Items</a:t>
            </a:r>
            <a:r>
              <a:rPr lang="en-AU" altLang="en-IT" sz="2000" b="1">
                <a:latin typeface="Courier New" panose="02070309020205020404" pitchFamily="49" charset="0"/>
              </a:rPr>
              <a:t>  </a:t>
            </a:r>
            <a:r>
              <a:rPr lang="en-AU" altLang="en-IT" sz="2000" b="1" i="1">
                <a:latin typeface="Courier New" panose="02070309020205020404" pitchFamily="49" charset="0"/>
              </a:rPr>
              <a:t>L</a:t>
            </a:r>
            <a:r>
              <a:rPr lang="en-AU" altLang="en-IT" sz="2000" b="1" baseline="-25000">
                <a:latin typeface="Courier New" panose="02070309020205020404" pitchFamily="49" charset="0"/>
              </a:rPr>
              <a:t>1</a:t>
            </a:r>
            <a:r>
              <a:rPr lang="en-AU" altLang="en-IT" sz="2000" b="1">
                <a:latin typeface="Courier New" panose="02070309020205020404" pitchFamily="49" charset="0"/>
              </a:rPr>
              <a:t>: </a:t>
            </a:r>
            <a:r>
              <a:rPr lang="en-AU" altLang="en-IT" sz="2000" b="1" u="sng">
                <a:latin typeface="Courier New" panose="02070309020205020404" pitchFamily="49" charset="0"/>
              </a:rPr>
              <a:t>Itemset</a:t>
            </a:r>
            <a:r>
              <a:rPr lang="en-AU" altLang="en-IT" sz="2000" b="1">
                <a:latin typeface="Courier New" panose="02070309020205020404" pitchFamily="49" charset="0"/>
              </a:rPr>
              <a:t> </a:t>
            </a:r>
            <a:r>
              <a:rPr lang="en-AU" altLang="en-IT" sz="2000" b="1" u="sng">
                <a:latin typeface="Courier New" panose="02070309020205020404" pitchFamily="49" charset="0"/>
              </a:rPr>
              <a:t>Sup</a:t>
            </a:r>
            <a:r>
              <a:rPr lang="en-AU" altLang="en-IT" sz="2000" b="1">
                <a:latin typeface="Courier New" panose="02070309020205020404" pitchFamily="49" charset="0"/>
              </a:rPr>
              <a:t> </a:t>
            </a:r>
            <a:r>
              <a:rPr lang="en-AU" altLang="en-IT" sz="2000" b="1" i="1" u="sng">
                <a:latin typeface="Courier New" panose="02070309020205020404" pitchFamily="49" charset="0"/>
              </a:rPr>
              <a:t>C</a:t>
            </a:r>
            <a:r>
              <a:rPr lang="en-AU" altLang="en-IT" sz="2000" baseline="-25000">
                <a:latin typeface="Courier New" panose="02070309020205020404" pitchFamily="49" charset="0"/>
              </a:rPr>
              <a:t>1</a:t>
            </a:r>
            <a:r>
              <a:rPr lang="en-AU" altLang="en-IT" sz="2000">
                <a:latin typeface="Courier New" panose="02070309020205020404" pitchFamily="49" charset="0"/>
              </a:rPr>
              <a:t>: </a:t>
            </a:r>
            <a:r>
              <a:rPr lang="en-AU" altLang="en-IT" sz="2000" b="1" u="sng">
                <a:latin typeface="Courier New" panose="02070309020205020404" pitchFamily="49" charset="0"/>
              </a:rPr>
              <a:t>TID</a:t>
            </a:r>
            <a:r>
              <a:rPr lang="en-AU" altLang="en-IT" sz="2000">
                <a:latin typeface="Courier New" panose="02070309020205020404" pitchFamily="49" charset="0"/>
              </a:rPr>
              <a:t> </a:t>
            </a:r>
            <a:r>
              <a:rPr lang="en-AU" altLang="en-IT" sz="2000" b="1" u="sng">
                <a:latin typeface="Courier New" panose="02070309020205020404" pitchFamily="49" charset="0"/>
              </a:rPr>
              <a:t>Set-of-Itemsets</a:t>
            </a:r>
            <a:endParaRPr lang="en-AU" altLang="en-IT" sz="2000">
              <a:latin typeface="Courier New" panose="02070309020205020404" pitchFamily="49" charset="0"/>
            </a:endParaRPr>
          </a:p>
          <a:p>
            <a:pPr>
              <a:spcBef>
                <a:spcPct val="0"/>
              </a:spcBef>
              <a:buFont typeface="Monotype Sorts" pitchFamily="2" charset="2"/>
              <a:buNone/>
            </a:pPr>
            <a:r>
              <a:rPr lang="en-AU" altLang="en-IT" sz="2000">
                <a:latin typeface="Courier New" panose="02070309020205020404" pitchFamily="49" charset="0"/>
              </a:rPr>
              <a:t>   100 1 3 4        {1}   2      100 {{1},{3},{4}}</a:t>
            </a:r>
          </a:p>
          <a:p>
            <a:pPr>
              <a:spcBef>
                <a:spcPct val="0"/>
              </a:spcBef>
              <a:buFont typeface="Monotype Sorts" pitchFamily="2" charset="2"/>
              <a:buNone/>
            </a:pPr>
            <a:r>
              <a:rPr lang="en-AU" altLang="en-IT" sz="2000">
                <a:latin typeface="Courier New" panose="02070309020205020404" pitchFamily="49" charset="0"/>
              </a:rPr>
              <a:t>   200 2 3 5        {2}   3      200 {{2},{3},{5}}</a:t>
            </a:r>
          </a:p>
          <a:p>
            <a:pPr>
              <a:spcBef>
                <a:spcPct val="0"/>
              </a:spcBef>
              <a:buFont typeface="Monotype Sorts" pitchFamily="2" charset="2"/>
              <a:buNone/>
            </a:pPr>
            <a:r>
              <a:rPr lang="en-AU" altLang="en-IT" sz="2000">
                <a:latin typeface="Courier New" panose="02070309020205020404" pitchFamily="49" charset="0"/>
              </a:rPr>
              <a:t>   300 1 2 3 5      {3}   3      300 {{1},{2},{3},{5}}</a:t>
            </a:r>
          </a:p>
          <a:p>
            <a:pPr>
              <a:spcBef>
                <a:spcPct val="0"/>
              </a:spcBef>
              <a:buFont typeface="Monotype Sorts" pitchFamily="2" charset="2"/>
              <a:buNone/>
            </a:pPr>
            <a:r>
              <a:rPr lang="en-AU" altLang="en-IT" sz="2000">
                <a:latin typeface="Courier New" panose="02070309020205020404" pitchFamily="49" charset="0"/>
              </a:rPr>
              <a:t>   400 2 5          {5}   3      400 {{2},{5}}</a:t>
            </a:r>
          </a:p>
          <a:p>
            <a:pPr>
              <a:spcBef>
                <a:spcPct val="0"/>
              </a:spcBef>
              <a:buFont typeface="Monotype Sorts" pitchFamily="2" charset="2"/>
              <a:buNone/>
            </a:pPr>
            <a:r>
              <a:rPr lang="en-AU" altLang="en-IT" sz="2000" i="1" u="sng">
                <a:solidFill>
                  <a:srgbClr val="800000"/>
                </a:solidFill>
                <a:latin typeface="Courier New" panose="02070309020205020404" pitchFamily="49" charset="0"/>
              </a:rPr>
              <a:t>C</a:t>
            </a:r>
            <a:r>
              <a:rPr lang="en-AU" altLang="en-IT" sz="2000" baseline="-25000">
                <a:solidFill>
                  <a:srgbClr val="800000"/>
                </a:solidFill>
                <a:latin typeface="Courier New" panose="02070309020205020404" pitchFamily="49" charset="0"/>
              </a:rPr>
              <a:t>2</a:t>
            </a:r>
            <a:r>
              <a:rPr lang="en-AU" altLang="en-IT" sz="2000">
                <a:solidFill>
                  <a:srgbClr val="800000"/>
                </a:solidFill>
                <a:latin typeface="Courier New" panose="02070309020205020404" pitchFamily="49" charset="0"/>
              </a:rPr>
              <a:t>={{100,{{1,3}}},{200,{{2,3},{2,5},{3,5}},</a:t>
            </a:r>
          </a:p>
          <a:p>
            <a:pPr>
              <a:spcBef>
                <a:spcPct val="0"/>
              </a:spcBef>
              <a:buFont typeface="Monotype Sorts" pitchFamily="2" charset="2"/>
              <a:buNone/>
            </a:pPr>
            <a:r>
              <a:rPr lang="en-AU" altLang="en-IT" sz="2000">
                <a:solidFill>
                  <a:srgbClr val="800000"/>
                </a:solidFill>
                <a:latin typeface="Courier New" panose="02070309020205020404" pitchFamily="49" charset="0"/>
              </a:rPr>
              <a:t>    {300,{{2,3},{2,5},{3,5}}, {400,{{2,5}}}}</a:t>
            </a:r>
            <a:endParaRPr lang="en-AU" altLang="en-IT" sz="2000">
              <a:latin typeface="Courier New" panose="02070309020205020404" pitchFamily="49" charset="0"/>
            </a:endParaRPr>
          </a:p>
          <a:p>
            <a:pPr>
              <a:spcBef>
                <a:spcPct val="0"/>
              </a:spcBef>
              <a:buFont typeface="Monotype Sorts" pitchFamily="2" charset="2"/>
              <a:buNone/>
            </a:pPr>
            <a:r>
              <a:rPr lang="en-AU" altLang="en-IT" sz="2000" b="1" i="1">
                <a:latin typeface="Courier New" panose="02070309020205020404" pitchFamily="49" charset="0"/>
              </a:rPr>
              <a:t>L</a:t>
            </a:r>
            <a:r>
              <a:rPr lang="en-AU" altLang="en-IT" sz="2000" b="1" baseline="-25000">
                <a:latin typeface="Courier New" panose="02070309020205020404" pitchFamily="49" charset="0"/>
              </a:rPr>
              <a:t>2</a:t>
            </a:r>
            <a:r>
              <a:rPr lang="en-AU" altLang="en-IT" sz="2000" b="1">
                <a:latin typeface="Courier New" panose="02070309020205020404" pitchFamily="49" charset="0"/>
              </a:rPr>
              <a:t>={{1,3}, {2,3}, {2,5}, {3,5}}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A9CAC6E-FFCC-A2ED-CCE1-3E6F9AFBCA47}"/>
              </a:ext>
            </a:extLst>
          </p:cNvPr>
          <p:cNvSpPr>
            <a:spLocks noGrp="1" noChangeArrowheads="1"/>
          </p:cNvSpPr>
          <p:nvPr>
            <p:ph type="title"/>
          </p:nvPr>
        </p:nvSpPr>
        <p:spPr/>
        <p:txBody>
          <a:bodyPr/>
          <a:lstStyle/>
          <a:p>
            <a:r>
              <a:rPr lang="en-AU" altLang="en-IT"/>
              <a:t>Performance</a:t>
            </a:r>
          </a:p>
        </p:txBody>
      </p:sp>
      <p:sp>
        <p:nvSpPr>
          <p:cNvPr id="43011" name="Rectangle 3">
            <a:extLst>
              <a:ext uri="{FF2B5EF4-FFF2-40B4-BE49-F238E27FC236}">
                <a16:creationId xmlns:a16="http://schemas.microsoft.com/office/drawing/2014/main" id="{9261446F-EC11-79B2-9552-FA2BE7EEF146}"/>
              </a:ext>
            </a:extLst>
          </p:cNvPr>
          <p:cNvSpPr>
            <a:spLocks noGrp="1" noChangeArrowheads="1"/>
          </p:cNvSpPr>
          <p:nvPr>
            <p:ph type="body" sz="half" idx="1"/>
          </p:nvPr>
        </p:nvSpPr>
        <p:spPr>
          <a:xfrm>
            <a:off x="1981200" y="1905000"/>
            <a:ext cx="4343400" cy="4191000"/>
          </a:xfrm>
        </p:spPr>
        <p:txBody>
          <a:bodyPr>
            <a:normAutofit lnSpcReduction="10000"/>
          </a:bodyPr>
          <a:lstStyle/>
          <a:p>
            <a:pPr>
              <a:buFont typeface="Monotype Sorts" pitchFamily="2" charset="2"/>
              <a:buNone/>
            </a:pPr>
            <a:r>
              <a:rPr lang="en-AU" altLang="en-IT" sz="2400" b="1"/>
              <a:t>Example</a:t>
            </a:r>
            <a:r>
              <a:rPr lang="en-AU" altLang="en-IT" sz="2400"/>
              <a:t>:</a:t>
            </a:r>
          </a:p>
          <a:p>
            <a:pPr>
              <a:buFont typeface="Monotype Sorts" pitchFamily="2" charset="2"/>
              <a:buNone/>
            </a:pPr>
            <a:r>
              <a:rPr lang="en-AU" altLang="en-IT" sz="2400"/>
              <a:t>HW: IBM RS/6000, 33MHz</a:t>
            </a:r>
          </a:p>
          <a:p>
            <a:pPr>
              <a:buFont typeface="Monotype Sorts" pitchFamily="2" charset="2"/>
              <a:buNone/>
            </a:pPr>
            <a:endParaRPr lang="en-AU" altLang="en-IT" sz="2400"/>
          </a:p>
          <a:p>
            <a:pPr>
              <a:buFont typeface="Monotype Sorts" pitchFamily="2" charset="2"/>
              <a:buNone/>
            </a:pPr>
            <a:r>
              <a:rPr lang="en-AU" altLang="en-IT" sz="2400" b="1"/>
              <a:t>Dataset</a:t>
            </a:r>
            <a:r>
              <a:rPr lang="en-AU" altLang="en-IT" sz="2400"/>
              <a:t>:</a:t>
            </a:r>
          </a:p>
          <a:p>
            <a:pPr>
              <a:buFont typeface="Monotype Sorts" pitchFamily="2" charset="2"/>
              <a:buNone/>
            </a:pPr>
            <a:r>
              <a:rPr lang="en-AU" altLang="en-IT" sz="2400"/>
              <a:t>Number of Items: 1000</a:t>
            </a:r>
          </a:p>
          <a:p>
            <a:pPr>
              <a:buFont typeface="Monotype Sorts" pitchFamily="2" charset="2"/>
              <a:buNone/>
            </a:pPr>
            <a:r>
              <a:rPr lang="en-AU" altLang="en-IT" sz="2400"/>
              <a:t>Avg. size of transactions: 10</a:t>
            </a:r>
          </a:p>
          <a:p>
            <a:pPr>
              <a:buFont typeface="Monotype Sorts" pitchFamily="2" charset="2"/>
              <a:buNone/>
            </a:pPr>
            <a:r>
              <a:rPr lang="en-AU" altLang="en-IT" sz="2400"/>
              <a:t>Avg. size of maximal potentially large items: 4</a:t>
            </a:r>
          </a:p>
          <a:p>
            <a:pPr>
              <a:buFont typeface="Monotype Sorts" pitchFamily="2" charset="2"/>
              <a:buNone/>
            </a:pPr>
            <a:r>
              <a:rPr lang="en-AU" altLang="en-IT" sz="2400"/>
              <a:t>Number of transactions: 100K</a:t>
            </a:r>
          </a:p>
          <a:p>
            <a:pPr>
              <a:buFont typeface="Monotype Sorts" pitchFamily="2" charset="2"/>
              <a:buNone/>
            </a:pPr>
            <a:r>
              <a:rPr lang="en-AU" altLang="en-IT" sz="2400"/>
              <a:t>Data size: 4.4 MBytes</a:t>
            </a:r>
          </a:p>
        </p:txBody>
      </p:sp>
      <p:graphicFrame>
        <p:nvGraphicFramePr>
          <p:cNvPr id="43012" name="Object 4">
            <a:extLst>
              <a:ext uri="{FF2B5EF4-FFF2-40B4-BE49-F238E27FC236}">
                <a16:creationId xmlns:a16="http://schemas.microsoft.com/office/drawing/2014/main" id="{C8029484-FCAC-67D4-84A6-0CFB518AE606}"/>
              </a:ext>
            </a:extLst>
          </p:cNvPr>
          <p:cNvGraphicFramePr>
            <a:graphicFrameLocks noGrp="1" noChangeAspect="1"/>
          </p:cNvGraphicFramePr>
          <p:nvPr>
            <p:ph type="clipArt" sz="half" idx="2"/>
          </p:nvPr>
        </p:nvGraphicFramePr>
        <p:xfrm>
          <a:off x="6172200" y="2025650"/>
          <a:ext cx="4191000" cy="3619500"/>
        </p:xfrm>
        <a:graphic>
          <a:graphicData uri="http://schemas.openxmlformats.org/presentationml/2006/ole">
            <mc:AlternateContent xmlns:mc="http://schemas.openxmlformats.org/markup-compatibility/2006">
              <mc:Choice xmlns:v="urn:schemas-microsoft-com:vml" Requires="v">
                <p:oleObj name="Clip" r:id="rId3" imgW="4381500" imgH="3784600" progId="MS_ClipArt_Gallery.2">
                  <p:embed/>
                </p:oleObj>
              </mc:Choice>
              <mc:Fallback>
                <p:oleObj name="Clip" r:id="rId3" imgW="4381500" imgH="3784600" progId="MS_ClipArt_Gallery.2">
                  <p:embed/>
                  <p:pic>
                    <p:nvPicPr>
                      <p:cNvPr id="43012" name="Object 4">
                        <a:extLst>
                          <a:ext uri="{FF2B5EF4-FFF2-40B4-BE49-F238E27FC236}">
                            <a16:creationId xmlns:a16="http://schemas.microsoft.com/office/drawing/2014/main" id="{C8029484-FCAC-67D4-84A6-0CFB518AE6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2025650"/>
                        <a:ext cx="4191000" cy="3619500"/>
                      </a:xfrm>
                      <a:prstGeom prst="rect">
                        <a:avLst/>
                      </a:prstGeom>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5840839A-023B-8442-FCBF-F34626C99EF4}"/>
              </a:ext>
            </a:extLst>
          </p:cNvPr>
          <p:cNvSpPr>
            <a:spLocks noGrp="1" noChangeArrowheads="1"/>
          </p:cNvSpPr>
          <p:nvPr>
            <p:ph type="title"/>
          </p:nvPr>
        </p:nvSpPr>
        <p:spPr/>
        <p:txBody>
          <a:bodyPr/>
          <a:lstStyle/>
          <a:p>
            <a:r>
              <a:rPr lang="en-AU" altLang="en-IT"/>
              <a:t>Apriori vs. AprioriTid</a:t>
            </a:r>
          </a:p>
        </p:txBody>
      </p:sp>
      <p:sp>
        <p:nvSpPr>
          <p:cNvPr id="45059" name="Rectangle 3">
            <a:extLst>
              <a:ext uri="{FF2B5EF4-FFF2-40B4-BE49-F238E27FC236}">
                <a16:creationId xmlns:a16="http://schemas.microsoft.com/office/drawing/2014/main" id="{8AA37D3C-D9FD-20BA-BC30-7ECF83893E04}"/>
              </a:ext>
            </a:extLst>
          </p:cNvPr>
          <p:cNvSpPr>
            <a:spLocks noGrp="1" noChangeArrowheads="1"/>
          </p:cNvSpPr>
          <p:nvPr>
            <p:ph type="body" sz="half" idx="1"/>
          </p:nvPr>
        </p:nvSpPr>
        <p:spPr>
          <a:xfrm>
            <a:off x="2209800" y="1905000"/>
            <a:ext cx="3505200" cy="4191000"/>
          </a:xfrm>
        </p:spPr>
        <p:txBody>
          <a:bodyPr/>
          <a:lstStyle/>
          <a:p>
            <a:pPr>
              <a:buFont typeface="Monotype Sorts" pitchFamily="2" charset="2"/>
              <a:buNone/>
            </a:pPr>
            <a:r>
              <a:rPr lang="en-AU" altLang="en-IT" sz="2400"/>
              <a:t>Per pass execution times of Apriori and AprioriTid</a:t>
            </a:r>
          </a:p>
          <a:p>
            <a:pPr>
              <a:buFont typeface="Monotype Sorts" pitchFamily="2" charset="2"/>
              <a:buNone/>
            </a:pPr>
            <a:r>
              <a:rPr lang="en-AU" altLang="en-IT" sz="2400"/>
              <a:t>Average size of transactions: 10</a:t>
            </a:r>
          </a:p>
          <a:p>
            <a:pPr>
              <a:buFont typeface="Monotype Sorts" pitchFamily="2" charset="2"/>
              <a:buNone/>
            </a:pPr>
            <a:r>
              <a:rPr lang="en-AU" altLang="en-IT" sz="2400"/>
              <a:t>Average size of maximal potentially large items: 4</a:t>
            </a:r>
          </a:p>
          <a:p>
            <a:pPr>
              <a:buFont typeface="Monotype Sorts" pitchFamily="2" charset="2"/>
              <a:buNone/>
            </a:pPr>
            <a:r>
              <a:rPr lang="en-AU" altLang="en-IT" sz="2400"/>
              <a:t>Number of transactions: 100K</a:t>
            </a:r>
          </a:p>
          <a:p>
            <a:pPr>
              <a:buFont typeface="Monotype Sorts" pitchFamily="2" charset="2"/>
              <a:buNone/>
            </a:pPr>
            <a:r>
              <a:rPr lang="en-AU" altLang="en-IT" sz="2400"/>
              <a:t>minsup=0.75%</a:t>
            </a:r>
          </a:p>
        </p:txBody>
      </p:sp>
      <p:graphicFrame>
        <p:nvGraphicFramePr>
          <p:cNvPr id="45060" name="Object 4">
            <a:extLst>
              <a:ext uri="{FF2B5EF4-FFF2-40B4-BE49-F238E27FC236}">
                <a16:creationId xmlns:a16="http://schemas.microsoft.com/office/drawing/2014/main" id="{AC64E840-F43C-CA56-3ECF-D4D50B935FCB}"/>
              </a:ext>
            </a:extLst>
          </p:cNvPr>
          <p:cNvGraphicFramePr>
            <a:graphicFrameLocks noGrp="1" noChangeAspect="1"/>
          </p:cNvGraphicFramePr>
          <p:nvPr>
            <p:ph type="clipArt" sz="half" idx="2"/>
          </p:nvPr>
        </p:nvGraphicFramePr>
        <p:xfrm>
          <a:off x="5715000" y="1847850"/>
          <a:ext cx="4495800" cy="3735388"/>
        </p:xfrm>
        <a:graphic>
          <a:graphicData uri="http://schemas.openxmlformats.org/presentationml/2006/ole">
            <mc:AlternateContent xmlns:mc="http://schemas.openxmlformats.org/markup-compatibility/2006">
              <mc:Choice xmlns:v="urn:schemas-microsoft-com:vml" Requires="v">
                <p:oleObj name="Clip" r:id="rId3" imgW="4279900" imgH="3556000" progId="MS_ClipArt_Gallery.2">
                  <p:embed/>
                </p:oleObj>
              </mc:Choice>
              <mc:Fallback>
                <p:oleObj name="Clip" r:id="rId3" imgW="4279900" imgH="3556000" progId="MS_ClipArt_Gallery.2">
                  <p:embed/>
                  <p:pic>
                    <p:nvPicPr>
                      <p:cNvPr id="45060" name="Object 4">
                        <a:extLst>
                          <a:ext uri="{FF2B5EF4-FFF2-40B4-BE49-F238E27FC236}">
                            <a16:creationId xmlns:a16="http://schemas.microsoft.com/office/drawing/2014/main" id="{AC64E840-F43C-CA56-3ECF-D4D50B935F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847850"/>
                        <a:ext cx="4495800" cy="3735388"/>
                      </a:xfrm>
                      <a:prstGeom prst="rect">
                        <a:avLst/>
                      </a:prstGeom>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EC8F46C-65DA-128B-AB35-104E255C7E04}"/>
              </a:ext>
            </a:extLst>
          </p:cNvPr>
          <p:cNvSpPr>
            <a:spLocks noGrp="1" noChangeArrowheads="1"/>
          </p:cNvSpPr>
          <p:nvPr>
            <p:ph type="title"/>
          </p:nvPr>
        </p:nvSpPr>
        <p:spPr/>
        <p:txBody>
          <a:bodyPr/>
          <a:lstStyle/>
          <a:p>
            <a:r>
              <a:rPr lang="en-AU" altLang="en-IT"/>
              <a:t>AprioriHybrid Algorithm</a:t>
            </a:r>
          </a:p>
        </p:txBody>
      </p:sp>
      <p:sp>
        <p:nvSpPr>
          <p:cNvPr id="47107" name="Rectangle 3">
            <a:extLst>
              <a:ext uri="{FF2B5EF4-FFF2-40B4-BE49-F238E27FC236}">
                <a16:creationId xmlns:a16="http://schemas.microsoft.com/office/drawing/2014/main" id="{511D5BA9-0259-08F9-5D69-2E2AD7BA61DD}"/>
              </a:ext>
            </a:extLst>
          </p:cNvPr>
          <p:cNvSpPr>
            <a:spLocks noGrp="1" noChangeArrowheads="1"/>
          </p:cNvSpPr>
          <p:nvPr>
            <p:ph type="body" sz="half" idx="1"/>
          </p:nvPr>
        </p:nvSpPr>
        <p:spPr>
          <a:xfrm>
            <a:off x="2209800" y="1905000"/>
            <a:ext cx="3581400" cy="4343400"/>
          </a:xfrm>
        </p:spPr>
        <p:txBody>
          <a:bodyPr/>
          <a:lstStyle/>
          <a:p>
            <a:r>
              <a:rPr lang="en-AU" altLang="en-IT" sz="2400"/>
              <a:t>Uses Apriori in the initial passes and switches to AprioriTid when it expects that the set </a:t>
            </a:r>
            <a:r>
              <a:rPr lang="en-AU" altLang="en-IT" sz="2400" i="1" u="sng">
                <a:solidFill>
                  <a:srgbClr val="000099"/>
                </a:solidFill>
              </a:rPr>
              <a:t>C</a:t>
            </a:r>
            <a:r>
              <a:rPr lang="en-AU" altLang="en-IT" sz="2400" baseline="-25000"/>
              <a:t>k</a:t>
            </a:r>
            <a:r>
              <a:rPr lang="en-AU" altLang="en-IT" sz="2400"/>
              <a:t> at the end of the pass will fit in memory. </a:t>
            </a:r>
          </a:p>
        </p:txBody>
      </p:sp>
      <p:graphicFrame>
        <p:nvGraphicFramePr>
          <p:cNvPr id="47109" name="Object 5">
            <a:extLst>
              <a:ext uri="{FF2B5EF4-FFF2-40B4-BE49-F238E27FC236}">
                <a16:creationId xmlns:a16="http://schemas.microsoft.com/office/drawing/2014/main" id="{48D658F8-31F2-0AB7-B47D-59FFBCAACBD1}"/>
              </a:ext>
            </a:extLst>
          </p:cNvPr>
          <p:cNvGraphicFramePr>
            <a:graphicFrameLocks noGrp="1" noChangeAspect="1"/>
          </p:cNvGraphicFramePr>
          <p:nvPr>
            <p:ph type="clipArt" sz="half" idx="2"/>
          </p:nvPr>
        </p:nvGraphicFramePr>
        <p:xfrm>
          <a:off x="5562600" y="1752600"/>
          <a:ext cx="4800600" cy="3957638"/>
        </p:xfrm>
        <a:graphic>
          <a:graphicData uri="http://schemas.openxmlformats.org/presentationml/2006/ole">
            <mc:AlternateContent xmlns:mc="http://schemas.openxmlformats.org/markup-compatibility/2006">
              <mc:Choice xmlns:v="urn:schemas-microsoft-com:vml" Requires="v">
                <p:oleObj name="Clip" r:id="rId3" imgW="4559300" imgH="3759200" progId="MS_ClipArt_Gallery.2">
                  <p:embed/>
                </p:oleObj>
              </mc:Choice>
              <mc:Fallback>
                <p:oleObj name="Clip" r:id="rId3" imgW="4559300" imgH="3759200" progId="MS_ClipArt_Gallery.2">
                  <p:embed/>
                  <p:pic>
                    <p:nvPicPr>
                      <p:cNvPr id="47109" name="Object 5">
                        <a:extLst>
                          <a:ext uri="{FF2B5EF4-FFF2-40B4-BE49-F238E27FC236}">
                            <a16:creationId xmlns:a16="http://schemas.microsoft.com/office/drawing/2014/main" id="{48D658F8-31F2-0AB7-B47D-59FFBCAACB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1752600"/>
                        <a:ext cx="4800600" cy="3957638"/>
                      </a:xfrm>
                      <a:prstGeom prst="rect">
                        <a:avLst/>
                      </a:prstGeom>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E65EEDE3-80B5-082E-3EFE-6EDB1131651C}"/>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45E7663B-42C7-C25C-A330-0E3DAF1F9E87}"/>
              </a:ext>
            </a:extLst>
          </p:cNvPr>
          <p:cNvSpPr>
            <a:spLocks noGrp="1"/>
          </p:cNvSpPr>
          <p:nvPr>
            <p:ph type="sldNum" sz="quarter" idx="11"/>
          </p:nvPr>
        </p:nvSpPr>
        <p:spPr/>
        <p:txBody>
          <a:bodyPr/>
          <a:lstStyle/>
          <a:p>
            <a:fld id="{A42AC029-158B-7F49-BA0C-C53F9BC3C847}" type="slidenum">
              <a:rPr lang="en-US" altLang="en-US"/>
              <a:pPr/>
              <a:t>49</a:t>
            </a:fld>
            <a:endParaRPr lang="en-US" altLang="en-US"/>
          </a:p>
        </p:txBody>
      </p:sp>
      <p:sp>
        <p:nvSpPr>
          <p:cNvPr id="666626" name="Rectangle 2">
            <a:extLst>
              <a:ext uri="{FF2B5EF4-FFF2-40B4-BE49-F238E27FC236}">
                <a16:creationId xmlns:a16="http://schemas.microsoft.com/office/drawing/2014/main" id="{7AB0C706-CB54-83EA-3121-89BCE2B66A5F}"/>
              </a:ext>
            </a:extLst>
          </p:cNvPr>
          <p:cNvSpPr>
            <a:spLocks noGrp="1" noChangeArrowheads="1"/>
          </p:cNvSpPr>
          <p:nvPr>
            <p:ph type="title"/>
          </p:nvPr>
        </p:nvSpPr>
        <p:spPr/>
        <p:txBody>
          <a:bodyPr/>
          <a:lstStyle/>
          <a:p>
            <a:r>
              <a:rPr lang="en-US" altLang="en-IT" dirty="0"/>
              <a:t>Problems with association mining</a:t>
            </a:r>
            <a:endParaRPr lang="en-US" altLang="en-IT" sz="2500" dirty="0">
              <a:solidFill>
                <a:schemeClr val="hlink"/>
              </a:solidFill>
            </a:endParaRPr>
          </a:p>
        </p:txBody>
      </p:sp>
      <p:sp>
        <p:nvSpPr>
          <p:cNvPr id="666627" name="Rectangle 3">
            <a:extLst>
              <a:ext uri="{FF2B5EF4-FFF2-40B4-BE49-F238E27FC236}">
                <a16:creationId xmlns:a16="http://schemas.microsoft.com/office/drawing/2014/main" id="{9FE7548D-A142-2D8E-FD9F-C5E7A03D95DB}"/>
              </a:ext>
            </a:extLst>
          </p:cNvPr>
          <p:cNvSpPr>
            <a:spLocks noGrp="1" noChangeArrowheads="1"/>
          </p:cNvSpPr>
          <p:nvPr>
            <p:ph type="body" idx="1"/>
          </p:nvPr>
        </p:nvSpPr>
        <p:spPr>
          <a:xfrm>
            <a:off x="2063750" y="1807535"/>
            <a:ext cx="7924800" cy="4213854"/>
          </a:xfrm>
        </p:spPr>
        <p:txBody>
          <a:bodyPr/>
          <a:lstStyle/>
          <a:p>
            <a:pPr>
              <a:lnSpc>
                <a:spcPct val="90000"/>
              </a:lnSpc>
            </a:pPr>
            <a:r>
              <a:rPr lang="en-US" altLang="en-IT" dirty="0">
                <a:solidFill>
                  <a:srgbClr val="FF0000"/>
                </a:solidFill>
                <a:cs typeface="Times New Roman" panose="02020603050405020304" pitchFamily="18" charset="0"/>
              </a:rPr>
              <a:t>Single </a:t>
            </a:r>
            <a:r>
              <a:rPr lang="en-US" altLang="en-IT" dirty="0" err="1">
                <a:solidFill>
                  <a:srgbClr val="FF0000"/>
                </a:solidFill>
                <a:cs typeface="Times New Roman" panose="02020603050405020304" pitchFamily="18" charset="0"/>
              </a:rPr>
              <a:t>minsup</a:t>
            </a:r>
            <a:r>
              <a:rPr lang="en-US" altLang="en-IT" dirty="0">
                <a:cs typeface="Times New Roman" panose="02020603050405020304" pitchFamily="18" charset="0"/>
              </a:rPr>
              <a:t>: It assumes that all items in the data are of the </a:t>
            </a:r>
            <a:r>
              <a:rPr lang="en-US" altLang="en-IT" dirty="0">
                <a:solidFill>
                  <a:srgbClr val="FF0000"/>
                </a:solidFill>
                <a:cs typeface="Times New Roman" panose="02020603050405020304" pitchFamily="18" charset="0"/>
              </a:rPr>
              <a:t>same nature</a:t>
            </a:r>
            <a:r>
              <a:rPr lang="en-US" altLang="en-IT" dirty="0">
                <a:cs typeface="Times New Roman" panose="02020603050405020304" pitchFamily="18" charset="0"/>
              </a:rPr>
              <a:t> and/or have </a:t>
            </a:r>
            <a:r>
              <a:rPr lang="en-US" altLang="en-IT" dirty="0">
                <a:solidFill>
                  <a:srgbClr val="FF0000"/>
                </a:solidFill>
                <a:cs typeface="Times New Roman" panose="02020603050405020304" pitchFamily="18" charset="0"/>
              </a:rPr>
              <a:t>similar frequencies</a:t>
            </a:r>
            <a:r>
              <a:rPr lang="en-US" altLang="en-IT" dirty="0">
                <a:cs typeface="Times New Roman" panose="02020603050405020304" pitchFamily="18" charset="0"/>
              </a:rPr>
              <a:t>. </a:t>
            </a:r>
          </a:p>
          <a:p>
            <a:pPr>
              <a:lnSpc>
                <a:spcPct val="90000"/>
              </a:lnSpc>
            </a:pPr>
            <a:r>
              <a:rPr lang="en-US" altLang="en-IT" dirty="0">
                <a:solidFill>
                  <a:srgbClr val="FF0000"/>
                </a:solidFill>
                <a:cs typeface="Times New Roman" panose="02020603050405020304" pitchFamily="18" charset="0"/>
              </a:rPr>
              <a:t>Not true:</a:t>
            </a:r>
            <a:r>
              <a:rPr lang="en-US" altLang="en-IT" dirty="0">
                <a:cs typeface="Times New Roman" panose="02020603050405020304" pitchFamily="18" charset="0"/>
              </a:rPr>
              <a:t> In many applications, some items appear very frequently in the data, while others rarely appear. </a:t>
            </a:r>
            <a:endParaRPr lang="en-US" altLang="en-IT" dirty="0"/>
          </a:p>
          <a:p>
            <a:pPr>
              <a:lnSpc>
                <a:spcPct val="90000"/>
              </a:lnSpc>
              <a:buFont typeface="Wingdings" pitchFamily="2" charset="2"/>
              <a:buNone/>
            </a:pPr>
            <a:r>
              <a:rPr lang="en-US" altLang="en-IT" sz="2600" dirty="0">
                <a:cs typeface="Times New Roman" panose="02020603050405020304" pitchFamily="18" charset="0"/>
              </a:rPr>
              <a:t>	E.g., in a supermarket, people buy </a:t>
            </a:r>
            <a:r>
              <a:rPr lang="en-US" altLang="en-IT" sz="2600" i="1" dirty="0">
                <a:solidFill>
                  <a:srgbClr val="3333CC"/>
                </a:solidFill>
                <a:cs typeface="Times New Roman" panose="02020603050405020304" pitchFamily="18" charset="0"/>
              </a:rPr>
              <a:t>food processor</a:t>
            </a:r>
            <a:r>
              <a:rPr lang="en-US" altLang="en-IT" sz="2600" dirty="0">
                <a:cs typeface="Times New Roman" panose="02020603050405020304" pitchFamily="18" charset="0"/>
              </a:rPr>
              <a:t> and </a:t>
            </a:r>
            <a:r>
              <a:rPr lang="en-US" altLang="en-IT" sz="2600" i="1" dirty="0">
                <a:solidFill>
                  <a:srgbClr val="3333CC"/>
                </a:solidFill>
                <a:cs typeface="Times New Roman" panose="02020603050405020304" pitchFamily="18" charset="0"/>
              </a:rPr>
              <a:t>cooking pan</a:t>
            </a:r>
            <a:r>
              <a:rPr lang="en-US" altLang="en-IT" sz="2600" dirty="0">
                <a:cs typeface="Times New Roman" panose="02020603050405020304" pitchFamily="18" charset="0"/>
              </a:rPr>
              <a:t> much less frequently than they buy </a:t>
            </a:r>
            <a:r>
              <a:rPr lang="en-US" altLang="en-IT" sz="2600" i="1" dirty="0">
                <a:solidFill>
                  <a:srgbClr val="3333CC"/>
                </a:solidFill>
                <a:cs typeface="Times New Roman" panose="02020603050405020304" pitchFamily="18" charset="0"/>
              </a:rPr>
              <a:t>bread</a:t>
            </a:r>
            <a:r>
              <a:rPr lang="en-US" altLang="en-IT" sz="2600" dirty="0">
                <a:cs typeface="Times New Roman" panose="02020603050405020304" pitchFamily="18" charset="0"/>
              </a:rPr>
              <a:t> and </a:t>
            </a:r>
            <a:r>
              <a:rPr lang="en-US" altLang="en-IT" sz="2600" i="1" dirty="0">
                <a:solidFill>
                  <a:srgbClr val="3333CC"/>
                </a:solidFill>
                <a:cs typeface="Times New Roman" panose="02020603050405020304" pitchFamily="18" charset="0"/>
              </a:rPr>
              <a:t>milk</a:t>
            </a:r>
            <a:r>
              <a:rPr lang="en-US" altLang="en-IT" sz="2600" dirty="0">
                <a:cs typeface="Times New Roman" panose="02020603050405020304" pitchFamily="18" charset="0"/>
              </a:rPr>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C89A31-F004-90B9-61D3-2E74C74F3CD4}"/>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54DC00EF-178F-5C8D-5175-F5F5E3B147A6}"/>
              </a:ext>
            </a:extLst>
          </p:cNvPr>
          <p:cNvSpPr>
            <a:spLocks noGrp="1"/>
          </p:cNvSpPr>
          <p:nvPr>
            <p:ph type="sldNum" sz="quarter" idx="11"/>
          </p:nvPr>
        </p:nvSpPr>
        <p:spPr/>
        <p:txBody>
          <a:bodyPr/>
          <a:lstStyle/>
          <a:p>
            <a:fld id="{3E93DF2B-93E7-B94D-B691-CBB581112AA2}" type="slidenum">
              <a:rPr lang="en-US" altLang="en-US"/>
              <a:pPr/>
              <a:t>50</a:t>
            </a:fld>
            <a:endParaRPr lang="en-US" altLang="en-US"/>
          </a:p>
        </p:txBody>
      </p:sp>
      <p:sp>
        <p:nvSpPr>
          <p:cNvPr id="667650" name="Rectangle 2">
            <a:extLst>
              <a:ext uri="{FF2B5EF4-FFF2-40B4-BE49-F238E27FC236}">
                <a16:creationId xmlns:a16="http://schemas.microsoft.com/office/drawing/2014/main" id="{ACE2C9D7-ADA8-206A-7B3E-D64C37C315B9}"/>
              </a:ext>
            </a:extLst>
          </p:cNvPr>
          <p:cNvSpPr>
            <a:spLocks noGrp="1" noChangeArrowheads="1"/>
          </p:cNvSpPr>
          <p:nvPr>
            <p:ph type="title"/>
          </p:nvPr>
        </p:nvSpPr>
        <p:spPr>
          <a:xfrm>
            <a:off x="2171700" y="368300"/>
            <a:ext cx="7793038" cy="1143000"/>
          </a:xfrm>
        </p:spPr>
        <p:txBody>
          <a:bodyPr/>
          <a:lstStyle/>
          <a:p>
            <a:r>
              <a:rPr lang="en-US" altLang="en-IT"/>
              <a:t>Rare Item Problem</a:t>
            </a:r>
          </a:p>
        </p:txBody>
      </p:sp>
      <p:sp>
        <p:nvSpPr>
          <p:cNvPr id="667651" name="Rectangle 3">
            <a:extLst>
              <a:ext uri="{FF2B5EF4-FFF2-40B4-BE49-F238E27FC236}">
                <a16:creationId xmlns:a16="http://schemas.microsoft.com/office/drawing/2014/main" id="{2630C5BE-B07F-50CB-D28A-76F50A37D058}"/>
              </a:ext>
            </a:extLst>
          </p:cNvPr>
          <p:cNvSpPr>
            <a:spLocks noGrp="1" noChangeArrowheads="1"/>
          </p:cNvSpPr>
          <p:nvPr>
            <p:ph type="body" idx="1"/>
          </p:nvPr>
        </p:nvSpPr>
        <p:spPr>
          <a:xfrm>
            <a:off x="2133600" y="1484313"/>
            <a:ext cx="8345488" cy="4648200"/>
          </a:xfrm>
        </p:spPr>
        <p:txBody>
          <a:bodyPr/>
          <a:lstStyle/>
          <a:p>
            <a:pPr>
              <a:spcAft>
                <a:spcPct val="30000"/>
              </a:spcAft>
            </a:pPr>
            <a:r>
              <a:rPr lang="en-US" altLang="en-IT">
                <a:cs typeface="Times New Roman" panose="02020603050405020304" pitchFamily="18" charset="0"/>
              </a:rPr>
              <a:t>If the frequencies of items vary a great deal, we will encounter </a:t>
            </a:r>
            <a:r>
              <a:rPr lang="en-US" altLang="en-IT">
                <a:solidFill>
                  <a:srgbClr val="FF0000"/>
                </a:solidFill>
                <a:cs typeface="Times New Roman" panose="02020603050405020304" pitchFamily="18" charset="0"/>
              </a:rPr>
              <a:t>two problems</a:t>
            </a:r>
          </a:p>
          <a:p>
            <a:pPr marL="742950" lvl="1" indent="-285750">
              <a:spcAft>
                <a:spcPct val="30000"/>
              </a:spcAft>
            </a:pPr>
            <a:r>
              <a:rPr lang="en-US" altLang="en-IT">
                <a:solidFill>
                  <a:srgbClr val="FF0000"/>
                </a:solidFill>
                <a:cs typeface="Times New Roman" panose="02020603050405020304" pitchFamily="18" charset="0"/>
              </a:rPr>
              <a:t>If minsup is set too high</a:t>
            </a:r>
            <a:r>
              <a:rPr lang="en-US" altLang="en-IT">
                <a:cs typeface="Times New Roman" panose="02020603050405020304" pitchFamily="18" charset="0"/>
              </a:rPr>
              <a:t>, those rules that involve rare items will not be found. </a:t>
            </a:r>
          </a:p>
          <a:p>
            <a:pPr marL="742950" lvl="1" indent="-285750"/>
            <a:r>
              <a:rPr lang="en-US" altLang="en-IT">
                <a:cs typeface="Times New Roman" panose="02020603050405020304" pitchFamily="18" charset="0"/>
              </a:rPr>
              <a:t>To find rules that involve both frequent and rare items, </a:t>
            </a:r>
            <a:r>
              <a:rPr lang="en-US" altLang="en-IT">
                <a:solidFill>
                  <a:srgbClr val="FF0000"/>
                </a:solidFill>
                <a:cs typeface="Times New Roman" panose="02020603050405020304" pitchFamily="18" charset="0"/>
              </a:rPr>
              <a:t>minsup has to be set very low</a:t>
            </a:r>
            <a:r>
              <a:rPr lang="en-US" altLang="en-IT">
                <a:cs typeface="Times New Roman" panose="02020603050405020304" pitchFamily="18" charset="0"/>
              </a:rPr>
              <a:t>. This may cause </a:t>
            </a:r>
            <a:r>
              <a:rPr lang="en-US" altLang="en-IT">
                <a:solidFill>
                  <a:srgbClr val="3333CC"/>
                </a:solidFill>
                <a:cs typeface="Times New Roman" panose="02020603050405020304" pitchFamily="18" charset="0"/>
              </a:rPr>
              <a:t>combinatorial explosion</a:t>
            </a:r>
            <a:r>
              <a:rPr lang="en-US" altLang="en-IT">
                <a:cs typeface="Times New Roman" panose="02020603050405020304" pitchFamily="18" charset="0"/>
              </a:rPr>
              <a:t> because those frequent items will be associated with one another in all possible ways.</a:t>
            </a:r>
            <a:r>
              <a:rPr lang="en-US" altLang="en-IT" b="1">
                <a:cs typeface="Times New Roman" panose="02020603050405020304" pitchFamily="18" charset="0"/>
              </a:rPr>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1F7E20C6-4DDE-1721-E6AC-13BFC38E2A5B}"/>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66ADC084-103C-93F1-2A24-7F659F2FF5A9}"/>
              </a:ext>
            </a:extLst>
          </p:cNvPr>
          <p:cNvSpPr>
            <a:spLocks noGrp="1"/>
          </p:cNvSpPr>
          <p:nvPr>
            <p:ph type="sldNum" sz="quarter" idx="11"/>
          </p:nvPr>
        </p:nvSpPr>
        <p:spPr/>
        <p:txBody>
          <a:bodyPr/>
          <a:lstStyle/>
          <a:p>
            <a:fld id="{FBAAD819-A89F-DF43-BB50-AB39E19343F6}" type="slidenum">
              <a:rPr lang="en-US" altLang="en-US"/>
              <a:pPr/>
              <a:t>51</a:t>
            </a:fld>
            <a:endParaRPr lang="en-US" altLang="en-US"/>
          </a:p>
        </p:txBody>
      </p:sp>
      <p:sp>
        <p:nvSpPr>
          <p:cNvPr id="668674" name="Rectangle 2">
            <a:extLst>
              <a:ext uri="{FF2B5EF4-FFF2-40B4-BE49-F238E27FC236}">
                <a16:creationId xmlns:a16="http://schemas.microsoft.com/office/drawing/2014/main" id="{DCB96102-0641-AA2F-CEEA-D3ACEB7222E7}"/>
              </a:ext>
            </a:extLst>
          </p:cNvPr>
          <p:cNvSpPr>
            <a:spLocks noGrp="1" noChangeArrowheads="1"/>
          </p:cNvSpPr>
          <p:nvPr>
            <p:ph type="title"/>
          </p:nvPr>
        </p:nvSpPr>
        <p:spPr>
          <a:xfrm>
            <a:off x="1992313" y="333375"/>
            <a:ext cx="8128000" cy="1143000"/>
          </a:xfrm>
        </p:spPr>
        <p:txBody>
          <a:bodyPr/>
          <a:lstStyle/>
          <a:p>
            <a:r>
              <a:rPr lang="en-US" altLang="en-IT"/>
              <a:t>Multiple minsups model</a:t>
            </a:r>
          </a:p>
        </p:txBody>
      </p:sp>
      <p:sp>
        <p:nvSpPr>
          <p:cNvPr id="668675" name="Rectangle 3">
            <a:extLst>
              <a:ext uri="{FF2B5EF4-FFF2-40B4-BE49-F238E27FC236}">
                <a16:creationId xmlns:a16="http://schemas.microsoft.com/office/drawing/2014/main" id="{B46A4C0B-AC58-162E-A1E4-F569C3CDDB76}"/>
              </a:ext>
            </a:extLst>
          </p:cNvPr>
          <p:cNvSpPr>
            <a:spLocks noGrp="1" noChangeArrowheads="1"/>
          </p:cNvSpPr>
          <p:nvPr>
            <p:ph type="body" idx="1"/>
          </p:nvPr>
        </p:nvSpPr>
        <p:spPr>
          <a:xfrm>
            <a:off x="1955800" y="1557338"/>
            <a:ext cx="8001000" cy="3733800"/>
          </a:xfrm>
        </p:spPr>
        <p:txBody>
          <a:bodyPr/>
          <a:lstStyle/>
          <a:p>
            <a:r>
              <a:rPr lang="en-US" altLang="en-IT" sz="2600">
                <a:cs typeface="Times New Roman" panose="02020603050405020304" pitchFamily="18" charset="0"/>
              </a:rPr>
              <a:t>The minimum support of a rule is expressed in terms of</a:t>
            </a:r>
            <a:r>
              <a:rPr lang="en-US" altLang="en-IT" sz="2600" i="1">
                <a:cs typeface="Times New Roman" panose="02020603050405020304" pitchFamily="18" charset="0"/>
              </a:rPr>
              <a:t> </a:t>
            </a:r>
            <a:r>
              <a:rPr lang="en-US" altLang="en-IT" sz="2600" i="1">
                <a:solidFill>
                  <a:srgbClr val="FF0000"/>
                </a:solidFill>
                <a:cs typeface="Times New Roman" panose="02020603050405020304" pitchFamily="18" charset="0"/>
              </a:rPr>
              <a:t>minimum item supports </a:t>
            </a:r>
            <a:r>
              <a:rPr lang="en-US" altLang="en-IT" sz="2600">
                <a:solidFill>
                  <a:srgbClr val="FF0000"/>
                </a:solidFill>
                <a:cs typeface="Times New Roman" panose="02020603050405020304" pitchFamily="18" charset="0"/>
              </a:rPr>
              <a:t>(MIS)</a:t>
            </a:r>
            <a:r>
              <a:rPr lang="en-US" altLang="en-IT" sz="2600">
                <a:cs typeface="Times New Roman" panose="02020603050405020304" pitchFamily="18" charset="0"/>
              </a:rPr>
              <a:t> of the items that appear in the rule. </a:t>
            </a:r>
          </a:p>
          <a:p>
            <a:r>
              <a:rPr lang="en-US" altLang="en-IT" sz="2600">
                <a:cs typeface="Times New Roman" panose="02020603050405020304" pitchFamily="18" charset="0"/>
              </a:rPr>
              <a:t>Each item can have a </a:t>
            </a:r>
            <a:r>
              <a:rPr lang="en-US" altLang="en-IT" sz="2600">
                <a:solidFill>
                  <a:srgbClr val="FF0000"/>
                </a:solidFill>
                <a:cs typeface="Times New Roman" panose="02020603050405020304" pitchFamily="18" charset="0"/>
              </a:rPr>
              <a:t>minimum item support.</a:t>
            </a:r>
            <a:r>
              <a:rPr lang="en-US" altLang="en-IT" sz="2600">
                <a:cs typeface="Times New Roman" panose="02020603050405020304" pitchFamily="18" charset="0"/>
              </a:rPr>
              <a:t> </a:t>
            </a:r>
          </a:p>
          <a:p>
            <a:r>
              <a:rPr lang="en-US" altLang="en-IT" sz="2600">
                <a:cs typeface="Times New Roman" panose="02020603050405020304" pitchFamily="18" charset="0"/>
              </a:rPr>
              <a:t>By providing different MIS values for different items, the user effectively expresses different support requirements for different rules.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5F9E029-BE49-D9F2-8C7A-BC3EC6101284}"/>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901AD9B0-A593-BE29-270D-A37AA822EE59}"/>
              </a:ext>
            </a:extLst>
          </p:cNvPr>
          <p:cNvSpPr>
            <a:spLocks noGrp="1"/>
          </p:cNvSpPr>
          <p:nvPr>
            <p:ph type="sldNum" sz="quarter" idx="11"/>
          </p:nvPr>
        </p:nvSpPr>
        <p:spPr/>
        <p:txBody>
          <a:bodyPr/>
          <a:lstStyle/>
          <a:p>
            <a:fld id="{BE1056F2-A9CE-FD4D-BC05-8BC9BE2B390D}" type="slidenum">
              <a:rPr lang="en-US" altLang="en-US"/>
              <a:pPr/>
              <a:t>52</a:t>
            </a:fld>
            <a:endParaRPr lang="en-US" altLang="en-US"/>
          </a:p>
        </p:txBody>
      </p:sp>
      <p:sp>
        <p:nvSpPr>
          <p:cNvPr id="669698" name="Rectangle 2">
            <a:extLst>
              <a:ext uri="{FF2B5EF4-FFF2-40B4-BE49-F238E27FC236}">
                <a16:creationId xmlns:a16="http://schemas.microsoft.com/office/drawing/2014/main" id="{CBCD34F4-A020-4D38-ADD3-8DE1A0CA5D4B}"/>
              </a:ext>
            </a:extLst>
          </p:cNvPr>
          <p:cNvSpPr>
            <a:spLocks noGrp="1" noChangeArrowheads="1"/>
          </p:cNvSpPr>
          <p:nvPr>
            <p:ph type="title"/>
          </p:nvPr>
        </p:nvSpPr>
        <p:spPr>
          <a:xfrm>
            <a:off x="2135189" y="333375"/>
            <a:ext cx="7793037" cy="1143000"/>
          </a:xfrm>
        </p:spPr>
        <p:txBody>
          <a:bodyPr/>
          <a:lstStyle/>
          <a:p>
            <a:r>
              <a:rPr lang="en-US" altLang="en-IT"/>
              <a:t>Minsup of a rule</a:t>
            </a:r>
          </a:p>
        </p:txBody>
      </p:sp>
      <p:sp>
        <p:nvSpPr>
          <p:cNvPr id="669699" name="Rectangle 3">
            <a:extLst>
              <a:ext uri="{FF2B5EF4-FFF2-40B4-BE49-F238E27FC236}">
                <a16:creationId xmlns:a16="http://schemas.microsoft.com/office/drawing/2014/main" id="{14BDDC4C-C660-10E3-DE34-18C3EDCCBE5C}"/>
              </a:ext>
            </a:extLst>
          </p:cNvPr>
          <p:cNvSpPr>
            <a:spLocks noGrp="1" noChangeArrowheads="1"/>
          </p:cNvSpPr>
          <p:nvPr>
            <p:ph type="body" idx="1"/>
          </p:nvPr>
        </p:nvSpPr>
        <p:spPr>
          <a:xfrm>
            <a:off x="2057400" y="1628775"/>
            <a:ext cx="8421688" cy="4503738"/>
          </a:xfrm>
        </p:spPr>
        <p:txBody>
          <a:bodyPr/>
          <a:lstStyle/>
          <a:p>
            <a:r>
              <a:rPr lang="en-US" altLang="en-IT">
                <a:cs typeface="Times New Roman" panose="02020603050405020304" pitchFamily="18" charset="0"/>
              </a:rPr>
              <a:t>Let </a:t>
            </a:r>
            <a:r>
              <a:rPr lang="en-US" altLang="en-IT">
                <a:solidFill>
                  <a:srgbClr val="FF0000"/>
                </a:solidFill>
                <a:cs typeface="Times New Roman" panose="02020603050405020304" pitchFamily="18" charset="0"/>
              </a:rPr>
              <a:t>MIS(</a:t>
            </a:r>
            <a:r>
              <a:rPr lang="en-US" altLang="en-IT" i="1">
                <a:solidFill>
                  <a:srgbClr val="FF0000"/>
                </a:solidFill>
                <a:cs typeface="Times New Roman" panose="02020603050405020304" pitchFamily="18" charset="0"/>
              </a:rPr>
              <a:t>i</a:t>
            </a:r>
            <a:r>
              <a:rPr lang="en-US" altLang="en-IT">
                <a:solidFill>
                  <a:srgbClr val="FF0000"/>
                </a:solidFill>
                <a:cs typeface="Times New Roman" panose="02020603050405020304" pitchFamily="18" charset="0"/>
              </a:rPr>
              <a:t>)</a:t>
            </a:r>
            <a:r>
              <a:rPr lang="en-US" altLang="en-IT">
                <a:cs typeface="Times New Roman" panose="02020603050405020304" pitchFamily="18" charset="0"/>
              </a:rPr>
              <a:t> be the MIS value of item </a:t>
            </a:r>
            <a:r>
              <a:rPr lang="en-US" altLang="en-IT" i="1">
                <a:cs typeface="Times New Roman" panose="02020603050405020304" pitchFamily="18" charset="0"/>
              </a:rPr>
              <a:t>i</a:t>
            </a:r>
            <a:r>
              <a:rPr lang="en-US" altLang="en-IT">
                <a:cs typeface="Times New Roman" panose="02020603050405020304" pitchFamily="18" charset="0"/>
              </a:rPr>
              <a:t>. The </a:t>
            </a:r>
            <a:r>
              <a:rPr lang="en-US" altLang="en-IT" i="1">
                <a:cs typeface="Times New Roman" panose="02020603050405020304" pitchFamily="18" charset="0"/>
              </a:rPr>
              <a:t>minsup </a:t>
            </a:r>
            <a:r>
              <a:rPr lang="en-US" altLang="en-IT">
                <a:cs typeface="Times New Roman" panose="02020603050405020304" pitchFamily="18" charset="0"/>
              </a:rPr>
              <a:t>of a rule </a:t>
            </a:r>
            <a:r>
              <a:rPr lang="en-US" altLang="en-IT" i="1">
                <a:cs typeface="Times New Roman" panose="02020603050405020304" pitchFamily="18" charset="0"/>
              </a:rPr>
              <a:t>R</a:t>
            </a:r>
            <a:r>
              <a:rPr lang="en-US" altLang="en-IT">
                <a:cs typeface="Times New Roman" panose="02020603050405020304" pitchFamily="18" charset="0"/>
              </a:rPr>
              <a:t> is the lowest MIS value of the items in the rule. </a:t>
            </a:r>
          </a:p>
          <a:p>
            <a:r>
              <a:rPr lang="en-US" altLang="en-IT">
                <a:cs typeface="Times New Roman" panose="02020603050405020304" pitchFamily="18" charset="0"/>
              </a:rPr>
              <a:t>I.e., a rule </a:t>
            </a:r>
            <a:r>
              <a:rPr lang="en-US" altLang="en-IT" i="1">
                <a:cs typeface="Times New Roman" panose="02020603050405020304" pitchFamily="18" charset="0"/>
              </a:rPr>
              <a:t>R</a:t>
            </a:r>
            <a:r>
              <a:rPr lang="en-US" altLang="en-IT">
                <a:cs typeface="Times New Roman" panose="02020603050405020304" pitchFamily="18" charset="0"/>
              </a:rPr>
              <a:t>:    </a:t>
            </a:r>
            <a:r>
              <a:rPr lang="en-US" altLang="en-IT" i="1">
                <a:solidFill>
                  <a:srgbClr val="FF0000"/>
                </a:solidFill>
                <a:cs typeface="Times New Roman" panose="02020603050405020304" pitchFamily="18" charset="0"/>
              </a:rPr>
              <a:t>a</a:t>
            </a:r>
            <a:r>
              <a:rPr lang="en-US" altLang="en-IT" baseline="-30000">
                <a:solidFill>
                  <a:srgbClr val="FF0000"/>
                </a:solidFill>
                <a:cs typeface="Times New Roman" panose="02020603050405020304" pitchFamily="18" charset="0"/>
              </a:rPr>
              <a:t>1</a:t>
            </a:r>
            <a:r>
              <a:rPr lang="en-US" altLang="en-IT">
                <a:solidFill>
                  <a:srgbClr val="FF0000"/>
                </a:solidFill>
                <a:cs typeface="Times New Roman" panose="02020603050405020304" pitchFamily="18" charset="0"/>
              </a:rPr>
              <a:t>, </a:t>
            </a:r>
            <a:r>
              <a:rPr lang="en-US" altLang="en-IT" i="1">
                <a:solidFill>
                  <a:srgbClr val="FF0000"/>
                </a:solidFill>
                <a:cs typeface="Times New Roman" panose="02020603050405020304" pitchFamily="18" charset="0"/>
              </a:rPr>
              <a:t>a</a:t>
            </a:r>
            <a:r>
              <a:rPr lang="en-US" altLang="en-IT" baseline="-30000">
                <a:solidFill>
                  <a:srgbClr val="FF0000"/>
                </a:solidFill>
                <a:cs typeface="Times New Roman" panose="02020603050405020304" pitchFamily="18" charset="0"/>
              </a:rPr>
              <a:t>2</a:t>
            </a:r>
            <a:r>
              <a:rPr lang="en-US" altLang="en-IT">
                <a:solidFill>
                  <a:srgbClr val="FF0000"/>
                </a:solidFill>
                <a:cs typeface="Times New Roman" panose="02020603050405020304" pitchFamily="18" charset="0"/>
              </a:rPr>
              <a:t>, …, </a:t>
            </a:r>
            <a:r>
              <a:rPr lang="en-US" altLang="en-IT" i="1">
                <a:solidFill>
                  <a:srgbClr val="FF0000"/>
                </a:solidFill>
                <a:cs typeface="Times New Roman" panose="02020603050405020304" pitchFamily="18" charset="0"/>
              </a:rPr>
              <a:t>a</a:t>
            </a:r>
            <a:r>
              <a:rPr lang="en-US" altLang="en-IT" i="1" baseline="-30000">
                <a:solidFill>
                  <a:srgbClr val="FF0000"/>
                </a:solidFill>
                <a:cs typeface="Times New Roman" panose="02020603050405020304" pitchFamily="18" charset="0"/>
              </a:rPr>
              <a:t>k</a:t>
            </a:r>
            <a:r>
              <a:rPr lang="en-US" altLang="en-IT">
                <a:solidFill>
                  <a:srgbClr val="FF0000"/>
                </a:solidFill>
                <a:cs typeface="Times New Roman" panose="02020603050405020304" pitchFamily="18" charset="0"/>
              </a:rPr>
              <a:t> </a:t>
            </a:r>
            <a:r>
              <a:rPr lang="en-US" altLang="en-IT">
                <a:solidFill>
                  <a:srgbClr val="FF0000"/>
                </a:solidFill>
                <a:cs typeface="Times New Roman" panose="02020603050405020304" pitchFamily="18" charset="0"/>
                <a:sym typeface="Symbol" pitchFamily="2" charset="2"/>
              </a:rPr>
              <a:t></a:t>
            </a:r>
            <a:r>
              <a:rPr lang="en-US" altLang="en-IT">
                <a:solidFill>
                  <a:srgbClr val="FF0000"/>
                </a:solidFill>
                <a:cs typeface="Times New Roman" panose="02020603050405020304" pitchFamily="18" charset="0"/>
              </a:rPr>
              <a:t> </a:t>
            </a:r>
            <a:r>
              <a:rPr lang="en-US" altLang="en-IT" i="1">
                <a:solidFill>
                  <a:srgbClr val="FF0000"/>
                </a:solidFill>
                <a:cs typeface="Times New Roman" panose="02020603050405020304" pitchFamily="18" charset="0"/>
              </a:rPr>
              <a:t>a</a:t>
            </a:r>
            <a:r>
              <a:rPr lang="en-US" altLang="en-IT" i="1" baseline="-30000">
                <a:solidFill>
                  <a:srgbClr val="FF0000"/>
                </a:solidFill>
                <a:cs typeface="Times New Roman" panose="02020603050405020304" pitchFamily="18" charset="0"/>
              </a:rPr>
              <a:t>k+</a:t>
            </a:r>
            <a:r>
              <a:rPr lang="en-US" altLang="en-IT" baseline="-30000">
                <a:solidFill>
                  <a:srgbClr val="FF0000"/>
                </a:solidFill>
                <a:cs typeface="Times New Roman" panose="02020603050405020304" pitchFamily="18" charset="0"/>
              </a:rPr>
              <a:t>1</a:t>
            </a:r>
            <a:r>
              <a:rPr lang="en-US" altLang="en-IT">
                <a:solidFill>
                  <a:srgbClr val="FF0000"/>
                </a:solidFill>
                <a:cs typeface="Times New Roman" panose="02020603050405020304" pitchFamily="18" charset="0"/>
              </a:rPr>
              <a:t>, …, </a:t>
            </a:r>
            <a:r>
              <a:rPr lang="en-US" altLang="en-IT" i="1">
                <a:solidFill>
                  <a:srgbClr val="FF0000"/>
                </a:solidFill>
                <a:cs typeface="Times New Roman" panose="02020603050405020304" pitchFamily="18" charset="0"/>
              </a:rPr>
              <a:t>a</a:t>
            </a:r>
            <a:r>
              <a:rPr lang="en-US" altLang="en-IT" i="1" baseline="-30000">
                <a:solidFill>
                  <a:srgbClr val="FF0000"/>
                </a:solidFill>
                <a:cs typeface="Times New Roman" panose="02020603050405020304" pitchFamily="18" charset="0"/>
              </a:rPr>
              <a:t>r</a:t>
            </a:r>
            <a:r>
              <a:rPr lang="en-US" altLang="en-IT">
                <a:cs typeface="Times New Roman" panose="02020603050405020304" pitchFamily="18" charset="0"/>
              </a:rPr>
              <a:t> satisfies its minimum support if its actual support is </a:t>
            </a:r>
            <a:r>
              <a:rPr lang="en-US" altLang="en-IT">
                <a:cs typeface="Times New Roman" panose="02020603050405020304" pitchFamily="18" charset="0"/>
                <a:sym typeface="Symbol" pitchFamily="2" charset="2"/>
              </a:rPr>
              <a:t></a:t>
            </a:r>
            <a:endParaRPr lang="en-US" altLang="en-IT"/>
          </a:p>
          <a:p>
            <a:pPr>
              <a:buFont typeface="Wingdings" pitchFamily="2" charset="2"/>
              <a:buNone/>
            </a:pPr>
            <a:r>
              <a:rPr lang="en-US" altLang="en-IT">
                <a:cs typeface="Times New Roman" panose="02020603050405020304" pitchFamily="18" charset="0"/>
              </a:rPr>
              <a:t>		</a:t>
            </a:r>
            <a:r>
              <a:rPr lang="en-US" altLang="en-IT">
                <a:solidFill>
                  <a:srgbClr val="FF0000"/>
                </a:solidFill>
                <a:cs typeface="Times New Roman" panose="02020603050405020304" pitchFamily="18" charset="0"/>
              </a:rPr>
              <a:t>min(MIS(</a:t>
            </a:r>
            <a:r>
              <a:rPr lang="en-US" altLang="en-IT" i="1">
                <a:solidFill>
                  <a:srgbClr val="FF0000"/>
                </a:solidFill>
                <a:cs typeface="Times New Roman" panose="02020603050405020304" pitchFamily="18" charset="0"/>
              </a:rPr>
              <a:t>a</a:t>
            </a:r>
            <a:r>
              <a:rPr lang="en-US" altLang="en-IT" baseline="-30000">
                <a:solidFill>
                  <a:srgbClr val="FF0000"/>
                </a:solidFill>
                <a:cs typeface="Times New Roman" panose="02020603050405020304" pitchFamily="18" charset="0"/>
              </a:rPr>
              <a:t>1</a:t>
            </a:r>
            <a:r>
              <a:rPr lang="en-US" altLang="en-IT">
                <a:solidFill>
                  <a:srgbClr val="FF0000"/>
                </a:solidFill>
                <a:cs typeface="Times New Roman" panose="02020603050405020304" pitchFamily="18" charset="0"/>
              </a:rPr>
              <a:t>), MIS(</a:t>
            </a:r>
            <a:r>
              <a:rPr lang="en-US" altLang="en-IT" i="1">
                <a:solidFill>
                  <a:srgbClr val="FF0000"/>
                </a:solidFill>
                <a:cs typeface="Times New Roman" panose="02020603050405020304" pitchFamily="18" charset="0"/>
              </a:rPr>
              <a:t>a</a:t>
            </a:r>
            <a:r>
              <a:rPr lang="en-US" altLang="en-IT" baseline="-30000">
                <a:solidFill>
                  <a:srgbClr val="FF0000"/>
                </a:solidFill>
                <a:cs typeface="Times New Roman" panose="02020603050405020304" pitchFamily="18" charset="0"/>
              </a:rPr>
              <a:t>2</a:t>
            </a:r>
            <a:r>
              <a:rPr lang="en-US" altLang="en-IT">
                <a:solidFill>
                  <a:srgbClr val="FF0000"/>
                </a:solidFill>
                <a:cs typeface="Times New Roman" panose="02020603050405020304" pitchFamily="18" charset="0"/>
              </a:rPr>
              <a:t>), …, MIS(</a:t>
            </a:r>
            <a:r>
              <a:rPr lang="en-US" altLang="en-IT" i="1">
                <a:solidFill>
                  <a:srgbClr val="FF0000"/>
                </a:solidFill>
                <a:cs typeface="Times New Roman" panose="02020603050405020304" pitchFamily="18" charset="0"/>
              </a:rPr>
              <a:t>a</a:t>
            </a:r>
            <a:r>
              <a:rPr lang="en-US" altLang="en-IT" i="1" baseline="-30000">
                <a:solidFill>
                  <a:srgbClr val="FF0000"/>
                </a:solidFill>
                <a:cs typeface="Times New Roman" panose="02020603050405020304" pitchFamily="18" charset="0"/>
              </a:rPr>
              <a:t>r</a:t>
            </a:r>
            <a:r>
              <a:rPr lang="en-US" altLang="en-IT">
                <a:solidFill>
                  <a:srgbClr val="FF0000"/>
                </a:solidFill>
                <a:cs typeface="Times New Roman" panose="02020603050405020304" pitchFamily="18" charset="0"/>
              </a:rPr>
              <a:t>)).</a:t>
            </a:r>
            <a:r>
              <a:rPr lang="en-US" altLang="en-IT">
                <a:cs typeface="Times New Roman" panose="02020603050405020304" pitchFamily="18" charset="0"/>
              </a:rPr>
              <a:t> </a:t>
            </a:r>
          </a:p>
          <a:p>
            <a:pPr>
              <a:buFont typeface="Wingdings" pitchFamily="2" charset="2"/>
              <a:buNone/>
            </a:pPr>
            <a:endParaRPr lang="en-US" altLang="en-IT">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7F8B3E21-DAB6-352F-8B73-BABC143F937F}"/>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687BC187-CAE9-8F9B-0F59-DC8469EE7547}"/>
              </a:ext>
            </a:extLst>
          </p:cNvPr>
          <p:cNvSpPr>
            <a:spLocks noGrp="1"/>
          </p:cNvSpPr>
          <p:nvPr>
            <p:ph type="sldNum" sz="quarter" idx="11"/>
          </p:nvPr>
        </p:nvSpPr>
        <p:spPr/>
        <p:txBody>
          <a:bodyPr/>
          <a:lstStyle/>
          <a:p>
            <a:fld id="{F85AAEDC-2421-7348-994B-A3299D7EDE17}" type="slidenum">
              <a:rPr lang="en-US" altLang="en-US"/>
              <a:pPr/>
              <a:t>53</a:t>
            </a:fld>
            <a:endParaRPr lang="en-US" altLang="en-US"/>
          </a:p>
        </p:txBody>
      </p:sp>
      <p:sp>
        <p:nvSpPr>
          <p:cNvPr id="670722" name="Rectangle 2">
            <a:extLst>
              <a:ext uri="{FF2B5EF4-FFF2-40B4-BE49-F238E27FC236}">
                <a16:creationId xmlns:a16="http://schemas.microsoft.com/office/drawing/2014/main" id="{DAD11737-7EAD-D6A6-F613-350CE5DFA777}"/>
              </a:ext>
            </a:extLst>
          </p:cNvPr>
          <p:cNvSpPr>
            <a:spLocks noGrp="1" noChangeArrowheads="1"/>
          </p:cNvSpPr>
          <p:nvPr>
            <p:ph type="title"/>
          </p:nvPr>
        </p:nvSpPr>
        <p:spPr>
          <a:xfrm>
            <a:off x="2135189" y="441325"/>
            <a:ext cx="7793037" cy="1143000"/>
          </a:xfrm>
        </p:spPr>
        <p:txBody>
          <a:bodyPr/>
          <a:lstStyle/>
          <a:p>
            <a:r>
              <a:rPr lang="en-US" altLang="en-IT"/>
              <a:t>An Example</a:t>
            </a:r>
          </a:p>
        </p:txBody>
      </p:sp>
      <p:sp>
        <p:nvSpPr>
          <p:cNvPr id="670723" name="Rectangle 3">
            <a:extLst>
              <a:ext uri="{FF2B5EF4-FFF2-40B4-BE49-F238E27FC236}">
                <a16:creationId xmlns:a16="http://schemas.microsoft.com/office/drawing/2014/main" id="{94D8C0B6-028F-0A7B-CD99-A027AE147C9A}"/>
              </a:ext>
            </a:extLst>
          </p:cNvPr>
          <p:cNvSpPr>
            <a:spLocks noGrp="1" noChangeArrowheads="1"/>
          </p:cNvSpPr>
          <p:nvPr>
            <p:ph type="body" idx="1"/>
          </p:nvPr>
        </p:nvSpPr>
        <p:spPr>
          <a:xfrm>
            <a:off x="1992313" y="1700213"/>
            <a:ext cx="8001000" cy="4419600"/>
          </a:xfrm>
        </p:spPr>
        <p:txBody>
          <a:bodyPr/>
          <a:lstStyle/>
          <a:p>
            <a:pPr>
              <a:lnSpc>
                <a:spcPct val="90000"/>
              </a:lnSpc>
            </a:pPr>
            <a:r>
              <a:rPr lang="en-US" altLang="en-IT">
                <a:cs typeface="Times New Roman" panose="02020603050405020304" pitchFamily="18" charset="0"/>
              </a:rPr>
              <a:t>Consider the following items:</a:t>
            </a:r>
          </a:p>
          <a:p>
            <a:pPr>
              <a:lnSpc>
                <a:spcPct val="90000"/>
              </a:lnSpc>
              <a:buFont typeface="Wingdings" pitchFamily="2" charset="2"/>
              <a:buNone/>
            </a:pPr>
            <a:r>
              <a:rPr lang="en-US" altLang="en-IT" sz="2600">
                <a:cs typeface="Times New Roman" panose="02020603050405020304" pitchFamily="18" charset="0"/>
              </a:rPr>
              <a:t>		</a:t>
            </a:r>
            <a:r>
              <a:rPr lang="en-US" altLang="en-IT" sz="2600" i="1">
                <a:solidFill>
                  <a:srgbClr val="FF0000"/>
                </a:solidFill>
                <a:cs typeface="Times New Roman" panose="02020603050405020304" pitchFamily="18" charset="0"/>
              </a:rPr>
              <a:t>bread</a:t>
            </a:r>
            <a:r>
              <a:rPr lang="en-US" altLang="en-IT" sz="2600">
                <a:solidFill>
                  <a:srgbClr val="FF0000"/>
                </a:solidFill>
                <a:cs typeface="Times New Roman" panose="02020603050405020304" pitchFamily="18" charset="0"/>
              </a:rPr>
              <a:t>, </a:t>
            </a:r>
            <a:r>
              <a:rPr lang="en-US" altLang="en-IT" sz="2600" i="1">
                <a:solidFill>
                  <a:srgbClr val="FF0000"/>
                </a:solidFill>
                <a:cs typeface="Times New Roman" panose="02020603050405020304" pitchFamily="18" charset="0"/>
              </a:rPr>
              <a:t>shoes</a:t>
            </a:r>
            <a:r>
              <a:rPr lang="en-US" altLang="en-IT" sz="2600">
                <a:solidFill>
                  <a:srgbClr val="FF0000"/>
                </a:solidFill>
                <a:cs typeface="Times New Roman" panose="02020603050405020304" pitchFamily="18" charset="0"/>
              </a:rPr>
              <a:t>, </a:t>
            </a:r>
            <a:r>
              <a:rPr lang="en-US" altLang="en-IT" sz="2600" i="1">
                <a:solidFill>
                  <a:srgbClr val="FF0000"/>
                </a:solidFill>
                <a:cs typeface="Times New Roman" panose="02020603050405020304" pitchFamily="18" charset="0"/>
              </a:rPr>
              <a:t>clothes</a:t>
            </a:r>
            <a:r>
              <a:rPr lang="en-US" altLang="en-IT" sz="2600">
                <a:cs typeface="Times New Roman" panose="02020603050405020304" pitchFamily="18" charset="0"/>
              </a:rPr>
              <a:t>  </a:t>
            </a:r>
          </a:p>
          <a:p>
            <a:pPr algn="just">
              <a:lnSpc>
                <a:spcPct val="90000"/>
              </a:lnSpc>
              <a:buFont typeface="Wingdings" pitchFamily="2" charset="2"/>
              <a:buNone/>
            </a:pPr>
            <a:r>
              <a:rPr lang="en-US" altLang="en-IT" sz="2600">
                <a:cs typeface="Times New Roman" panose="02020603050405020304" pitchFamily="18" charset="0"/>
              </a:rPr>
              <a:t>	The user-specified MIS values are as follows:</a:t>
            </a:r>
          </a:p>
          <a:p>
            <a:pPr algn="just">
              <a:lnSpc>
                <a:spcPct val="90000"/>
              </a:lnSpc>
              <a:buFont typeface="Wingdings" pitchFamily="2" charset="2"/>
              <a:buNone/>
            </a:pPr>
            <a:r>
              <a:rPr lang="en-US" altLang="en-IT" sz="2600">
                <a:cs typeface="Times New Roman" panose="02020603050405020304" pitchFamily="18" charset="0"/>
              </a:rPr>
              <a:t>		MIS(</a:t>
            </a:r>
            <a:r>
              <a:rPr lang="en-US" altLang="en-IT" sz="2600" i="1">
                <a:cs typeface="Times New Roman" panose="02020603050405020304" pitchFamily="18" charset="0"/>
              </a:rPr>
              <a:t>bread</a:t>
            </a:r>
            <a:r>
              <a:rPr lang="en-US" altLang="en-IT" sz="2600">
                <a:cs typeface="Times New Roman" panose="02020603050405020304" pitchFamily="18" charset="0"/>
              </a:rPr>
              <a:t>) = 2% 	MIS(</a:t>
            </a:r>
            <a:r>
              <a:rPr lang="en-US" altLang="en-IT" sz="2600" i="1">
                <a:cs typeface="Times New Roman" panose="02020603050405020304" pitchFamily="18" charset="0"/>
              </a:rPr>
              <a:t>shoes</a:t>
            </a:r>
            <a:r>
              <a:rPr lang="en-US" altLang="en-IT" sz="2600">
                <a:cs typeface="Times New Roman" panose="02020603050405020304" pitchFamily="18" charset="0"/>
              </a:rPr>
              <a:t>) = 0.1%</a:t>
            </a:r>
          </a:p>
          <a:p>
            <a:pPr algn="just">
              <a:lnSpc>
                <a:spcPct val="90000"/>
              </a:lnSpc>
              <a:buFont typeface="Wingdings" pitchFamily="2" charset="2"/>
              <a:buNone/>
            </a:pPr>
            <a:r>
              <a:rPr lang="en-US" altLang="en-IT" sz="2600">
                <a:cs typeface="Times New Roman" panose="02020603050405020304" pitchFamily="18" charset="0"/>
              </a:rPr>
              <a:t>		MIS(</a:t>
            </a:r>
            <a:r>
              <a:rPr lang="en-US" altLang="en-IT" sz="2600" i="1">
                <a:cs typeface="Times New Roman" panose="02020603050405020304" pitchFamily="18" charset="0"/>
              </a:rPr>
              <a:t>clothes</a:t>
            </a:r>
            <a:r>
              <a:rPr lang="en-US" altLang="en-IT" sz="2600">
                <a:cs typeface="Times New Roman" panose="02020603050405020304" pitchFamily="18" charset="0"/>
              </a:rPr>
              <a:t>) = 0.2%</a:t>
            </a:r>
          </a:p>
          <a:p>
            <a:pPr algn="just">
              <a:lnSpc>
                <a:spcPct val="90000"/>
              </a:lnSpc>
              <a:buFont typeface="Wingdings" pitchFamily="2" charset="2"/>
              <a:buNone/>
            </a:pPr>
            <a:r>
              <a:rPr lang="en-US" altLang="en-IT" sz="2600">
                <a:cs typeface="Times New Roman" panose="02020603050405020304" pitchFamily="18" charset="0"/>
              </a:rPr>
              <a:t>	The following rule </a:t>
            </a:r>
            <a:r>
              <a:rPr lang="en-US" altLang="en-IT" sz="2600">
                <a:solidFill>
                  <a:srgbClr val="FF0000"/>
                </a:solidFill>
                <a:cs typeface="Times New Roman" panose="02020603050405020304" pitchFamily="18" charset="0"/>
              </a:rPr>
              <a:t>doesn’t satisfy its minsup</a:t>
            </a:r>
            <a:r>
              <a:rPr lang="en-US" altLang="en-IT" sz="2600">
                <a:cs typeface="Times New Roman" panose="02020603050405020304" pitchFamily="18" charset="0"/>
              </a:rPr>
              <a:t>:</a:t>
            </a:r>
          </a:p>
          <a:p>
            <a:pPr algn="just">
              <a:lnSpc>
                <a:spcPct val="90000"/>
              </a:lnSpc>
              <a:buFont typeface="Wingdings" pitchFamily="2" charset="2"/>
              <a:buNone/>
            </a:pPr>
            <a:r>
              <a:rPr lang="en-US" altLang="en-IT" sz="2600">
                <a:cs typeface="Times New Roman" panose="02020603050405020304" pitchFamily="18" charset="0"/>
              </a:rPr>
              <a:t>		</a:t>
            </a:r>
            <a:r>
              <a:rPr lang="en-US" altLang="en-IT" sz="2600" i="1">
                <a:cs typeface="Times New Roman" panose="02020603050405020304" pitchFamily="18" charset="0"/>
              </a:rPr>
              <a:t>clothes</a:t>
            </a:r>
            <a:r>
              <a:rPr lang="en-US" altLang="en-IT" sz="2600">
                <a:cs typeface="Times New Roman" panose="02020603050405020304" pitchFamily="18" charset="0"/>
              </a:rPr>
              <a:t> </a:t>
            </a:r>
            <a:r>
              <a:rPr lang="en-US" altLang="en-IT" sz="2600">
                <a:cs typeface="Times New Roman" panose="02020603050405020304" pitchFamily="18" charset="0"/>
                <a:sym typeface="Symbol" pitchFamily="2" charset="2"/>
              </a:rPr>
              <a:t></a:t>
            </a:r>
            <a:r>
              <a:rPr lang="en-US" altLang="en-IT" sz="2600">
                <a:cs typeface="Times New Roman" panose="02020603050405020304" pitchFamily="18" charset="0"/>
              </a:rPr>
              <a:t> </a:t>
            </a:r>
            <a:r>
              <a:rPr lang="en-US" altLang="en-IT" sz="2600" i="1">
                <a:cs typeface="Times New Roman" panose="02020603050405020304" pitchFamily="18" charset="0"/>
              </a:rPr>
              <a:t>bread</a:t>
            </a:r>
            <a:r>
              <a:rPr lang="en-US" altLang="en-IT" sz="2600">
                <a:cs typeface="Times New Roman" panose="02020603050405020304" pitchFamily="18" charset="0"/>
              </a:rPr>
              <a:t> [sup=0.15%,conf =70%]</a:t>
            </a:r>
          </a:p>
          <a:p>
            <a:pPr algn="just">
              <a:lnSpc>
                <a:spcPct val="90000"/>
              </a:lnSpc>
              <a:buFont typeface="Wingdings" pitchFamily="2" charset="2"/>
              <a:buNone/>
            </a:pPr>
            <a:r>
              <a:rPr lang="en-US" altLang="en-IT" sz="2600">
                <a:cs typeface="Times New Roman" panose="02020603050405020304" pitchFamily="18" charset="0"/>
              </a:rPr>
              <a:t>	The following rule </a:t>
            </a:r>
            <a:r>
              <a:rPr lang="en-US" altLang="en-IT" sz="2600">
                <a:solidFill>
                  <a:srgbClr val="FF0000"/>
                </a:solidFill>
                <a:cs typeface="Times New Roman" panose="02020603050405020304" pitchFamily="18" charset="0"/>
              </a:rPr>
              <a:t>satisfies its minsup</a:t>
            </a:r>
            <a:r>
              <a:rPr lang="en-US" altLang="en-IT" sz="2600">
                <a:cs typeface="Times New Roman" panose="02020603050405020304" pitchFamily="18" charset="0"/>
              </a:rPr>
              <a:t>:</a:t>
            </a:r>
          </a:p>
          <a:p>
            <a:pPr algn="just">
              <a:lnSpc>
                <a:spcPct val="90000"/>
              </a:lnSpc>
              <a:buFont typeface="Wingdings" pitchFamily="2" charset="2"/>
              <a:buNone/>
            </a:pPr>
            <a:r>
              <a:rPr lang="en-US" altLang="en-IT" sz="2600">
                <a:cs typeface="Times New Roman" panose="02020603050405020304" pitchFamily="18" charset="0"/>
              </a:rPr>
              <a:t>		</a:t>
            </a:r>
            <a:r>
              <a:rPr lang="en-US" altLang="en-IT" sz="2600" i="1">
                <a:cs typeface="Times New Roman" panose="02020603050405020304" pitchFamily="18" charset="0"/>
              </a:rPr>
              <a:t>clothes</a:t>
            </a:r>
            <a:r>
              <a:rPr lang="en-US" altLang="en-IT" sz="2600">
                <a:cs typeface="Times New Roman" panose="02020603050405020304" pitchFamily="18" charset="0"/>
              </a:rPr>
              <a:t> </a:t>
            </a:r>
            <a:r>
              <a:rPr lang="en-US" altLang="en-IT" sz="2600">
                <a:cs typeface="Times New Roman" panose="02020603050405020304" pitchFamily="18" charset="0"/>
                <a:sym typeface="Symbol" pitchFamily="2" charset="2"/>
              </a:rPr>
              <a:t></a:t>
            </a:r>
            <a:r>
              <a:rPr lang="en-US" altLang="en-IT" sz="2600">
                <a:cs typeface="Times New Roman" panose="02020603050405020304" pitchFamily="18" charset="0"/>
              </a:rPr>
              <a:t> </a:t>
            </a:r>
            <a:r>
              <a:rPr lang="en-US" altLang="en-IT" sz="2600" i="1">
                <a:cs typeface="Times New Roman" panose="02020603050405020304" pitchFamily="18" charset="0"/>
              </a:rPr>
              <a:t>shoes</a:t>
            </a:r>
            <a:r>
              <a:rPr lang="en-US" altLang="en-IT" sz="2600">
                <a:cs typeface="Times New Roman" panose="02020603050405020304" pitchFamily="18" charset="0"/>
              </a:rPr>
              <a:t> [sup=0.15%,conf =70%]</a:t>
            </a:r>
          </a:p>
          <a:p>
            <a:pPr>
              <a:lnSpc>
                <a:spcPct val="90000"/>
              </a:lnSpc>
              <a:buFont typeface="Wingdings" pitchFamily="2" charset="2"/>
              <a:buNone/>
            </a:pPr>
            <a:endParaRPr lang="en-US" altLang="en-IT" sz="260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9376EF37-0755-EFF1-4DED-572079D9A2F7}"/>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56ED731C-DF27-408E-6D66-0C54931F4A57}"/>
              </a:ext>
            </a:extLst>
          </p:cNvPr>
          <p:cNvSpPr>
            <a:spLocks noGrp="1"/>
          </p:cNvSpPr>
          <p:nvPr>
            <p:ph type="sldNum" sz="quarter" idx="11"/>
          </p:nvPr>
        </p:nvSpPr>
        <p:spPr/>
        <p:txBody>
          <a:bodyPr/>
          <a:lstStyle/>
          <a:p>
            <a:fld id="{80AE1709-34C5-E745-B2D6-9BC543F77743}" type="slidenum">
              <a:rPr lang="en-US" altLang="en-US"/>
              <a:pPr/>
              <a:t>54</a:t>
            </a:fld>
            <a:endParaRPr lang="en-US" altLang="en-US"/>
          </a:p>
        </p:txBody>
      </p:sp>
      <p:sp>
        <p:nvSpPr>
          <p:cNvPr id="671746" name="Rectangle 2">
            <a:extLst>
              <a:ext uri="{FF2B5EF4-FFF2-40B4-BE49-F238E27FC236}">
                <a16:creationId xmlns:a16="http://schemas.microsoft.com/office/drawing/2014/main" id="{F6A44E35-49FD-4AF4-5C47-717D449CD11E}"/>
              </a:ext>
            </a:extLst>
          </p:cNvPr>
          <p:cNvSpPr>
            <a:spLocks noGrp="1" noChangeArrowheads="1"/>
          </p:cNvSpPr>
          <p:nvPr>
            <p:ph type="title"/>
          </p:nvPr>
        </p:nvSpPr>
        <p:spPr>
          <a:xfrm>
            <a:off x="2100263" y="441325"/>
            <a:ext cx="8128000" cy="1143000"/>
          </a:xfrm>
        </p:spPr>
        <p:txBody>
          <a:bodyPr/>
          <a:lstStyle/>
          <a:p>
            <a:r>
              <a:rPr lang="en-US" altLang="en-IT"/>
              <a:t>Downward closure property</a:t>
            </a:r>
          </a:p>
        </p:txBody>
      </p:sp>
      <p:sp>
        <p:nvSpPr>
          <p:cNvPr id="671747" name="Rectangle 3">
            <a:extLst>
              <a:ext uri="{FF2B5EF4-FFF2-40B4-BE49-F238E27FC236}">
                <a16:creationId xmlns:a16="http://schemas.microsoft.com/office/drawing/2014/main" id="{270A2450-2483-87D7-0B56-5C6D01D231E5}"/>
              </a:ext>
            </a:extLst>
          </p:cNvPr>
          <p:cNvSpPr>
            <a:spLocks noGrp="1" noChangeArrowheads="1"/>
          </p:cNvSpPr>
          <p:nvPr>
            <p:ph type="body" idx="1"/>
          </p:nvPr>
        </p:nvSpPr>
        <p:spPr>
          <a:xfrm>
            <a:off x="2133600" y="1557338"/>
            <a:ext cx="7772400" cy="4767262"/>
          </a:xfrm>
        </p:spPr>
        <p:txBody>
          <a:bodyPr/>
          <a:lstStyle/>
          <a:p>
            <a:pPr>
              <a:lnSpc>
                <a:spcPct val="90000"/>
              </a:lnSpc>
            </a:pPr>
            <a:r>
              <a:rPr lang="en-US" altLang="en-IT"/>
              <a:t>In the new model, </a:t>
            </a:r>
            <a:r>
              <a:rPr lang="en-US" altLang="en-IT">
                <a:solidFill>
                  <a:srgbClr val="FF0000"/>
                </a:solidFill>
              </a:rPr>
              <a:t>the property no longer holds </a:t>
            </a:r>
            <a:r>
              <a:rPr lang="en-US" altLang="en-IT">
                <a:solidFill>
                  <a:srgbClr val="3333CC"/>
                </a:solidFill>
              </a:rPr>
              <a:t>(?)</a:t>
            </a:r>
          </a:p>
          <a:p>
            <a:pPr>
              <a:lnSpc>
                <a:spcPct val="90000"/>
              </a:lnSpc>
              <a:buFont typeface="Wingdings" pitchFamily="2" charset="2"/>
              <a:buNone/>
            </a:pPr>
            <a:r>
              <a:rPr lang="en-US" altLang="en-IT" sz="2600" b="1">
                <a:cs typeface="Times New Roman" panose="02020603050405020304" pitchFamily="18" charset="0"/>
              </a:rPr>
              <a:t>E.g., </a:t>
            </a:r>
            <a:r>
              <a:rPr lang="en-US" altLang="en-IT" sz="2600">
                <a:cs typeface="Times New Roman" panose="02020603050405020304" pitchFamily="18" charset="0"/>
              </a:rPr>
              <a:t>Consider four items 1, 2, 3 and 4 in a database. Their minimum item supports are</a:t>
            </a:r>
          </a:p>
          <a:p>
            <a:pPr algn="just">
              <a:lnSpc>
                <a:spcPct val="90000"/>
              </a:lnSpc>
              <a:buFont typeface="Wingdings" pitchFamily="2" charset="2"/>
              <a:buNone/>
            </a:pPr>
            <a:r>
              <a:rPr lang="en-US" altLang="en-IT" sz="2600">
                <a:cs typeface="Times New Roman" panose="02020603050405020304" pitchFamily="18" charset="0"/>
              </a:rPr>
              <a:t>		MIS(1) = 10% 	MIS(2) = 20%</a:t>
            </a:r>
          </a:p>
          <a:p>
            <a:pPr algn="just">
              <a:lnSpc>
                <a:spcPct val="90000"/>
              </a:lnSpc>
              <a:buFont typeface="Wingdings" pitchFamily="2" charset="2"/>
              <a:buNone/>
            </a:pPr>
            <a:r>
              <a:rPr lang="en-US" altLang="en-IT" sz="2600">
                <a:cs typeface="Times New Roman" panose="02020603050405020304" pitchFamily="18" charset="0"/>
              </a:rPr>
              <a:t>		MIS(3) = 5% 	MIS(4) = 6%</a:t>
            </a:r>
          </a:p>
          <a:p>
            <a:pPr>
              <a:lnSpc>
                <a:spcPct val="90000"/>
              </a:lnSpc>
              <a:buFont typeface="Wingdings" pitchFamily="2" charset="2"/>
              <a:buNone/>
            </a:pPr>
            <a:r>
              <a:rPr lang="en-US" altLang="en-IT" sz="2600"/>
              <a:t>	</a:t>
            </a:r>
          </a:p>
          <a:p>
            <a:pPr>
              <a:lnSpc>
                <a:spcPct val="90000"/>
              </a:lnSpc>
              <a:buFont typeface="Wingdings" pitchFamily="2" charset="2"/>
              <a:buNone/>
            </a:pPr>
            <a:r>
              <a:rPr lang="en-US" altLang="en-IT" sz="2600"/>
              <a:t>	{1, 2} with support 9% is infrequent, but {1, 2, 3} and {1, 2, 4} could be frequent.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962CC166-6140-92DB-3724-588FDB494685}"/>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24D9C24F-7B3B-1E76-25A7-562957BEB6A7}"/>
              </a:ext>
            </a:extLst>
          </p:cNvPr>
          <p:cNvSpPr>
            <a:spLocks noGrp="1"/>
          </p:cNvSpPr>
          <p:nvPr>
            <p:ph type="sldNum" sz="quarter" idx="11"/>
          </p:nvPr>
        </p:nvSpPr>
        <p:spPr/>
        <p:txBody>
          <a:bodyPr/>
          <a:lstStyle/>
          <a:p>
            <a:fld id="{D01062E2-C177-7342-BF07-6DE15B598671}" type="slidenum">
              <a:rPr lang="en-US" altLang="en-US"/>
              <a:pPr/>
              <a:t>55</a:t>
            </a:fld>
            <a:endParaRPr lang="en-US" altLang="en-US"/>
          </a:p>
        </p:txBody>
      </p:sp>
      <p:sp>
        <p:nvSpPr>
          <p:cNvPr id="688130" name="Rectangle 2">
            <a:extLst>
              <a:ext uri="{FF2B5EF4-FFF2-40B4-BE49-F238E27FC236}">
                <a16:creationId xmlns:a16="http://schemas.microsoft.com/office/drawing/2014/main" id="{E89F3CBE-7B6D-204C-6BA5-7E5593D67443}"/>
              </a:ext>
            </a:extLst>
          </p:cNvPr>
          <p:cNvSpPr>
            <a:spLocks noGrp="1" noChangeArrowheads="1"/>
          </p:cNvSpPr>
          <p:nvPr>
            <p:ph type="title"/>
          </p:nvPr>
        </p:nvSpPr>
        <p:spPr/>
        <p:txBody>
          <a:bodyPr/>
          <a:lstStyle/>
          <a:p>
            <a:r>
              <a:rPr lang="en-US" altLang="en-IT"/>
              <a:t>To deal with the problem</a:t>
            </a:r>
          </a:p>
        </p:txBody>
      </p:sp>
      <p:sp>
        <p:nvSpPr>
          <p:cNvPr id="688131" name="Rectangle 3">
            <a:extLst>
              <a:ext uri="{FF2B5EF4-FFF2-40B4-BE49-F238E27FC236}">
                <a16:creationId xmlns:a16="http://schemas.microsoft.com/office/drawing/2014/main" id="{B1B8B230-2B9B-19D0-0397-843498A9008C}"/>
              </a:ext>
            </a:extLst>
          </p:cNvPr>
          <p:cNvSpPr>
            <a:spLocks noGrp="1" noChangeArrowheads="1"/>
          </p:cNvSpPr>
          <p:nvPr>
            <p:ph type="body" idx="1"/>
          </p:nvPr>
        </p:nvSpPr>
        <p:spPr>
          <a:xfrm>
            <a:off x="1992313" y="1376364"/>
            <a:ext cx="8229600" cy="4789487"/>
          </a:xfrm>
        </p:spPr>
        <p:txBody>
          <a:bodyPr/>
          <a:lstStyle/>
          <a:p>
            <a:r>
              <a:rPr lang="en-GB" altLang="ja-JP">
                <a:solidFill>
                  <a:srgbClr val="FF0000"/>
                </a:solidFill>
                <a:ea typeface="ＭＳ Ｐゴシック" panose="020B0600070205080204" pitchFamily="34" charset="-128"/>
              </a:rPr>
              <a:t>We sort all items in </a:t>
            </a:r>
            <a:r>
              <a:rPr lang="en-GB" altLang="ja-JP" i="1">
                <a:solidFill>
                  <a:srgbClr val="FF0000"/>
                </a:solidFill>
                <a:ea typeface="ＭＳ Ｐゴシック" panose="020B0600070205080204" pitchFamily="34" charset="-128"/>
              </a:rPr>
              <a:t>I</a:t>
            </a:r>
            <a:r>
              <a:rPr lang="en-GB" altLang="ja-JP">
                <a:solidFill>
                  <a:srgbClr val="FF0000"/>
                </a:solidFill>
                <a:ea typeface="ＭＳ Ｐゴシック" panose="020B0600070205080204" pitchFamily="34" charset="-128"/>
              </a:rPr>
              <a:t> according to their MIS values (make it a total order). </a:t>
            </a:r>
          </a:p>
          <a:p>
            <a:r>
              <a:rPr lang="en-GB" altLang="ja-JP">
                <a:solidFill>
                  <a:srgbClr val="3333CC"/>
                </a:solidFill>
                <a:ea typeface="ＭＳ Ｐゴシック" panose="020B0600070205080204" pitchFamily="34" charset="-128"/>
              </a:rPr>
              <a:t>The order is used throughout the algorithm in each itemset.</a:t>
            </a:r>
            <a:r>
              <a:rPr lang="en-GB" altLang="ja-JP">
                <a:ea typeface="ＭＳ Ｐゴシック" panose="020B0600070205080204" pitchFamily="34" charset="-128"/>
              </a:rPr>
              <a:t> </a:t>
            </a:r>
          </a:p>
          <a:p>
            <a:r>
              <a:rPr lang="en-US" altLang="ja-JP">
                <a:ea typeface="ＭＳ Ｐゴシック" panose="020B0600070205080204" pitchFamily="34" charset="-128"/>
              </a:rPr>
              <a:t>Each itemset </a:t>
            </a:r>
            <a:r>
              <a:rPr lang="en-US" altLang="ja-JP" i="1">
                <a:ea typeface="ＭＳ Ｐゴシック" panose="020B0600070205080204" pitchFamily="34" charset="-128"/>
              </a:rPr>
              <a:t>w</a:t>
            </a:r>
            <a:r>
              <a:rPr lang="en-US" altLang="ja-JP">
                <a:ea typeface="ＭＳ Ｐゴシック" panose="020B0600070205080204" pitchFamily="34" charset="-128"/>
              </a:rPr>
              <a:t> is of the following form: </a:t>
            </a:r>
          </a:p>
          <a:p>
            <a:pPr lvl="1">
              <a:buFont typeface="Wingdings" pitchFamily="2" charset="2"/>
              <a:buNone/>
            </a:pPr>
            <a:r>
              <a:rPr lang="en-US" altLang="ja-JP">
                <a:ea typeface="ＭＳ Ｐゴシック" panose="020B0600070205080204" pitchFamily="34" charset="-128"/>
              </a:rPr>
              <a:t>{</a:t>
            </a:r>
            <a:r>
              <a:rPr lang="en-US" altLang="ja-JP" i="1">
                <a:ea typeface="ＭＳ Ｐゴシック" panose="020B0600070205080204" pitchFamily="34" charset="-128"/>
              </a:rPr>
              <a:t>w</a:t>
            </a:r>
            <a:r>
              <a:rPr lang="en-US" altLang="ja-JP">
                <a:ea typeface="ＭＳ Ｐゴシック" panose="020B0600070205080204" pitchFamily="34" charset="-128"/>
              </a:rPr>
              <a:t>[1], </a:t>
            </a:r>
            <a:r>
              <a:rPr lang="en-US" altLang="ja-JP" i="1">
                <a:ea typeface="ＭＳ Ｐゴシック" panose="020B0600070205080204" pitchFamily="34" charset="-128"/>
              </a:rPr>
              <a:t>w</a:t>
            </a:r>
            <a:r>
              <a:rPr lang="en-US" altLang="ja-JP">
                <a:ea typeface="ＭＳ Ｐゴシック" panose="020B0600070205080204" pitchFamily="34" charset="-128"/>
              </a:rPr>
              <a:t>[2], …, </a:t>
            </a:r>
            <a:r>
              <a:rPr lang="en-US" altLang="ja-JP" i="1">
                <a:ea typeface="ＭＳ Ｐゴシック" panose="020B0600070205080204" pitchFamily="34" charset="-128"/>
              </a:rPr>
              <a:t>w</a:t>
            </a:r>
            <a:r>
              <a:rPr lang="en-US" altLang="ja-JP">
                <a:ea typeface="ＭＳ Ｐゴシック" panose="020B0600070205080204" pitchFamily="34" charset="-128"/>
              </a:rPr>
              <a:t>[</a:t>
            </a:r>
            <a:r>
              <a:rPr lang="en-US" altLang="ja-JP" i="1">
                <a:ea typeface="ＭＳ Ｐゴシック" panose="020B0600070205080204" pitchFamily="34" charset="-128"/>
              </a:rPr>
              <a:t>k</a:t>
            </a:r>
            <a:r>
              <a:rPr lang="en-US" altLang="ja-JP">
                <a:ea typeface="ＭＳ Ｐゴシック" panose="020B0600070205080204" pitchFamily="34" charset="-128"/>
              </a:rPr>
              <a:t>]}, consisting of items, </a:t>
            </a:r>
          </a:p>
          <a:p>
            <a:pPr lvl="1">
              <a:buFont typeface="Wingdings" pitchFamily="2" charset="2"/>
              <a:buNone/>
            </a:pPr>
            <a:r>
              <a:rPr lang="en-US" altLang="ja-JP">
                <a:ea typeface="ＭＳ Ｐゴシック" panose="020B0600070205080204" pitchFamily="34" charset="-128"/>
              </a:rPr>
              <a:t>	</a:t>
            </a:r>
            <a:r>
              <a:rPr lang="en-US" altLang="ja-JP" i="1">
                <a:ea typeface="ＭＳ Ｐゴシック" panose="020B0600070205080204" pitchFamily="34" charset="-128"/>
              </a:rPr>
              <a:t>w</a:t>
            </a:r>
            <a:r>
              <a:rPr lang="en-US" altLang="ja-JP">
                <a:ea typeface="ＭＳ Ｐゴシック" panose="020B0600070205080204" pitchFamily="34" charset="-128"/>
              </a:rPr>
              <a:t>[1], </a:t>
            </a:r>
            <a:r>
              <a:rPr lang="en-US" altLang="ja-JP" i="1">
                <a:ea typeface="ＭＳ Ｐゴシック" panose="020B0600070205080204" pitchFamily="34" charset="-128"/>
              </a:rPr>
              <a:t>w</a:t>
            </a:r>
            <a:r>
              <a:rPr lang="en-US" altLang="ja-JP">
                <a:ea typeface="ＭＳ Ｐゴシック" panose="020B0600070205080204" pitchFamily="34" charset="-128"/>
              </a:rPr>
              <a:t>[2], …, </a:t>
            </a:r>
            <a:r>
              <a:rPr lang="en-US" altLang="ja-JP" i="1">
                <a:ea typeface="ＭＳ Ｐゴシック" panose="020B0600070205080204" pitchFamily="34" charset="-128"/>
              </a:rPr>
              <a:t>w</a:t>
            </a:r>
            <a:r>
              <a:rPr lang="en-US" altLang="ja-JP">
                <a:ea typeface="ＭＳ Ｐゴシック" panose="020B0600070205080204" pitchFamily="34" charset="-128"/>
              </a:rPr>
              <a:t>[</a:t>
            </a:r>
            <a:r>
              <a:rPr lang="en-US" altLang="ja-JP" i="1">
                <a:ea typeface="ＭＳ Ｐゴシック" panose="020B0600070205080204" pitchFamily="34" charset="-128"/>
              </a:rPr>
              <a:t>k</a:t>
            </a:r>
            <a:r>
              <a:rPr lang="en-US" altLang="ja-JP">
                <a:ea typeface="ＭＳ Ｐゴシック" panose="020B0600070205080204" pitchFamily="34" charset="-128"/>
              </a:rPr>
              <a:t>], </a:t>
            </a:r>
          </a:p>
          <a:p>
            <a:pPr lvl="1">
              <a:buFont typeface="Wingdings" pitchFamily="2" charset="2"/>
              <a:buNone/>
            </a:pPr>
            <a:r>
              <a:rPr lang="en-US" altLang="ja-JP">
                <a:ea typeface="ＭＳ Ｐゴシック" panose="020B0600070205080204" pitchFamily="34" charset="-128"/>
              </a:rPr>
              <a:t>where MIS(</a:t>
            </a:r>
            <a:r>
              <a:rPr lang="en-US" altLang="ja-JP" i="1">
                <a:ea typeface="ＭＳ Ｐゴシック" panose="020B0600070205080204" pitchFamily="34" charset="-128"/>
              </a:rPr>
              <a:t>w</a:t>
            </a:r>
            <a:r>
              <a:rPr lang="en-US" altLang="ja-JP">
                <a:ea typeface="ＭＳ Ｐゴシック" panose="020B0600070205080204" pitchFamily="34" charset="-128"/>
              </a:rPr>
              <a:t>[1]) </a:t>
            </a:r>
            <a:r>
              <a:rPr lang="en-US" altLang="ja-JP">
                <a:ea typeface="ＭＳ Ｐゴシック" panose="020B0600070205080204" pitchFamily="34" charset="-128"/>
                <a:sym typeface="Symbol" pitchFamily="2" charset="2"/>
              </a:rPr>
              <a:t></a:t>
            </a:r>
            <a:r>
              <a:rPr lang="en-US" altLang="ja-JP">
                <a:ea typeface="ＭＳ Ｐゴシック" panose="020B0600070205080204" pitchFamily="34" charset="-128"/>
              </a:rPr>
              <a:t> MIS(</a:t>
            </a:r>
            <a:r>
              <a:rPr lang="en-US" altLang="ja-JP" i="1">
                <a:ea typeface="ＭＳ Ｐゴシック" panose="020B0600070205080204" pitchFamily="34" charset="-128"/>
              </a:rPr>
              <a:t>w</a:t>
            </a:r>
            <a:r>
              <a:rPr lang="en-US" altLang="ja-JP">
                <a:ea typeface="ＭＳ Ｐゴシック" panose="020B0600070205080204" pitchFamily="34" charset="-128"/>
              </a:rPr>
              <a:t>[2]) </a:t>
            </a:r>
            <a:r>
              <a:rPr lang="en-US" altLang="ja-JP">
                <a:ea typeface="ＭＳ Ｐゴシック" panose="020B0600070205080204" pitchFamily="34" charset="-128"/>
                <a:sym typeface="Symbol" pitchFamily="2" charset="2"/>
              </a:rPr>
              <a:t></a:t>
            </a:r>
            <a:r>
              <a:rPr lang="en-US" altLang="ja-JP">
                <a:ea typeface="ＭＳ Ｐゴシック" panose="020B0600070205080204" pitchFamily="34" charset="-128"/>
              </a:rPr>
              <a:t> … </a:t>
            </a:r>
            <a:r>
              <a:rPr lang="en-US" altLang="ja-JP">
                <a:ea typeface="ＭＳ Ｐゴシック" panose="020B0600070205080204" pitchFamily="34" charset="-128"/>
                <a:sym typeface="Symbol" pitchFamily="2" charset="2"/>
              </a:rPr>
              <a:t></a:t>
            </a:r>
            <a:r>
              <a:rPr lang="en-US" altLang="ja-JP">
                <a:ea typeface="ＭＳ Ｐゴシック" panose="020B0600070205080204" pitchFamily="34" charset="-128"/>
              </a:rPr>
              <a:t> MIS(</a:t>
            </a:r>
            <a:r>
              <a:rPr lang="en-US" altLang="ja-JP" i="1">
                <a:ea typeface="ＭＳ Ｐゴシック" panose="020B0600070205080204" pitchFamily="34" charset="-128"/>
              </a:rPr>
              <a:t>w</a:t>
            </a:r>
            <a:r>
              <a:rPr lang="en-US" altLang="ja-JP">
                <a:ea typeface="ＭＳ Ｐゴシック" panose="020B0600070205080204" pitchFamily="34" charset="-128"/>
              </a:rPr>
              <a:t>[</a:t>
            </a:r>
            <a:r>
              <a:rPr lang="en-US" altLang="ja-JP" i="1">
                <a:ea typeface="ＭＳ Ｐゴシック" panose="020B0600070205080204" pitchFamily="34" charset="-128"/>
              </a:rPr>
              <a:t>k</a:t>
            </a:r>
            <a:r>
              <a:rPr lang="en-US" altLang="ja-JP">
                <a:ea typeface="ＭＳ Ｐゴシック" panose="020B0600070205080204" pitchFamily="34" charset="-128"/>
              </a:rPr>
              <a:t>]). </a:t>
            </a:r>
            <a:endParaRPr lang="en-GB" altLang="ja-JP">
              <a:ea typeface="ＭＳ Ｐゴシック" panose="020B0600070205080204" pitchFamily="34" charset="-128"/>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B9F271B2-2317-2101-ECCB-E00B810899B5}"/>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03518B36-F534-4D60-459D-AF7B4848D166}"/>
              </a:ext>
            </a:extLst>
          </p:cNvPr>
          <p:cNvSpPr>
            <a:spLocks noGrp="1"/>
          </p:cNvSpPr>
          <p:nvPr>
            <p:ph type="sldNum" sz="quarter" idx="11"/>
          </p:nvPr>
        </p:nvSpPr>
        <p:spPr/>
        <p:txBody>
          <a:bodyPr/>
          <a:lstStyle/>
          <a:p>
            <a:fld id="{FAA75B92-E38D-7040-925B-C3DB6A5D8997}" type="slidenum">
              <a:rPr lang="en-US" altLang="en-US"/>
              <a:pPr/>
              <a:t>56</a:t>
            </a:fld>
            <a:endParaRPr lang="en-US" altLang="en-US"/>
          </a:p>
        </p:txBody>
      </p:sp>
      <p:sp>
        <p:nvSpPr>
          <p:cNvPr id="689154" name="Rectangle 2">
            <a:extLst>
              <a:ext uri="{FF2B5EF4-FFF2-40B4-BE49-F238E27FC236}">
                <a16:creationId xmlns:a16="http://schemas.microsoft.com/office/drawing/2014/main" id="{63B5D8E3-3CE2-6160-3E33-1A4E3793B056}"/>
              </a:ext>
            </a:extLst>
          </p:cNvPr>
          <p:cNvSpPr>
            <a:spLocks noGrp="1" noChangeArrowheads="1"/>
          </p:cNvSpPr>
          <p:nvPr>
            <p:ph type="title"/>
          </p:nvPr>
        </p:nvSpPr>
        <p:spPr>
          <a:xfrm>
            <a:off x="1927302" y="0"/>
            <a:ext cx="8229600" cy="1139825"/>
          </a:xfrm>
        </p:spPr>
        <p:txBody>
          <a:bodyPr/>
          <a:lstStyle/>
          <a:p>
            <a:r>
              <a:rPr lang="en-GB" altLang="en-IT" dirty="0"/>
              <a:t>The </a:t>
            </a:r>
            <a:r>
              <a:rPr lang="en-GB" altLang="en-IT" dirty="0" err="1"/>
              <a:t>MSapriori</a:t>
            </a:r>
            <a:r>
              <a:rPr lang="en-GB" altLang="en-IT" dirty="0"/>
              <a:t> algorithm</a:t>
            </a:r>
            <a:endParaRPr lang="en-US" altLang="en-IT" dirty="0"/>
          </a:p>
        </p:txBody>
      </p:sp>
      <p:sp>
        <p:nvSpPr>
          <p:cNvPr id="689155" name="Rectangle 3">
            <a:extLst>
              <a:ext uri="{FF2B5EF4-FFF2-40B4-BE49-F238E27FC236}">
                <a16:creationId xmlns:a16="http://schemas.microsoft.com/office/drawing/2014/main" id="{DD594842-48D0-8D24-3214-5DE7B04A2F9F}"/>
              </a:ext>
            </a:extLst>
          </p:cNvPr>
          <p:cNvSpPr>
            <a:spLocks noGrp="1" noChangeArrowheads="1"/>
          </p:cNvSpPr>
          <p:nvPr>
            <p:ph type="body" idx="1"/>
          </p:nvPr>
        </p:nvSpPr>
        <p:spPr>
          <a:xfrm>
            <a:off x="1981200" y="944564"/>
            <a:ext cx="8470900" cy="5221287"/>
          </a:xfrm>
        </p:spPr>
        <p:txBody>
          <a:bodyPr>
            <a:normAutofit fontScale="85000" lnSpcReduction="20000"/>
          </a:bodyPr>
          <a:lstStyle/>
          <a:p>
            <a:pPr>
              <a:lnSpc>
                <a:spcPct val="80000"/>
              </a:lnSpc>
              <a:buFont typeface="Wingdings" pitchFamily="2" charset="2"/>
              <a:buNone/>
            </a:pPr>
            <a:r>
              <a:rPr lang="en-US" altLang="ja-JP" sz="1700" b="1">
                <a:ea typeface="ＭＳ Ｐゴシック" panose="020B0600070205080204" pitchFamily="34" charset="-128"/>
              </a:rPr>
              <a:t>Algorithm MSapriori(</a:t>
            </a:r>
            <a:r>
              <a:rPr lang="en-US" altLang="ja-JP" sz="1700" b="1" i="1">
                <a:ea typeface="ＭＳ Ｐゴシック" panose="020B0600070205080204" pitchFamily="34" charset="-128"/>
              </a:rPr>
              <a:t>T, MS</a:t>
            </a:r>
            <a:r>
              <a:rPr lang="en-US" altLang="ja-JP" sz="1700" b="1">
                <a:ea typeface="ＭＳ Ｐゴシック" panose="020B0600070205080204" pitchFamily="34" charset="-128"/>
              </a:rPr>
              <a:t>)</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i="1">
                <a:ea typeface="ＭＳ Ｐゴシック" panose="020B0600070205080204" pitchFamily="34" charset="-128"/>
              </a:rPr>
              <a:t>	M</a:t>
            </a:r>
            <a:r>
              <a:rPr lang="en-US" altLang="ja-JP" sz="1700" b="1">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b="1">
                <a:ea typeface="ＭＳ Ｐゴシック" panose="020B0600070205080204" pitchFamily="34" charset="-128"/>
              </a:rPr>
              <a:t> </a:t>
            </a:r>
            <a:r>
              <a:rPr lang="en-US" altLang="ja-JP" sz="1700">
                <a:ea typeface="ＭＳ Ｐゴシック" panose="020B0600070205080204" pitchFamily="34" charset="-128"/>
              </a:rPr>
              <a:t>sort(</a:t>
            </a:r>
            <a:r>
              <a:rPr lang="en-US" altLang="ja-JP" sz="1700" i="1">
                <a:ea typeface="ＭＳ Ｐゴシック" panose="020B0600070205080204" pitchFamily="34" charset="-128"/>
              </a:rPr>
              <a:t>I, MS</a:t>
            </a:r>
            <a:r>
              <a:rPr lang="en-US" altLang="ja-JP" sz="1700">
                <a:ea typeface="ＭＳ Ｐゴシック" panose="020B0600070205080204" pitchFamily="34" charset="-128"/>
              </a:rPr>
              <a:t>);</a:t>
            </a:r>
            <a:r>
              <a:rPr lang="en-US" altLang="ja-JP" sz="1700" b="1">
                <a:ea typeface="ＭＳ Ｐゴシック" panose="020B0600070205080204" pitchFamily="34" charset="-128"/>
              </a:rPr>
              <a:t> 	</a:t>
            </a:r>
          </a:p>
          <a:p>
            <a:pPr>
              <a:lnSpc>
                <a:spcPct val="80000"/>
              </a:lnSpc>
              <a:buFont typeface="Wingdings" pitchFamily="2" charset="2"/>
              <a:buNone/>
            </a:pPr>
            <a:r>
              <a:rPr lang="en-US" altLang="ja-JP" sz="1700">
                <a:ea typeface="ＭＳ Ｐゴシック" panose="020B0600070205080204" pitchFamily="34" charset="-128"/>
              </a:rPr>
              <a:t>	</a:t>
            </a:r>
            <a:r>
              <a:rPr lang="en-US" altLang="ja-JP" sz="1700" i="1">
                <a:ea typeface="ＭＳ Ｐゴシック" panose="020B0600070205080204" pitchFamily="34" charset="-128"/>
              </a:rPr>
              <a:t>L</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init-pass(</a:t>
            </a:r>
            <a:r>
              <a:rPr lang="en-US" altLang="ja-JP" sz="1700" i="1">
                <a:ea typeface="ＭＳ Ｐゴシック" panose="020B0600070205080204" pitchFamily="34" charset="-128"/>
              </a:rPr>
              <a:t>M</a:t>
            </a:r>
            <a:r>
              <a:rPr lang="en-US" altLang="ja-JP" sz="1700">
                <a:ea typeface="ＭＳ Ｐゴシック" panose="020B0600070205080204" pitchFamily="34" charset="-128"/>
              </a:rPr>
              <a:t>,</a:t>
            </a:r>
            <a:r>
              <a:rPr lang="en-US" altLang="ja-JP" sz="1700" i="1">
                <a:ea typeface="ＭＳ Ｐゴシック" panose="020B0600070205080204" pitchFamily="34" charset="-128"/>
              </a:rPr>
              <a:t> T</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i="1">
                <a:ea typeface="ＭＳ Ｐゴシック" panose="020B0600070205080204" pitchFamily="34" charset="-128"/>
              </a:rPr>
              <a:t>	F</a:t>
            </a:r>
            <a:r>
              <a:rPr lang="en-US" altLang="ja-JP" sz="1700" baseline="-25000">
                <a:ea typeface="ＭＳ Ｐゴシック" panose="020B0600070205080204" pitchFamily="34" charset="-128"/>
              </a:rPr>
              <a:t>1</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a:t>
            </a:r>
            <a:r>
              <a:rPr lang="en-US" altLang="ja-JP" sz="1700" i="1">
                <a:ea typeface="ＭＳ Ｐゴシック" panose="020B0600070205080204" pitchFamily="34" charset="-128"/>
              </a:rPr>
              <a:t>i</a:t>
            </a:r>
            <a:r>
              <a:rPr lang="en-US" altLang="ja-JP" sz="1700">
                <a:ea typeface="ＭＳ Ｐゴシック" panose="020B0600070205080204" pitchFamily="34" charset="-128"/>
              </a:rPr>
              <a:t>} | </a:t>
            </a:r>
            <a:r>
              <a:rPr lang="en-US" altLang="ja-JP" sz="1700" i="1">
                <a:ea typeface="ＭＳ Ｐゴシック" panose="020B0600070205080204" pitchFamily="34" charset="-128"/>
              </a:rPr>
              <a:t>i</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a:t>
            </a:r>
            <a:r>
              <a:rPr lang="en-US" altLang="ja-JP" sz="1700" i="1">
                <a:ea typeface="ＭＳ Ｐゴシック" panose="020B0600070205080204" pitchFamily="34" charset="-128"/>
              </a:rPr>
              <a:t>L</a:t>
            </a:r>
            <a:r>
              <a:rPr lang="en-US" altLang="ja-JP" sz="1700">
                <a:ea typeface="ＭＳ Ｐゴシック" panose="020B0600070205080204" pitchFamily="34" charset="-128"/>
              </a:rPr>
              <a:t>, </a:t>
            </a:r>
            <a:r>
              <a:rPr lang="en-US" altLang="ja-JP" sz="1700" i="1">
                <a:ea typeface="ＭＳ Ｐゴシック" panose="020B0600070205080204" pitchFamily="34" charset="-128"/>
              </a:rPr>
              <a:t>i</a:t>
            </a:r>
            <a:r>
              <a:rPr lang="en-US" altLang="ja-JP" sz="1700">
                <a:ea typeface="ＭＳ Ｐゴシック" panose="020B0600070205080204" pitchFamily="34" charset="-128"/>
              </a:rPr>
              <a:t>.</a:t>
            </a:r>
            <a:r>
              <a:rPr lang="en-US" altLang="ja-JP" sz="1700" i="1">
                <a:ea typeface="ＭＳ Ｐゴシック" panose="020B0600070205080204" pitchFamily="34" charset="-128"/>
              </a:rPr>
              <a:t>count/n</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MIS(</a:t>
            </a:r>
            <a:r>
              <a:rPr lang="en-US" altLang="ja-JP" sz="1700" i="1">
                <a:ea typeface="ＭＳ Ｐゴシック" panose="020B0600070205080204" pitchFamily="34" charset="-128"/>
              </a:rPr>
              <a:t>i</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b="1">
                <a:ea typeface="ＭＳ Ｐゴシック" panose="020B0600070205080204" pitchFamily="34" charset="-128"/>
              </a:rPr>
              <a:t>	for</a:t>
            </a:r>
            <a:r>
              <a:rPr lang="en-US" altLang="ja-JP" sz="1700">
                <a:ea typeface="ＭＳ Ｐゴシック" panose="020B0600070205080204" pitchFamily="34" charset="-128"/>
              </a:rPr>
              <a:t> (</a:t>
            </a:r>
            <a:r>
              <a:rPr lang="en-US" altLang="ja-JP" sz="1700" i="1">
                <a:ea typeface="ＭＳ Ｐゴシック" panose="020B0600070205080204" pitchFamily="34" charset="-128"/>
              </a:rPr>
              <a:t>k</a:t>
            </a:r>
            <a:r>
              <a:rPr lang="en-US" altLang="ja-JP" sz="1700">
                <a:ea typeface="ＭＳ Ｐゴシック" panose="020B0600070205080204" pitchFamily="34" charset="-128"/>
              </a:rPr>
              <a:t> = 2; </a:t>
            </a:r>
            <a:r>
              <a:rPr lang="en-US" altLang="ja-JP" sz="1700" i="1">
                <a:ea typeface="ＭＳ Ｐゴシック" panose="020B0600070205080204" pitchFamily="34" charset="-128"/>
              </a:rPr>
              <a:t>F</a:t>
            </a:r>
            <a:r>
              <a:rPr lang="en-US" altLang="ja-JP" sz="1700" i="1" baseline="-25000">
                <a:ea typeface="ＭＳ Ｐゴシック" panose="020B0600070205080204" pitchFamily="34" charset="-128"/>
              </a:rPr>
              <a:t>k</a:t>
            </a:r>
            <a:r>
              <a:rPr lang="en-US" altLang="ja-JP" sz="1700" baseline="-25000">
                <a:ea typeface="ＭＳ Ｐゴシック" panose="020B0600070205080204" pitchFamily="34" charset="-128"/>
              </a:rPr>
              <a:t>-1</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a:t>
            </a:r>
            <a:r>
              <a:rPr lang="en-US" altLang="ja-JP" sz="1700" i="1">
                <a:ea typeface="ＭＳ Ｐゴシック" panose="020B0600070205080204" pitchFamily="34" charset="-128"/>
              </a:rPr>
              <a:t>k</a:t>
            </a:r>
            <a:r>
              <a:rPr lang="en-US" altLang="ja-JP" sz="1700">
                <a:ea typeface="ＭＳ Ｐゴシック" panose="020B0600070205080204" pitchFamily="34" charset="-128"/>
              </a:rPr>
              <a:t>++) </a:t>
            </a:r>
            <a:r>
              <a:rPr lang="en-US" altLang="ja-JP" sz="1700" b="1">
                <a:ea typeface="ＭＳ Ｐゴシック" panose="020B0600070205080204" pitchFamily="34" charset="-128"/>
              </a:rPr>
              <a:t>do	</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i="1">
                <a:ea typeface="ＭＳ Ｐゴシック" panose="020B0600070205080204" pitchFamily="34" charset="-128"/>
              </a:rPr>
              <a:t>		</a:t>
            </a:r>
            <a:r>
              <a:rPr lang="en-US" altLang="ja-JP" sz="1700" b="1">
                <a:ea typeface="ＭＳ Ｐゴシック" panose="020B0600070205080204" pitchFamily="34" charset="-128"/>
              </a:rPr>
              <a:t>if</a:t>
            </a:r>
            <a:r>
              <a:rPr lang="en-US" altLang="ja-JP" sz="1700">
                <a:ea typeface="ＭＳ Ｐゴシック" panose="020B0600070205080204" pitchFamily="34" charset="-128"/>
              </a:rPr>
              <a:t> </a:t>
            </a:r>
            <a:r>
              <a:rPr lang="en-US" altLang="ja-JP" sz="1700" i="1">
                <a:ea typeface="ＭＳ Ｐゴシック" panose="020B0600070205080204" pitchFamily="34" charset="-128"/>
              </a:rPr>
              <a:t>k</a:t>
            </a:r>
            <a:r>
              <a:rPr lang="en-US" altLang="ja-JP" sz="1700">
                <a:ea typeface="ＭＳ Ｐゴシック" panose="020B0600070205080204" pitchFamily="34" charset="-128"/>
              </a:rPr>
              <a:t>=2 </a:t>
            </a:r>
            <a:r>
              <a:rPr lang="en-US" altLang="ja-JP" sz="1700" b="1">
                <a:ea typeface="ＭＳ Ｐゴシック" panose="020B0600070205080204" pitchFamily="34" charset="-128"/>
              </a:rPr>
              <a:t>then</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i="1">
                <a:ea typeface="ＭＳ Ｐゴシック" panose="020B0600070205080204" pitchFamily="34" charset="-128"/>
              </a:rPr>
              <a:t>		   C</a:t>
            </a:r>
            <a:r>
              <a:rPr lang="en-US" altLang="ja-JP" sz="1700" i="1" baseline="-25000">
                <a:ea typeface="ＭＳ Ｐゴシック" panose="020B0600070205080204" pitchFamily="34" charset="-128"/>
              </a:rPr>
              <a:t>k</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level2-candidate-gen(</a:t>
            </a:r>
            <a:r>
              <a:rPr lang="en-US" altLang="ja-JP" sz="1700" i="1">
                <a:ea typeface="ＭＳ Ｐゴシック" panose="020B0600070205080204" pitchFamily="34" charset="-128"/>
              </a:rPr>
              <a:t>L</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i="1">
                <a:ea typeface="ＭＳ Ｐゴシック" panose="020B0600070205080204" pitchFamily="34" charset="-128"/>
              </a:rPr>
              <a:t>		</a:t>
            </a:r>
            <a:r>
              <a:rPr lang="en-US" altLang="ja-JP" sz="1700" b="1">
                <a:ea typeface="ＭＳ Ｐゴシック" panose="020B0600070205080204" pitchFamily="34" charset="-128"/>
              </a:rPr>
              <a:t>else </a:t>
            </a:r>
            <a:r>
              <a:rPr lang="en-US" altLang="ja-JP" sz="1700" i="1">
                <a:ea typeface="ＭＳ Ｐゴシック" panose="020B0600070205080204" pitchFamily="34" charset="-128"/>
              </a:rPr>
              <a:t>C</a:t>
            </a:r>
            <a:r>
              <a:rPr lang="en-US" altLang="ja-JP" sz="1700" i="1" baseline="-25000">
                <a:ea typeface="ＭＳ Ｐゴシック" panose="020B0600070205080204" pitchFamily="34" charset="-128"/>
              </a:rPr>
              <a:t>k</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MScandidate-gen(</a:t>
            </a:r>
            <a:r>
              <a:rPr lang="en-US" altLang="ja-JP" sz="1700" i="1">
                <a:ea typeface="ＭＳ Ｐゴシック" panose="020B0600070205080204" pitchFamily="34" charset="-128"/>
              </a:rPr>
              <a:t>F</a:t>
            </a:r>
            <a:r>
              <a:rPr lang="en-US" altLang="ja-JP" sz="1700" i="1" baseline="-25000">
                <a:ea typeface="ＭＳ Ｐゴシック" panose="020B0600070205080204" pitchFamily="34" charset="-128"/>
              </a:rPr>
              <a:t>k</a:t>
            </a:r>
            <a:r>
              <a:rPr lang="en-US" altLang="ja-JP" sz="1700" baseline="-25000">
                <a:ea typeface="ＭＳ Ｐゴシック" panose="020B0600070205080204" pitchFamily="34" charset="-128"/>
              </a:rPr>
              <a:t>-1</a:t>
            </a:r>
            <a:r>
              <a:rPr lang="en-US" altLang="ja-JP" sz="1700">
                <a:ea typeface="ＭＳ Ｐゴシック" panose="020B0600070205080204" pitchFamily="34" charset="-128"/>
              </a:rPr>
              <a:t>);</a:t>
            </a:r>
          </a:p>
          <a:p>
            <a:pPr>
              <a:lnSpc>
                <a:spcPct val="80000"/>
              </a:lnSpc>
              <a:buFont typeface="Wingdings" pitchFamily="2" charset="2"/>
              <a:buNone/>
            </a:pPr>
            <a:r>
              <a:rPr lang="en-US" altLang="ja-JP" sz="1700">
                <a:ea typeface="ＭＳ Ｐゴシック" panose="020B0600070205080204" pitchFamily="34" charset="-128"/>
              </a:rPr>
              <a:t>		</a:t>
            </a:r>
            <a:r>
              <a:rPr lang="en-US" altLang="ja-JP" sz="1700" b="1">
                <a:ea typeface="ＭＳ Ｐゴシック" panose="020B0600070205080204" pitchFamily="34" charset="-128"/>
              </a:rPr>
              <a:t>end;</a:t>
            </a:r>
          </a:p>
          <a:p>
            <a:pPr>
              <a:lnSpc>
                <a:spcPct val="80000"/>
              </a:lnSpc>
              <a:buFont typeface="Wingdings" pitchFamily="2" charset="2"/>
              <a:buNone/>
            </a:pPr>
            <a:r>
              <a:rPr lang="en-US" altLang="ja-JP" sz="1700" b="1">
                <a:ea typeface="ＭＳ Ｐゴシック" panose="020B0600070205080204" pitchFamily="34" charset="-128"/>
              </a:rPr>
              <a:t>		for</a:t>
            </a:r>
            <a:r>
              <a:rPr lang="en-US" altLang="ja-JP" sz="1700">
                <a:ea typeface="ＭＳ Ｐゴシック" panose="020B0600070205080204" pitchFamily="34" charset="-128"/>
              </a:rPr>
              <a:t> each transaction </a:t>
            </a:r>
            <a:r>
              <a:rPr lang="en-US" altLang="ja-JP" sz="1700" i="1">
                <a:ea typeface="ＭＳ Ｐゴシック" panose="020B0600070205080204" pitchFamily="34" charset="-128"/>
              </a:rPr>
              <a:t>t</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a:t>
            </a:r>
            <a:r>
              <a:rPr lang="en-US" altLang="ja-JP" sz="1700" i="1">
                <a:ea typeface="ＭＳ Ｐゴシック" panose="020B0600070205080204" pitchFamily="34" charset="-128"/>
              </a:rPr>
              <a:t>T</a:t>
            </a:r>
            <a:r>
              <a:rPr lang="en-US" altLang="ja-JP" sz="1700">
                <a:ea typeface="ＭＳ Ｐゴシック" panose="020B0600070205080204" pitchFamily="34" charset="-128"/>
              </a:rPr>
              <a:t> </a:t>
            </a:r>
            <a:r>
              <a:rPr lang="en-US" altLang="ja-JP" sz="1700" b="1">
                <a:ea typeface="ＭＳ Ｐゴシック" panose="020B0600070205080204" pitchFamily="34" charset="-128"/>
              </a:rPr>
              <a:t>do	</a:t>
            </a:r>
          </a:p>
          <a:p>
            <a:pPr>
              <a:lnSpc>
                <a:spcPct val="80000"/>
              </a:lnSpc>
              <a:buFont typeface="Wingdings" pitchFamily="2" charset="2"/>
              <a:buNone/>
            </a:pPr>
            <a:r>
              <a:rPr lang="en-US" altLang="ja-JP" sz="1700" b="1">
                <a:ea typeface="ＭＳ Ｐゴシック" panose="020B0600070205080204" pitchFamily="34" charset="-128"/>
              </a:rPr>
              <a:t>		    for</a:t>
            </a:r>
            <a:r>
              <a:rPr lang="en-US" altLang="ja-JP" sz="1700">
                <a:ea typeface="ＭＳ Ｐゴシック" panose="020B0600070205080204" pitchFamily="34" charset="-128"/>
              </a:rPr>
              <a:t> each candidate </a:t>
            </a:r>
            <a:r>
              <a:rPr lang="en-US" altLang="ja-JP" sz="1700" i="1">
                <a:ea typeface="ＭＳ Ｐゴシック" panose="020B0600070205080204" pitchFamily="34" charset="-128"/>
              </a:rPr>
              <a:t>c</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a:t>
            </a:r>
            <a:r>
              <a:rPr lang="en-US" altLang="ja-JP" sz="1700" i="1">
                <a:ea typeface="ＭＳ Ｐゴシック" panose="020B0600070205080204" pitchFamily="34" charset="-128"/>
              </a:rPr>
              <a:t>C</a:t>
            </a:r>
            <a:r>
              <a:rPr lang="en-US" altLang="ja-JP" sz="1700" i="1" baseline="-25000">
                <a:ea typeface="ＭＳ Ｐゴシック" panose="020B0600070205080204" pitchFamily="34" charset="-128"/>
              </a:rPr>
              <a:t>k</a:t>
            </a:r>
            <a:r>
              <a:rPr lang="en-US" altLang="ja-JP" sz="1700">
                <a:ea typeface="ＭＳ Ｐゴシック" panose="020B0600070205080204" pitchFamily="34" charset="-128"/>
              </a:rPr>
              <a:t> </a:t>
            </a:r>
            <a:r>
              <a:rPr lang="en-US" altLang="ja-JP" sz="1700" b="1">
                <a:ea typeface="ＭＳ Ｐゴシック" panose="020B0600070205080204" pitchFamily="34" charset="-128"/>
              </a:rPr>
              <a:t>do</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b="1">
                <a:ea typeface="ＭＳ Ｐゴシック" panose="020B0600070205080204" pitchFamily="34" charset="-128"/>
              </a:rPr>
              <a:t>		         if</a:t>
            </a:r>
            <a:r>
              <a:rPr lang="en-US" altLang="ja-JP" sz="1700">
                <a:ea typeface="ＭＳ Ｐゴシック" panose="020B0600070205080204" pitchFamily="34" charset="-128"/>
              </a:rPr>
              <a:t> </a:t>
            </a:r>
            <a:r>
              <a:rPr lang="en-US" altLang="ja-JP" sz="1700" i="1">
                <a:ea typeface="ＭＳ Ｐゴシック" panose="020B0600070205080204" pitchFamily="34" charset="-128"/>
              </a:rPr>
              <a:t>c</a:t>
            </a:r>
            <a:r>
              <a:rPr lang="en-US" altLang="ja-JP" sz="1700">
                <a:ea typeface="ＭＳ Ｐゴシック" panose="020B0600070205080204" pitchFamily="34" charset="-128"/>
              </a:rPr>
              <a:t> is contained in </a:t>
            </a:r>
            <a:r>
              <a:rPr lang="en-US" altLang="ja-JP" sz="1700" i="1">
                <a:ea typeface="ＭＳ Ｐゴシック" panose="020B0600070205080204" pitchFamily="34" charset="-128"/>
              </a:rPr>
              <a:t>t</a:t>
            </a:r>
            <a:r>
              <a:rPr lang="en-US" altLang="ja-JP" sz="1700">
                <a:ea typeface="ＭＳ Ｐゴシック" panose="020B0600070205080204" pitchFamily="34" charset="-128"/>
              </a:rPr>
              <a:t> </a:t>
            </a:r>
            <a:r>
              <a:rPr lang="en-US" altLang="ja-JP" sz="1700" b="1">
                <a:ea typeface="ＭＳ Ｐゴシック" panose="020B0600070205080204" pitchFamily="34" charset="-128"/>
              </a:rPr>
              <a:t>then</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i="1">
                <a:ea typeface="ＭＳ Ｐゴシック" panose="020B0600070205080204" pitchFamily="34" charset="-128"/>
              </a:rPr>
              <a:t>			 c</a:t>
            </a:r>
            <a:r>
              <a:rPr lang="en-US" altLang="ja-JP" sz="1700">
                <a:ea typeface="ＭＳ Ｐゴシック" panose="020B0600070205080204" pitchFamily="34" charset="-128"/>
              </a:rPr>
              <a:t>.</a:t>
            </a:r>
            <a:r>
              <a:rPr lang="en-US" altLang="ja-JP" sz="1700" i="1">
                <a:ea typeface="ＭＳ Ｐゴシック" panose="020B0600070205080204" pitchFamily="34" charset="-128"/>
              </a:rPr>
              <a:t>count</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b="1">
                <a:ea typeface="ＭＳ Ｐゴシック" panose="020B0600070205080204" pitchFamily="34" charset="-128"/>
              </a:rPr>
              <a:t>		         if</a:t>
            </a:r>
            <a:r>
              <a:rPr lang="en-US" altLang="ja-JP" sz="1700">
                <a:ea typeface="ＭＳ Ｐゴシック" panose="020B0600070205080204" pitchFamily="34" charset="-128"/>
              </a:rPr>
              <a:t> </a:t>
            </a:r>
            <a:r>
              <a:rPr lang="en-US" altLang="ja-JP" sz="1700" i="1">
                <a:ea typeface="ＭＳ Ｐゴシック" panose="020B0600070205080204" pitchFamily="34" charset="-128"/>
              </a:rPr>
              <a:t>c – </a:t>
            </a:r>
            <a:r>
              <a:rPr lang="en-US" altLang="ja-JP" sz="1700">
                <a:ea typeface="ＭＳ Ｐゴシック" panose="020B0600070205080204" pitchFamily="34" charset="-128"/>
              </a:rPr>
              <a:t>{</a:t>
            </a:r>
            <a:r>
              <a:rPr lang="en-US" altLang="ja-JP" sz="1700" i="1">
                <a:ea typeface="ＭＳ Ｐゴシック" panose="020B0600070205080204" pitchFamily="34" charset="-128"/>
              </a:rPr>
              <a:t>c</a:t>
            </a:r>
            <a:r>
              <a:rPr lang="en-US" altLang="ja-JP" sz="1700">
                <a:ea typeface="ＭＳ Ｐゴシック" panose="020B0600070205080204" pitchFamily="34" charset="-128"/>
              </a:rPr>
              <a:t>[1]} is contained in </a:t>
            </a:r>
            <a:r>
              <a:rPr lang="en-US" altLang="ja-JP" sz="1700" i="1">
                <a:ea typeface="ＭＳ Ｐゴシック" panose="020B0600070205080204" pitchFamily="34" charset="-128"/>
              </a:rPr>
              <a:t>t</a:t>
            </a:r>
            <a:r>
              <a:rPr lang="en-US" altLang="ja-JP" sz="1700">
                <a:ea typeface="ＭＳ Ｐゴシック" panose="020B0600070205080204" pitchFamily="34" charset="-128"/>
              </a:rPr>
              <a:t> </a:t>
            </a:r>
            <a:r>
              <a:rPr lang="en-US" altLang="ja-JP" sz="1700" b="1">
                <a:ea typeface="ＭＳ Ｐゴシック" panose="020B0600070205080204" pitchFamily="34" charset="-128"/>
              </a:rPr>
              <a:t>then</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i="1">
                <a:ea typeface="ＭＳ Ｐゴシック" panose="020B0600070205080204" pitchFamily="34" charset="-128"/>
              </a:rPr>
              <a:t>			c</a:t>
            </a:r>
            <a:r>
              <a:rPr lang="en-US" altLang="ja-JP" sz="1700">
                <a:ea typeface="ＭＳ Ｐゴシック" panose="020B0600070205080204" pitchFamily="34" charset="-128"/>
              </a:rPr>
              <a:t>.</a:t>
            </a:r>
            <a:r>
              <a:rPr lang="en-US" altLang="ja-JP" sz="1700" i="1">
                <a:ea typeface="ＭＳ Ｐゴシック" panose="020B0600070205080204" pitchFamily="34" charset="-128"/>
              </a:rPr>
              <a:t>tailCount</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b="1">
                <a:ea typeface="ＭＳ Ｐゴシック" panose="020B0600070205080204" pitchFamily="34" charset="-128"/>
              </a:rPr>
              <a:t>		    end</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b="1">
                <a:ea typeface="ＭＳ Ｐゴシック" panose="020B0600070205080204" pitchFamily="34" charset="-128"/>
              </a:rPr>
              <a:t>		end</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i="1">
                <a:ea typeface="ＭＳ Ｐゴシック" panose="020B0600070205080204" pitchFamily="34" charset="-128"/>
              </a:rPr>
              <a:t>	       F</a:t>
            </a:r>
            <a:r>
              <a:rPr lang="en-US" altLang="ja-JP" sz="1700" i="1" baseline="-25000">
                <a:ea typeface="ＭＳ Ｐゴシック" panose="020B0600070205080204" pitchFamily="34" charset="-128"/>
              </a:rPr>
              <a:t>k</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a:t>
            </a:r>
            <a:r>
              <a:rPr lang="en-US" altLang="ja-JP" sz="1700" i="1">
                <a:ea typeface="ＭＳ Ｐゴシック" panose="020B0600070205080204" pitchFamily="34" charset="-128"/>
              </a:rPr>
              <a:t>c</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a:t>
            </a:r>
            <a:r>
              <a:rPr lang="en-US" altLang="ja-JP" sz="1700" i="1">
                <a:ea typeface="ＭＳ Ｐゴシック" panose="020B0600070205080204" pitchFamily="34" charset="-128"/>
              </a:rPr>
              <a:t>C</a:t>
            </a:r>
            <a:r>
              <a:rPr lang="en-US" altLang="ja-JP" sz="1700" i="1" baseline="-25000">
                <a:ea typeface="ＭＳ Ｐゴシック" panose="020B0600070205080204" pitchFamily="34" charset="-128"/>
              </a:rPr>
              <a:t>k</a:t>
            </a:r>
            <a:r>
              <a:rPr lang="en-US" altLang="ja-JP" sz="1700">
                <a:ea typeface="ＭＳ Ｐゴシック" panose="020B0600070205080204" pitchFamily="34" charset="-128"/>
              </a:rPr>
              <a:t> | </a:t>
            </a:r>
            <a:r>
              <a:rPr lang="en-US" altLang="ja-JP" sz="1700" i="1">
                <a:ea typeface="ＭＳ Ｐゴシック" panose="020B0600070205080204" pitchFamily="34" charset="-128"/>
              </a:rPr>
              <a:t>c</a:t>
            </a:r>
            <a:r>
              <a:rPr lang="en-US" altLang="ja-JP" sz="1700">
                <a:ea typeface="ＭＳ Ｐゴシック" panose="020B0600070205080204" pitchFamily="34" charset="-128"/>
              </a:rPr>
              <a:t>.</a:t>
            </a:r>
            <a:r>
              <a:rPr lang="en-US" altLang="ja-JP" sz="1700" i="1">
                <a:ea typeface="ＭＳ Ｐゴシック" panose="020B0600070205080204" pitchFamily="34" charset="-128"/>
              </a:rPr>
              <a:t>count/n</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a:t>
            </a:r>
            <a:r>
              <a:rPr lang="en-US" altLang="ja-JP" sz="1700" i="1">
                <a:ea typeface="ＭＳ Ｐゴシック" panose="020B0600070205080204" pitchFamily="34" charset="-128"/>
              </a:rPr>
              <a:t>MIS</a:t>
            </a:r>
            <a:r>
              <a:rPr lang="en-US" altLang="ja-JP" sz="1700">
                <a:ea typeface="ＭＳ Ｐゴシック" panose="020B0600070205080204" pitchFamily="34" charset="-128"/>
              </a:rPr>
              <a:t>(</a:t>
            </a:r>
            <a:r>
              <a:rPr lang="en-US" altLang="ja-JP" sz="1700" i="1">
                <a:ea typeface="ＭＳ Ｐゴシック" panose="020B0600070205080204" pitchFamily="34" charset="-128"/>
              </a:rPr>
              <a:t>c</a:t>
            </a:r>
            <a:r>
              <a:rPr lang="en-US" altLang="ja-JP" sz="1700">
                <a:ea typeface="ＭＳ Ｐゴシック" panose="020B0600070205080204" pitchFamily="34" charset="-128"/>
              </a:rPr>
              <a:t>[1])} 	</a:t>
            </a:r>
          </a:p>
          <a:p>
            <a:pPr>
              <a:lnSpc>
                <a:spcPct val="80000"/>
              </a:lnSpc>
              <a:buFont typeface="Wingdings" pitchFamily="2" charset="2"/>
              <a:buNone/>
            </a:pPr>
            <a:r>
              <a:rPr lang="en-US" altLang="ja-JP" sz="1700" b="1">
                <a:ea typeface="ＭＳ Ｐゴシック" panose="020B0600070205080204" pitchFamily="34" charset="-128"/>
              </a:rPr>
              <a:t>	end</a:t>
            </a:r>
            <a:r>
              <a:rPr lang="en-US" altLang="ja-JP" sz="1700">
                <a:ea typeface="ＭＳ Ｐゴシック" panose="020B0600070205080204" pitchFamily="34" charset="-128"/>
              </a:rPr>
              <a:t>	</a:t>
            </a:r>
          </a:p>
          <a:p>
            <a:pPr>
              <a:lnSpc>
                <a:spcPct val="80000"/>
              </a:lnSpc>
              <a:buFont typeface="Wingdings" pitchFamily="2" charset="2"/>
              <a:buNone/>
            </a:pPr>
            <a:r>
              <a:rPr lang="en-US" altLang="ja-JP" sz="1700">
                <a:ea typeface="ＭＳ Ｐゴシック" panose="020B0600070205080204" pitchFamily="34" charset="-128"/>
              </a:rPr>
              <a:t>	return </a:t>
            </a:r>
            <a:r>
              <a:rPr lang="en-US" altLang="ja-JP" sz="1700" i="1">
                <a:ea typeface="ＭＳ Ｐゴシック" panose="020B0600070205080204" pitchFamily="34" charset="-128"/>
              </a:rPr>
              <a:t>F</a:t>
            </a:r>
            <a:r>
              <a:rPr lang="en-US" altLang="ja-JP" sz="1700">
                <a:ea typeface="ＭＳ Ｐゴシック" panose="020B0600070205080204" pitchFamily="34" charset="-128"/>
              </a:rPr>
              <a:t> </a:t>
            </a:r>
            <a:r>
              <a:rPr lang="en-US" altLang="ja-JP" sz="1700">
                <a:ea typeface="ＭＳ Ｐゴシック" panose="020B0600070205080204" pitchFamily="34" charset="-128"/>
                <a:sym typeface="Symbol" pitchFamily="2" charset="2"/>
              </a:rPr>
              <a:t></a:t>
            </a:r>
            <a:r>
              <a:rPr lang="en-US" altLang="ja-JP" sz="1700">
                <a:ea typeface="ＭＳ Ｐゴシック" panose="020B0600070205080204" pitchFamily="34" charset="-128"/>
              </a:rPr>
              <a:t> </a:t>
            </a:r>
            <a:r>
              <a:rPr lang="en-US" altLang="ja-JP" sz="1700">
                <a:ea typeface="ＭＳ Ｐゴシック" panose="020B0600070205080204" pitchFamily="34" charset="-128"/>
                <a:sym typeface="MT Extra" pitchFamily="2" charset="77"/>
              </a:rPr>
              <a:t></a:t>
            </a:r>
            <a:r>
              <a:rPr lang="en-US" altLang="ja-JP" sz="1700" baseline="-25000">
                <a:ea typeface="ＭＳ Ｐゴシック" panose="020B0600070205080204" pitchFamily="34" charset="-128"/>
              </a:rPr>
              <a:t>k</a:t>
            </a:r>
            <a:r>
              <a:rPr lang="en-US" altLang="ja-JP" sz="1700" i="1">
                <a:ea typeface="ＭＳ Ｐゴシック" panose="020B0600070205080204" pitchFamily="34" charset="-128"/>
              </a:rPr>
              <a:t>F</a:t>
            </a:r>
            <a:r>
              <a:rPr lang="en-US" altLang="ja-JP" sz="1700" baseline="-25000">
                <a:ea typeface="ＭＳ Ｐゴシック" panose="020B0600070205080204" pitchFamily="34" charset="-128"/>
              </a:rPr>
              <a:t>k</a:t>
            </a:r>
            <a:r>
              <a:rPr lang="en-US" altLang="ja-JP" sz="1700">
                <a:ea typeface="ＭＳ Ｐゴシック" panose="020B0600070205080204" pitchFamily="34" charset="-128"/>
              </a:rPr>
              <a:t>;</a:t>
            </a:r>
            <a:endParaRPr lang="en-US" altLang="en-IT" sz="17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96E66DED-6845-D731-F948-6A1D300ECD22}"/>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A50CDC27-111F-B713-9116-2B774B7F401A}"/>
              </a:ext>
            </a:extLst>
          </p:cNvPr>
          <p:cNvSpPr>
            <a:spLocks noGrp="1"/>
          </p:cNvSpPr>
          <p:nvPr>
            <p:ph type="sldNum" sz="quarter" idx="11"/>
          </p:nvPr>
        </p:nvSpPr>
        <p:spPr/>
        <p:txBody>
          <a:bodyPr/>
          <a:lstStyle/>
          <a:p>
            <a:fld id="{01494C3B-7AAE-B04A-A866-54939189C4BF}" type="slidenum">
              <a:rPr lang="en-US" altLang="en-US"/>
              <a:pPr/>
              <a:t>57</a:t>
            </a:fld>
            <a:endParaRPr lang="en-US" altLang="en-US"/>
          </a:p>
        </p:txBody>
      </p:sp>
      <p:sp>
        <p:nvSpPr>
          <p:cNvPr id="673794" name="Rectangle 2">
            <a:extLst>
              <a:ext uri="{FF2B5EF4-FFF2-40B4-BE49-F238E27FC236}">
                <a16:creationId xmlns:a16="http://schemas.microsoft.com/office/drawing/2014/main" id="{6FD7E1EA-1500-0A4D-7E66-8DDEA968777C}"/>
              </a:ext>
            </a:extLst>
          </p:cNvPr>
          <p:cNvSpPr>
            <a:spLocks noGrp="1" noChangeArrowheads="1"/>
          </p:cNvSpPr>
          <p:nvPr>
            <p:ph type="title"/>
          </p:nvPr>
        </p:nvSpPr>
        <p:spPr>
          <a:xfrm>
            <a:off x="2100263" y="404813"/>
            <a:ext cx="7764462" cy="1143000"/>
          </a:xfrm>
        </p:spPr>
        <p:txBody>
          <a:bodyPr/>
          <a:lstStyle/>
          <a:p>
            <a:r>
              <a:rPr lang="en-US" altLang="en-IT"/>
              <a:t>Candidate itemset generation</a:t>
            </a:r>
          </a:p>
        </p:txBody>
      </p:sp>
      <p:sp>
        <p:nvSpPr>
          <p:cNvPr id="673795" name="Rectangle 3">
            <a:extLst>
              <a:ext uri="{FF2B5EF4-FFF2-40B4-BE49-F238E27FC236}">
                <a16:creationId xmlns:a16="http://schemas.microsoft.com/office/drawing/2014/main" id="{BF68D37B-E914-AFE5-6CC7-DB40C747C159}"/>
              </a:ext>
            </a:extLst>
          </p:cNvPr>
          <p:cNvSpPr>
            <a:spLocks noGrp="1" noChangeArrowheads="1"/>
          </p:cNvSpPr>
          <p:nvPr>
            <p:ph type="body" idx="1"/>
          </p:nvPr>
        </p:nvSpPr>
        <p:spPr>
          <a:xfrm>
            <a:off x="1919288" y="1557338"/>
            <a:ext cx="7986712" cy="4462462"/>
          </a:xfrm>
        </p:spPr>
        <p:txBody>
          <a:bodyPr/>
          <a:lstStyle/>
          <a:p>
            <a:pPr>
              <a:buClr>
                <a:schemeClr val="tx1"/>
              </a:buClr>
            </a:pPr>
            <a:r>
              <a:rPr lang="en-US" altLang="en-IT">
                <a:solidFill>
                  <a:srgbClr val="FF0000"/>
                </a:solidFill>
              </a:rPr>
              <a:t>Special treatments needed:</a:t>
            </a:r>
          </a:p>
          <a:p>
            <a:pPr marL="742950" lvl="1" indent="-285750"/>
            <a:r>
              <a:rPr lang="en-US" altLang="en-IT"/>
              <a:t>Sorting the items according to their MIS values</a:t>
            </a:r>
          </a:p>
          <a:p>
            <a:pPr marL="742950" lvl="1" indent="-285750"/>
            <a:r>
              <a:rPr lang="en-US" altLang="en-IT"/>
              <a:t>First pass over data (the first three lines)</a:t>
            </a:r>
          </a:p>
          <a:p>
            <a:pPr lvl="2"/>
            <a:r>
              <a:rPr lang="en-US" altLang="en-IT"/>
              <a:t>Let us look at this in detail.</a:t>
            </a:r>
          </a:p>
          <a:p>
            <a:pPr marL="742950" lvl="1" indent="-285750"/>
            <a:r>
              <a:rPr lang="en-US" altLang="en-IT">
                <a:cs typeface="Times New Roman" panose="02020603050405020304" pitchFamily="18" charset="0"/>
              </a:rPr>
              <a:t>Candidate generation at level-2</a:t>
            </a:r>
          </a:p>
          <a:p>
            <a:pPr lvl="2"/>
            <a:r>
              <a:rPr lang="en-US" altLang="en-IT">
                <a:cs typeface="Times New Roman" panose="02020603050405020304" pitchFamily="18" charset="0"/>
              </a:rPr>
              <a:t>Read it in the handout.</a:t>
            </a:r>
          </a:p>
          <a:p>
            <a:pPr marL="742950" lvl="1" indent="-285750"/>
            <a:r>
              <a:rPr lang="en-US" altLang="en-IT">
                <a:cs typeface="Times New Roman" panose="02020603050405020304" pitchFamily="18" charset="0"/>
              </a:rPr>
              <a:t>Pruning step in level-</a:t>
            </a:r>
            <a:r>
              <a:rPr lang="en-US" altLang="en-IT" i="1">
                <a:cs typeface="Times New Roman" panose="02020603050405020304" pitchFamily="18" charset="0"/>
              </a:rPr>
              <a:t>k</a:t>
            </a:r>
            <a:r>
              <a:rPr lang="en-US" altLang="en-IT">
                <a:cs typeface="Times New Roman" panose="02020603050405020304" pitchFamily="18" charset="0"/>
              </a:rPr>
              <a:t> (</a:t>
            </a:r>
            <a:r>
              <a:rPr lang="en-US" altLang="en-IT" i="1">
                <a:cs typeface="Times New Roman" panose="02020603050405020304" pitchFamily="18" charset="0"/>
              </a:rPr>
              <a:t>k</a:t>
            </a:r>
            <a:r>
              <a:rPr lang="en-US" altLang="en-IT">
                <a:cs typeface="Times New Roman" panose="02020603050405020304" pitchFamily="18" charset="0"/>
              </a:rPr>
              <a:t> &gt; 2) candidate generation. </a:t>
            </a:r>
          </a:p>
          <a:p>
            <a:pPr lvl="2"/>
            <a:r>
              <a:rPr lang="en-US" altLang="en-IT">
                <a:cs typeface="Times New Roman" panose="02020603050405020304" pitchFamily="18" charset="0"/>
              </a:rPr>
              <a:t>Read it in the handout.</a:t>
            </a:r>
          </a:p>
          <a:p>
            <a:pPr marL="742950" lvl="1" indent="-285750"/>
            <a:endParaRPr lang="en-US" altLang="en-IT">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7EF15B8D-BB61-947F-E9C7-E42C624B92CB}"/>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24AF8EC8-F970-58D2-7FE1-4F55663CF27D}"/>
              </a:ext>
            </a:extLst>
          </p:cNvPr>
          <p:cNvSpPr>
            <a:spLocks noGrp="1"/>
          </p:cNvSpPr>
          <p:nvPr>
            <p:ph type="sldNum" sz="quarter" idx="11"/>
          </p:nvPr>
        </p:nvSpPr>
        <p:spPr/>
        <p:txBody>
          <a:bodyPr/>
          <a:lstStyle/>
          <a:p>
            <a:fld id="{F0B73333-C57C-5346-B306-4DCEE607BAD7}" type="slidenum">
              <a:rPr lang="en-US" altLang="en-US"/>
              <a:pPr/>
              <a:t>58</a:t>
            </a:fld>
            <a:endParaRPr lang="en-US" altLang="en-US"/>
          </a:p>
        </p:txBody>
      </p:sp>
      <p:sp>
        <p:nvSpPr>
          <p:cNvPr id="691202" name="Rectangle 2">
            <a:extLst>
              <a:ext uri="{FF2B5EF4-FFF2-40B4-BE49-F238E27FC236}">
                <a16:creationId xmlns:a16="http://schemas.microsoft.com/office/drawing/2014/main" id="{AEC76A0E-A465-15AD-93E8-B5268968C17C}"/>
              </a:ext>
            </a:extLst>
          </p:cNvPr>
          <p:cNvSpPr>
            <a:spLocks noGrp="1" noChangeArrowheads="1"/>
          </p:cNvSpPr>
          <p:nvPr>
            <p:ph type="title"/>
          </p:nvPr>
        </p:nvSpPr>
        <p:spPr/>
        <p:txBody>
          <a:bodyPr/>
          <a:lstStyle/>
          <a:p>
            <a:r>
              <a:rPr lang="en-US" altLang="en-IT"/>
              <a:t>First pass over data</a:t>
            </a:r>
          </a:p>
        </p:txBody>
      </p:sp>
      <p:sp>
        <p:nvSpPr>
          <p:cNvPr id="691203" name="Rectangle 3">
            <a:extLst>
              <a:ext uri="{FF2B5EF4-FFF2-40B4-BE49-F238E27FC236}">
                <a16:creationId xmlns:a16="http://schemas.microsoft.com/office/drawing/2014/main" id="{1F786DF8-C4D0-992A-FD21-2CF498707EC8}"/>
              </a:ext>
            </a:extLst>
          </p:cNvPr>
          <p:cNvSpPr>
            <a:spLocks noGrp="1" noChangeArrowheads="1"/>
          </p:cNvSpPr>
          <p:nvPr>
            <p:ph type="body" idx="1"/>
          </p:nvPr>
        </p:nvSpPr>
        <p:spPr>
          <a:xfrm>
            <a:off x="1981200" y="1341439"/>
            <a:ext cx="8229600" cy="4789487"/>
          </a:xfrm>
        </p:spPr>
        <p:txBody>
          <a:bodyPr/>
          <a:lstStyle/>
          <a:p>
            <a:pPr marL="571500" indent="-571500"/>
            <a:r>
              <a:rPr lang="en-US" altLang="ja-JP">
                <a:ea typeface="ＭＳ Ｐゴシック" panose="020B0600070205080204" pitchFamily="34" charset="-128"/>
              </a:rPr>
              <a:t>It makes a pass over the data to record the support count of each item. </a:t>
            </a:r>
          </a:p>
          <a:p>
            <a:pPr marL="571500" indent="-571500"/>
            <a:r>
              <a:rPr lang="en-US" altLang="ja-JP">
                <a:ea typeface="ＭＳ Ｐゴシック" panose="020B0600070205080204" pitchFamily="34" charset="-128"/>
              </a:rPr>
              <a:t>It then follows the sorted order to find the first item </a:t>
            </a:r>
            <a:r>
              <a:rPr lang="en-US" altLang="ja-JP" i="1">
                <a:ea typeface="ＭＳ Ｐゴシック" panose="020B0600070205080204" pitchFamily="34" charset="-128"/>
              </a:rPr>
              <a:t>i</a:t>
            </a:r>
            <a:r>
              <a:rPr lang="en-US" altLang="ja-JP">
                <a:ea typeface="ＭＳ Ｐゴシック" panose="020B0600070205080204" pitchFamily="34" charset="-128"/>
              </a:rPr>
              <a:t> in </a:t>
            </a:r>
            <a:r>
              <a:rPr lang="en-US" altLang="ja-JP" i="1">
                <a:ea typeface="ＭＳ Ｐゴシック" panose="020B0600070205080204" pitchFamily="34" charset="-128"/>
              </a:rPr>
              <a:t>M</a:t>
            </a:r>
            <a:r>
              <a:rPr lang="en-US" altLang="ja-JP">
                <a:ea typeface="ＭＳ Ｐゴシック" panose="020B0600070205080204" pitchFamily="34" charset="-128"/>
              </a:rPr>
              <a:t> that meets MIS(</a:t>
            </a:r>
            <a:r>
              <a:rPr lang="en-US" altLang="ja-JP" i="1">
                <a:ea typeface="ＭＳ Ｐゴシック" panose="020B0600070205080204" pitchFamily="34" charset="-128"/>
              </a:rPr>
              <a:t>i</a:t>
            </a:r>
            <a:r>
              <a:rPr lang="en-US" altLang="ja-JP">
                <a:ea typeface="ＭＳ Ｐゴシック" panose="020B0600070205080204" pitchFamily="34" charset="-128"/>
              </a:rPr>
              <a:t>). </a:t>
            </a:r>
          </a:p>
          <a:p>
            <a:pPr marL="839788" lvl="1" indent="-495300"/>
            <a:r>
              <a:rPr lang="en-US" altLang="ja-JP" i="1">
                <a:ea typeface="ＭＳ Ｐゴシック" panose="020B0600070205080204" pitchFamily="34" charset="-128"/>
              </a:rPr>
              <a:t>i</a:t>
            </a:r>
            <a:r>
              <a:rPr lang="en-US" altLang="ja-JP">
                <a:ea typeface="ＭＳ Ｐゴシック" panose="020B0600070205080204" pitchFamily="34" charset="-128"/>
              </a:rPr>
              <a:t> is inserted into </a:t>
            </a:r>
            <a:r>
              <a:rPr lang="en-US" altLang="ja-JP" i="1">
                <a:ea typeface="ＭＳ Ｐゴシック" panose="020B0600070205080204" pitchFamily="34" charset="-128"/>
              </a:rPr>
              <a:t>L</a:t>
            </a:r>
            <a:r>
              <a:rPr lang="en-US" altLang="ja-JP">
                <a:ea typeface="ＭＳ Ｐゴシック" panose="020B0600070205080204" pitchFamily="34" charset="-128"/>
              </a:rPr>
              <a:t>. </a:t>
            </a:r>
          </a:p>
          <a:p>
            <a:pPr marL="839788" lvl="1" indent="-495300"/>
            <a:r>
              <a:rPr lang="en-US" altLang="ja-JP">
                <a:ea typeface="ＭＳ Ｐゴシック" panose="020B0600070205080204" pitchFamily="34" charset="-128"/>
              </a:rPr>
              <a:t>For each subsequent item </a:t>
            </a:r>
            <a:r>
              <a:rPr lang="en-US" altLang="ja-JP" i="1">
                <a:ea typeface="ＭＳ Ｐゴシック" panose="020B0600070205080204" pitchFamily="34" charset="-128"/>
              </a:rPr>
              <a:t>j</a:t>
            </a:r>
            <a:r>
              <a:rPr lang="en-US" altLang="ja-JP">
                <a:ea typeface="ＭＳ Ｐゴシック" panose="020B0600070205080204" pitchFamily="34" charset="-128"/>
              </a:rPr>
              <a:t> in </a:t>
            </a:r>
            <a:r>
              <a:rPr lang="en-US" altLang="ja-JP" i="1">
                <a:ea typeface="ＭＳ Ｐゴシック" panose="020B0600070205080204" pitchFamily="34" charset="-128"/>
              </a:rPr>
              <a:t>M</a:t>
            </a:r>
            <a:r>
              <a:rPr lang="en-US" altLang="ja-JP">
                <a:ea typeface="ＭＳ Ｐゴシック" panose="020B0600070205080204" pitchFamily="34" charset="-128"/>
              </a:rPr>
              <a:t> after </a:t>
            </a:r>
            <a:r>
              <a:rPr lang="en-US" altLang="ja-JP" i="1">
                <a:ea typeface="ＭＳ Ｐゴシック" panose="020B0600070205080204" pitchFamily="34" charset="-128"/>
              </a:rPr>
              <a:t>i</a:t>
            </a:r>
            <a:r>
              <a:rPr lang="en-US" altLang="ja-JP">
                <a:ea typeface="ＭＳ Ｐゴシック" panose="020B0600070205080204" pitchFamily="34" charset="-128"/>
              </a:rPr>
              <a:t>, if </a:t>
            </a:r>
            <a:r>
              <a:rPr lang="en-US" altLang="ja-JP" i="1">
                <a:ea typeface="ＭＳ Ｐゴシック" panose="020B0600070205080204" pitchFamily="34" charset="-128"/>
              </a:rPr>
              <a:t>j</a:t>
            </a:r>
            <a:r>
              <a:rPr lang="en-US" altLang="ja-JP">
                <a:ea typeface="ＭＳ Ｐゴシック" panose="020B0600070205080204" pitchFamily="34" charset="-128"/>
              </a:rPr>
              <a:t>.</a:t>
            </a:r>
            <a:r>
              <a:rPr lang="en-US" altLang="ja-JP" i="1">
                <a:ea typeface="ＭＳ Ｐゴシック" panose="020B0600070205080204" pitchFamily="34" charset="-128"/>
              </a:rPr>
              <a:t>count</a:t>
            </a:r>
            <a:r>
              <a:rPr lang="en-US" altLang="ja-JP">
                <a:ea typeface="ＭＳ Ｐゴシック" panose="020B0600070205080204" pitchFamily="34" charset="-128"/>
              </a:rPr>
              <a:t>/</a:t>
            </a:r>
            <a:r>
              <a:rPr lang="en-US" altLang="ja-JP" i="1">
                <a:ea typeface="ＭＳ Ｐゴシック" panose="020B0600070205080204" pitchFamily="34" charset="-128"/>
              </a:rPr>
              <a:t>n</a:t>
            </a:r>
            <a:r>
              <a:rPr lang="en-US" altLang="ja-JP">
                <a:ea typeface="ＭＳ Ｐゴシック" panose="020B0600070205080204" pitchFamily="34" charset="-128"/>
              </a:rPr>
              <a:t> </a:t>
            </a:r>
            <a:r>
              <a:rPr lang="en-US" altLang="ja-JP">
                <a:ea typeface="ＭＳ Ｐゴシック" panose="020B0600070205080204" pitchFamily="34" charset="-128"/>
                <a:sym typeface="Symbol" pitchFamily="2" charset="2"/>
              </a:rPr>
              <a:t></a:t>
            </a:r>
            <a:r>
              <a:rPr lang="en-US" altLang="ja-JP">
                <a:ea typeface="ＭＳ Ｐゴシック" panose="020B0600070205080204" pitchFamily="34" charset="-128"/>
              </a:rPr>
              <a:t> MIS(</a:t>
            </a:r>
            <a:r>
              <a:rPr lang="en-US" altLang="ja-JP" i="1">
                <a:ea typeface="ＭＳ Ｐゴシック" panose="020B0600070205080204" pitchFamily="34" charset="-128"/>
              </a:rPr>
              <a:t>i</a:t>
            </a:r>
            <a:r>
              <a:rPr lang="en-US" altLang="ja-JP">
                <a:ea typeface="ＭＳ Ｐゴシック" panose="020B0600070205080204" pitchFamily="34" charset="-128"/>
              </a:rPr>
              <a:t>) then </a:t>
            </a:r>
            <a:r>
              <a:rPr lang="en-US" altLang="ja-JP" i="1">
                <a:ea typeface="ＭＳ Ｐゴシック" panose="020B0600070205080204" pitchFamily="34" charset="-128"/>
              </a:rPr>
              <a:t>j</a:t>
            </a:r>
            <a:r>
              <a:rPr lang="en-US" altLang="ja-JP">
                <a:ea typeface="ＭＳ Ｐゴシック" panose="020B0600070205080204" pitchFamily="34" charset="-128"/>
              </a:rPr>
              <a:t> is also inserted into </a:t>
            </a:r>
            <a:r>
              <a:rPr lang="en-US" altLang="ja-JP" i="1">
                <a:ea typeface="ＭＳ Ｐゴシック" panose="020B0600070205080204" pitchFamily="34" charset="-128"/>
              </a:rPr>
              <a:t>L</a:t>
            </a:r>
            <a:r>
              <a:rPr lang="en-US" altLang="ja-JP">
                <a:ea typeface="ＭＳ Ｐゴシック" panose="020B0600070205080204" pitchFamily="34" charset="-128"/>
              </a:rPr>
              <a:t>, where </a:t>
            </a:r>
            <a:r>
              <a:rPr lang="en-US" altLang="ja-JP" i="1">
                <a:ea typeface="ＭＳ Ｐゴシック" panose="020B0600070205080204" pitchFamily="34" charset="-128"/>
              </a:rPr>
              <a:t>j</a:t>
            </a:r>
            <a:r>
              <a:rPr lang="en-US" altLang="ja-JP">
                <a:ea typeface="ＭＳ Ｐゴシック" panose="020B0600070205080204" pitchFamily="34" charset="-128"/>
              </a:rPr>
              <a:t>.</a:t>
            </a:r>
            <a:r>
              <a:rPr lang="en-US" altLang="ja-JP" i="1">
                <a:ea typeface="ＭＳ Ｐゴシック" panose="020B0600070205080204" pitchFamily="34" charset="-128"/>
              </a:rPr>
              <a:t>count</a:t>
            </a:r>
            <a:r>
              <a:rPr lang="en-US" altLang="ja-JP">
                <a:ea typeface="ＭＳ Ｐゴシック" panose="020B0600070205080204" pitchFamily="34" charset="-128"/>
              </a:rPr>
              <a:t> is the support count of </a:t>
            </a:r>
            <a:r>
              <a:rPr lang="en-US" altLang="ja-JP" i="1">
                <a:ea typeface="ＭＳ Ｐゴシック" panose="020B0600070205080204" pitchFamily="34" charset="-128"/>
              </a:rPr>
              <a:t>j</a:t>
            </a:r>
            <a:r>
              <a:rPr lang="en-US" altLang="ja-JP">
                <a:ea typeface="ＭＳ Ｐゴシック" panose="020B0600070205080204" pitchFamily="34" charset="-128"/>
              </a:rPr>
              <a:t> and </a:t>
            </a:r>
            <a:r>
              <a:rPr lang="en-US" altLang="ja-JP" i="1">
                <a:ea typeface="ＭＳ Ｐゴシック" panose="020B0600070205080204" pitchFamily="34" charset="-128"/>
              </a:rPr>
              <a:t>n</a:t>
            </a:r>
            <a:r>
              <a:rPr lang="en-US" altLang="ja-JP">
                <a:ea typeface="ＭＳ Ｐゴシック" panose="020B0600070205080204" pitchFamily="34" charset="-128"/>
              </a:rPr>
              <a:t> is the total number of transactions in </a:t>
            </a:r>
            <a:r>
              <a:rPr lang="en-US" altLang="ja-JP" i="1">
                <a:ea typeface="ＭＳ Ｐゴシック" panose="020B0600070205080204" pitchFamily="34" charset="-128"/>
              </a:rPr>
              <a:t>T</a:t>
            </a:r>
            <a:r>
              <a:rPr lang="en-US" altLang="ja-JP">
                <a:ea typeface="ＭＳ Ｐゴシック" panose="020B0600070205080204" pitchFamily="34" charset="-128"/>
              </a:rPr>
              <a:t>.</a:t>
            </a:r>
            <a:r>
              <a:rPr lang="en-US" altLang="ja-JP">
                <a:solidFill>
                  <a:srgbClr val="3333CC"/>
                </a:solidFill>
                <a:ea typeface="ＭＳ Ｐゴシック" panose="020B0600070205080204" pitchFamily="34" charset="-128"/>
              </a:rPr>
              <a:t> Why?</a:t>
            </a:r>
          </a:p>
          <a:p>
            <a:pPr marL="571500" indent="-571500"/>
            <a:r>
              <a:rPr lang="en-US" altLang="en-IT" i="1"/>
              <a:t>L</a:t>
            </a:r>
            <a:r>
              <a:rPr lang="en-US" altLang="en-IT"/>
              <a:t> is used by function </a:t>
            </a:r>
            <a:r>
              <a:rPr lang="en-US" altLang="ja-JP">
                <a:ea typeface="ＭＳ Ｐゴシック" panose="020B0600070205080204" pitchFamily="34" charset="-128"/>
              </a:rPr>
              <a:t>level2-candidate-gen</a:t>
            </a:r>
            <a:endParaRPr lang="en-US" altLang="en-IT"/>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621CABF7-12C7-B077-99B3-E73C7E8224CA}"/>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233F58E4-06A0-900C-F83F-EDF7F13EA5C7}"/>
              </a:ext>
            </a:extLst>
          </p:cNvPr>
          <p:cNvSpPr>
            <a:spLocks noGrp="1"/>
          </p:cNvSpPr>
          <p:nvPr>
            <p:ph type="sldNum" sz="quarter" idx="11"/>
          </p:nvPr>
        </p:nvSpPr>
        <p:spPr/>
        <p:txBody>
          <a:bodyPr/>
          <a:lstStyle/>
          <a:p>
            <a:fld id="{CED8CDB9-EA42-8845-967E-7D69C87C9467}" type="slidenum">
              <a:rPr lang="en-US" altLang="en-US"/>
              <a:pPr/>
              <a:t>59</a:t>
            </a:fld>
            <a:endParaRPr lang="en-US" altLang="en-US"/>
          </a:p>
        </p:txBody>
      </p:sp>
      <p:sp>
        <p:nvSpPr>
          <p:cNvPr id="690178" name="Rectangle 2">
            <a:extLst>
              <a:ext uri="{FF2B5EF4-FFF2-40B4-BE49-F238E27FC236}">
                <a16:creationId xmlns:a16="http://schemas.microsoft.com/office/drawing/2014/main" id="{D8B9249E-88EA-2043-4AEB-A4906B4989AC}"/>
              </a:ext>
            </a:extLst>
          </p:cNvPr>
          <p:cNvSpPr>
            <a:spLocks noGrp="1" noChangeArrowheads="1"/>
          </p:cNvSpPr>
          <p:nvPr>
            <p:ph type="title"/>
          </p:nvPr>
        </p:nvSpPr>
        <p:spPr/>
        <p:txBody>
          <a:bodyPr/>
          <a:lstStyle/>
          <a:p>
            <a:r>
              <a:rPr lang="en-US" altLang="en-IT"/>
              <a:t>First pass over data: an example</a:t>
            </a:r>
          </a:p>
        </p:txBody>
      </p:sp>
      <p:sp>
        <p:nvSpPr>
          <p:cNvPr id="690179" name="Rectangle 3">
            <a:extLst>
              <a:ext uri="{FF2B5EF4-FFF2-40B4-BE49-F238E27FC236}">
                <a16:creationId xmlns:a16="http://schemas.microsoft.com/office/drawing/2014/main" id="{93D277B1-A7E6-9E4F-F373-43C6985219D9}"/>
              </a:ext>
            </a:extLst>
          </p:cNvPr>
          <p:cNvSpPr>
            <a:spLocks noGrp="1" noChangeArrowheads="1"/>
          </p:cNvSpPr>
          <p:nvPr>
            <p:ph type="body" idx="1"/>
          </p:nvPr>
        </p:nvSpPr>
        <p:spPr>
          <a:xfrm>
            <a:off x="1981200" y="1304925"/>
            <a:ext cx="8229600" cy="4826000"/>
          </a:xfrm>
        </p:spPr>
        <p:txBody>
          <a:bodyPr>
            <a:normAutofit lnSpcReduction="10000"/>
          </a:bodyPr>
          <a:lstStyle/>
          <a:p>
            <a:pPr>
              <a:lnSpc>
                <a:spcPct val="90000"/>
              </a:lnSpc>
            </a:pPr>
            <a:r>
              <a:rPr lang="en-US" altLang="ja-JP" sz="2600">
                <a:solidFill>
                  <a:srgbClr val="3333CC"/>
                </a:solidFill>
                <a:ea typeface="ＭＳ Ｐゴシック" panose="020B0600070205080204" pitchFamily="34" charset="-128"/>
              </a:rPr>
              <a:t>Consider the four items 1, 2, 3 and 4 in a data set. Their minimum item supports are:</a:t>
            </a:r>
          </a:p>
          <a:p>
            <a:pPr>
              <a:lnSpc>
                <a:spcPct val="90000"/>
              </a:lnSpc>
              <a:buFont typeface="Wingdings" pitchFamily="2" charset="2"/>
              <a:buNone/>
            </a:pPr>
            <a:r>
              <a:rPr lang="en-US" altLang="ja-JP" sz="2600">
                <a:ea typeface="ＭＳ Ｐゴシック" panose="020B0600070205080204" pitchFamily="34" charset="-128"/>
              </a:rPr>
              <a:t>		MIS(1) = 10% 	MIS(2) = 20%</a:t>
            </a:r>
          </a:p>
          <a:p>
            <a:pPr>
              <a:lnSpc>
                <a:spcPct val="90000"/>
              </a:lnSpc>
              <a:buFont typeface="Wingdings" pitchFamily="2" charset="2"/>
              <a:buNone/>
            </a:pPr>
            <a:r>
              <a:rPr lang="en-US" altLang="ja-JP" sz="2600">
                <a:ea typeface="ＭＳ Ｐゴシック" panose="020B0600070205080204" pitchFamily="34" charset="-128"/>
              </a:rPr>
              <a:t>		MIS(3) = 5% 	MIS(4) = 6% </a:t>
            </a:r>
          </a:p>
          <a:p>
            <a:pPr>
              <a:lnSpc>
                <a:spcPct val="90000"/>
              </a:lnSpc>
            </a:pPr>
            <a:r>
              <a:rPr lang="en-US" altLang="ja-JP" sz="2600">
                <a:ea typeface="ＭＳ Ｐゴシック" panose="020B0600070205080204" pitchFamily="34" charset="-128"/>
              </a:rPr>
              <a:t>Assume our data set has 100 transactions. The first pass gives us the following support counts: </a:t>
            </a:r>
          </a:p>
          <a:p>
            <a:pPr>
              <a:lnSpc>
                <a:spcPct val="90000"/>
              </a:lnSpc>
              <a:buFont typeface="Wingdings" pitchFamily="2" charset="2"/>
              <a:buNone/>
            </a:pPr>
            <a:r>
              <a:rPr lang="en-US" altLang="ja-JP" sz="2600">
                <a:ea typeface="ＭＳ Ｐゴシック" panose="020B0600070205080204" pitchFamily="34" charset="-128"/>
              </a:rPr>
              <a:t>		{3}.</a:t>
            </a:r>
            <a:r>
              <a:rPr lang="en-US" altLang="ja-JP" sz="2600" i="1">
                <a:ea typeface="ＭＳ Ｐゴシック" panose="020B0600070205080204" pitchFamily="34" charset="-128"/>
              </a:rPr>
              <a:t>count</a:t>
            </a:r>
            <a:r>
              <a:rPr lang="en-US" altLang="ja-JP" sz="2600">
                <a:ea typeface="ＭＳ Ｐゴシック" panose="020B0600070205080204" pitchFamily="34" charset="-128"/>
              </a:rPr>
              <a:t> = 6, {4}.</a:t>
            </a:r>
            <a:r>
              <a:rPr lang="en-US" altLang="ja-JP" sz="2600" i="1">
                <a:ea typeface="ＭＳ Ｐゴシック" panose="020B0600070205080204" pitchFamily="34" charset="-128"/>
              </a:rPr>
              <a:t>count</a:t>
            </a:r>
            <a:r>
              <a:rPr lang="en-US" altLang="ja-JP" sz="2600">
                <a:ea typeface="ＭＳ Ｐゴシック" panose="020B0600070205080204" pitchFamily="34" charset="-128"/>
              </a:rPr>
              <a:t> = 3, </a:t>
            </a:r>
          </a:p>
          <a:p>
            <a:pPr>
              <a:lnSpc>
                <a:spcPct val="90000"/>
              </a:lnSpc>
              <a:buFont typeface="Wingdings" pitchFamily="2" charset="2"/>
              <a:buNone/>
            </a:pPr>
            <a:r>
              <a:rPr lang="en-US" altLang="ja-JP" sz="2600">
                <a:ea typeface="ＭＳ Ｐゴシック" panose="020B0600070205080204" pitchFamily="34" charset="-128"/>
              </a:rPr>
              <a:t>		{1}.</a:t>
            </a:r>
            <a:r>
              <a:rPr lang="en-US" altLang="ja-JP" sz="2600" i="1">
                <a:ea typeface="ＭＳ Ｐゴシック" panose="020B0600070205080204" pitchFamily="34" charset="-128"/>
              </a:rPr>
              <a:t>count</a:t>
            </a:r>
            <a:r>
              <a:rPr lang="en-US" altLang="ja-JP" sz="2600">
                <a:ea typeface="ＭＳ Ｐゴシック" panose="020B0600070205080204" pitchFamily="34" charset="-128"/>
              </a:rPr>
              <a:t> = 9, {2}.</a:t>
            </a:r>
            <a:r>
              <a:rPr lang="en-US" altLang="ja-JP" sz="2600" i="1">
                <a:ea typeface="ＭＳ Ｐゴシック" panose="020B0600070205080204" pitchFamily="34" charset="-128"/>
              </a:rPr>
              <a:t>count</a:t>
            </a:r>
            <a:r>
              <a:rPr lang="en-US" altLang="ja-JP" sz="2600">
                <a:ea typeface="ＭＳ Ｐゴシック" panose="020B0600070205080204" pitchFamily="34" charset="-128"/>
              </a:rPr>
              <a:t> = 25. </a:t>
            </a:r>
            <a:endParaRPr lang="en-US" altLang="ja-JP" sz="2600" i="1">
              <a:ea typeface="ＭＳ Ｐゴシック" panose="020B0600070205080204" pitchFamily="34" charset="-128"/>
            </a:endParaRPr>
          </a:p>
          <a:p>
            <a:pPr>
              <a:lnSpc>
                <a:spcPct val="90000"/>
              </a:lnSpc>
            </a:pPr>
            <a:r>
              <a:rPr lang="en-US" altLang="ja-JP" sz="2600" b="1">
                <a:solidFill>
                  <a:srgbClr val="FF0000"/>
                </a:solidFill>
                <a:ea typeface="ＭＳ Ｐゴシック" panose="020B0600070205080204" pitchFamily="34" charset="-128"/>
              </a:rPr>
              <a:t>Then </a:t>
            </a:r>
            <a:r>
              <a:rPr lang="en-US" altLang="ja-JP" sz="2600" i="1">
                <a:solidFill>
                  <a:srgbClr val="FF0000"/>
                </a:solidFill>
                <a:ea typeface="ＭＳ Ｐゴシック" panose="020B0600070205080204" pitchFamily="34" charset="-128"/>
              </a:rPr>
              <a:t>L</a:t>
            </a:r>
            <a:r>
              <a:rPr lang="en-US" altLang="ja-JP" sz="2600">
                <a:solidFill>
                  <a:srgbClr val="FF0000"/>
                </a:solidFill>
                <a:ea typeface="ＭＳ Ｐゴシック" panose="020B0600070205080204" pitchFamily="34" charset="-128"/>
              </a:rPr>
              <a:t> = {3, 1, 2}, and </a:t>
            </a:r>
            <a:r>
              <a:rPr lang="en-US" altLang="ja-JP" sz="2600" i="1">
                <a:solidFill>
                  <a:srgbClr val="FF0000"/>
                </a:solidFill>
                <a:ea typeface="ＭＳ Ｐゴシック" panose="020B0600070205080204" pitchFamily="34" charset="-128"/>
              </a:rPr>
              <a:t>F</a:t>
            </a:r>
            <a:r>
              <a:rPr lang="en-US" altLang="ja-JP" sz="2600" baseline="-25000">
                <a:solidFill>
                  <a:srgbClr val="FF0000"/>
                </a:solidFill>
                <a:ea typeface="ＭＳ Ｐゴシック" panose="020B0600070205080204" pitchFamily="34" charset="-128"/>
              </a:rPr>
              <a:t>1</a:t>
            </a:r>
            <a:r>
              <a:rPr lang="en-US" altLang="ja-JP" sz="2600">
                <a:solidFill>
                  <a:srgbClr val="FF0000"/>
                </a:solidFill>
                <a:ea typeface="ＭＳ Ｐゴシック" panose="020B0600070205080204" pitchFamily="34" charset="-128"/>
              </a:rPr>
              <a:t> = {{3}, {2}}</a:t>
            </a:r>
          </a:p>
          <a:p>
            <a:pPr>
              <a:lnSpc>
                <a:spcPct val="90000"/>
              </a:lnSpc>
            </a:pPr>
            <a:r>
              <a:rPr lang="en-US" altLang="ja-JP" sz="2600">
                <a:ea typeface="ＭＳ Ｐゴシック" panose="020B0600070205080204" pitchFamily="34" charset="-128"/>
              </a:rPr>
              <a:t>Item 4 is not in </a:t>
            </a:r>
            <a:r>
              <a:rPr lang="en-US" altLang="ja-JP" sz="2600" i="1">
                <a:ea typeface="ＭＳ Ｐゴシック" panose="020B0600070205080204" pitchFamily="34" charset="-128"/>
              </a:rPr>
              <a:t>L</a:t>
            </a:r>
            <a:r>
              <a:rPr lang="en-US" altLang="ja-JP" sz="2600">
                <a:ea typeface="ＭＳ Ｐゴシック" panose="020B0600070205080204" pitchFamily="34" charset="-128"/>
              </a:rPr>
              <a:t> because 4</a:t>
            </a:r>
            <a:r>
              <a:rPr lang="en-US" altLang="ja-JP" sz="2600" i="1">
                <a:ea typeface="ＭＳ Ｐゴシック" panose="020B0600070205080204" pitchFamily="34" charset="-128"/>
              </a:rPr>
              <a:t>.count</a:t>
            </a:r>
            <a:r>
              <a:rPr lang="en-US" altLang="ja-JP" sz="2600">
                <a:ea typeface="ＭＳ Ｐゴシック" panose="020B0600070205080204" pitchFamily="34" charset="-128"/>
              </a:rPr>
              <a:t>/</a:t>
            </a:r>
            <a:r>
              <a:rPr lang="en-US" altLang="ja-JP" sz="2600" i="1">
                <a:ea typeface="ＭＳ Ｐゴシック" panose="020B0600070205080204" pitchFamily="34" charset="-128"/>
              </a:rPr>
              <a:t>n</a:t>
            </a:r>
            <a:r>
              <a:rPr lang="en-US" altLang="ja-JP" sz="2600">
                <a:ea typeface="ＭＳ Ｐゴシック" panose="020B0600070205080204" pitchFamily="34" charset="-128"/>
              </a:rPr>
              <a:t> &lt; MIS(3) (= 5%), </a:t>
            </a:r>
          </a:p>
          <a:p>
            <a:pPr>
              <a:lnSpc>
                <a:spcPct val="90000"/>
              </a:lnSpc>
            </a:pPr>
            <a:r>
              <a:rPr lang="en-US" altLang="ja-JP" sz="2600">
                <a:ea typeface="ＭＳ Ｐゴシック" panose="020B0600070205080204" pitchFamily="34" charset="-128"/>
              </a:rPr>
              <a:t>{1} is not in </a:t>
            </a:r>
            <a:r>
              <a:rPr lang="en-US" altLang="ja-JP" sz="2600" i="1">
                <a:ea typeface="ＭＳ Ｐゴシック" panose="020B0600070205080204" pitchFamily="34" charset="-128"/>
              </a:rPr>
              <a:t>F</a:t>
            </a:r>
            <a:r>
              <a:rPr lang="en-US" altLang="ja-JP" sz="2600" baseline="-25000">
                <a:ea typeface="ＭＳ Ｐゴシック" panose="020B0600070205080204" pitchFamily="34" charset="-128"/>
              </a:rPr>
              <a:t>1</a:t>
            </a:r>
            <a:r>
              <a:rPr lang="en-US" altLang="ja-JP" sz="2600">
                <a:ea typeface="ＭＳ Ｐゴシック" panose="020B0600070205080204" pitchFamily="34" charset="-128"/>
              </a:rPr>
              <a:t> because 1</a:t>
            </a:r>
            <a:r>
              <a:rPr lang="en-US" altLang="ja-JP" sz="2600" i="1">
                <a:ea typeface="ＭＳ Ｐゴシック" panose="020B0600070205080204" pitchFamily="34" charset="-128"/>
              </a:rPr>
              <a:t>.count</a:t>
            </a:r>
            <a:r>
              <a:rPr lang="en-US" altLang="ja-JP" sz="2600">
                <a:ea typeface="ＭＳ Ｐゴシック" panose="020B0600070205080204" pitchFamily="34" charset="-128"/>
              </a:rPr>
              <a:t>/</a:t>
            </a:r>
            <a:r>
              <a:rPr lang="en-US" altLang="ja-JP" sz="2600" i="1">
                <a:ea typeface="ＭＳ Ｐゴシック" panose="020B0600070205080204" pitchFamily="34" charset="-128"/>
              </a:rPr>
              <a:t>n</a:t>
            </a:r>
            <a:r>
              <a:rPr lang="en-US" altLang="ja-JP" sz="2600">
                <a:ea typeface="ＭＳ Ｐゴシック" panose="020B0600070205080204" pitchFamily="34" charset="-128"/>
              </a:rPr>
              <a:t> &lt; MIS(1) (= 10%). </a:t>
            </a:r>
            <a:endParaRPr lang="en-US" altLang="en-IT" sz="26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5BA5FA5-3DCF-F165-DE12-B005427B7A29}"/>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29849C5B-79D1-1DDA-CFA6-3D50ECF48FB0}"/>
              </a:ext>
            </a:extLst>
          </p:cNvPr>
          <p:cNvSpPr>
            <a:spLocks noGrp="1"/>
          </p:cNvSpPr>
          <p:nvPr>
            <p:ph type="sldNum" sz="quarter" idx="11"/>
          </p:nvPr>
        </p:nvSpPr>
        <p:spPr/>
        <p:txBody>
          <a:bodyPr/>
          <a:lstStyle/>
          <a:p>
            <a:fld id="{1D760B07-B708-2044-8CD8-B12BE96830F1}" type="slidenum">
              <a:rPr lang="en-US" altLang="en-US"/>
              <a:pPr/>
              <a:t>60</a:t>
            </a:fld>
            <a:endParaRPr lang="en-US" altLang="en-US"/>
          </a:p>
        </p:txBody>
      </p:sp>
      <p:sp>
        <p:nvSpPr>
          <p:cNvPr id="693250" name="Rectangle 2">
            <a:extLst>
              <a:ext uri="{FF2B5EF4-FFF2-40B4-BE49-F238E27FC236}">
                <a16:creationId xmlns:a16="http://schemas.microsoft.com/office/drawing/2014/main" id="{259FBB49-71FA-85EC-674B-FCDA62311873}"/>
              </a:ext>
            </a:extLst>
          </p:cNvPr>
          <p:cNvSpPr>
            <a:spLocks noGrp="1" noChangeArrowheads="1"/>
          </p:cNvSpPr>
          <p:nvPr>
            <p:ph type="title"/>
          </p:nvPr>
        </p:nvSpPr>
        <p:spPr/>
        <p:txBody>
          <a:bodyPr/>
          <a:lstStyle/>
          <a:p>
            <a:r>
              <a:rPr lang="en-US" altLang="en-IT"/>
              <a:t>Rule generation</a:t>
            </a:r>
          </a:p>
        </p:txBody>
      </p:sp>
      <p:sp>
        <p:nvSpPr>
          <p:cNvPr id="693251" name="Rectangle 3">
            <a:extLst>
              <a:ext uri="{FF2B5EF4-FFF2-40B4-BE49-F238E27FC236}">
                <a16:creationId xmlns:a16="http://schemas.microsoft.com/office/drawing/2014/main" id="{A879AAA9-30C6-D1E6-E56F-E4D7A03E8AB4}"/>
              </a:ext>
            </a:extLst>
          </p:cNvPr>
          <p:cNvSpPr>
            <a:spLocks noGrp="1" noChangeArrowheads="1"/>
          </p:cNvSpPr>
          <p:nvPr>
            <p:ph type="body" idx="1"/>
          </p:nvPr>
        </p:nvSpPr>
        <p:spPr>
          <a:xfrm>
            <a:off x="1981200" y="1376363"/>
            <a:ext cx="8229600" cy="4754562"/>
          </a:xfrm>
        </p:spPr>
        <p:txBody>
          <a:bodyPr/>
          <a:lstStyle/>
          <a:p>
            <a:r>
              <a:rPr lang="en-US" altLang="ja-JP">
                <a:ea typeface="ＭＳ Ｐゴシック" panose="020B0600070205080204" pitchFamily="34" charset="-128"/>
              </a:rPr>
              <a:t>The following two lines in MSapriori algorithm are important for rule generation, which are not needed for the Apriori algorithm</a:t>
            </a:r>
          </a:p>
          <a:p>
            <a:pPr>
              <a:buFont typeface="Wingdings" pitchFamily="2" charset="2"/>
              <a:buNone/>
            </a:pPr>
            <a:r>
              <a:rPr lang="en-US" altLang="ja-JP" b="1">
                <a:ea typeface="ＭＳ Ｐゴシック" panose="020B0600070205080204" pitchFamily="34" charset="-128"/>
              </a:rPr>
              <a:t>	if</a:t>
            </a:r>
            <a:r>
              <a:rPr lang="en-US" altLang="ja-JP">
                <a:ea typeface="ＭＳ Ｐゴシック" panose="020B0600070205080204" pitchFamily="34" charset="-128"/>
              </a:rPr>
              <a:t> </a:t>
            </a:r>
            <a:r>
              <a:rPr lang="en-US" altLang="ja-JP" i="1">
                <a:ea typeface="ＭＳ Ｐゴシック" panose="020B0600070205080204" pitchFamily="34" charset="-128"/>
              </a:rPr>
              <a:t>c – </a:t>
            </a:r>
            <a:r>
              <a:rPr lang="en-US" altLang="ja-JP">
                <a:ea typeface="ＭＳ Ｐゴシック" panose="020B0600070205080204" pitchFamily="34" charset="-128"/>
              </a:rPr>
              <a:t>{</a:t>
            </a:r>
            <a:r>
              <a:rPr lang="en-US" altLang="ja-JP" i="1">
                <a:ea typeface="ＭＳ Ｐゴシック" panose="020B0600070205080204" pitchFamily="34" charset="-128"/>
              </a:rPr>
              <a:t>c</a:t>
            </a:r>
            <a:r>
              <a:rPr lang="en-US" altLang="ja-JP">
                <a:ea typeface="ＭＳ Ｐゴシック" panose="020B0600070205080204" pitchFamily="34" charset="-128"/>
              </a:rPr>
              <a:t>[1]} is contained in </a:t>
            </a:r>
            <a:r>
              <a:rPr lang="en-US" altLang="ja-JP" i="1">
                <a:ea typeface="ＭＳ Ｐゴシック" panose="020B0600070205080204" pitchFamily="34" charset="-128"/>
              </a:rPr>
              <a:t>t</a:t>
            </a:r>
            <a:r>
              <a:rPr lang="en-US" altLang="ja-JP">
                <a:ea typeface="ＭＳ Ｐゴシック" panose="020B0600070205080204" pitchFamily="34" charset="-128"/>
              </a:rPr>
              <a:t> </a:t>
            </a:r>
            <a:r>
              <a:rPr lang="en-US" altLang="ja-JP" b="1">
                <a:ea typeface="ＭＳ Ｐゴシック" panose="020B0600070205080204" pitchFamily="34" charset="-128"/>
              </a:rPr>
              <a:t>then</a:t>
            </a:r>
            <a:r>
              <a:rPr lang="en-US" altLang="ja-JP">
                <a:ea typeface="ＭＳ Ｐゴシック" panose="020B0600070205080204" pitchFamily="34" charset="-128"/>
              </a:rPr>
              <a:t>		</a:t>
            </a:r>
          </a:p>
          <a:p>
            <a:pPr>
              <a:buFont typeface="Wingdings" pitchFamily="2" charset="2"/>
              <a:buNone/>
            </a:pPr>
            <a:r>
              <a:rPr lang="en-US" altLang="ja-JP" i="1">
                <a:ea typeface="ＭＳ Ｐゴシック" panose="020B0600070205080204" pitchFamily="34" charset="-128"/>
              </a:rPr>
              <a:t>		c</a:t>
            </a:r>
            <a:r>
              <a:rPr lang="en-US" altLang="ja-JP">
                <a:ea typeface="ＭＳ Ｐゴシック" panose="020B0600070205080204" pitchFamily="34" charset="-128"/>
              </a:rPr>
              <a:t>.</a:t>
            </a:r>
            <a:r>
              <a:rPr lang="en-US" altLang="ja-JP" i="1">
                <a:ea typeface="ＭＳ Ｐゴシック" panose="020B0600070205080204" pitchFamily="34" charset="-128"/>
              </a:rPr>
              <a:t>tailCount</a:t>
            </a:r>
            <a:r>
              <a:rPr lang="en-US" altLang="ja-JP">
                <a:ea typeface="ＭＳ Ｐゴシック" panose="020B0600070205080204" pitchFamily="34" charset="-128"/>
              </a:rPr>
              <a:t>++</a:t>
            </a:r>
          </a:p>
          <a:p>
            <a:r>
              <a:rPr lang="en-US" altLang="ja-JP">
                <a:ea typeface="ＭＳ Ｐゴシック" panose="020B0600070205080204" pitchFamily="34" charset="-128"/>
              </a:rPr>
              <a:t>Many rules cannot be generated without them.</a:t>
            </a:r>
          </a:p>
          <a:p>
            <a:r>
              <a:rPr lang="en-US" altLang="ja-JP">
                <a:ea typeface="ＭＳ Ｐゴシック" panose="020B0600070205080204" pitchFamily="34" charset="-128"/>
              </a:rPr>
              <a:t>Why?	</a:t>
            </a:r>
            <a:endParaRPr lang="en-US" altLang="en-IT"/>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F320F136-BA2F-7CC3-808D-EE521BE0BBA5}"/>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813CFB1D-CC93-F429-7B72-3E2B3FDD9FBE}"/>
              </a:ext>
            </a:extLst>
          </p:cNvPr>
          <p:cNvSpPr>
            <a:spLocks noGrp="1"/>
          </p:cNvSpPr>
          <p:nvPr>
            <p:ph type="sldNum" sz="quarter" idx="11"/>
          </p:nvPr>
        </p:nvSpPr>
        <p:spPr/>
        <p:txBody>
          <a:bodyPr/>
          <a:lstStyle/>
          <a:p>
            <a:fld id="{B213882D-2B16-EA47-9C38-F11598385F28}" type="slidenum">
              <a:rPr lang="en-US" altLang="en-US"/>
              <a:pPr/>
              <a:t>61</a:t>
            </a:fld>
            <a:endParaRPr lang="en-US" altLang="en-US"/>
          </a:p>
        </p:txBody>
      </p:sp>
      <p:sp>
        <p:nvSpPr>
          <p:cNvPr id="674818" name="Rectangle 2">
            <a:extLst>
              <a:ext uri="{FF2B5EF4-FFF2-40B4-BE49-F238E27FC236}">
                <a16:creationId xmlns:a16="http://schemas.microsoft.com/office/drawing/2014/main" id="{FE5FEAAE-B40C-6D09-4756-4D9B47A6ADBE}"/>
              </a:ext>
            </a:extLst>
          </p:cNvPr>
          <p:cNvSpPr>
            <a:spLocks noGrp="1" noChangeArrowheads="1"/>
          </p:cNvSpPr>
          <p:nvPr>
            <p:ph type="title"/>
          </p:nvPr>
        </p:nvSpPr>
        <p:spPr>
          <a:xfrm>
            <a:off x="2100263" y="404813"/>
            <a:ext cx="8077200" cy="1143000"/>
          </a:xfrm>
        </p:spPr>
        <p:txBody>
          <a:bodyPr/>
          <a:lstStyle/>
          <a:p>
            <a:r>
              <a:rPr lang="en-US" altLang="en-IT"/>
              <a:t>On multiple minsup rule mining</a:t>
            </a:r>
          </a:p>
        </p:txBody>
      </p:sp>
      <p:sp>
        <p:nvSpPr>
          <p:cNvPr id="674819" name="Rectangle 3">
            <a:extLst>
              <a:ext uri="{FF2B5EF4-FFF2-40B4-BE49-F238E27FC236}">
                <a16:creationId xmlns:a16="http://schemas.microsoft.com/office/drawing/2014/main" id="{BDC4B333-ABBB-08B0-C5D6-8EFE6CB8DFD1}"/>
              </a:ext>
            </a:extLst>
          </p:cNvPr>
          <p:cNvSpPr>
            <a:spLocks noGrp="1" noChangeArrowheads="1"/>
          </p:cNvSpPr>
          <p:nvPr>
            <p:ph type="body" idx="1"/>
          </p:nvPr>
        </p:nvSpPr>
        <p:spPr>
          <a:xfrm>
            <a:off x="2063750" y="1376363"/>
            <a:ext cx="7772400" cy="4648200"/>
          </a:xfrm>
        </p:spPr>
        <p:txBody>
          <a:bodyPr/>
          <a:lstStyle/>
          <a:p>
            <a:r>
              <a:rPr lang="en-US" altLang="en-IT" sz="2600"/>
              <a:t>Multiple minsup model </a:t>
            </a:r>
            <a:r>
              <a:rPr lang="en-US" altLang="en-IT" sz="2600">
                <a:solidFill>
                  <a:srgbClr val="FF0000"/>
                </a:solidFill>
              </a:rPr>
              <a:t>subsumes</a:t>
            </a:r>
            <a:r>
              <a:rPr lang="en-US" altLang="en-IT" sz="2600"/>
              <a:t> the single support model.</a:t>
            </a:r>
          </a:p>
          <a:p>
            <a:r>
              <a:rPr lang="en-US" altLang="en-IT" sz="2600"/>
              <a:t>It is a </a:t>
            </a:r>
            <a:r>
              <a:rPr lang="en-US" altLang="en-IT" sz="2600">
                <a:solidFill>
                  <a:srgbClr val="FF0000"/>
                </a:solidFill>
              </a:rPr>
              <a:t>more realistic</a:t>
            </a:r>
            <a:r>
              <a:rPr lang="en-US" altLang="en-IT" sz="2600"/>
              <a:t> model for practical applications.</a:t>
            </a:r>
          </a:p>
          <a:p>
            <a:r>
              <a:rPr lang="en-US" altLang="en-IT" sz="2600">
                <a:cs typeface="Times New Roman" panose="02020603050405020304" pitchFamily="18" charset="0"/>
              </a:rPr>
              <a:t>The model enables us to found </a:t>
            </a:r>
            <a:r>
              <a:rPr lang="en-US" altLang="en-IT" sz="2600">
                <a:solidFill>
                  <a:srgbClr val="FF0000"/>
                </a:solidFill>
                <a:cs typeface="Times New Roman" panose="02020603050405020304" pitchFamily="18" charset="0"/>
              </a:rPr>
              <a:t>rare item rules</a:t>
            </a:r>
            <a:r>
              <a:rPr lang="en-US" altLang="en-IT" sz="2600">
                <a:cs typeface="Times New Roman" panose="02020603050405020304" pitchFamily="18" charset="0"/>
              </a:rPr>
              <a:t> yet without producing a huge number of meaningless rules with frequent items.</a:t>
            </a:r>
          </a:p>
          <a:p>
            <a:r>
              <a:rPr lang="en-US" altLang="en-IT" sz="2600">
                <a:solidFill>
                  <a:srgbClr val="3333CC"/>
                </a:solidFill>
                <a:cs typeface="Times New Roman" panose="02020603050405020304" pitchFamily="18" charset="0"/>
              </a:rPr>
              <a:t>By setting MIS values of some items to 100% (or more), we effectively instruct the algorithms not to generate rules only involving these items</a:t>
            </a:r>
            <a:r>
              <a:rPr lang="en-US" altLang="en-IT" sz="2600">
                <a:cs typeface="Times New Roman" panose="02020603050405020304" pitchFamily="18" charset="0"/>
              </a:rPr>
              <a: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9E02740-EE99-1C6B-DC90-6AC76B5F42C9}"/>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487BA6E1-93F4-F749-EE41-89744242C054}"/>
              </a:ext>
            </a:extLst>
          </p:cNvPr>
          <p:cNvSpPr>
            <a:spLocks noGrp="1"/>
          </p:cNvSpPr>
          <p:nvPr>
            <p:ph type="sldNum" sz="quarter" idx="11"/>
          </p:nvPr>
        </p:nvSpPr>
        <p:spPr/>
        <p:txBody>
          <a:bodyPr/>
          <a:lstStyle/>
          <a:p>
            <a:fld id="{8E45DF8F-4064-A94D-A8F7-34E0199FAE44}" type="slidenum">
              <a:rPr lang="en-US" altLang="en-US"/>
              <a:pPr/>
              <a:t>62</a:t>
            </a:fld>
            <a:endParaRPr lang="en-US" altLang="en-US"/>
          </a:p>
        </p:txBody>
      </p:sp>
      <p:sp>
        <p:nvSpPr>
          <p:cNvPr id="694274" name="Rectangle 2">
            <a:extLst>
              <a:ext uri="{FF2B5EF4-FFF2-40B4-BE49-F238E27FC236}">
                <a16:creationId xmlns:a16="http://schemas.microsoft.com/office/drawing/2014/main" id="{41729439-0690-F5AC-697E-4C51300FDEEF}"/>
              </a:ext>
            </a:extLst>
          </p:cNvPr>
          <p:cNvSpPr>
            <a:spLocks noGrp="1" noChangeArrowheads="1"/>
          </p:cNvSpPr>
          <p:nvPr>
            <p:ph type="title"/>
          </p:nvPr>
        </p:nvSpPr>
        <p:spPr>
          <a:xfrm>
            <a:off x="838200" y="-57150"/>
            <a:ext cx="10515600" cy="1325563"/>
          </a:xfrm>
        </p:spPr>
        <p:txBody>
          <a:bodyPr/>
          <a:lstStyle/>
          <a:p>
            <a:r>
              <a:rPr lang="en-US" altLang="en-IT" dirty="0"/>
              <a:t>Mining class association rules (CAR)</a:t>
            </a:r>
          </a:p>
        </p:txBody>
      </p:sp>
      <p:sp>
        <p:nvSpPr>
          <p:cNvPr id="694275" name="Rectangle 3">
            <a:extLst>
              <a:ext uri="{FF2B5EF4-FFF2-40B4-BE49-F238E27FC236}">
                <a16:creationId xmlns:a16="http://schemas.microsoft.com/office/drawing/2014/main" id="{47B8519D-E2AD-0252-7982-289F7AC60C37}"/>
              </a:ext>
            </a:extLst>
          </p:cNvPr>
          <p:cNvSpPr>
            <a:spLocks noGrp="1" noChangeArrowheads="1"/>
          </p:cNvSpPr>
          <p:nvPr>
            <p:ph type="body" idx="1"/>
          </p:nvPr>
        </p:nvSpPr>
        <p:spPr>
          <a:xfrm>
            <a:off x="1981200" y="1268413"/>
            <a:ext cx="8229600" cy="4862512"/>
          </a:xfrm>
        </p:spPr>
        <p:txBody>
          <a:bodyPr/>
          <a:lstStyle/>
          <a:p>
            <a:r>
              <a:rPr lang="en-US" altLang="en-IT"/>
              <a:t>Normal association rule mining does not have any target. </a:t>
            </a:r>
          </a:p>
          <a:p>
            <a:r>
              <a:rPr lang="en-US" altLang="ja-JP">
                <a:ea typeface="ＭＳ Ｐゴシック" panose="020B0600070205080204" pitchFamily="34" charset="-128"/>
              </a:rPr>
              <a:t>It finds all possible rules that exist in data, i.e., any item can appear as a consequent or a condition of a rule. </a:t>
            </a:r>
          </a:p>
          <a:p>
            <a:r>
              <a:rPr lang="en-US" altLang="ja-JP">
                <a:ea typeface="ＭＳ Ｐゴシック" panose="020B0600070205080204" pitchFamily="34" charset="-128"/>
              </a:rPr>
              <a:t>However, in some applications, the user is interested in some targets. </a:t>
            </a:r>
          </a:p>
          <a:p>
            <a:pPr lvl="1"/>
            <a:r>
              <a:rPr lang="en-US" altLang="ja-JP">
                <a:ea typeface="ＭＳ Ｐゴシック" panose="020B0600070205080204" pitchFamily="34" charset="-128"/>
              </a:rPr>
              <a:t>E.g, the user has a set of text documents from some known topics. He/she wants to find out what words are associated or correlated with each topic. </a:t>
            </a:r>
            <a:endParaRPr lang="en-US" altLang="en-IT"/>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2C60BA41-1F29-44D8-728D-87BE14C884C9}"/>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08D7827B-1595-830E-8D9E-D04B3A3C2D44}"/>
              </a:ext>
            </a:extLst>
          </p:cNvPr>
          <p:cNvSpPr>
            <a:spLocks noGrp="1"/>
          </p:cNvSpPr>
          <p:nvPr>
            <p:ph type="sldNum" sz="quarter" idx="11"/>
          </p:nvPr>
        </p:nvSpPr>
        <p:spPr/>
        <p:txBody>
          <a:bodyPr/>
          <a:lstStyle/>
          <a:p>
            <a:fld id="{5A1CE7DC-2C8B-FB44-B2D3-0FEF276C5A3C}" type="slidenum">
              <a:rPr lang="en-US" altLang="en-US"/>
              <a:pPr/>
              <a:t>63</a:t>
            </a:fld>
            <a:endParaRPr lang="en-US" altLang="en-US"/>
          </a:p>
        </p:txBody>
      </p:sp>
      <p:sp>
        <p:nvSpPr>
          <p:cNvPr id="697346" name="Rectangle 2">
            <a:extLst>
              <a:ext uri="{FF2B5EF4-FFF2-40B4-BE49-F238E27FC236}">
                <a16:creationId xmlns:a16="http://schemas.microsoft.com/office/drawing/2014/main" id="{9EDE7129-F038-B9A0-8FCD-A283FE3E20B4}"/>
              </a:ext>
            </a:extLst>
          </p:cNvPr>
          <p:cNvSpPr>
            <a:spLocks noGrp="1" noChangeArrowheads="1"/>
          </p:cNvSpPr>
          <p:nvPr>
            <p:ph type="title"/>
          </p:nvPr>
        </p:nvSpPr>
        <p:spPr/>
        <p:txBody>
          <a:bodyPr/>
          <a:lstStyle/>
          <a:p>
            <a:r>
              <a:rPr lang="en-US" altLang="en-IT"/>
              <a:t>Problem definition</a:t>
            </a:r>
          </a:p>
        </p:txBody>
      </p:sp>
      <p:sp>
        <p:nvSpPr>
          <p:cNvPr id="697347" name="Rectangle 3">
            <a:extLst>
              <a:ext uri="{FF2B5EF4-FFF2-40B4-BE49-F238E27FC236}">
                <a16:creationId xmlns:a16="http://schemas.microsoft.com/office/drawing/2014/main" id="{56ED71D8-69A3-966B-3111-E2702D484667}"/>
              </a:ext>
            </a:extLst>
          </p:cNvPr>
          <p:cNvSpPr>
            <a:spLocks noGrp="1" noChangeArrowheads="1"/>
          </p:cNvSpPr>
          <p:nvPr>
            <p:ph type="body" idx="1"/>
          </p:nvPr>
        </p:nvSpPr>
        <p:spPr>
          <a:xfrm>
            <a:off x="1981200" y="1268413"/>
            <a:ext cx="8229600" cy="4862512"/>
          </a:xfrm>
        </p:spPr>
        <p:txBody>
          <a:bodyPr/>
          <a:lstStyle/>
          <a:p>
            <a:r>
              <a:rPr lang="en-US" altLang="ja-JP" sz="2600">
                <a:ea typeface="ＭＳ Ｐゴシック" panose="020B0600070205080204" pitchFamily="34" charset="-128"/>
              </a:rPr>
              <a:t>Let </a:t>
            </a:r>
            <a:r>
              <a:rPr lang="en-US" altLang="ja-JP" sz="2600" i="1">
                <a:ea typeface="ＭＳ Ｐゴシック" panose="020B0600070205080204" pitchFamily="34" charset="-128"/>
              </a:rPr>
              <a:t>T</a:t>
            </a:r>
            <a:r>
              <a:rPr lang="en-US" altLang="ja-JP" sz="2600">
                <a:ea typeface="ＭＳ Ｐゴシック" panose="020B0600070205080204" pitchFamily="34" charset="-128"/>
              </a:rPr>
              <a:t> be a transaction data set consisting of </a:t>
            </a:r>
            <a:r>
              <a:rPr lang="en-US" altLang="ja-JP" sz="2600" i="1">
                <a:ea typeface="ＭＳ Ｐゴシック" panose="020B0600070205080204" pitchFamily="34" charset="-128"/>
              </a:rPr>
              <a:t>n</a:t>
            </a:r>
            <a:r>
              <a:rPr lang="en-US" altLang="ja-JP" sz="2600">
                <a:ea typeface="ＭＳ Ｐゴシック" panose="020B0600070205080204" pitchFamily="34" charset="-128"/>
              </a:rPr>
              <a:t> transactions. </a:t>
            </a:r>
          </a:p>
          <a:p>
            <a:r>
              <a:rPr lang="en-US" altLang="ja-JP" sz="2600">
                <a:ea typeface="ＭＳ Ｐゴシック" panose="020B0600070205080204" pitchFamily="34" charset="-128"/>
              </a:rPr>
              <a:t>Each transaction is also labeled with a class </a:t>
            </a:r>
            <a:r>
              <a:rPr lang="en-US" altLang="ja-JP" sz="2600" i="1">
                <a:ea typeface="ＭＳ Ｐゴシック" panose="020B0600070205080204" pitchFamily="34" charset="-128"/>
              </a:rPr>
              <a:t>y</a:t>
            </a:r>
            <a:r>
              <a:rPr lang="en-US" altLang="ja-JP" sz="2600">
                <a:ea typeface="ＭＳ Ｐゴシック" panose="020B0600070205080204" pitchFamily="34" charset="-128"/>
              </a:rPr>
              <a:t>. </a:t>
            </a:r>
          </a:p>
          <a:p>
            <a:r>
              <a:rPr lang="en-US" altLang="ja-JP" sz="2600">
                <a:ea typeface="ＭＳ Ｐゴシック" panose="020B0600070205080204" pitchFamily="34" charset="-128"/>
              </a:rPr>
              <a:t>Let </a:t>
            </a:r>
            <a:r>
              <a:rPr lang="en-US" altLang="ja-JP" sz="2600" i="1">
                <a:ea typeface="ＭＳ Ｐゴシック" panose="020B0600070205080204" pitchFamily="34" charset="-128"/>
              </a:rPr>
              <a:t>I</a:t>
            </a:r>
            <a:r>
              <a:rPr lang="en-US" altLang="ja-JP" sz="2600">
                <a:ea typeface="ＭＳ Ｐゴシック" panose="020B0600070205080204" pitchFamily="34" charset="-128"/>
              </a:rPr>
              <a:t> be the set of all items in </a:t>
            </a:r>
            <a:r>
              <a:rPr lang="en-US" altLang="ja-JP" sz="2600" i="1">
                <a:ea typeface="ＭＳ Ｐゴシック" panose="020B0600070205080204" pitchFamily="34" charset="-128"/>
              </a:rPr>
              <a:t>T</a:t>
            </a:r>
            <a:r>
              <a:rPr lang="en-US" altLang="ja-JP" sz="2600">
                <a:ea typeface="ＭＳ Ｐゴシック" panose="020B0600070205080204" pitchFamily="34" charset="-128"/>
              </a:rPr>
              <a:t>, </a:t>
            </a:r>
            <a:r>
              <a:rPr lang="en-US" altLang="ja-JP" sz="2600" i="1">
                <a:ea typeface="ＭＳ Ｐゴシック" panose="020B0600070205080204" pitchFamily="34" charset="-128"/>
              </a:rPr>
              <a:t>Y</a:t>
            </a:r>
            <a:r>
              <a:rPr lang="en-US" altLang="ja-JP" sz="2600">
                <a:ea typeface="ＭＳ Ｐゴシック" panose="020B0600070205080204" pitchFamily="34" charset="-128"/>
              </a:rPr>
              <a:t> be the set of all class labels and </a:t>
            </a:r>
            <a:r>
              <a:rPr lang="en-US" altLang="ja-JP" sz="2600" i="1">
                <a:ea typeface="ＭＳ Ｐゴシック" panose="020B0600070205080204" pitchFamily="34" charset="-128"/>
              </a:rPr>
              <a:t>I </a:t>
            </a:r>
            <a:r>
              <a:rPr lang="en-US" altLang="ja-JP" sz="2600">
                <a:ea typeface="ＭＳ Ｐゴシック" panose="020B0600070205080204" pitchFamily="34" charset="-128"/>
                <a:sym typeface="Symbol" pitchFamily="2" charset="2"/>
              </a:rPr>
              <a:t></a:t>
            </a:r>
            <a:r>
              <a:rPr lang="en-US" altLang="ja-JP" sz="2600" i="1">
                <a:ea typeface="ＭＳ Ｐゴシック" panose="020B0600070205080204" pitchFamily="34" charset="-128"/>
              </a:rPr>
              <a:t> Y = </a:t>
            </a:r>
            <a:r>
              <a:rPr lang="en-US" altLang="ja-JP" sz="2600">
                <a:ea typeface="ＭＳ Ｐゴシック" panose="020B0600070205080204" pitchFamily="34" charset="-128"/>
                <a:sym typeface="Symbol" pitchFamily="2" charset="2"/>
              </a:rPr>
              <a:t></a:t>
            </a:r>
            <a:r>
              <a:rPr lang="en-US" altLang="ja-JP" sz="2600">
                <a:ea typeface="ＭＳ Ｐゴシック" panose="020B0600070205080204" pitchFamily="34" charset="-128"/>
              </a:rPr>
              <a:t>. </a:t>
            </a:r>
          </a:p>
          <a:p>
            <a:r>
              <a:rPr lang="en-US" altLang="ja-JP" sz="2600">
                <a:ea typeface="ＭＳ Ｐゴシック" panose="020B0600070205080204" pitchFamily="34" charset="-128"/>
              </a:rPr>
              <a:t>A </a:t>
            </a:r>
            <a:r>
              <a:rPr lang="en-US" altLang="ja-JP" sz="2600" b="1">
                <a:ea typeface="ＭＳ Ｐゴシック" panose="020B0600070205080204" pitchFamily="34" charset="-128"/>
              </a:rPr>
              <a:t>class association rule</a:t>
            </a:r>
            <a:r>
              <a:rPr lang="en-US" altLang="ja-JP" sz="2600">
                <a:ea typeface="ＭＳ Ｐゴシック" panose="020B0600070205080204" pitchFamily="34" charset="-128"/>
              </a:rPr>
              <a:t> (</a:t>
            </a:r>
            <a:r>
              <a:rPr lang="en-US" altLang="ja-JP" sz="2600" b="1">
                <a:ea typeface="ＭＳ Ｐゴシック" panose="020B0600070205080204" pitchFamily="34" charset="-128"/>
              </a:rPr>
              <a:t>CAR</a:t>
            </a:r>
            <a:r>
              <a:rPr lang="en-US" altLang="ja-JP" sz="2600">
                <a:ea typeface="ＭＳ Ｐゴシック" panose="020B0600070205080204" pitchFamily="34" charset="-128"/>
              </a:rPr>
              <a:t>) is an implication of the form </a:t>
            </a:r>
            <a:endParaRPr lang="en-US" altLang="ja-JP" sz="2600" i="1">
              <a:ea typeface="ＭＳ Ｐゴシック" panose="020B0600070205080204" pitchFamily="34" charset="-128"/>
            </a:endParaRPr>
          </a:p>
          <a:p>
            <a:pPr>
              <a:buFont typeface="Wingdings" pitchFamily="2" charset="2"/>
              <a:buNone/>
            </a:pPr>
            <a:r>
              <a:rPr lang="en-US" altLang="ja-JP" sz="2600" i="1">
                <a:ea typeface="ＭＳ Ｐゴシック" panose="020B0600070205080204" pitchFamily="34" charset="-128"/>
              </a:rPr>
              <a:t>		X</a:t>
            </a:r>
            <a:r>
              <a:rPr lang="en-US" altLang="ja-JP" sz="2600">
                <a:ea typeface="ＭＳ Ｐゴシック" panose="020B0600070205080204" pitchFamily="34" charset="-128"/>
              </a:rPr>
              <a:t> </a:t>
            </a:r>
            <a:r>
              <a:rPr lang="en-US" altLang="ja-JP" sz="2600">
                <a:ea typeface="ＭＳ Ｐゴシック" panose="020B0600070205080204" pitchFamily="34" charset="-128"/>
                <a:sym typeface="Symbol" pitchFamily="2" charset="2"/>
              </a:rPr>
              <a:t></a:t>
            </a:r>
            <a:r>
              <a:rPr lang="en-US" altLang="ja-JP" sz="2600">
                <a:ea typeface="ＭＳ Ｐゴシック" panose="020B0600070205080204" pitchFamily="34" charset="-128"/>
              </a:rPr>
              <a:t> </a:t>
            </a:r>
            <a:r>
              <a:rPr lang="en-US" altLang="ja-JP" sz="2600" i="1">
                <a:ea typeface="ＭＳ Ｐゴシック" panose="020B0600070205080204" pitchFamily="34" charset="-128"/>
              </a:rPr>
              <a:t>y</a:t>
            </a:r>
            <a:r>
              <a:rPr lang="en-US" altLang="ja-JP" sz="2600">
                <a:ea typeface="ＭＳ Ｐゴシック" panose="020B0600070205080204" pitchFamily="34" charset="-128"/>
              </a:rPr>
              <a:t>, where </a:t>
            </a:r>
            <a:r>
              <a:rPr lang="en-US" altLang="ja-JP" sz="2600" i="1">
                <a:ea typeface="ＭＳ Ｐゴシック" panose="020B0600070205080204" pitchFamily="34" charset="-128"/>
              </a:rPr>
              <a:t>X</a:t>
            </a:r>
            <a:r>
              <a:rPr lang="en-US" altLang="ja-JP" sz="2600">
                <a:ea typeface="ＭＳ Ｐゴシック" panose="020B0600070205080204" pitchFamily="34" charset="-128"/>
              </a:rPr>
              <a:t> </a:t>
            </a:r>
            <a:r>
              <a:rPr lang="en-US" altLang="ja-JP" sz="2600">
                <a:ea typeface="ＭＳ Ｐゴシック" panose="020B0600070205080204" pitchFamily="34" charset="-128"/>
                <a:sym typeface="Symbol" pitchFamily="2" charset="2"/>
              </a:rPr>
              <a:t></a:t>
            </a:r>
            <a:r>
              <a:rPr lang="en-US" altLang="ja-JP" sz="2600">
                <a:ea typeface="ＭＳ Ｐゴシック" panose="020B0600070205080204" pitchFamily="34" charset="-128"/>
              </a:rPr>
              <a:t> </a:t>
            </a:r>
            <a:r>
              <a:rPr lang="en-US" altLang="ja-JP" sz="2600" i="1">
                <a:ea typeface="ＭＳ Ｐゴシック" panose="020B0600070205080204" pitchFamily="34" charset="-128"/>
              </a:rPr>
              <a:t>I</a:t>
            </a:r>
            <a:r>
              <a:rPr lang="en-US" altLang="ja-JP" sz="2600">
                <a:ea typeface="ＭＳ Ｐゴシック" panose="020B0600070205080204" pitchFamily="34" charset="-128"/>
              </a:rPr>
              <a:t>, and </a:t>
            </a:r>
            <a:r>
              <a:rPr lang="en-US" altLang="ja-JP" sz="2600" i="1">
                <a:ea typeface="ＭＳ Ｐゴシック" panose="020B0600070205080204" pitchFamily="34" charset="-128"/>
              </a:rPr>
              <a:t>y</a:t>
            </a:r>
            <a:r>
              <a:rPr lang="en-US" altLang="ja-JP" sz="2600">
                <a:ea typeface="ＭＳ Ｐゴシック" panose="020B0600070205080204" pitchFamily="34" charset="-128"/>
              </a:rPr>
              <a:t> </a:t>
            </a:r>
            <a:r>
              <a:rPr lang="en-US" altLang="ja-JP" sz="2600">
                <a:ea typeface="ＭＳ Ｐゴシック" panose="020B0600070205080204" pitchFamily="34" charset="-128"/>
                <a:sym typeface="Symbol" pitchFamily="2" charset="2"/>
              </a:rPr>
              <a:t></a:t>
            </a:r>
            <a:r>
              <a:rPr lang="en-US" altLang="ja-JP" sz="2600">
                <a:ea typeface="ＭＳ Ｐゴシック" panose="020B0600070205080204" pitchFamily="34" charset="-128"/>
              </a:rPr>
              <a:t> </a:t>
            </a:r>
            <a:r>
              <a:rPr lang="en-US" altLang="ja-JP" sz="2600" i="1">
                <a:ea typeface="ＭＳ Ｐゴシック" panose="020B0600070205080204" pitchFamily="34" charset="-128"/>
              </a:rPr>
              <a:t>Y</a:t>
            </a:r>
            <a:r>
              <a:rPr lang="en-US" altLang="ja-JP" sz="2600">
                <a:ea typeface="ＭＳ Ｐゴシック" panose="020B0600070205080204" pitchFamily="34" charset="-128"/>
              </a:rPr>
              <a:t>. </a:t>
            </a:r>
          </a:p>
          <a:p>
            <a:r>
              <a:rPr lang="en-US" altLang="ja-JP" sz="2600">
                <a:ea typeface="ＭＳ Ｐゴシック" panose="020B0600070205080204" pitchFamily="34" charset="-128"/>
              </a:rPr>
              <a:t>The definitions of </a:t>
            </a:r>
            <a:r>
              <a:rPr lang="en-US" altLang="ja-JP" sz="2600" b="1">
                <a:ea typeface="ＭＳ Ｐゴシック" panose="020B0600070205080204" pitchFamily="34" charset="-128"/>
              </a:rPr>
              <a:t>support</a:t>
            </a:r>
            <a:r>
              <a:rPr lang="en-US" altLang="ja-JP" sz="2600">
                <a:ea typeface="ＭＳ Ｐゴシック" panose="020B0600070205080204" pitchFamily="34" charset="-128"/>
              </a:rPr>
              <a:t> and </a:t>
            </a:r>
            <a:r>
              <a:rPr lang="en-US" altLang="ja-JP" sz="2600" b="1">
                <a:ea typeface="ＭＳ Ｐゴシック" panose="020B0600070205080204" pitchFamily="34" charset="-128"/>
              </a:rPr>
              <a:t>confidence</a:t>
            </a:r>
            <a:r>
              <a:rPr lang="en-US" altLang="ja-JP" sz="2600">
                <a:ea typeface="ＭＳ Ｐゴシック" panose="020B0600070205080204" pitchFamily="34" charset="-128"/>
              </a:rPr>
              <a:t> are the same as those for normal association rules. </a:t>
            </a:r>
            <a:endParaRPr lang="en-US" altLang="en-IT" sz="26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7CA4DFB5-F834-0974-6EB4-F052B748D943}"/>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22BDEDBD-079F-C5F8-230B-940C451DA87C}"/>
              </a:ext>
            </a:extLst>
          </p:cNvPr>
          <p:cNvSpPr>
            <a:spLocks noGrp="1"/>
          </p:cNvSpPr>
          <p:nvPr>
            <p:ph type="sldNum" sz="quarter" idx="11"/>
          </p:nvPr>
        </p:nvSpPr>
        <p:spPr/>
        <p:txBody>
          <a:bodyPr/>
          <a:lstStyle/>
          <a:p>
            <a:fld id="{4EACF7E5-C4F7-BF4D-A758-2A0522407771}" type="slidenum">
              <a:rPr lang="en-US" altLang="en-US"/>
              <a:pPr/>
              <a:t>64</a:t>
            </a:fld>
            <a:endParaRPr lang="en-US" altLang="en-US"/>
          </a:p>
        </p:txBody>
      </p:sp>
      <p:sp>
        <p:nvSpPr>
          <p:cNvPr id="695298" name="Rectangle 2">
            <a:extLst>
              <a:ext uri="{FF2B5EF4-FFF2-40B4-BE49-F238E27FC236}">
                <a16:creationId xmlns:a16="http://schemas.microsoft.com/office/drawing/2014/main" id="{D75E5C49-30E9-FE40-E254-5024A8A8CBFC}"/>
              </a:ext>
            </a:extLst>
          </p:cNvPr>
          <p:cNvSpPr>
            <a:spLocks noGrp="1" noChangeArrowheads="1"/>
          </p:cNvSpPr>
          <p:nvPr>
            <p:ph type="title"/>
          </p:nvPr>
        </p:nvSpPr>
        <p:spPr/>
        <p:txBody>
          <a:bodyPr/>
          <a:lstStyle/>
          <a:p>
            <a:r>
              <a:rPr lang="en-US" altLang="en-IT"/>
              <a:t>An example</a:t>
            </a:r>
          </a:p>
        </p:txBody>
      </p:sp>
      <p:sp>
        <p:nvSpPr>
          <p:cNvPr id="695299" name="Rectangle 3">
            <a:extLst>
              <a:ext uri="{FF2B5EF4-FFF2-40B4-BE49-F238E27FC236}">
                <a16:creationId xmlns:a16="http://schemas.microsoft.com/office/drawing/2014/main" id="{3B4E998A-AB39-AA5B-AED6-BDBBE88930FB}"/>
              </a:ext>
            </a:extLst>
          </p:cNvPr>
          <p:cNvSpPr>
            <a:spLocks noGrp="1" noChangeArrowheads="1"/>
          </p:cNvSpPr>
          <p:nvPr>
            <p:ph type="body" idx="1"/>
          </p:nvPr>
        </p:nvSpPr>
        <p:spPr>
          <a:xfrm>
            <a:off x="1981200" y="1268413"/>
            <a:ext cx="8229600" cy="4862512"/>
          </a:xfrm>
        </p:spPr>
        <p:txBody>
          <a:bodyPr>
            <a:normAutofit lnSpcReduction="10000"/>
          </a:bodyPr>
          <a:lstStyle/>
          <a:p>
            <a:pPr>
              <a:lnSpc>
                <a:spcPct val="90000"/>
              </a:lnSpc>
            </a:pPr>
            <a:r>
              <a:rPr lang="en-US" altLang="ja-JP" sz="2100" b="1">
                <a:ea typeface="ＭＳ Ｐゴシック" panose="020B0600070205080204" pitchFamily="34" charset="-128"/>
              </a:rPr>
              <a:t>A text document data set</a:t>
            </a:r>
            <a:endParaRPr lang="en-US" altLang="ja-JP" sz="2100">
              <a:ea typeface="ＭＳ Ｐゴシック" panose="020B0600070205080204" pitchFamily="34" charset="-128"/>
            </a:endParaRPr>
          </a:p>
          <a:p>
            <a:pPr>
              <a:lnSpc>
                <a:spcPct val="90000"/>
              </a:lnSpc>
              <a:buFont typeface="Wingdings" pitchFamily="2" charset="2"/>
              <a:buNone/>
            </a:pPr>
            <a:r>
              <a:rPr lang="en-US" altLang="ja-JP" sz="2100">
                <a:ea typeface="ＭＳ Ｐゴシック" panose="020B0600070205080204" pitchFamily="34" charset="-128"/>
              </a:rPr>
              <a:t>	doc 1: 	Student, Teach, School 	 : Education</a:t>
            </a:r>
          </a:p>
          <a:p>
            <a:pPr>
              <a:lnSpc>
                <a:spcPct val="90000"/>
              </a:lnSpc>
              <a:buFont typeface="Wingdings" pitchFamily="2" charset="2"/>
              <a:buNone/>
            </a:pPr>
            <a:r>
              <a:rPr lang="en-US" altLang="ja-JP" sz="2100">
                <a:ea typeface="ＭＳ Ｐゴシック" panose="020B0600070205080204" pitchFamily="34" charset="-128"/>
              </a:rPr>
              <a:t>	doc 2: 	Student, School 		 : Education 	</a:t>
            </a:r>
          </a:p>
          <a:p>
            <a:pPr>
              <a:lnSpc>
                <a:spcPct val="90000"/>
              </a:lnSpc>
              <a:buFont typeface="Wingdings" pitchFamily="2" charset="2"/>
              <a:buNone/>
            </a:pPr>
            <a:r>
              <a:rPr lang="en-US" altLang="ja-JP" sz="2100">
                <a:ea typeface="ＭＳ Ｐゴシック" panose="020B0600070205080204" pitchFamily="34" charset="-128"/>
              </a:rPr>
              <a:t>	doc 3: 	Teach, School, City, Game 	 : Education</a:t>
            </a:r>
          </a:p>
          <a:p>
            <a:pPr>
              <a:lnSpc>
                <a:spcPct val="90000"/>
              </a:lnSpc>
              <a:buFont typeface="Wingdings" pitchFamily="2" charset="2"/>
              <a:buNone/>
            </a:pPr>
            <a:r>
              <a:rPr lang="en-US" altLang="ja-JP" sz="2100">
                <a:ea typeface="ＭＳ Ｐゴシック" panose="020B0600070205080204" pitchFamily="34" charset="-128"/>
              </a:rPr>
              <a:t>	doc 4: 	Baseball, Basketball		 : Sport</a:t>
            </a:r>
          </a:p>
          <a:p>
            <a:pPr>
              <a:lnSpc>
                <a:spcPct val="90000"/>
              </a:lnSpc>
              <a:buFont typeface="Wingdings" pitchFamily="2" charset="2"/>
              <a:buNone/>
            </a:pPr>
            <a:r>
              <a:rPr lang="en-US" altLang="ja-JP" sz="2100">
                <a:ea typeface="ＭＳ Ｐゴシック" panose="020B0600070205080204" pitchFamily="34" charset="-128"/>
              </a:rPr>
              <a:t>	doc 5: 	Basketball, Player, Spectator  	 : Sport</a:t>
            </a:r>
          </a:p>
          <a:p>
            <a:pPr>
              <a:lnSpc>
                <a:spcPct val="90000"/>
              </a:lnSpc>
              <a:buFont typeface="Wingdings" pitchFamily="2" charset="2"/>
              <a:buNone/>
            </a:pPr>
            <a:r>
              <a:rPr lang="en-US" altLang="ja-JP" sz="2100">
                <a:ea typeface="ＭＳ Ｐゴシック" panose="020B0600070205080204" pitchFamily="34" charset="-128"/>
              </a:rPr>
              <a:t>	doc 6: 	Baseball, Coach, Game, Team : Sport</a:t>
            </a:r>
          </a:p>
          <a:p>
            <a:pPr>
              <a:lnSpc>
                <a:spcPct val="90000"/>
              </a:lnSpc>
              <a:buFont typeface="Wingdings" pitchFamily="2" charset="2"/>
              <a:buNone/>
            </a:pPr>
            <a:r>
              <a:rPr lang="en-US" altLang="ja-JP" sz="2100">
                <a:ea typeface="ＭＳ Ｐゴシック" panose="020B0600070205080204" pitchFamily="34" charset="-128"/>
              </a:rPr>
              <a:t>	doc 7: 	Basketball, Team, City, Game 	 : Sport</a:t>
            </a:r>
          </a:p>
          <a:p>
            <a:pPr>
              <a:lnSpc>
                <a:spcPct val="90000"/>
              </a:lnSpc>
              <a:buFont typeface="Wingdings" pitchFamily="2" charset="2"/>
              <a:buNone/>
            </a:pPr>
            <a:endParaRPr lang="en-US" altLang="ja-JP" sz="2100" b="1">
              <a:ea typeface="ＭＳ Ｐゴシック" panose="020B0600070205080204" pitchFamily="34" charset="-128"/>
            </a:endParaRPr>
          </a:p>
          <a:p>
            <a:pPr>
              <a:lnSpc>
                <a:spcPct val="90000"/>
              </a:lnSpc>
            </a:pPr>
            <a:r>
              <a:rPr lang="en-US" altLang="ja-JP" sz="2100">
                <a:ea typeface="ＭＳ Ｐゴシック" panose="020B0600070205080204" pitchFamily="34" charset="-128"/>
              </a:rPr>
              <a:t>Let </a:t>
            </a:r>
            <a:r>
              <a:rPr lang="en-US" altLang="ja-JP" sz="2100" i="1">
                <a:ea typeface="ＭＳ Ｐゴシック" panose="020B0600070205080204" pitchFamily="34" charset="-128"/>
              </a:rPr>
              <a:t>minsup</a:t>
            </a:r>
            <a:r>
              <a:rPr lang="en-US" altLang="ja-JP" sz="2100">
                <a:ea typeface="ＭＳ Ｐゴシック" panose="020B0600070205080204" pitchFamily="34" charset="-128"/>
              </a:rPr>
              <a:t> = 20% and </a:t>
            </a:r>
            <a:r>
              <a:rPr lang="en-US" altLang="ja-JP" sz="2100" i="1">
                <a:ea typeface="ＭＳ Ｐゴシック" panose="020B0600070205080204" pitchFamily="34" charset="-128"/>
              </a:rPr>
              <a:t>minconf</a:t>
            </a:r>
            <a:r>
              <a:rPr lang="en-US" altLang="ja-JP" sz="2100">
                <a:ea typeface="ＭＳ Ｐゴシック" panose="020B0600070205080204" pitchFamily="34" charset="-128"/>
              </a:rPr>
              <a:t> = 60%. The following are two examples of class association rules:</a:t>
            </a:r>
          </a:p>
          <a:p>
            <a:pPr>
              <a:lnSpc>
                <a:spcPct val="90000"/>
              </a:lnSpc>
              <a:buFont typeface="Wingdings" pitchFamily="2" charset="2"/>
              <a:buNone/>
            </a:pPr>
            <a:r>
              <a:rPr lang="en-US" altLang="ja-JP" sz="2100">
                <a:ea typeface="ＭＳ Ｐゴシック" panose="020B0600070205080204" pitchFamily="34" charset="-128"/>
              </a:rPr>
              <a:t>		Student, School </a:t>
            </a:r>
            <a:r>
              <a:rPr lang="en-US" altLang="ja-JP" sz="2100">
                <a:ea typeface="ＭＳ Ｐゴシック" panose="020B0600070205080204" pitchFamily="34" charset="-128"/>
                <a:sym typeface="Symbol" pitchFamily="2" charset="2"/>
              </a:rPr>
              <a:t></a:t>
            </a:r>
            <a:r>
              <a:rPr lang="en-US" altLang="ja-JP" sz="2100">
                <a:ea typeface="ＭＳ Ｐゴシック" panose="020B0600070205080204" pitchFamily="34" charset="-128"/>
              </a:rPr>
              <a:t> Education	[sup= 2/7, conf = 2/2]</a:t>
            </a:r>
          </a:p>
          <a:p>
            <a:pPr>
              <a:lnSpc>
                <a:spcPct val="90000"/>
              </a:lnSpc>
              <a:buFont typeface="Wingdings" pitchFamily="2" charset="2"/>
              <a:buNone/>
            </a:pPr>
            <a:r>
              <a:rPr lang="en-US" altLang="ja-JP" sz="2100">
                <a:ea typeface="ＭＳ Ｐゴシック" panose="020B0600070205080204" pitchFamily="34" charset="-128"/>
              </a:rPr>
              <a:t>		game </a:t>
            </a:r>
            <a:r>
              <a:rPr lang="en-US" altLang="ja-JP" sz="2100">
                <a:ea typeface="ＭＳ Ｐゴシック" panose="020B0600070205080204" pitchFamily="34" charset="-128"/>
                <a:sym typeface="Symbol" pitchFamily="2" charset="2"/>
              </a:rPr>
              <a:t></a:t>
            </a:r>
            <a:r>
              <a:rPr lang="en-US" altLang="ja-JP" sz="2100">
                <a:ea typeface="ＭＳ Ｐゴシック" panose="020B0600070205080204" pitchFamily="34" charset="-128"/>
              </a:rPr>
              <a:t> Sport</a:t>
            </a:r>
            <a:r>
              <a:rPr lang="en-US" altLang="ja-JP" sz="2100" i="1">
                <a:ea typeface="ＭＳ Ｐゴシック" panose="020B0600070205080204" pitchFamily="34" charset="-128"/>
              </a:rPr>
              <a:t>			</a:t>
            </a:r>
            <a:r>
              <a:rPr lang="en-US" altLang="ja-JP" sz="2100">
                <a:ea typeface="ＭＳ Ｐゴシック" panose="020B0600070205080204" pitchFamily="34" charset="-128"/>
              </a:rPr>
              <a:t>[sup= 2/7, conf = 2/3] </a:t>
            </a:r>
            <a:endParaRPr lang="en-US" altLang="en-IT" sz="21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9CAE2D4F-0144-C479-B1CF-01DBF7E0550F}"/>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F73E72DC-BEAB-8F05-9B25-C861DE13D456}"/>
              </a:ext>
            </a:extLst>
          </p:cNvPr>
          <p:cNvSpPr>
            <a:spLocks noGrp="1"/>
          </p:cNvSpPr>
          <p:nvPr>
            <p:ph type="sldNum" sz="quarter" idx="11"/>
          </p:nvPr>
        </p:nvSpPr>
        <p:spPr/>
        <p:txBody>
          <a:bodyPr/>
          <a:lstStyle/>
          <a:p>
            <a:fld id="{1B745A4C-B59A-6C4A-9ADB-2109E722250F}" type="slidenum">
              <a:rPr lang="en-US" altLang="en-US"/>
              <a:pPr/>
              <a:t>65</a:t>
            </a:fld>
            <a:endParaRPr lang="en-US" altLang="en-US"/>
          </a:p>
        </p:txBody>
      </p:sp>
      <p:sp>
        <p:nvSpPr>
          <p:cNvPr id="696322" name="Rectangle 2">
            <a:extLst>
              <a:ext uri="{FF2B5EF4-FFF2-40B4-BE49-F238E27FC236}">
                <a16:creationId xmlns:a16="http://schemas.microsoft.com/office/drawing/2014/main" id="{F4AEA25E-E4E5-6368-9AD9-8D6AB48A367F}"/>
              </a:ext>
            </a:extLst>
          </p:cNvPr>
          <p:cNvSpPr>
            <a:spLocks noGrp="1" noChangeArrowheads="1"/>
          </p:cNvSpPr>
          <p:nvPr>
            <p:ph type="title"/>
          </p:nvPr>
        </p:nvSpPr>
        <p:spPr/>
        <p:txBody>
          <a:bodyPr/>
          <a:lstStyle/>
          <a:p>
            <a:r>
              <a:rPr lang="en-US" altLang="en-IT"/>
              <a:t>Mining algorithm</a:t>
            </a:r>
          </a:p>
        </p:txBody>
      </p:sp>
      <p:sp>
        <p:nvSpPr>
          <p:cNvPr id="696323" name="Rectangle 3">
            <a:extLst>
              <a:ext uri="{FF2B5EF4-FFF2-40B4-BE49-F238E27FC236}">
                <a16:creationId xmlns:a16="http://schemas.microsoft.com/office/drawing/2014/main" id="{B21C0968-094E-6942-DD16-E593E4582712}"/>
              </a:ext>
            </a:extLst>
          </p:cNvPr>
          <p:cNvSpPr>
            <a:spLocks noGrp="1" noChangeArrowheads="1"/>
          </p:cNvSpPr>
          <p:nvPr>
            <p:ph type="body" idx="1"/>
          </p:nvPr>
        </p:nvSpPr>
        <p:spPr>
          <a:xfrm>
            <a:off x="1981200" y="1233489"/>
            <a:ext cx="8229600" cy="4897437"/>
          </a:xfrm>
        </p:spPr>
        <p:txBody>
          <a:bodyPr/>
          <a:lstStyle/>
          <a:p>
            <a:pPr>
              <a:lnSpc>
                <a:spcPct val="90000"/>
              </a:lnSpc>
            </a:pPr>
            <a:r>
              <a:rPr lang="en-US" altLang="ja-JP" sz="2600">
                <a:ea typeface="ＭＳ Ｐゴシック" panose="020B0600070205080204" pitchFamily="34" charset="-128"/>
              </a:rPr>
              <a:t>Unlike normal association rules, CARs can be mined directly in one step. </a:t>
            </a:r>
          </a:p>
          <a:p>
            <a:pPr>
              <a:lnSpc>
                <a:spcPct val="90000"/>
              </a:lnSpc>
            </a:pPr>
            <a:r>
              <a:rPr lang="en-US" altLang="ja-JP" sz="2600">
                <a:ea typeface="ＭＳ Ｐゴシック" panose="020B0600070205080204" pitchFamily="34" charset="-128"/>
              </a:rPr>
              <a:t>The key operation is to find all </a:t>
            </a:r>
            <a:r>
              <a:rPr lang="en-US" altLang="ja-JP" sz="2600" b="1">
                <a:ea typeface="ＭＳ Ｐゴシック" panose="020B0600070205080204" pitchFamily="34" charset="-128"/>
              </a:rPr>
              <a:t>ruleitems</a:t>
            </a:r>
            <a:r>
              <a:rPr lang="en-US" altLang="ja-JP" sz="2600">
                <a:ea typeface="ＭＳ Ｐゴシック" panose="020B0600070205080204" pitchFamily="34" charset="-128"/>
              </a:rPr>
              <a:t> that have support above </a:t>
            </a:r>
            <a:r>
              <a:rPr lang="en-US" altLang="ja-JP" sz="2600" i="1">
                <a:ea typeface="ＭＳ Ｐゴシック" panose="020B0600070205080204" pitchFamily="34" charset="-128"/>
              </a:rPr>
              <a:t>minsup</a:t>
            </a:r>
            <a:r>
              <a:rPr lang="en-US" altLang="ja-JP" sz="2600">
                <a:ea typeface="ＭＳ Ｐゴシック" panose="020B0600070205080204" pitchFamily="34" charset="-128"/>
              </a:rPr>
              <a:t>. A </a:t>
            </a:r>
            <a:r>
              <a:rPr lang="en-US" altLang="ja-JP" sz="2600" b="1">
                <a:ea typeface="ＭＳ Ｐゴシック" panose="020B0600070205080204" pitchFamily="34" charset="-128"/>
              </a:rPr>
              <a:t>ruleitem</a:t>
            </a:r>
            <a:r>
              <a:rPr lang="en-US" altLang="ja-JP" sz="2600">
                <a:ea typeface="ＭＳ Ｐゴシック" panose="020B0600070205080204" pitchFamily="34" charset="-128"/>
              </a:rPr>
              <a:t> is of the form:</a:t>
            </a:r>
          </a:p>
          <a:p>
            <a:pPr>
              <a:lnSpc>
                <a:spcPct val="90000"/>
              </a:lnSpc>
              <a:buFont typeface="Wingdings" pitchFamily="2" charset="2"/>
              <a:buNone/>
            </a:pPr>
            <a:r>
              <a:rPr lang="en-US" altLang="ja-JP" sz="2600">
                <a:ea typeface="ＭＳ Ｐゴシック" panose="020B0600070205080204" pitchFamily="34" charset="-128"/>
              </a:rPr>
              <a:t>		(</a:t>
            </a:r>
            <a:r>
              <a:rPr lang="en-US" altLang="ja-JP" sz="2600" i="1">
                <a:ea typeface="ＭＳ Ｐゴシック" panose="020B0600070205080204" pitchFamily="34" charset="-128"/>
              </a:rPr>
              <a:t>condset</a:t>
            </a:r>
            <a:r>
              <a:rPr lang="en-US" altLang="ja-JP" sz="2600">
                <a:ea typeface="ＭＳ Ｐゴシック" panose="020B0600070205080204" pitchFamily="34" charset="-128"/>
              </a:rPr>
              <a:t>, </a:t>
            </a:r>
            <a:r>
              <a:rPr lang="en-US" altLang="ja-JP" sz="2600" i="1">
                <a:ea typeface="ＭＳ Ｐゴシック" panose="020B0600070205080204" pitchFamily="34" charset="-128"/>
              </a:rPr>
              <a:t>y</a:t>
            </a:r>
            <a:r>
              <a:rPr lang="en-US" altLang="ja-JP" sz="2600">
                <a:ea typeface="ＭＳ Ｐゴシック" panose="020B0600070205080204" pitchFamily="34" charset="-128"/>
              </a:rPr>
              <a:t>)</a:t>
            </a:r>
          </a:p>
          <a:p>
            <a:pPr>
              <a:lnSpc>
                <a:spcPct val="90000"/>
              </a:lnSpc>
              <a:buFont typeface="Wingdings" pitchFamily="2" charset="2"/>
              <a:buNone/>
            </a:pPr>
            <a:r>
              <a:rPr lang="en-US" altLang="ja-JP" sz="2600">
                <a:ea typeface="ＭＳ Ｐゴシック" panose="020B0600070205080204" pitchFamily="34" charset="-128"/>
              </a:rPr>
              <a:t>	where </a:t>
            </a:r>
            <a:r>
              <a:rPr lang="en-US" altLang="ja-JP" sz="2600" b="1">
                <a:ea typeface="ＭＳ Ｐゴシック" panose="020B0600070205080204" pitchFamily="34" charset="-128"/>
              </a:rPr>
              <a:t>condset</a:t>
            </a:r>
            <a:r>
              <a:rPr lang="en-US" altLang="ja-JP" sz="2600">
                <a:ea typeface="ＭＳ Ｐゴシック" panose="020B0600070205080204" pitchFamily="34" charset="-128"/>
              </a:rPr>
              <a:t> is a set of items from </a:t>
            </a:r>
            <a:r>
              <a:rPr lang="en-US" altLang="ja-JP" sz="2600" i="1">
                <a:ea typeface="ＭＳ Ｐゴシック" panose="020B0600070205080204" pitchFamily="34" charset="-128"/>
              </a:rPr>
              <a:t>I </a:t>
            </a:r>
            <a:r>
              <a:rPr lang="en-US" altLang="ja-JP" sz="2600">
                <a:ea typeface="ＭＳ Ｐゴシック" panose="020B0600070205080204" pitchFamily="34" charset="-128"/>
              </a:rPr>
              <a:t>(</a:t>
            </a:r>
            <a:r>
              <a:rPr lang="en-US" altLang="ja-JP" sz="2600" i="1">
                <a:ea typeface="ＭＳ Ｐゴシック" panose="020B0600070205080204" pitchFamily="34" charset="-128"/>
              </a:rPr>
              <a:t>i.e., condset </a:t>
            </a:r>
            <a:r>
              <a:rPr lang="en-US" altLang="ja-JP" sz="2600">
                <a:ea typeface="ＭＳ Ｐゴシック" panose="020B0600070205080204" pitchFamily="34" charset="-128"/>
                <a:sym typeface="Symbol" pitchFamily="2" charset="2"/>
              </a:rPr>
              <a:t></a:t>
            </a:r>
            <a:r>
              <a:rPr lang="en-US" altLang="ja-JP" sz="2600">
                <a:ea typeface="ＭＳ Ｐゴシック" panose="020B0600070205080204" pitchFamily="34" charset="-128"/>
              </a:rPr>
              <a:t> </a:t>
            </a:r>
            <a:r>
              <a:rPr lang="en-US" altLang="ja-JP" sz="2600" i="1">
                <a:ea typeface="ＭＳ Ｐゴシック" panose="020B0600070205080204" pitchFamily="34" charset="-128"/>
              </a:rPr>
              <a:t>I</a:t>
            </a:r>
            <a:r>
              <a:rPr lang="en-US" altLang="ja-JP" sz="2600">
                <a:ea typeface="ＭＳ Ｐゴシック" panose="020B0600070205080204" pitchFamily="34" charset="-128"/>
              </a:rPr>
              <a:t>), and  </a:t>
            </a:r>
            <a:r>
              <a:rPr lang="en-US" altLang="ja-JP" sz="2600" i="1">
                <a:ea typeface="ＭＳ Ｐゴシック" panose="020B0600070205080204" pitchFamily="34" charset="-128"/>
              </a:rPr>
              <a:t>y</a:t>
            </a:r>
            <a:r>
              <a:rPr lang="en-US" altLang="ja-JP" sz="2600">
                <a:ea typeface="ＭＳ Ｐゴシック" panose="020B0600070205080204" pitchFamily="34" charset="-128"/>
              </a:rPr>
              <a:t> </a:t>
            </a:r>
            <a:r>
              <a:rPr lang="en-US" altLang="ja-JP" sz="2600">
                <a:ea typeface="ＭＳ Ｐゴシック" panose="020B0600070205080204" pitchFamily="34" charset="-128"/>
                <a:sym typeface="Symbol" pitchFamily="2" charset="2"/>
              </a:rPr>
              <a:t></a:t>
            </a:r>
            <a:r>
              <a:rPr lang="en-US" altLang="ja-JP" sz="2600">
                <a:ea typeface="ＭＳ Ｐゴシック" panose="020B0600070205080204" pitchFamily="34" charset="-128"/>
              </a:rPr>
              <a:t> </a:t>
            </a:r>
            <a:r>
              <a:rPr lang="en-US" altLang="ja-JP" sz="2600" i="1">
                <a:ea typeface="ＭＳ Ｐゴシック" panose="020B0600070205080204" pitchFamily="34" charset="-128"/>
              </a:rPr>
              <a:t>Y</a:t>
            </a:r>
            <a:r>
              <a:rPr lang="en-US" altLang="ja-JP" sz="2600">
                <a:ea typeface="ＭＳ Ｐゴシック" panose="020B0600070205080204" pitchFamily="34" charset="-128"/>
              </a:rPr>
              <a:t> is a class label. </a:t>
            </a:r>
          </a:p>
          <a:p>
            <a:pPr>
              <a:lnSpc>
                <a:spcPct val="90000"/>
              </a:lnSpc>
            </a:pPr>
            <a:r>
              <a:rPr lang="en-US" altLang="ja-JP" sz="2600">
                <a:ea typeface="ＭＳ Ｐゴシック" panose="020B0600070205080204" pitchFamily="34" charset="-128"/>
              </a:rPr>
              <a:t>Each ruleitem basically represents a rule:    </a:t>
            </a:r>
          </a:p>
          <a:p>
            <a:pPr>
              <a:lnSpc>
                <a:spcPct val="90000"/>
              </a:lnSpc>
              <a:buFont typeface="Wingdings" pitchFamily="2" charset="2"/>
              <a:buNone/>
            </a:pPr>
            <a:r>
              <a:rPr lang="en-US" altLang="ja-JP" sz="2600" i="1">
                <a:ea typeface="ＭＳ Ｐゴシック" panose="020B0600070205080204" pitchFamily="34" charset="-128"/>
              </a:rPr>
              <a:t>		condset </a:t>
            </a:r>
            <a:r>
              <a:rPr lang="en-US" altLang="ja-JP" sz="2600">
                <a:ea typeface="ＭＳ Ｐゴシック" panose="020B0600070205080204" pitchFamily="34" charset="-128"/>
                <a:sym typeface="Symbol" pitchFamily="2" charset="2"/>
              </a:rPr>
              <a:t></a:t>
            </a:r>
            <a:r>
              <a:rPr lang="en-US" altLang="ja-JP" sz="2600">
                <a:ea typeface="ＭＳ Ｐゴシック" panose="020B0600070205080204" pitchFamily="34" charset="-128"/>
              </a:rPr>
              <a:t> </a:t>
            </a:r>
            <a:r>
              <a:rPr lang="en-US" altLang="ja-JP" sz="2600" i="1">
                <a:ea typeface="ＭＳ Ｐゴシック" panose="020B0600070205080204" pitchFamily="34" charset="-128"/>
              </a:rPr>
              <a:t>y</a:t>
            </a:r>
            <a:r>
              <a:rPr lang="en-US" altLang="ja-JP" sz="2600">
                <a:ea typeface="ＭＳ Ｐゴシック" panose="020B0600070205080204" pitchFamily="34" charset="-128"/>
              </a:rPr>
              <a:t>,</a:t>
            </a:r>
          </a:p>
          <a:p>
            <a:pPr>
              <a:lnSpc>
                <a:spcPct val="90000"/>
              </a:lnSpc>
            </a:pPr>
            <a:r>
              <a:rPr lang="en-US" altLang="en-IT" sz="2600"/>
              <a:t>The Apriori algorithm can be modified to generate CARs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AA847F1-F034-B05F-C4CE-155A54306095}"/>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91B50004-2ABB-6C80-3954-03E912D21A57}"/>
              </a:ext>
            </a:extLst>
          </p:cNvPr>
          <p:cNvSpPr>
            <a:spLocks noGrp="1"/>
          </p:cNvSpPr>
          <p:nvPr>
            <p:ph type="sldNum" sz="quarter" idx="11"/>
          </p:nvPr>
        </p:nvSpPr>
        <p:spPr/>
        <p:txBody>
          <a:bodyPr/>
          <a:lstStyle/>
          <a:p>
            <a:fld id="{B2DABDEB-C35C-A946-BD44-6455DC2052A1}" type="slidenum">
              <a:rPr lang="en-US" altLang="en-US"/>
              <a:pPr/>
              <a:t>66</a:t>
            </a:fld>
            <a:endParaRPr lang="en-US" altLang="en-US"/>
          </a:p>
        </p:txBody>
      </p:sp>
      <p:sp>
        <p:nvSpPr>
          <p:cNvPr id="698370" name="Rectangle 2">
            <a:extLst>
              <a:ext uri="{FF2B5EF4-FFF2-40B4-BE49-F238E27FC236}">
                <a16:creationId xmlns:a16="http://schemas.microsoft.com/office/drawing/2014/main" id="{9FE586CF-AC6E-51DB-ADD6-7E9CD7B148CD}"/>
              </a:ext>
            </a:extLst>
          </p:cNvPr>
          <p:cNvSpPr>
            <a:spLocks noGrp="1" noChangeArrowheads="1"/>
          </p:cNvSpPr>
          <p:nvPr>
            <p:ph type="title"/>
          </p:nvPr>
        </p:nvSpPr>
        <p:spPr>
          <a:xfrm>
            <a:off x="849313" y="-76995"/>
            <a:ext cx="10515600" cy="1325563"/>
          </a:xfrm>
        </p:spPr>
        <p:txBody>
          <a:bodyPr/>
          <a:lstStyle/>
          <a:p>
            <a:r>
              <a:rPr lang="en-US" altLang="en-IT" dirty="0"/>
              <a:t>Multiple minimum class supports</a:t>
            </a:r>
          </a:p>
        </p:txBody>
      </p:sp>
      <p:sp>
        <p:nvSpPr>
          <p:cNvPr id="698371" name="Rectangle 3">
            <a:extLst>
              <a:ext uri="{FF2B5EF4-FFF2-40B4-BE49-F238E27FC236}">
                <a16:creationId xmlns:a16="http://schemas.microsoft.com/office/drawing/2014/main" id="{B70D934E-9420-F3AC-A804-302574E7DAC6}"/>
              </a:ext>
            </a:extLst>
          </p:cNvPr>
          <p:cNvSpPr>
            <a:spLocks noGrp="1" noChangeArrowheads="1"/>
          </p:cNvSpPr>
          <p:nvPr>
            <p:ph type="body" idx="1"/>
          </p:nvPr>
        </p:nvSpPr>
        <p:spPr>
          <a:xfrm>
            <a:off x="1992313" y="1160463"/>
            <a:ext cx="8229600" cy="5111750"/>
          </a:xfrm>
        </p:spPr>
        <p:txBody>
          <a:bodyPr>
            <a:normAutofit lnSpcReduction="10000"/>
          </a:bodyPr>
          <a:lstStyle/>
          <a:p>
            <a:pPr>
              <a:lnSpc>
                <a:spcPct val="90000"/>
              </a:lnSpc>
            </a:pPr>
            <a:r>
              <a:rPr lang="en-US" altLang="en-IT" sz="2600">
                <a:solidFill>
                  <a:srgbClr val="FF0000"/>
                </a:solidFill>
              </a:rPr>
              <a:t>The multiple minimum support idea can also be applied here.</a:t>
            </a:r>
            <a:r>
              <a:rPr lang="en-US" altLang="en-IT" sz="2600">
                <a:solidFill>
                  <a:srgbClr val="3333CC"/>
                </a:solidFill>
              </a:rPr>
              <a:t> </a:t>
            </a:r>
          </a:p>
          <a:p>
            <a:pPr>
              <a:lnSpc>
                <a:spcPct val="90000"/>
              </a:lnSpc>
            </a:pPr>
            <a:r>
              <a:rPr lang="en-US" altLang="ja-JP" sz="2600">
                <a:ea typeface="ＭＳ Ｐゴシック" panose="020B0600070205080204" pitchFamily="34" charset="-128"/>
              </a:rPr>
              <a:t>The user can specify different </a:t>
            </a:r>
            <a:r>
              <a:rPr lang="en-US" altLang="ja-JP" sz="2600">
                <a:solidFill>
                  <a:srgbClr val="FF0000"/>
                </a:solidFill>
                <a:ea typeface="ＭＳ Ｐゴシック" panose="020B0600070205080204" pitchFamily="34" charset="-128"/>
              </a:rPr>
              <a:t>minimum supports to different classes</a:t>
            </a:r>
            <a:r>
              <a:rPr lang="en-US" altLang="ja-JP" sz="2600">
                <a:ea typeface="ＭＳ Ｐゴシック" panose="020B0600070205080204" pitchFamily="34" charset="-128"/>
              </a:rPr>
              <a:t>, which effectively assign a different minimum support to rules of each class. </a:t>
            </a:r>
          </a:p>
          <a:p>
            <a:pPr>
              <a:lnSpc>
                <a:spcPct val="90000"/>
              </a:lnSpc>
            </a:pPr>
            <a:r>
              <a:rPr lang="en-US" altLang="ja-JP" sz="2600">
                <a:ea typeface="ＭＳ Ｐゴシック" panose="020B0600070205080204" pitchFamily="34" charset="-128"/>
              </a:rPr>
              <a:t>For example, we have a data set with two classes, Yes and No. We may want </a:t>
            </a:r>
          </a:p>
          <a:p>
            <a:pPr lvl="1">
              <a:lnSpc>
                <a:spcPct val="90000"/>
              </a:lnSpc>
            </a:pPr>
            <a:r>
              <a:rPr lang="en-US" altLang="ja-JP" sz="2200">
                <a:ea typeface="ＭＳ Ｐゴシック" panose="020B0600070205080204" pitchFamily="34" charset="-128"/>
              </a:rPr>
              <a:t>rules of class Yes to have the minimum support of 5% and </a:t>
            </a:r>
          </a:p>
          <a:p>
            <a:pPr lvl="1">
              <a:lnSpc>
                <a:spcPct val="90000"/>
              </a:lnSpc>
            </a:pPr>
            <a:r>
              <a:rPr lang="en-US" altLang="ja-JP" sz="2200">
                <a:ea typeface="ＭＳ Ｐゴシック" panose="020B0600070205080204" pitchFamily="34" charset="-128"/>
              </a:rPr>
              <a:t>rules of class No to have the minimum support of 10%. </a:t>
            </a:r>
            <a:endParaRPr lang="en-US" altLang="en-IT" sz="2200">
              <a:solidFill>
                <a:srgbClr val="3333CC"/>
              </a:solidFill>
            </a:endParaRPr>
          </a:p>
          <a:p>
            <a:pPr>
              <a:lnSpc>
                <a:spcPct val="90000"/>
              </a:lnSpc>
            </a:pPr>
            <a:r>
              <a:rPr lang="en-US" altLang="ja-JP" sz="2600">
                <a:solidFill>
                  <a:srgbClr val="3333CC"/>
                </a:solidFill>
                <a:ea typeface="ＭＳ Ｐゴシック" panose="020B0600070205080204" pitchFamily="34" charset="-128"/>
              </a:rPr>
              <a:t>By setting minimum class supports to 100% (or more for some classes), we tell the algorithm not to generate rules of those classes.</a:t>
            </a:r>
            <a:r>
              <a:rPr lang="en-US" altLang="ja-JP" sz="2600">
                <a:ea typeface="ＭＳ Ｐゴシック" panose="020B0600070205080204" pitchFamily="34" charset="-128"/>
              </a:rPr>
              <a:t> </a:t>
            </a:r>
          </a:p>
          <a:p>
            <a:pPr lvl="1">
              <a:lnSpc>
                <a:spcPct val="90000"/>
              </a:lnSpc>
            </a:pPr>
            <a:r>
              <a:rPr lang="en-US" altLang="en-IT" sz="2200"/>
              <a:t>This is a very useful trick in applications.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65770884-27E7-BD41-584A-9AB8D0C91258}"/>
              </a:ext>
            </a:extLst>
          </p:cNvPr>
          <p:cNvSpPr>
            <a:spLocks noGrp="1"/>
          </p:cNvSpPr>
          <p:nvPr>
            <p:ph type="ftr" sz="quarter" idx="10"/>
          </p:nvPr>
        </p:nvSpPr>
        <p:spPr/>
        <p:txBody>
          <a:bodyPr/>
          <a:lstStyle/>
          <a:p>
            <a:r>
              <a:rPr lang="en-US" altLang="en-US"/>
              <a:t>CS583, Bing Liu, UIC</a:t>
            </a:r>
          </a:p>
        </p:txBody>
      </p:sp>
      <p:sp>
        <p:nvSpPr>
          <p:cNvPr id="3" name="Slide Number Placeholder 4">
            <a:extLst>
              <a:ext uri="{FF2B5EF4-FFF2-40B4-BE49-F238E27FC236}">
                <a16:creationId xmlns:a16="http://schemas.microsoft.com/office/drawing/2014/main" id="{91EAB31E-CB6E-9E65-AF26-D47BF71E2534}"/>
              </a:ext>
            </a:extLst>
          </p:cNvPr>
          <p:cNvSpPr>
            <a:spLocks noGrp="1"/>
          </p:cNvSpPr>
          <p:nvPr>
            <p:ph type="sldNum" sz="quarter" idx="11"/>
          </p:nvPr>
        </p:nvSpPr>
        <p:spPr/>
        <p:txBody>
          <a:bodyPr/>
          <a:lstStyle/>
          <a:p>
            <a:fld id="{CD186307-FFE2-CF47-8386-BE5895AC52DA}" type="slidenum">
              <a:rPr lang="en-US" altLang="en-US"/>
              <a:pPr/>
              <a:t>67</a:t>
            </a:fld>
            <a:endParaRPr lang="en-US" altLang="en-US"/>
          </a:p>
        </p:txBody>
      </p:sp>
      <p:sp>
        <p:nvSpPr>
          <p:cNvPr id="675842" name="Rectangle 2">
            <a:extLst>
              <a:ext uri="{FF2B5EF4-FFF2-40B4-BE49-F238E27FC236}">
                <a16:creationId xmlns:a16="http://schemas.microsoft.com/office/drawing/2014/main" id="{26333CE9-4985-1999-08A4-03BEF0DE61F3}"/>
              </a:ext>
            </a:extLst>
          </p:cNvPr>
          <p:cNvSpPr>
            <a:spLocks noGrp="1" noChangeArrowheads="1"/>
          </p:cNvSpPr>
          <p:nvPr>
            <p:ph type="title"/>
          </p:nvPr>
        </p:nvSpPr>
        <p:spPr>
          <a:xfrm>
            <a:off x="2133600" y="273051"/>
            <a:ext cx="7742238" cy="1147763"/>
          </a:xfrm>
        </p:spPr>
        <p:txBody>
          <a:bodyPr/>
          <a:lstStyle/>
          <a:p>
            <a:r>
              <a:rPr lang="en-US" altLang="en-IT"/>
              <a:t>Summary</a:t>
            </a:r>
          </a:p>
        </p:txBody>
      </p:sp>
      <p:sp>
        <p:nvSpPr>
          <p:cNvPr id="675843" name="Rectangle 3">
            <a:extLst>
              <a:ext uri="{FF2B5EF4-FFF2-40B4-BE49-F238E27FC236}">
                <a16:creationId xmlns:a16="http://schemas.microsoft.com/office/drawing/2014/main" id="{9622BDE2-BA0D-3815-B817-C1978305727C}"/>
              </a:ext>
            </a:extLst>
          </p:cNvPr>
          <p:cNvSpPr>
            <a:spLocks noGrp="1" noChangeArrowheads="1"/>
          </p:cNvSpPr>
          <p:nvPr>
            <p:ph type="body" idx="1"/>
          </p:nvPr>
        </p:nvSpPr>
        <p:spPr>
          <a:xfrm>
            <a:off x="1955801" y="1304925"/>
            <a:ext cx="8524875" cy="4679950"/>
          </a:xfrm>
        </p:spPr>
        <p:txBody>
          <a:bodyPr/>
          <a:lstStyle/>
          <a:p>
            <a:pPr>
              <a:lnSpc>
                <a:spcPct val="80000"/>
              </a:lnSpc>
            </a:pPr>
            <a:r>
              <a:rPr lang="en-US" altLang="en-IT" sz="2600"/>
              <a:t>Association rule mining has been extensively studied in the data mining community. </a:t>
            </a:r>
          </a:p>
          <a:p>
            <a:pPr>
              <a:lnSpc>
                <a:spcPct val="80000"/>
              </a:lnSpc>
            </a:pPr>
            <a:r>
              <a:rPr lang="en-US" altLang="en-IT" sz="2600"/>
              <a:t>There are many efficient algorithms and model variations.</a:t>
            </a:r>
          </a:p>
          <a:p>
            <a:pPr>
              <a:lnSpc>
                <a:spcPct val="80000"/>
              </a:lnSpc>
            </a:pPr>
            <a:r>
              <a:rPr lang="en-US" altLang="en-IT" sz="2600"/>
              <a:t>Other related work includes</a:t>
            </a:r>
          </a:p>
          <a:p>
            <a:pPr marL="742950" lvl="1" indent="-285750">
              <a:lnSpc>
                <a:spcPct val="80000"/>
              </a:lnSpc>
            </a:pPr>
            <a:r>
              <a:rPr lang="en-US" altLang="en-IT" sz="2200"/>
              <a:t>Multi-level or generalized rule mining</a:t>
            </a:r>
          </a:p>
          <a:p>
            <a:pPr marL="742950" lvl="1" indent="-285750">
              <a:lnSpc>
                <a:spcPct val="80000"/>
              </a:lnSpc>
            </a:pPr>
            <a:r>
              <a:rPr lang="en-US" altLang="en-IT" sz="2200"/>
              <a:t>Constrained rule mining</a:t>
            </a:r>
          </a:p>
          <a:p>
            <a:pPr marL="742950" lvl="1" indent="-285750">
              <a:lnSpc>
                <a:spcPct val="80000"/>
              </a:lnSpc>
            </a:pPr>
            <a:r>
              <a:rPr lang="en-US" altLang="en-IT" sz="2200"/>
              <a:t>Incremental rule mining</a:t>
            </a:r>
          </a:p>
          <a:p>
            <a:pPr marL="742950" lvl="1" indent="-285750">
              <a:lnSpc>
                <a:spcPct val="80000"/>
              </a:lnSpc>
            </a:pPr>
            <a:r>
              <a:rPr lang="en-US" altLang="en-IT" sz="2200"/>
              <a:t>Maximal frequent itemset mining</a:t>
            </a:r>
          </a:p>
          <a:p>
            <a:pPr marL="742950" lvl="1" indent="-285750">
              <a:lnSpc>
                <a:spcPct val="80000"/>
              </a:lnSpc>
            </a:pPr>
            <a:r>
              <a:rPr lang="en-US" altLang="en-IT" sz="2200"/>
              <a:t>Numeric association rule mining</a:t>
            </a:r>
          </a:p>
          <a:p>
            <a:pPr marL="742950" lvl="1" indent="-285750">
              <a:lnSpc>
                <a:spcPct val="80000"/>
              </a:lnSpc>
            </a:pPr>
            <a:r>
              <a:rPr lang="en-US" altLang="en-IT" sz="2200"/>
              <a:t>Rule interestingness and visualization</a:t>
            </a:r>
          </a:p>
          <a:p>
            <a:pPr marL="742950" lvl="1" indent="-285750">
              <a:lnSpc>
                <a:spcPct val="80000"/>
              </a:lnSpc>
            </a:pPr>
            <a:r>
              <a:rPr lang="en-US" altLang="en-IT" sz="2200"/>
              <a:t>Parallel algorithms</a:t>
            </a:r>
          </a:p>
          <a:p>
            <a:pPr marL="742950" lvl="1" indent="-285750">
              <a:lnSpc>
                <a:spcPct val="80000"/>
              </a:lnSpc>
            </a:pPr>
            <a:r>
              <a:rPr lang="en-US" altLang="en-IT" sz="2200"/>
              <a:t>…</a:t>
            </a:r>
          </a:p>
          <a:p>
            <a:pPr>
              <a:lnSpc>
                <a:spcPct val="80000"/>
              </a:lnSpc>
              <a:buFont typeface="Wingdings" pitchFamily="2" charset="2"/>
              <a:buNone/>
            </a:pPr>
            <a:endParaRPr lang="en-US" altLang="en-IT" sz="2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6457</TotalTime>
  <Words>7104</Words>
  <Application>Microsoft Macintosh PowerPoint</Application>
  <PresentationFormat>Widescreen</PresentationFormat>
  <Paragraphs>901</Paragraphs>
  <Slides>67</Slides>
  <Notes>16</Notes>
  <HiddenSlides>13</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3</vt:i4>
      </vt:variant>
      <vt:variant>
        <vt:lpstr>Slide Titles</vt:lpstr>
      </vt:variant>
      <vt:variant>
        <vt:i4>67</vt:i4>
      </vt:variant>
    </vt:vector>
  </HeadingPairs>
  <TitlesOfParts>
    <vt:vector size="84" baseType="lpstr">
      <vt:lpstr>ＭＳ Ｐゴシック</vt:lpstr>
      <vt:lpstr>Aptos</vt:lpstr>
      <vt:lpstr>Arial</vt:lpstr>
      <vt:lpstr>Calibri</vt:lpstr>
      <vt:lpstr>Calibri Light</vt:lpstr>
      <vt:lpstr>Courier New</vt:lpstr>
      <vt:lpstr>Lucida Console</vt:lpstr>
      <vt:lpstr>Monotype Sorts</vt:lpstr>
      <vt:lpstr>Symbol</vt:lpstr>
      <vt:lpstr>Tahoma</vt:lpstr>
      <vt:lpstr>Times New Roman</vt:lpstr>
      <vt:lpstr>Verdana</vt:lpstr>
      <vt:lpstr>Wingdings</vt:lpstr>
      <vt:lpstr>Office Theme</vt:lpstr>
      <vt:lpstr>Equation</vt:lpstr>
      <vt:lpstr>Bitmap Image</vt:lpstr>
      <vt:lpstr>Clip</vt:lpstr>
      <vt:lpstr>PowerPoint Presentation</vt:lpstr>
      <vt:lpstr>Association Rule Mining Explained*</vt:lpstr>
      <vt:lpstr>Summary so far</vt:lpstr>
      <vt:lpstr>PowerPoint Presentation</vt:lpstr>
      <vt:lpstr>Project Work Specifications</vt:lpstr>
      <vt:lpstr>Initial Projects Overview</vt:lpstr>
      <vt:lpstr>Introduction</vt:lpstr>
      <vt:lpstr>Association rule mining: a bit of history</vt:lpstr>
      <vt:lpstr>Rules</vt:lpstr>
      <vt:lpstr>Association Rules Examples</vt:lpstr>
      <vt:lpstr>The model: data</vt:lpstr>
      <vt:lpstr>Transaction data: supermarket data</vt:lpstr>
      <vt:lpstr>Transaction data: a set of documents</vt:lpstr>
      <vt:lpstr>The model: rules, more formally</vt:lpstr>
      <vt:lpstr>Rule strength measures</vt:lpstr>
      <vt:lpstr>Support and Confidence</vt:lpstr>
      <vt:lpstr>Goal and key features</vt:lpstr>
      <vt:lpstr>An example</vt:lpstr>
      <vt:lpstr>Transaction data representation</vt:lpstr>
      <vt:lpstr>Many mining algorithms</vt:lpstr>
      <vt:lpstr>Formal Statement of the Problem</vt:lpstr>
      <vt:lpstr>Problem Decomposition</vt:lpstr>
      <vt:lpstr>General Algorithm</vt:lpstr>
      <vt:lpstr>AIS Algorithm</vt:lpstr>
      <vt:lpstr>Example</vt:lpstr>
      <vt:lpstr>SETM Algorithm</vt:lpstr>
      <vt:lpstr>Example</vt:lpstr>
      <vt:lpstr>Apriori Algorithm</vt:lpstr>
      <vt:lpstr>Example</vt:lpstr>
      <vt:lpstr>AprioriTid Algorithm</vt:lpstr>
      <vt:lpstr>Example</vt:lpstr>
      <vt:lpstr>Performance Analysis</vt:lpstr>
      <vt:lpstr>Apriori-Hybrid Algorithm</vt:lpstr>
      <vt:lpstr>Example Association Rule</vt:lpstr>
      <vt:lpstr>Example Queries</vt:lpstr>
      <vt:lpstr>Discovering Large Itemsets</vt:lpstr>
      <vt:lpstr>Apriori Algorithm (pseudocode)</vt:lpstr>
      <vt:lpstr>Apriori Candidate Generation</vt:lpstr>
      <vt:lpstr>Apriori Algorithm (cont.)</vt:lpstr>
      <vt:lpstr>Subset Function</vt:lpstr>
      <vt:lpstr>Subset Function (cont.)</vt:lpstr>
      <vt:lpstr>Subset Function (cont.)</vt:lpstr>
      <vt:lpstr>AprioriTid Algorithm</vt:lpstr>
      <vt:lpstr>AprioriTid Algorithm (cont.)</vt:lpstr>
      <vt:lpstr>Example</vt:lpstr>
      <vt:lpstr>Performance</vt:lpstr>
      <vt:lpstr>Apriori vs. AprioriTid</vt:lpstr>
      <vt:lpstr>AprioriHybrid Algorithm</vt:lpstr>
      <vt:lpstr>Problems with association mining</vt:lpstr>
      <vt:lpstr>Rare Item Problem</vt:lpstr>
      <vt:lpstr>Multiple minsups model</vt:lpstr>
      <vt:lpstr>Minsup of a rule</vt:lpstr>
      <vt:lpstr>An Example</vt:lpstr>
      <vt:lpstr>Downward closure property</vt:lpstr>
      <vt:lpstr>To deal with the problem</vt:lpstr>
      <vt:lpstr>The MSapriori algorithm</vt:lpstr>
      <vt:lpstr>Candidate itemset generation</vt:lpstr>
      <vt:lpstr>First pass over data</vt:lpstr>
      <vt:lpstr>First pass over data: an example</vt:lpstr>
      <vt:lpstr>Rule generation</vt:lpstr>
      <vt:lpstr>On multiple minsup rule mining</vt:lpstr>
      <vt:lpstr>Mining class association rules (CAR)</vt:lpstr>
      <vt:lpstr>Problem definition</vt:lpstr>
      <vt:lpstr>An example</vt:lpstr>
      <vt:lpstr>Mining algorithm</vt:lpstr>
      <vt:lpstr>Multiple minimum class supports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 and Instance Based Learning</dc:title>
  <dc:creator>Geoff Hulten</dc:creator>
  <cp:lastModifiedBy>Damian Andrew Tamburri</cp:lastModifiedBy>
  <cp:revision>80</cp:revision>
  <dcterms:created xsi:type="dcterms:W3CDTF">2018-10-22T01:43:14Z</dcterms:created>
  <dcterms:modified xsi:type="dcterms:W3CDTF">2026-04-01T10:56:46Z</dcterms:modified>
</cp:coreProperties>
</file>