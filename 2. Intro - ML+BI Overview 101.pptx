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3" r:id="rId1"/>
  </p:sldMasterIdLst>
  <p:notesMasterIdLst>
    <p:notesMasterId r:id="rId63"/>
  </p:notesMasterIdLst>
  <p:sldIdLst>
    <p:sldId id="257" r:id="rId2"/>
    <p:sldId id="598" r:id="rId3"/>
    <p:sldId id="592" r:id="rId4"/>
    <p:sldId id="454" r:id="rId5"/>
    <p:sldId id="455" r:id="rId6"/>
    <p:sldId id="456" r:id="rId7"/>
    <p:sldId id="533" r:id="rId8"/>
    <p:sldId id="534" r:id="rId9"/>
    <p:sldId id="535" r:id="rId10"/>
    <p:sldId id="536" r:id="rId11"/>
    <p:sldId id="537" r:id="rId12"/>
    <p:sldId id="538" r:id="rId13"/>
    <p:sldId id="539" r:id="rId14"/>
    <p:sldId id="540" r:id="rId15"/>
    <p:sldId id="541" r:id="rId16"/>
    <p:sldId id="542" r:id="rId17"/>
    <p:sldId id="543" r:id="rId18"/>
    <p:sldId id="544" r:id="rId19"/>
    <p:sldId id="545" r:id="rId20"/>
    <p:sldId id="546" r:id="rId21"/>
    <p:sldId id="548" r:id="rId22"/>
    <p:sldId id="549" r:id="rId23"/>
    <p:sldId id="550" r:id="rId24"/>
    <p:sldId id="551" r:id="rId25"/>
    <p:sldId id="552" r:id="rId26"/>
    <p:sldId id="554" r:id="rId27"/>
    <p:sldId id="555" r:id="rId28"/>
    <p:sldId id="556" r:id="rId29"/>
    <p:sldId id="557" r:id="rId30"/>
    <p:sldId id="558" r:id="rId31"/>
    <p:sldId id="559" r:id="rId32"/>
    <p:sldId id="594" r:id="rId33"/>
    <p:sldId id="595" r:id="rId34"/>
    <p:sldId id="560" r:id="rId35"/>
    <p:sldId id="357" r:id="rId36"/>
    <p:sldId id="561" r:id="rId37"/>
    <p:sldId id="562" r:id="rId38"/>
    <p:sldId id="563" r:id="rId39"/>
    <p:sldId id="564" r:id="rId40"/>
    <p:sldId id="341" r:id="rId41"/>
    <p:sldId id="565" r:id="rId42"/>
    <p:sldId id="566" r:id="rId43"/>
    <p:sldId id="342" r:id="rId44"/>
    <p:sldId id="343" r:id="rId45"/>
    <p:sldId id="344" r:id="rId46"/>
    <p:sldId id="345" r:id="rId47"/>
    <p:sldId id="346" r:id="rId48"/>
    <p:sldId id="567" r:id="rId49"/>
    <p:sldId id="568" r:id="rId50"/>
    <p:sldId id="569" r:id="rId51"/>
    <p:sldId id="570" r:id="rId52"/>
    <p:sldId id="501" r:id="rId53"/>
    <p:sldId id="503" r:id="rId54"/>
    <p:sldId id="504" r:id="rId55"/>
    <p:sldId id="505" r:id="rId56"/>
    <p:sldId id="506" r:id="rId57"/>
    <p:sldId id="591" r:id="rId58"/>
    <p:sldId id="596" r:id="rId59"/>
    <p:sldId id="597" r:id="rId60"/>
    <p:sldId id="429" r:id="rId61"/>
    <p:sldId id="409" r:id="rId62"/>
  </p:sldIdLst>
  <p:sldSz cx="9144000" cy="6858000" type="screen4x3"/>
  <p:notesSz cx="7315200" cy="96012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276"/>
    <p:restoredTop sz="94689"/>
  </p:normalViewPr>
  <p:slideViewPr>
    <p:cSldViewPr snapToGrid="0" snapToObjects="1">
      <p:cViewPr varScale="1">
        <p:scale>
          <a:sx n="109" d="100"/>
          <a:sy n="109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77F54-0743-D74B-99D2-1D0194725135}" type="datetimeFigureOut">
              <a:rPr lang="it-IT" smtClean="0"/>
              <a:t>14/05/26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F0319-445F-2E41-B235-5C60777979A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532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needed</a:t>
            </a:r>
            <a:r>
              <a:rPr lang="it-IT" dirty="0"/>
              <a:t> to complete the puzzle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8A81-0EEA-C440-BAF0-F3164D4F1D2F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0540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CF0319-445F-2E41-B235-5C60777979AF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0143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AA74B3-D49D-CF48-A9D6-E5E53CB5FBE0}" type="slidenum">
              <a:rPr lang="en-US"/>
              <a:pPr/>
              <a:t>52</a:t>
            </a:fld>
            <a:endParaRPr lang="en-US"/>
          </a:p>
        </p:txBody>
      </p:sp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035" y="4561226"/>
            <a:ext cx="5367130" cy="4320213"/>
          </a:xfrm>
        </p:spPr>
        <p:txBody>
          <a:bodyPr/>
          <a:lstStyle/>
          <a:p>
            <a:endParaRPr lang="en-CA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454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AA74B3-D49D-CF48-A9D6-E5E53CB5FBE0}" type="slidenum">
              <a:rPr lang="en-US"/>
              <a:pPr/>
              <a:t>53</a:t>
            </a:fld>
            <a:endParaRPr lang="en-US"/>
          </a:p>
        </p:txBody>
      </p:sp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035" y="4561226"/>
            <a:ext cx="5367130" cy="4320213"/>
          </a:xfrm>
        </p:spPr>
        <p:txBody>
          <a:bodyPr/>
          <a:lstStyle/>
          <a:p>
            <a:endParaRPr lang="en-CA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55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Evaluation in information-retrieval</a:t>
            </a:r>
          </a:p>
          <a:p>
            <a:endParaRPr lang="en-CA" dirty="0"/>
          </a:p>
          <a:p>
            <a:r>
              <a:rPr lang="en-CA" dirty="0"/>
              <a:t>Other techniques and intro </a:t>
            </a:r>
            <a:r>
              <a:rPr lang="en-CA"/>
              <a:t>here: http</a:t>
            </a:r>
            <a:r>
              <a:rPr lang="en-CA" dirty="0"/>
              <a:t>://</a:t>
            </a:r>
            <a:r>
              <a:rPr lang="en-CA" dirty="0" err="1"/>
              <a:t>www.ics.uci.edu</a:t>
            </a:r>
            <a:r>
              <a:rPr lang="en-CA" dirty="0"/>
              <a:t>/~djp3/classes/2008_01_01_INF141/Lectures/Slides26.pdf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C8A81-0EEA-C440-BAF0-F3164D4F1D2F}" type="slidenum">
              <a:rPr lang="en-CA" smtClean="0"/>
              <a:t>54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2000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https</a:t>
            </a:r>
            <a:r>
              <a:rPr lang="it-IT" dirty="0"/>
              <a:t>://</a:t>
            </a:r>
            <a:r>
              <a:rPr lang="it-IT" dirty="0" err="1"/>
              <a:t>en.wikipedia.org</a:t>
            </a:r>
            <a:r>
              <a:rPr lang="it-IT" dirty="0"/>
              <a:t>/</a:t>
            </a:r>
            <a:r>
              <a:rPr lang="it-IT" dirty="0" err="1"/>
              <a:t>wiki</a:t>
            </a:r>
            <a:r>
              <a:rPr lang="it-IT" dirty="0"/>
              <a:t>/</a:t>
            </a:r>
            <a:r>
              <a:rPr lang="it-IT" dirty="0" err="1"/>
              <a:t>Harmonic_mean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8A81-0EEA-C440-BAF0-F3164D4F1D2F}" type="slidenum">
              <a:rPr lang="en-CA" smtClean="0"/>
              <a:t>55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7911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B02D-ADE4-BE40-CA49-AA93BC91E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4A702-0BD0-B879-C321-FC67F2A20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84D85-11C3-0B71-68CB-C4CD375D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37B01-4D59-C340-AC0A-9DFAF9762DC1}" type="datetimeFigureOut">
              <a:rPr lang="en-IT" smtClean="0"/>
              <a:t>14/05/26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8B2A9-C4E5-5C58-83F3-1E19B87FF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D7443-682A-D9CD-0BD5-6C073930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B9178-56A0-DD45-BB50-7FF9A4F6C3B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83926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EBD02-CF63-D562-774D-E5458659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D853C-87FF-9BDA-7E71-78378CEAB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1E4D3-26FA-029F-2667-71F0D6305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0DBF8-EF7C-7923-A962-380465EF5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01A4F-AB38-3584-BFB2-4DA6F2EF4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0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6344-D3CD-C7CA-9C72-22BB70419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B05DF-3FAF-7EF3-E317-C501C07FB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39B8-1743-3871-3D3E-223DE7AD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64172-5C63-4A77-6061-4DE047A65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E6930-977F-29F9-F6BD-2B88F464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DD7B5FF6-491A-964E-93AB-D57DBC5C53F8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35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FE61-98DF-652F-F8BA-911E9027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CEF9F-DB70-5E24-7FBD-8FCC342C7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CB66C-C1FF-02E6-EE31-0911E4DE9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868A0-A48D-8432-A36A-EF68D245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899BA-6B00-C5E9-CD31-E54995C5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5EC20-F5AA-D864-D625-828C3C82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E614AAA-BF25-7148-BDC7-6FE33B59CBAE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2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5C916-2DA3-5C01-028B-D7E0C6FD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9F12D-B5BD-145A-7E7B-6AFDBDA28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305B7-1726-A1E9-7699-1B30282C4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20D10-1B82-BFA0-C3CE-1A772FCBAC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FDFF0-4185-8231-B395-E4031BC23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83B9CB-261C-6677-92E6-9057C70E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0ACD6-41DC-3792-9167-577D22C9E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5BE2F5-93D2-BB2B-3605-DB78AB33A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2634852D-7B20-6846-A279-78A029B7513C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63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526C-788F-DF3F-276D-468ACC96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E0AF2-C733-C56B-87D3-B47519835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414F9-1BA6-68B3-5BD8-8A9B33E5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E40E6-AA5E-28CD-1C2C-F6570278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FEF3ADD-0D33-8644-B368-A30405120092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CB8AE5-EF3C-33DA-A0A5-3F2A8A66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FBFB5-4D4A-EDBD-0A1D-8DD47838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838BD-8AA1-D701-90DF-221415CE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0D65E5FF-0279-0442-8A18-37024F4C050F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22F3-41D0-05A3-4409-EB0583C6C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FA0D0-1B23-E071-AF2F-C8A1C6A4D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3DA44-0DFA-92FB-486F-6B14CFB79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50A28-277D-65A7-804A-EC95E208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2DFAF-C6C0-D0DB-FFB8-15988AD0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49B59-2B8D-9037-E884-47C2A878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699C865C-6739-4A42-AD40-FB1D738BA492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5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4273A-492D-134E-B69D-3325E34A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5F6AF7-66C7-5B8C-B506-2CDD3F885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9EBE3-0C02-208F-89F6-BFB31A323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002DF-8736-2D0C-037D-95C245224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21134-0FBA-6329-31B2-2FEA71AE3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C9823-CBFE-471F-0061-ADDADFEC2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895494A3-4942-E847-9882-292A17426E8F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2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19FA-D7C9-2106-C85F-0911C95A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B4A2A-F0A0-928E-1E1D-E625332A3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12193-2B3F-6BA3-F6B8-6B90CC49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AA1BE-47EA-F729-2541-9246B900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6E10B-31CC-D7D0-B42F-37BEDCB1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505E1EDF-8FC7-024D-8297-C6B179318C1A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5536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BE4475-882A-E2A9-5A70-33FCBBBB8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F9450-8D70-927E-1936-380198882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2D984-F976-80CD-F04B-5D675BCA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CD4D1-EDAF-9F52-CFD5-F41AE8CCB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BCB97-D973-EAE8-566F-D288DD6A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505E1EDF-8FC7-024D-8297-C6B179318C1A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2839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390525"/>
            <a:ext cx="77724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143000"/>
            <a:ext cx="7848600" cy="50292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3994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D460E6-0A85-8166-DAC1-C96D2641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95321-B444-687B-AED6-5C479A216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DAD36-A821-EE99-6247-1908EA159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8B2A2-22C6-D2F4-1DBB-48E1CA969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E06F4-52C9-2F69-53DE-6061CC58B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it-IT"/>
              <a:t>- </a:t>
            </a:r>
            <a:fld id="{505E1EDF-8FC7-024D-8297-C6B179318C1A}" type="slidenum">
              <a:rPr lang="en-US" smtClean="0"/>
              <a:pPr>
                <a:defRPr/>
              </a:pPr>
              <a:t>‹#›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52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verleaf.com/latex/templates/ieee-conference-template/grfzhhncsfqn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22363"/>
            <a:ext cx="9144000" cy="2387600"/>
          </a:xfrm>
        </p:spPr>
        <p:txBody>
          <a:bodyPr/>
          <a:lstStyle/>
          <a:p>
            <a:r>
              <a:rPr lang="en-CA" dirty="0"/>
              <a:t>A beginner’s guide to Data Analytics: Course Intro + Bootstrap Notions!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Damian A. Tamburri, Ph.</a:t>
            </a:r>
            <a:r>
              <a:rPr lang="en-CA"/>
              <a:t>D.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Machine Learning 101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89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4EE0-9C92-6832-2777-5F78AEAF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4 Lessons Learned from last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3473A-5DD9-582D-580A-C58EC32E7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</a:t>
            </a:r>
            <a:r>
              <a:rPr lang="en-IT" dirty="0"/>
              <a:t>e play the role of the </a:t>
            </a:r>
            <a:r>
              <a:rPr lang="en-IT" b="1" dirty="0"/>
              <a:t>Data/AI Engineer </a:t>
            </a:r>
            <a:r>
              <a:rPr lang="en-IT" dirty="0"/>
              <a:t>(it’s all about the data anyway);</a:t>
            </a:r>
          </a:p>
          <a:p>
            <a:endParaRPr lang="en-IT" dirty="0"/>
          </a:p>
          <a:p>
            <a:r>
              <a:rPr lang="en-IT" dirty="0"/>
              <a:t>We work for a business (or a mission, or a domain, etc.) </a:t>
            </a:r>
            <a:r>
              <a:rPr lang="en-IT" dirty="0">
                <a:sym typeface="Wingdings" pitchFamily="2" charset="2"/>
              </a:rPr>
              <a:t> first we look for requirements from that aimed at </a:t>
            </a:r>
            <a:r>
              <a:rPr lang="en-IT" b="1" u="sng" dirty="0">
                <a:sym typeface="Wingdings" pitchFamily="2" charset="2"/>
              </a:rPr>
              <a:t>intelligence</a:t>
            </a:r>
            <a:r>
              <a:rPr lang="en-IT" dirty="0">
                <a:sym typeface="Wingdings" pitchFamily="2" charset="2"/>
              </a:rPr>
              <a:t>;</a:t>
            </a:r>
          </a:p>
          <a:p>
            <a:endParaRPr lang="en-IT" dirty="0">
              <a:sym typeface="Wingdings" pitchFamily="2" charset="2"/>
            </a:endParaRPr>
          </a:p>
          <a:p>
            <a:r>
              <a:rPr lang="en-IT" dirty="0">
                <a:sym typeface="Wingdings" pitchFamily="2" charset="2"/>
              </a:rPr>
              <a:t>Analytics are cool with AI nowadays but there’s more methods (e.g., metaheuristics) that are more fit with specific domains;</a:t>
            </a:r>
          </a:p>
          <a:p>
            <a:endParaRPr lang="en-IT" dirty="0">
              <a:sym typeface="Wingdings" pitchFamily="2" charset="2"/>
            </a:endParaRPr>
          </a:p>
          <a:p>
            <a:r>
              <a:rPr lang="en-IT" dirty="0">
                <a:sym typeface="Wingdings" pitchFamily="2" charset="2"/>
              </a:rPr>
              <a:t>We start with EDA (exploratory data analysis), visualizations and stats can help;</a:t>
            </a:r>
          </a:p>
          <a:p>
            <a:endParaRPr lang="en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B283B-09D1-2766-4063-8587E5A6D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B3E23-4AD3-F9E9-6654-6BD2C03B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2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0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565A2-49A4-A299-2C26-4679BC040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IT" dirty="0"/>
              <a:t>CRISP-DM from a BI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3492-8D82-78AF-AEF9-7C7E8D441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1FF1AC-84C2-F5DF-EDE9-FD741215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49977-8099-E15D-90A3-8B05934A3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3</a:t>
            </a:fld>
            <a:r>
              <a:rPr lang="it-IT"/>
              <a:t> -</a:t>
            </a:r>
            <a:endParaRPr lang="en-US"/>
          </a:p>
        </p:txBody>
      </p:sp>
      <p:pic>
        <p:nvPicPr>
          <p:cNvPr id="5124" name="Picture 4" descr="The CRISP-DM Methodology applied in AI4PublicPolicy policy-making –  AI4PublicPolicy">
            <a:extLst>
              <a:ext uri="{FF2B5EF4-FFF2-40B4-BE49-F238E27FC236}">
                <a16:creationId xmlns:a16="http://schemas.microsoft.com/office/drawing/2014/main" id="{D5A3E174-DDE4-9A2E-DD71-B15B425F7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6969"/>
            <a:ext cx="9144000" cy="570865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92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Main</a:t>
            </a:r>
            <a:r>
              <a:rPr lang="es-ES" dirty="0"/>
              <a:t> </a:t>
            </a:r>
            <a:r>
              <a:rPr lang="es-ES" dirty="0" err="1"/>
              <a:t>steps</a:t>
            </a:r>
            <a:r>
              <a:rPr lang="es-ES" dirty="0"/>
              <a:t> in a BI/Data </a:t>
            </a:r>
            <a:r>
              <a:rPr lang="es-ES" dirty="0" err="1"/>
              <a:t>Analytics</a:t>
            </a:r>
            <a:r>
              <a:rPr lang="es-ES" dirty="0"/>
              <a:t> Project</a:t>
            </a:r>
          </a:p>
        </p:txBody>
      </p:sp>
      <p:sp>
        <p:nvSpPr>
          <p:cNvPr id="25498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Times" charset="0"/>
              <a:buAutoNum type="arabicPeriod"/>
            </a:pPr>
            <a:r>
              <a:rPr lang="es-ES" sz="2000" b="1" dirty="0"/>
              <a:t>Define </a:t>
            </a:r>
            <a:r>
              <a:rPr lang="es-ES" sz="2000" b="1" dirty="0" err="1"/>
              <a:t>the</a:t>
            </a:r>
            <a:r>
              <a:rPr lang="es-ES" sz="2000" b="1" dirty="0"/>
              <a:t> </a:t>
            </a:r>
            <a:r>
              <a:rPr lang="es-ES" sz="2000" b="1" dirty="0" err="1"/>
              <a:t>goals</a:t>
            </a:r>
            <a:r>
              <a:rPr lang="es-ES" sz="2000" b="1" dirty="0"/>
              <a:t>:</a:t>
            </a:r>
          </a:p>
          <a:p>
            <a:pPr marL="838200" lvl="1" indent="-381000"/>
            <a:r>
              <a:rPr lang="es-ES" sz="1800" dirty="0"/>
              <a:t>Business and data </a:t>
            </a:r>
            <a:r>
              <a:rPr lang="es-ES" sz="1800" dirty="0" err="1"/>
              <a:t>mining</a:t>
            </a:r>
            <a:r>
              <a:rPr lang="es-ES" sz="1800" dirty="0"/>
              <a:t> </a:t>
            </a:r>
            <a:r>
              <a:rPr lang="es-ES" sz="1800" dirty="0" err="1"/>
              <a:t>experts</a:t>
            </a:r>
            <a:r>
              <a:rPr lang="es-ES" sz="1800" dirty="0"/>
              <a:t> </a:t>
            </a:r>
            <a:r>
              <a:rPr lang="es-ES" sz="1800" dirty="0" err="1"/>
              <a:t>together</a:t>
            </a:r>
            <a:r>
              <a:rPr lang="es-ES" sz="1800" dirty="0"/>
              <a:t> </a:t>
            </a:r>
            <a:r>
              <a:rPr lang="es-ES" sz="1800" dirty="0" err="1"/>
              <a:t>have</a:t>
            </a:r>
            <a:r>
              <a:rPr lang="es-ES" sz="1800" dirty="0"/>
              <a:t> </a:t>
            </a:r>
            <a:r>
              <a:rPr lang="es-ES" sz="1800" dirty="0" err="1"/>
              <a:t>to</a:t>
            </a:r>
            <a:r>
              <a:rPr lang="es-ES" sz="1800" dirty="0"/>
              <a:t> define </a:t>
            </a:r>
            <a:r>
              <a:rPr lang="es-ES" sz="1800" dirty="0" err="1"/>
              <a:t>the</a:t>
            </a:r>
            <a:r>
              <a:rPr lang="es-ES" sz="1800" dirty="0"/>
              <a:t> </a:t>
            </a:r>
            <a:r>
              <a:rPr lang="es-ES" sz="1800" dirty="0" err="1"/>
              <a:t>goals</a:t>
            </a:r>
            <a:r>
              <a:rPr lang="es-ES" sz="1800" dirty="0"/>
              <a:t>;</a:t>
            </a:r>
          </a:p>
          <a:p>
            <a:pPr marL="838200" lvl="1" indent="-381000"/>
            <a:r>
              <a:rPr lang="es-ES" sz="1800" dirty="0" err="1"/>
              <a:t>Each</a:t>
            </a:r>
            <a:r>
              <a:rPr lang="es-ES" sz="1800" dirty="0"/>
              <a:t> </a:t>
            </a:r>
            <a:r>
              <a:rPr lang="es-ES" sz="1800" dirty="0" err="1"/>
              <a:t>goal</a:t>
            </a:r>
            <a:r>
              <a:rPr lang="es-ES" sz="1800" dirty="0"/>
              <a:t> </a:t>
            </a:r>
            <a:r>
              <a:rPr lang="es-ES" sz="1800" dirty="0" err="1"/>
              <a:t>must</a:t>
            </a:r>
            <a:r>
              <a:rPr lang="es-ES" sz="1800" dirty="0"/>
              <a:t> be defined </a:t>
            </a:r>
            <a:r>
              <a:rPr lang="es-ES" sz="1800" dirty="0" err="1"/>
              <a:t>with</a:t>
            </a:r>
            <a:r>
              <a:rPr lang="es-ES" sz="1800" dirty="0"/>
              <a:t> </a:t>
            </a:r>
            <a:r>
              <a:rPr lang="es-ES" sz="1800" dirty="0" err="1"/>
              <a:t>measurements</a:t>
            </a:r>
            <a:r>
              <a:rPr lang="es-ES" sz="1800" dirty="0"/>
              <a:t> </a:t>
            </a:r>
            <a:r>
              <a:rPr lang="es-ES" sz="1800" dirty="0" err="1"/>
              <a:t>for</a:t>
            </a:r>
            <a:r>
              <a:rPr lang="es-ES" sz="1800" dirty="0"/>
              <a:t> </a:t>
            </a:r>
            <a:r>
              <a:rPr lang="es-ES" sz="1800" dirty="0" err="1"/>
              <a:t>success</a:t>
            </a:r>
            <a:r>
              <a:rPr lang="es-ES" sz="1800" dirty="0"/>
              <a:t>;</a:t>
            </a:r>
          </a:p>
          <a:p>
            <a:pPr marL="457200" indent="-457200">
              <a:buFont typeface="Times" charset="0"/>
              <a:buAutoNum type="arabicPeriod"/>
            </a:pPr>
            <a:r>
              <a:rPr lang="es-ES" sz="2000" b="1" dirty="0" err="1"/>
              <a:t>Obtain</a:t>
            </a:r>
            <a:r>
              <a:rPr lang="es-ES" sz="2000" b="1" dirty="0"/>
              <a:t> </a:t>
            </a:r>
            <a:r>
              <a:rPr lang="es-ES" sz="2000" b="1" dirty="0" err="1"/>
              <a:t>the</a:t>
            </a:r>
            <a:r>
              <a:rPr lang="es-ES" sz="2000" b="1" dirty="0"/>
              <a:t> </a:t>
            </a:r>
            <a:r>
              <a:rPr lang="es-ES" sz="2000" b="1" dirty="0" err="1"/>
              <a:t>models</a:t>
            </a:r>
            <a:r>
              <a:rPr lang="es-ES" sz="2000" b="1" dirty="0"/>
              <a:t>:</a:t>
            </a:r>
          </a:p>
          <a:p>
            <a:pPr marL="838200" lvl="1" indent="-381000"/>
            <a:r>
              <a:rPr lang="es-ES" sz="1800" dirty="0" err="1"/>
              <a:t>Apply</a:t>
            </a:r>
            <a:r>
              <a:rPr lang="es-ES" sz="1800" dirty="0"/>
              <a:t> data </a:t>
            </a:r>
            <a:r>
              <a:rPr lang="es-ES" sz="1800" dirty="0" err="1"/>
              <a:t>mining</a:t>
            </a:r>
            <a:r>
              <a:rPr lang="es-ES" sz="1800" dirty="0"/>
              <a:t> </a:t>
            </a:r>
            <a:r>
              <a:rPr lang="es-ES" sz="1800" dirty="0" err="1"/>
              <a:t>algorithms</a:t>
            </a:r>
            <a:r>
              <a:rPr lang="es-ES" sz="1800" dirty="0"/>
              <a:t>;</a:t>
            </a:r>
          </a:p>
          <a:p>
            <a:pPr marL="838200" lvl="1" indent="-381000"/>
            <a:r>
              <a:rPr lang="es-ES" sz="1800" dirty="0" err="1"/>
              <a:t>Preprocessing</a:t>
            </a:r>
            <a:r>
              <a:rPr lang="es-ES" sz="1800" dirty="0"/>
              <a:t> </a:t>
            </a:r>
            <a:r>
              <a:rPr lang="es-ES" sz="1800" dirty="0" err="1"/>
              <a:t>is</a:t>
            </a:r>
            <a:r>
              <a:rPr lang="es-ES" sz="1800" dirty="0"/>
              <a:t> </a:t>
            </a:r>
            <a:r>
              <a:rPr lang="es-ES" sz="1800" dirty="0" err="1"/>
              <a:t>important</a:t>
            </a:r>
            <a:r>
              <a:rPr lang="es-ES" sz="1800" dirty="0"/>
              <a:t>!</a:t>
            </a:r>
          </a:p>
          <a:p>
            <a:pPr marL="457200" indent="-457200">
              <a:buFont typeface="Times" charset="0"/>
              <a:buAutoNum type="arabicPeriod"/>
            </a:pPr>
            <a:r>
              <a:rPr lang="es-ES" sz="2000" b="1" dirty="0" err="1"/>
              <a:t>Evaluate</a:t>
            </a:r>
            <a:r>
              <a:rPr lang="es-ES" sz="2000" b="1" dirty="0"/>
              <a:t> </a:t>
            </a:r>
            <a:r>
              <a:rPr lang="es-ES" sz="2000" b="1" dirty="0" err="1"/>
              <a:t>results</a:t>
            </a:r>
            <a:r>
              <a:rPr lang="es-ES" sz="2000" b="1" dirty="0"/>
              <a:t>:</a:t>
            </a:r>
          </a:p>
          <a:p>
            <a:pPr marL="838200" lvl="1" indent="-381000"/>
            <a:r>
              <a:rPr lang="de-DE" sz="1800" dirty="0" err="1"/>
              <a:t>ascertain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value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an </a:t>
            </a:r>
            <a:r>
              <a:rPr lang="de-DE" sz="1800" dirty="0" err="1"/>
              <a:t>object</a:t>
            </a:r>
            <a:r>
              <a:rPr lang="de-DE" sz="1800" dirty="0"/>
              <a:t> </a:t>
            </a:r>
            <a:r>
              <a:rPr lang="de-DE" sz="1800" dirty="0" err="1"/>
              <a:t>according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specified</a:t>
            </a:r>
            <a:r>
              <a:rPr lang="de-DE" sz="1800" dirty="0"/>
              <a:t> </a:t>
            </a:r>
            <a:r>
              <a:rPr lang="de-DE" sz="1800" dirty="0" err="1"/>
              <a:t>criteria</a:t>
            </a:r>
            <a:r>
              <a:rPr lang="de-DE" sz="1800" dirty="0"/>
              <a:t>, </a:t>
            </a:r>
            <a:r>
              <a:rPr lang="de-DE" sz="1800" dirty="0" err="1"/>
              <a:t>operationalised</a:t>
            </a:r>
            <a:r>
              <a:rPr lang="de-DE" sz="1800" dirty="0"/>
              <a:t> in </a:t>
            </a:r>
            <a:r>
              <a:rPr lang="de-DE" sz="1800" dirty="0" err="1"/>
              <a:t>terms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pre-</a:t>
            </a:r>
            <a:r>
              <a:rPr lang="de-DE" sz="1800" dirty="0" err="1"/>
              <a:t>specified</a:t>
            </a:r>
            <a:r>
              <a:rPr lang="de-DE" sz="1800" dirty="0"/>
              <a:t> </a:t>
            </a:r>
            <a:r>
              <a:rPr lang="de-DE" sz="1800" dirty="0" err="1"/>
              <a:t>measures</a:t>
            </a:r>
            <a:r>
              <a:rPr lang="de-DE" sz="1800" dirty="0"/>
              <a:t>;</a:t>
            </a:r>
            <a:endParaRPr lang="es-ES" sz="1800" dirty="0"/>
          </a:p>
          <a:p>
            <a:pPr marL="457200" indent="-457200">
              <a:buFont typeface="Times" charset="0"/>
              <a:buAutoNum type="arabicPeriod"/>
            </a:pPr>
            <a:r>
              <a:rPr lang="es-ES" sz="2000" b="1" dirty="0"/>
              <a:t>Deploy:</a:t>
            </a:r>
          </a:p>
          <a:p>
            <a:pPr marL="838200" lvl="1" indent="-381000"/>
            <a:r>
              <a:rPr lang="es-ES" sz="1800" dirty="0"/>
              <a:t>Decide </a:t>
            </a:r>
            <a:r>
              <a:rPr lang="es-ES" sz="1800" dirty="0" err="1"/>
              <a:t>patterns</a:t>
            </a:r>
            <a:r>
              <a:rPr lang="es-ES" sz="1800" dirty="0"/>
              <a:t> and </a:t>
            </a:r>
            <a:r>
              <a:rPr lang="es-ES" sz="1800" dirty="0" err="1"/>
              <a:t>models</a:t>
            </a:r>
            <a:r>
              <a:rPr lang="es-ES" sz="1800" dirty="0"/>
              <a:t> </a:t>
            </a:r>
            <a:r>
              <a:rPr lang="es-ES" sz="1800" dirty="0" err="1"/>
              <a:t>that</a:t>
            </a:r>
            <a:r>
              <a:rPr lang="es-ES" sz="1800" dirty="0"/>
              <a:t> can be </a:t>
            </a:r>
            <a:r>
              <a:rPr lang="es-ES" sz="1800" dirty="0" err="1"/>
              <a:t>deployed</a:t>
            </a:r>
            <a:r>
              <a:rPr lang="es-ES" sz="18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84461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1. Define the goals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371600"/>
            <a:ext cx="8137525" cy="1625600"/>
          </a:xfrm>
        </p:spPr>
        <p:txBody>
          <a:bodyPr/>
          <a:lstStyle/>
          <a:p>
            <a:r>
              <a:rPr lang="es-ES"/>
              <a:t>Distinguish between :</a:t>
            </a:r>
          </a:p>
          <a:p>
            <a:pPr lvl="1"/>
            <a:r>
              <a:rPr lang="es-ES"/>
              <a:t>Data Mining goals</a:t>
            </a:r>
          </a:p>
          <a:p>
            <a:pPr lvl="1"/>
            <a:r>
              <a:rPr lang="es-ES"/>
              <a:t>Business goals</a:t>
            </a:r>
          </a:p>
          <a:p>
            <a:r>
              <a:rPr lang="es-ES"/>
              <a:t>How do we translate?</a:t>
            </a:r>
          </a:p>
          <a:p>
            <a:endParaRPr lang="es-ES"/>
          </a:p>
        </p:txBody>
      </p:sp>
      <p:sp>
        <p:nvSpPr>
          <p:cNvPr id="354308" name="Text Box 4"/>
          <p:cNvSpPr txBox="1">
            <a:spLocks noChangeArrowheads="1"/>
          </p:cNvSpPr>
          <p:nvPr/>
        </p:nvSpPr>
        <p:spPr bwMode="auto">
          <a:xfrm>
            <a:off x="1044574" y="4581525"/>
            <a:ext cx="22320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dirty="0" err="1">
                <a:latin typeface="Verdana" charset="0"/>
              </a:rPr>
              <a:t>Classification</a:t>
            </a:r>
            <a:endParaRPr lang="es-ES" dirty="0">
              <a:latin typeface="Verdana" charset="0"/>
            </a:endParaRPr>
          </a:p>
        </p:txBody>
      </p:sp>
      <p:sp>
        <p:nvSpPr>
          <p:cNvPr id="354309" name="Text Box 5"/>
          <p:cNvSpPr txBox="1">
            <a:spLocks noChangeArrowheads="1"/>
          </p:cNvSpPr>
          <p:nvPr/>
        </p:nvSpPr>
        <p:spPr bwMode="auto">
          <a:xfrm>
            <a:off x="3276600" y="4581525"/>
            <a:ext cx="1873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latin typeface="Verdana" charset="0"/>
              </a:rPr>
              <a:t>Estimation</a:t>
            </a:r>
          </a:p>
        </p:txBody>
      </p:sp>
      <p:sp>
        <p:nvSpPr>
          <p:cNvPr id="354310" name="Text Box 6"/>
          <p:cNvSpPr txBox="1">
            <a:spLocks noChangeArrowheads="1"/>
          </p:cNvSpPr>
          <p:nvPr/>
        </p:nvSpPr>
        <p:spPr bwMode="auto">
          <a:xfrm>
            <a:off x="5867399" y="4600575"/>
            <a:ext cx="2244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dirty="0" err="1">
                <a:latin typeface="Verdana" charset="0"/>
              </a:rPr>
              <a:t>Association</a:t>
            </a:r>
            <a:endParaRPr lang="es-ES" dirty="0">
              <a:latin typeface="Verdana" charset="0"/>
            </a:endParaRPr>
          </a:p>
        </p:txBody>
      </p:sp>
      <p:sp>
        <p:nvSpPr>
          <p:cNvPr id="354311" name="AutoShape 7"/>
          <p:cNvSpPr>
            <a:spLocks noChangeArrowheads="1"/>
          </p:cNvSpPr>
          <p:nvPr/>
        </p:nvSpPr>
        <p:spPr bwMode="auto">
          <a:xfrm rot="1118736">
            <a:off x="1597025" y="3552825"/>
            <a:ext cx="576263" cy="863600"/>
          </a:xfrm>
          <a:prstGeom prst="downArrow">
            <a:avLst>
              <a:gd name="adj1" fmla="val 50000"/>
              <a:gd name="adj2" fmla="val 37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354312" name="AutoShape 8"/>
          <p:cNvSpPr>
            <a:spLocks noChangeArrowheads="1"/>
          </p:cNvSpPr>
          <p:nvPr/>
        </p:nvSpPr>
        <p:spPr bwMode="auto">
          <a:xfrm>
            <a:off x="3660775" y="3495675"/>
            <a:ext cx="647700" cy="1081088"/>
          </a:xfrm>
          <a:prstGeom prst="downArrow">
            <a:avLst>
              <a:gd name="adj1" fmla="val 50000"/>
              <a:gd name="adj2" fmla="val 41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354313" name="AutoShape 9"/>
          <p:cNvSpPr>
            <a:spLocks noChangeArrowheads="1"/>
          </p:cNvSpPr>
          <p:nvPr/>
        </p:nvSpPr>
        <p:spPr bwMode="auto">
          <a:xfrm rot="-1533005">
            <a:off x="5872163" y="3516313"/>
            <a:ext cx="647700" cy="1079500"/>
          </a:xfrm>
          <a:prstGeom prst="down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354314" name="Text Box 10"/>
          <p:cNvSpPr txBox="1">
            <a:spLocks noChangeArrowheads="1"/>
          </p:cNvSpPr>
          <p:nvPr/>
        </p:nvSpPr>
        <p:spPr bwMode="auto">
          <a:xfrm>
            <a:off x="1692275" y="366395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400"/>
              <a:t>¿?</a:t>
            </a:r>
          </a:p>
        </p:txBody>
      </p:sp>
      <p:sp>
        <p:nvSpPr>
          <p:cNvPr id="354315" name="Text Box 11"/>
          <p:cNvSpPr txBox="1">
            <a:spLocks noChangeArrowheads="1"/>
          </p:cNvSpPr>
          <p:nvPr/>
        </p:nvSpPr>
        <p:spPr bwMode="auto">
          <a:xfrm>
            <a:off x="3779838" y="366395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400"/>
              <a:t>¿?</a:t>
            </a:r>
          </a:p>
        </p:txBody>
      </p:sp>
      <p:sp>
        <p:nvSpPr>
          <p:cNvPr id="354316" name="Text Box 12"/>
          <p:cNvSpPr txBox="1">
            <a:spLocks noChangeArrowheads="1"/>
          </p:cNvSpPr>
          <p:nvPr/>
        </p:nvSpPr>
        <p:spPr bwMode="auto">
          <a:xfrm>
            <a:off x="5867400" y="3592513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2400"/>
              <a:t>¿?</a:t>
            </a:r>
          </a:p>
        </p:txBody>
      </p:sp>
      <p:sp>
        <p:nvSpPr>
          <p:cNvPr id="354317" name="Rectangle 13"/>
          <p:cNvSpPr>
            <a:spLocks noChangeArrowheads="1"/>
          </p:cNvSpPr>
          <p:nvPr/>
        </p:nvSpPr>
        <p:spPr bwMode="auto">
          <a:xfrm>
            <a:off x="1187450" y="3141663"/>
            <a:ext cx="64103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Font typeface="Times" charset="0"/>
              <a:buNone/>
            </a:pPr>
            <a:r>
              <a:rPr lang="de-DE" sz="1800">
                <a:latin typeface="Verdana" charset="0"/>
              </a:rPr>
              <a:t>Increase the lifetime value of valuable customers</a:t>
            </a:r>
            <a:endParaRPr lang="es-ES" sz="1800">
              <a:latin typeface="Verdana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Font typeface="Times" charset="0"/>
              <a:buChar char="•"/>
            </a:pPr>
            <a:endParaRPr lang="es-ES" sz="1800"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384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-82550"/>
            <a:ext cx="7886700" cy="1325563"/>
          </a:xfrm>
        </p:spPr>
        <p:txBody>
          <a:bodyPr/>
          <a:lstStyle/>
          <a:p>
            <a:r>
              <a:rPr lang="de-DE" dirty="0"/>
              <a:t>Business Understanding</a:t>
            </a:r>
            <a:br>
              <a:rPr lang="de-DE" dirty="0"/>
            </a:br>
            <a:r>
              <a:rPr lang="de-DE" dirty="0"/>
              <a:t>in </a:t>
            </a:r>
            <a:r>
              <a:rPr lang="de-DE" dirty="0" err="1"/>
              <a:t>the</a:t>
            </a:r>
            <a:r>
              <a:rPr lang="de-DE" dirty="0"/>
              <a:t> CRISP-DM* </a:t>
            </a:r>
            <a:r>
              <a:rPr lang="de-DE" dirty="0" err="1"/>
              <a:t>Process</a:t>
            </a:r>
            <a:endParaRPr lang="de-DE" dirty="0"/>
          </a:p>
        </p:txBody>
      </p:sp>
      <p:sp>
        <p:nvSpPr>
          <p:cNvPr id="352259" name="AutoShape 3"/>
          <p:cNvSpPr>
            <a:spLocks noChangeArrowheads="1"/>
          </p:cNvSpPr>
          <p:nvPr/>
        </p:nvSpPr>
        <p:spPr bwMode="auto">
          <a:xfrm>
            <a:off x="539750" y="1196975"/>
            <a:ext cx="1593850" cy="914400"/>
          </a:xfrm>
          <a:prstGeom prst="homePlate">
            <a:avLst>
              <a:gd name="adj" fmla="val 42850"/>
            </a:avLst>
          </a:prstGeom>
          <a:solidFill>
            <a:srgbClr val="FFFF99"/>
          </a:solidFill>
          <a:ln>
            <a:noFill/>
          </a:ln>
          <a:effectLst>
            <a:outerShdw blurRad="63500" dist="108509" dir="12033363" algn="ctr" rotWithShape="0">
              <a:srgbClr val="000000">
                <a:alpha val="74998"/>
              </a:srgb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0" rIns="0" bIns="0" anchor="ctr"/>
          <a:lstStyle/>
          <a:p>
            <a:r>
              <a:rPr lang="de-DE" sz="1600">
                <a:latin typeface="Tahoma" charset="0"/>
              </a:rPr>
              <a:t>Business Understanding</a:t>
            </a:r>
          </a:p>
        </p:txBody>
      </p:sp>
      <p:sp>
        <p:nvSpPr>
          <p:cNvPr id="352260" name="AutoShape 4"/>
          <p:cNvSpPr>
            <a:spLocks noChangeArrowheads="1"/>
          </p:cNvSpPr>
          <p:nvPr/>
        </p:nvSpPr>
        <p:spPr bwMode="auto">
          <a:xfrm>
            <a:off x="395288" y="2276475"/>
            <a:ext cx="1600200" cy="914400"/>
          </a:xfrm>
          <a:prstGeom prst="flowChartPredefinedProcess">
            <a:avLst/>
          </a:prstGeom>
          <a:solidFill>
            <a:srgbClr val="BFC93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0" rIns="0" bIns="0" anchor="ctr"/>
          <a:lstStyle/>
          <a:p>
            <a:pPr algn="ctr"/>
            <a:r>
              <a:rPr lang="de-DE" sz="1400">
                <a:solidFill>
                  <a:schemeClr val="bg1"/>
                </a:solidFill>
                <a:latin typeface="Tahoma" charset="0"/>
              </a:rPr>
              <a:t>Determine Business Objectives</a:t>
            </a:r>
          </a:p>
        </p:txBody>
      </p:sp>
      <p:sp>
        <p:nvSpPr>
          <p:cNvPr id="352261" name="AutoShape 5"/>
          <p:cNvSpPr>
            <a:spLocks noChangeArrowheads="1"/>
          </p:cNvSpPr>
          <p:nvPr/>
        </p:nvSpPr>
        <p:spPr bwMode="auto">
          <a:xfrm>
            <a:off x="395288" y="3429000"/>
            <a:ext cx="1600200" cy="704850"/>
          </a:xfrm>
          <a:prstGeom prst="flowChartPredefinedProcess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Assess Situation</a:t>
            </a:r>
          </a:p>
        </p:txBody>
      </p:sp>
      <p:sp>
        <p:nvSpPr>
          <p:cNvPr id="352262" name="AutoShape 6"/>
          <p:cNvSpPr>
            <a:spLocks noChangeArrowheads="1"/>
          </p:cNvSpPr>
          <p:nvPr/>
        </p:nvSpPr>
        <p:spPr bwMode="auto">
          <a:xfrm>
            <a:off x="395288" y="4365625"/>
            <a:ext cx="1600200" cy="914400"/>
          </a:xfrm>
          <a:prstGeom prst="flowChartPredefinedProcess">
            <a:avLst/>
          </a:prstGeom>
          <a:solidFill>
            <a:srgbClr val="BFC93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0" rIns="0" bIns="0" anchor="ctr"/>
          <a:lstStyle/>
          <a:p>
            <a:pPr algn="ctr"/>
            <a:r>
              <a:rPr lang="de-DE" sz="1400">
                <a:solidFill>
                  <a:schemeClr val="bg1"/>
                </a:solidFill>
                <a:latin typeface="Tahoma" charset="0"/>
              </a:rPr>
              <a:t>Determine Data Mining Goals</a:t>
            </a:r>
          </a:p>
        </p:txBody>
      </p:sp>
      <p:sp>
        <p:nvSpPr>
          <p:cNvPr id="352263" name="AutoShape 7"/>
          <p:cNvSpPr>
            <a:spLocks noChangeArrowheads="1"/>
          </p:cNvSpPr>
          <p:nvPr/>
        </p:nvSpPr>
        <p:spPr bwMode="auto">
          <a:xfrm>
            <a:off x="395288" y="5516563"/>
            <a:ext cx="1600200" cy="642937"/>
          </a:xfrm>
          <a:prstGeom prst="flowChartPredefinedProcess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Produce Project Plan</a:t>
            </a:r>
          </a:p>
        </p:txBody>
      </p:sp>
      <p:sp>
        <p:nvSpPr>
          <p:cNvPr id="352264" name="AutoShape 8"/>
          <p:cNvSpPr>
            <a:spLocks noChangeArrowheads="1"/>
          </p:cNvSpPr>
          <p:nvPr/>
        </p:nvSpPr>
        <p:spPr bwMode="auto">
          <a:xfrm>
            <a:off x="2339975" y="2205038"/>
            <a:ext cx="1219200" cy="758825"/>
          </a:xfrm>
          <a:prstGeom prst="flowChartDocumen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Background</a:t>
            </a:r>
          </a:p>
        </p:txBody>
      </p:sp>
      <p:sp>
        <p:nvSpPr>
          <p:cNvPr id="352265" name="AutoShape 9"/>
          <p:cNvSpPr>
            <a:spLocks noChangeArrowheads="1"/>
          </p:cNvSpPr>
          <p:nvPr/>
        </p:nvSpPr>
        <p:spPr bwMode="auto">
          <a:xfrm>
            <a:off x="3779838" y="2205038"/>
            <a:ext cx="1219200" cy="758825"/>
          </a:xfrm>
          <a:prstGeom prst="flowChartDocumen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Business Objectives</a:t>
            </a:r>
          </a:p>
        </p:txBody>
      </p:sp>
      <p:sp>
        <p:nvSpPr>
          <p:cNvPr id="352266" name="AutoShape 10"/>
          <p:cNvSpPr>
            <a:spLocks noChangeArrowheads="1"/>
          </p:cNvSpPr>
          <p:nvPr/>
        </p:nvSpPr>
        <p:spPr bwMode="auto">
          <a:xfrm>
            <a:off x="5181600" y="2166938"/>
            <a:ext cx="1219200" cy="758825"/>
          </a:xfrm>
          <a:prstGeom prst="flowChartDocumen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Business Success Criteria</a:t>
            </a:r>
          </a:p>
        </p:txBody>
      </p:sp>
      <p:sp>
        <p:nvSpPr>
          <p:cNvPr id="352267" name="AutoShape 11"/>
          <p:cNvSpPr>
            <a:spLocks noChangeArrowheads="1"/>
          </p:cNvSpPr>
          <p:nvPr/>
        </p:nvSpPr>
        <p:spPr bwMode="auto">
          <a:xfrm>
            <a:off x="2362200" y="3313113"/>
            <a:ext cx="1219200" cy="836612"/>
          </a:xfrm>
          <a:prstGeom prst="flowChartDocumen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Inventory &amp; Resources</a:t>
            </a:r>
          </a:p>
        </p:txBody>
      </p:sp>
      <p:sp>
        <p:nvSpPr>
          <p:cNvPr id="352268" name="AutoShape 12"/>
          <p:cNvSpPr>
            <a:spLocks noChangeArrowheads="1"/>
          </p:cNvSpPr>
          <p:nvPr/>
        </p:nvSpPr>
        <p:spPr bwMode="auto">
          <a:xfrm>
            <a:off x="3733800" y="3313113"/>
            <a:ext cx="1219200" cy="990600"/>
          </a:xfrm>
          <a:prstGeom prst="flowChartDocumen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Reqs, Assumptions &amp;Constraints</a:t>
            </a:r>
          </a:p>
        </p:txBody>
      </p:sp>
      <p:sp>
        <p:nvSpPr>
          <p:cNvPr id="352269" name="AutoShape 13"/>
          <p:cNvSpPr>
            <a:spLocks noChangeArrowheads="1"/>
          </p:cNvSpPr>
          <p:nvPr/>
        </p:nvSpPr>
        <p:spPr bwMode="auto">
          <a:xfrm>
            <a:off x="5105400" y="3313113"/>
            <a:ext cx="1219200" cy="692150"/>
          </a:xfrm>
          <a:prstGeom prst="flowChartDocumen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Risks &amp; Contingencies</a:t>
            </a:r>
          </a:p>
        </p:txBody>
      </p:sp>
      <p:sp>
        <p:nvSpPr>
          <p:cNvPr id="352270" name="AutoShape 14"/>
          <p:cNvSpPr>
            <a:spLocks noChangeArrowheads="1"/>
          </p:cNvSpPr>
          <p:nvPr/>
        </p:nvSpPr>
        <p:spPr bwMode="auto">
          <a:xfrm>
            <a:off x="6477000" y="3313113"/>
            <a:ext cx="1219200" cy="763587"/>
          </a:xfrm>
          <a:prstGeom prst="flowChartDocumen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Terminology</a:t>
            </a:r>
          </a:p>
        </p:txBody>
      </p:sp>
      <p:sp>
        <p:nvSpPr>
          <p:cNvPr id="352271" name="AutoShape 15"/>
          <p:cNvSpPr>
            <a:spLocks noChangeArrowheads="1"/>
          </p:cNvSpPr>
          <p:nvPr/>
        </p:nvSpPr>
        <p:spPr bwMode="auto">
          <a:xfrm>
            <a:off x="7848600" y="3313113"/>
            <a:ext cx="1219200" cy="763587"/>
          </a:xfrm>
          <a:prstGeom prst="flowChartDocumen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Costs &amp; Benefits</a:t>
            </a:r>
          </a:p>
        </p:txBody>
      </p:sp>
      <p:sp>
        <p:nvSpPr>
          <p:cNvPr id="352272" name="AutoShape 16"/>
          <p:cNvSpPr>
            <a:spLocks noChangeArrowheads="1"/>
          </p:cNvSpPr>
          <p:nvPr/>
        </p:nvSpPr>
        <p:spPr bwMode="auto">
          <a:xfrm>
            <a:off x="2362200" y="4532313"/>
            <a:ext cx="1371600" cy="769937"/>
          </a:xfrm>
          <a:prstGeom prst="flowChartDocumen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Data Mining Goals</a:t>
            </a:r>
          </a:p>
        </p:txBody>
      </p:sp>
      <p:sp>
        <p:nvSpPr>
          <p:cNvPr id="352273" name="AutoShape 17"/>
          <p:cNvSpPr>
            <a:spLocks noChangeArrowheads="1"/>
          </p:cNvSpPr>
          <p:nvPr/>
        </p:nvSpPr>
        <p:spPr bwMode="auto">
          <a:xfrm>
            <a:off x="3962400" y="4532313"/>
            <a:ext cx="1295400" cy="696912"/>
          </a:xfrm>
          <a:prstGeom prst="flowChartDocumen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Data Mining Success Criteria</a:t>
            </a:r>
          </a:p>
        </p:txBody>
      </p:sp>
      <p:sp>
        <p:nvSpPr>
          <p:cNvPr id="352274" name="AutoShape 18"/>
          <p:cNvSpPr>
            <a:spLocks noChangeArrowheads="1"/>
          </p:cNvSpPr>
          <p:nvPr/>
        </p:nvSpPr>
        <p:spPr bwMode="auto">
          <a:xfrm>
            <a:off x="2362200" y="5589588"/>
            <a:ext cx="1219200" cy="558800"/>
          </a:xfrm>
          <a:prstGeom prst="flowChartDocumen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Project Plan</a:t>
            </a:r>
          </a:p>
        </p:txBody>
      </p:sp>
      <p:sp>
        <p:nvSpPr>
          <p:cNvPr id="352275" name="AutoShape 19"/>
          <p:cNvSpPr>
            <a:spLocks noChangeArrowheads="1"/>
          </p:cNvSpPr>
          <p:nvPr/>
        </p:nvSpPr>
        <p:spPr bwMode="auto">
          <a:xfrm>
            <a:off x="3951288" y="5516563"/>
            <a:ext cx="2133600" cy="701675"/>
          </a:xfrm>
          <a:prstGeom prst="flowChartDocumen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Initial Assessment of Tools &amp; Techniques</a:t>
            </a:r>
          </a:p>
        </p:txBody>
      </p:sp>
      <p:cxnSp>
        <p:nvCxnSpPr>
          <p:cNvPr id="352276" name="AutoShape 20"/>
          <p:cNvCxnSpPr>
            <a:cxnSpLocks noChangeShapeType="1"/>
            <a:stCxn id="352259" idx="2"/>
            <a:endCxn id="352260" idx="0"/>
          </p:cNvCxnSpPr>
          <p:nvPr/>
        </p:nvCxnSpPr>
        <p:spPr bwMode="auto">
          <a:xfrm>
            <a:off x="1141413" y="2111375"/>
            <a:ext cx="53975" cy="1651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77" name="AutoShape 21"/>
          <p:cNvCxnSpPr>
            <a:cxnSpLocks noChangeShapeType="1"/>
            <a:stCxn id="352260" idx="2"/>
            <a:endCxn id="352261" idx="0"/>
          </p:cNvCxnSpPr>
          <p:nvPr/>
        </p:nvCxnSpPr>
        <p:spPr bwMode="auto">
          <a:xfrm>
            <a:off x="1195388" y="3190875"/>
            <a:ext cx="0" cy="2381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78" name="AutoShape 22"/>
          <p:cNvCxnSpPr>
            <a:cxnSpLocks noChangeShapeType="1"/>
            <a:stCxn id="352261" idx="2"/>
            <a:endCxn id="352262" idx="0"/>
          </p:cNvCxnSpPr>
          <p:nvPr/>
        </p:nvCxnSpPr>
        <p:spPr bwMode="auto">
          <a:xfrm>
            <a:off x="1195388" y="4133850"/>
            <a:ext cx="0" cy="2317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79" name="AutoShape 23"/>
          <p:cNvCxnSpPr>
            <a:cxnSpLocks noChangeShapeType="1"/>
            <a:stCxn id="352262" idx="2"/>
            <a:endCxn id="352263" idx="0"/>
          </p:cNvCxnSpPr>
          <p:nvPr/>
        </p:nvCxnSpPr>
        <p:spPr bwMode="auto">
          <a:xfrm>
            <a:off x="1195388" y="5280025"/>
            <a:ext cx="0" cy="236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80" name="AutoShape 24"/>
          <p:cNvCxnSpPr>
            <a:cxnSpLocks noChangeShapeType="1"/>
            <a:stCxn id="352264" idx="3"/>
            <a:endCxn id="352265" idx="1"/>
          </p:cNvCxnSpPr>
          <p:nvPr/>
        </p:nvCxnSpPr>
        <p:spPr bwMode="auto">
          <a:xfrm>
            <a:off x="3559175" y="2584450"/>
            <a:ext cx="220663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81" name="AutoShape 25"/>
          <p:cNvCxnSpPr>
            <a:cxnSpLocks noChangeShapeType="1"/>
            <a:stCxn id="352265" idx="3"/>
            <a:endCxn id="352266" idx="1"/>
          </p:cNvCxnSpPr>
          <p:nvPr/>
        </p:nvCxnSpPr>
        <p:spPr bwMode="auto">
          <a:xfrm flipV="1">
            <a:off x="4999038" y="2546350"/>
            <a:ext cx="182562" cy="381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82" name="AutoShape 26"/>
          <p:cNvCxnSpPr>
            <a:cxnSpLocks noChangeShapeType="1"/>
            <a:stCxn id="352267" idx="3"/>
            <a:endCxn id="352268" idx="1"/>
          </p:cNvCxnSpPr>
          <p:nvPr/>
        </p:nvCxnSpPr>
        <p:spPr bwMode="auto">
          <a:xfrm>
            <a:off x="3581400" y="3732213"/>
            <a:ext cx="152400" cy="76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83" name="AutoShape 27"/>
          <p:cNvCxnSpPr>
            <a:cxnSpLocks noChangeShapeType="1"/>
            <a:stCxn id="352268" idx="3"/>
            <a:endCxn id="352269" idx="1"/>
          </p:cNvCxnSpPr>
          <p:nvPr/>
        </p:nvCxnSpPr>
        <p:spPr bwMode="auto">
          <a:xfrm flipV="1">
            <a:off x="4953000" y="3659188"/>
            <a:ext cx="152400" cy="1492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84" name="AutoShape 28"/>
          <p:cNvCxnSpPr>
            <a:cxnSpLocks noChangeShapeType="1"/>
            <a:stCxn id="352269" idx="3"/>
            <a:endCxn id="352270" idx="1"/>
          </p:cNvCxnSpPr>
          <p:nvPr/>
        </p:nvCxnSpPr>
        <p:spPr bwMode="auto">
          <a:xfrm>
            <a:off x="6324600" y="3659188"/>
            <a:ext cx="152400" cy="365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85" name="AutoShape 29"/>
          <p:cNvCxnSpPr>
            <a:cxnSpLocks noChangeShapeType="1"/>
            <a:stCxn id="352270" idx="3"/>
            <a:endCxn id="352271" idx="1"/>
          </p:cNvCxnSpPr>
          <p:nvPr/>
        </p:nvCxnSpPr>
        <p:spPr bwMode="auto">
          <a:xfrm>
            <a:off x="7696200" y="3695700"/>
            <a:ext cx="1524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86" name="AutoShape 30"/>
          <p:cNvCxnSpPr>
            <a:cxnSpLocks noChangeShapeType="1"/>
            <a:stCxn id="352272" idx="3"/>
            <a:endCxn id="352273" idx="1"/>
          </p:cNvCxnSpPr>
          <p:nvPr/>
        </p:nvCxnSpPr>
        <p:spPr bwMode="auto">
          <a:xfrm flipV="1">
            <a:off x="3733800" y="4881563"/>
            <a:ext cx="228600" cy="365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87" name="AutoShape 31"/>
          <p:cNvCxnSpPr>
            <a:cxnSpLocks noChangeShapeType="1"/>
            <a:stCxn id="352274" idx="3"/>
            <a:endCxn id="352275" idx="1"/>
          </p:cNvCxnSpPr>
          <p:nvPr/>
        </p:nvCxnSpPr>
        <p:spPr bwMode="auto">
          <a:xfrm flipV="1">
            <a:off x="3581400" y="5867400"/>
            <a:ext cx="3698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88" name="AutoShape 32"/>
          <p:cNvCxnSpPr>
            <a:cxnSpLocks noChangeShapeType="1"/>
            <a:stCxn id="352260" idx="3"/>
            <a:endCxn id="352264" idx="1"/>
          </p:cNvCxnSpPr>
          <p:nvPr/>
        </p:nvCxnSpPr>
        <p:spPr bwMode="auto">
          <a:xfrm flipV="1">
            <a:off x="1995488" y="2584450"/>
            <a:ext cx="344487" cy="149225"/>
          </a:xfrm>
          <a:prstGeom prst="curvedConnector3">
            <a:avLst>
              <a:gd name="adj1" fmla="val 49769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89" name="AutoShape 33"/>
          <p:cNvCxnSpPr>
            <a:cxnSpLocks noChangeShapeType="1"/>
            <a:stCxn id="352261" idx="3"/>
            <a:endCxn id="352267" idx="1"/>
          </p:cNvCxnSpPr>
          <p:nvPr/>
        </p:nvCxnSpPr>
        <p:spPr bwMode="auto">
          <a:xfrm flipV="1">
            <a:off x="1995488" y="3732213"/>
            <a:ext cx="366712" cy="49212"/>
          </a:xfrm>
          <a:prstGeom prst="curvedConnector3">
            <a:avLst>
              <a:gd name="adj1" fmla="val 49782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90" name="AutoShape 34"/>
          <p:cNvCxnSpPr>
            <a:cxnSpLocks noChangeShapeType="1"/>
            <a:stCxn id="352262" idx="3"/>
            <a:endCxn id="352272" idx="1"/>
          </p:cNvCxnSpPr>
          <p:nvPr/>
        </p:nvCxnSpPr>
        <p:spPr bwMode="auto">
          <a:xfrm>
            <a:off x="1995488" y="4822825"/>
            <a:ext cx="366712" cy="95250"/>
          </a:xfrm>
          <a:prstGeom prst="curvedConnector3">
            <a:avLst>
              <a:gd name="adj1" fmla="val 49782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2291" name="AutoShape 35"/>
          <p:cNvCxnSpPr>
            <a:cxnSpLocks noChangeShapeType="1"/>
            <a:stCxn id="352263" idx="3"/>
            <a:endCxn id="352274" idx="1"/>
          </p:cNvCxnSpPr>
          <p:nvPr/>
        </p:nvCxnSpPr>
        <p:spPr bwMode="auto">
          <a:xfrm>
            <a:off x="1995488" y="5838825"/>
            <a:ext cx="366712" cy="30163"/>
          </a:xfrm>
          <a:prstGeom prst="curvedConnector3">
            <a:avLst>
              <a:gd name="adj1" fmla="val 49782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" name="TextBox 1"/>
          <p:cNvSpPr txBox="1"/>
          <p:nvPr/>
        </p:nvSpPr>
        <p:spPr>
          <a:xfrm>
            <a:off x="0" y="6477000"/>
            <a:ext cx="5378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* Cross-Industry Standard Process for Data </a:t>
            </a:r>
            <a:r>
              <a:rPr lang="en-GB" sz="1600" dirty="0" err="1"/>
              <a:t>Mining:CRISP-DM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1885713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1.1 Determine Business </a:t>
            </a:r>
            <a:br>
              <a:rPr lang="de-DE"/>
            </a:br>
            <a:r>
              <a:rPr lang="de-DE"/>
              <a:t>objectives and success criteria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de-DE" sz="2000"/>
              <a:t>Not only business objectives have to be established but measures in order to be able to evaluate the results</a:t>
            </a:r>
          </a:p>
          <a:p>
            <a:endParaRPr lang="de-DE" sz="2000"/>
          </a:p>
          <a:p>
            <a:r>
              <a:rPr lang="de-DE" sz="2000"/>
              <a:t>Business objectives:</a:t>
            </a:r>
          </a:p>
          <a:p>
            <a:pPr lvl="1"/>
            <a:r>
              <a:rPr lang="de-DE" sz="1800"/>
              <a:t>What is the customer's primary objective?</a:t>
            </a:r>
          </a:p>
          <a:p>
            <a:pPr lvl="2"/>
            <a:r>
              <a:rPr lang="de-DE" sz="1600"/>
              <a:t>Increase the number of loyal customers</a:t>
            </a:r>
          </a:p>
          <a:p>
            <a:pPr lvl="2"/>
            <a:r>
              <a:rPr lang="de-DE" sz="1600"/>
              <a:t>Selling more of a certain product</a:t>
            </a:r>
          </a:p>
          <a:p>
            <a:pPr lvl="2"/>
            <a:r>
              <a:rPr lang="de-DE" sz="1600"/>
              <a:t>Have a positive marketing campaing</a:t>
            </a:r>
          </a:p>
          <a:p>
            <a:pPr lvl="1"/>
            <a:endParaRPr lang="de-DE" sz="1800"/>
          </a:p>
          <a:p>
            <a:r>
              <a:rPr lang="de-DE" sz="2000"/>
              <a:t>Business success criteria:</a:t>
            </a:r>
          </a:p>
          <a:p>
            <a:pPr lvl="1"/>
            <a:r>
              <a:rPr lang="de-DE" sz="1800"/>
              <a:t>What constitutes a successful outcome of the project?</a:t>
            </a:r>
          </a:p>
          <a:p>
            <a:pPr lvl="1"/>
            <a:r>
              <a:rPr lang="de-DE" sz="1800"/>
              <a:t>Objectives measures so that the success can be established</a:t>
            </a:r>
          </a:p>
          <a:p>
            <a:pPr lvl="1"/>
            <a:r>
              <a:rPr lang="de-DE" sz="1800"/>
              <a:t>ROI </a:t>
            </a:r>
          </a:p>
        </p:txBody>
      </p:sp>
    </p:spTree>
    <p:extLst>
      <p:ext uri="{BB962C8B-B14F-4D97-AF65-F5344CB8AC3E}">
        <p14:creationId xmlns:p14="http://schemas.microsoft.com/office/powerpoint/2010/main" val="176421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1.2 Costs &amp; Benefits</a:t>
            </a:r>
            <a:endParaRPr lang="es-ES"/>
          </a:p>
        </p:txBody>
      </p:sp>
      <p:sp>
        <p:nvSpPr>
          <p:cNvPr id="356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Perform</a:t>
            </a:r>
            <a:r>
              <a:rPr lang="de-DE" dirty="0"/>
              <a:t> a </a:t>
            </a:r>
            <a:r>
              <a:rPr lang="de-DE" dirty="0" err="1"/>
              <a:t>cost-benefits</a:t>
            </a:r>
            <a:r>
              <a:rPr lang="de-DE" dirty="0"/>
              <a:t> </a:t>
            </a:r>
            <a:r>
              <a:rPr lang="de-DE" dirty="0" err="1"/>
              <a:t>analysis</a:t>
            </a:r>
            <a:endParaRPr lang="de-DE" dirty="0"/>
          </a:p>
          <a:p>
            <a:pPr lvl="2"/>
            <a:r>
              <a:rPr lang="de-DE" dirty="0" err="1"/>
              <a:t>Compute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benefits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</a:t>
            </a:r>
            <a:endParaRPr lang="de-DE" dirty="0"/>
          </a:p>
          <a:p>
            <a:pPr lvl="3"/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measures</a:t>
            </a:r>
            <a:r>
              <a:rPr lang="de-DE" dirty="0"/>
              <a:t> do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?</a:t>
            </a:r>
          </a:p>
          <a:p>
            <a:pPr lvl="3"/>
            <a:r>
              <a:rPr lang="de-DE" dirty="0"/>
              <a:t>ROI</a:t>
            </a:r>
          </a:p>
          <a:p>
            <a:pPr lvl="3"/>
            <a:r>
              <a:rPr lang="de-DE" dirty="0"/>
              <a:t>APEX</a:t>
            </a:r>
          </a:p>
          <a:p>
            <a:pPr lvl="3"/>
            <a:r>
              <a:rPr lang="de-DE" dirty="0"/>
              <a:t>OPEX....</a:t>
            </a:r>
          </a:p>
          <a:p>
            <a:pPr lvl="2"/>
            <a:r>
              <a:rPr lang="de-DE" dirty="0" err="1"/>
              <a:t>Compute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costs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(</a:t>
            </a:r>
            <a:r>
              <a:rPr lang="de-DE" dirty="0" err="1"/>
              <a:t>equipment</a:t>
            </a:r>
            <a:r>
              <a:rPr lang="de-DE" dirty="0"/>
              <a:t>, human </a:t>
            </a:r>
            <a:r>
              <a:rPr lang="de-DE" dirty="0" err="1"/>
              <a:t>resources</a:t>
            </a:r>
            <a:r>
              <a:rPr lang="de-DE" dirty="0"/>
              <a:t>...)</a:t>
            </a:r>
          </a:p>
          <a:p>
            <a:pPr lvl="3"/>
            <a:r>
              <a:rPr lang="de-DE" dirty="0" err="1"/>
              <a:t>Which</a:t>
            </a:r>
            <a:r>
              <a:rPr lang="de-DE" dirty="0"/>
              <a:t> methodology do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?</a:t>
            </a:r>
          </a:p>
          <a:p>
            <a:pPr lvl="3"/>
            <a:r>
              <a:rPr lang="de-DE" dirty="0"/>
              <a:t>COCOMO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sortware</a:t>
            </a:r>
            <a:r>
              <a:rPr lang="de-DE" dirty="0"/>
              <a:t> </a:t>
            </a:r>
            <a:r>
              <a:rPr lang="de-DE" dirty="0" err="1"/>
              <a:t>engineering</a:t>
            </a:r>
            <a:r>
              <a:rPr lang="de-DE" dirty="0"/>
              <a:t> </a:t>
            </a:r>
            <a:r>
              <a:rPr lang="de-DE" dirty="0" err="1"/>
              <a:t>part</a:t>
            </a:r>
            <a:endParaRPr lang="de-DE" dirty="0"/>
          </a:p>
          <a:p>
            <a:pPr lvl="2"/>
            <a:r>
              <a:rPr lang="de-DE" dirty="0" err="1"/>
              <a:t>Quantify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risk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fails</a:t>
            </a:r>
            <a:endParaRPr lang="de-DE" dirty="0"/>
          </a:p>
          <a:p>
            <a:pPr lvl="3"/>
            <a:r>
              <a:rPr lang="de-DE" dirty="0" err="1"/>
              <a:t>Knowledge</a:t>
            </a:r>
            <a:r>
              <a:rPr lang="de-DE" dirty="0"/>
              <a:t> not </a:t>
            </a:r>
            <a:r>
              <a:rPr lang="de-DE" dirty="0" err="1"/>
              <a:t>available</a:t>
            </a:r>
            <a:endParaRPr lang="de-DE" dirty="0"/>
          </a:p>
          <a:p>
            <a:pPr lvl="3"/>
            <a:r>
              <a:rPr lang="de-DE" dirty="0"/>
              <a:t>Data Not </a:t>
            </a:r>
            <a:r>
              <a:rPr lang="de-DE" dirty="0" err="1"/>
              <a:t>available</a:t>
            </a:r>
            <a:endParaRPr lang="de-DE" dirty="0"/>
          </a:p>
          <a:p>
            <a:pPr lvl="3"/>
            <a:r>
              <a:rPr lang="de-DE" dirty="0"/>
              <a:t>Proper </a:t>
            </a:r>
            <a:r>
              <a:rPr lang="de-DE" dirty="0" err="1"/>
              <a:t>tools</a:t>
            </a:r>
            <a:endParaRPr lang="de-DE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3480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Data Mining Estimation Model</a:t>
            </a:r>
          </a:p>
        </p:txBody>
      </p:sp>
      <p:sp>
        <p:nvSpPr>
          <p:cNvPr id="36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s-ES" sz="2000"/>
              <a:t>Establishing a parametrical estimation model for Data Mining (Marban</a:t>
            </a:r>
            <a:r>
              <a:rPr lang="ja-JP" altLang="es-ES" sz="2000">
                <a:latin typeface="Arial"/>
              </a:rPr>
              <a:t>’</a:t>
            </a:r>
            <a:r>
              <a:rPr lang="es-ES" sz="2000"/>
              <a:t>03)</a:t>
            </a:r>
          </a:p>
        </p:txBody>
      </p:sp>
      <p:sp>
        <p:nvSpPr>
          <p:cNvPr id="361476" name="Text Box 4"/>
          <p:cNvSpPr txBox="1">
            <a:spLocks noChangeArrowheads="1"/>
          </p:cNvSpPr>
          <p:nvPr/>
        </p:nvSpPr>
        <p:spPr bwMode="auto">
          <a:xfrm>
            <a:off x="1619250" y="2781300"/>
            <a:ext cx="6048375" cy="165576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rgbClr val="FF9933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chemeClr val="accent2"/>
            </a:extrusionClr>
          </a:sp3d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marL="185738" indent="-185738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buFont typeface="Wingdings" charset="0"/>
              <a:buNone/>
            </a:pPr>
            <a:r>
              <a:rPr lang="es-ES" sz="5400">
                <a:latin typeface="Arial Black" charset="0"/>
              </a:rPr>
              <a:t>DMCOMO</a:t>
            </a:r>
          </a:p>
          <a:p>
            <a:pPr algn="ctr">
              <a:spcBef>
                <a:spcPct val="50000"/>
              </a:spcBef>
              <a:buFont typeface="Wingdings" charset="0"/>
              <a:buNone/>
            </a:pPr>
            <a:r>
              <a:rPr lang="es-ES" sz="3200">
                <a:latin typeface="Arial Black" charset="0"/>
              </a:rPr>
              <a:t>(Data Mining COst MOdel)</a:t>
            </a:r>
          </a:p>
        </p:txBody>
      </p:sp>
    </p:spTree>
    <p:extLst>
      <p:ext uri="{BB962C8B-B14F-4D97-AF65-F5344CB8AC3E}">
        <p14:creationId xmlns:p14="http://schemas.microsoft.com/office/powerpoint/2010/main" val="51914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Data Mining Cost Estimation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371600"/>
            <a:ext cx="8137525" cy="3541713"/>
          </a:xfrm>
        </p:spPr>
        <p:txBody>
          <a:bodyPr/>
          <a:lstStyle/>
          <a:p>
            <a:r>
              <a:rPr lang="es-ES_tradnl"/>
              <a:t>Main factors in a Data Mining project</a:t>
            </a:r>
          </a:p>
          <a:p>
            <a:pPr lvl="1"/>
            <a:r>
              <a:rPr lang="es-ES_tradnl" sz="2100"/>
              <a:t>Data Sources  (number, kind, nature, …)</a:t>
            </a:r>
          </a:p>
          <a:p>
            <a:pPr lvl="1"/>
            <a:r>
              <a:rPr lang="es-ES_tradnl" sz="2100"/>
              <a:t>Data mining problem to be solved (descriptive, predictive, …)</a:t>
            </a:r>
          </a:p>
          <a:p>
            <a:pPr lvl="1"/>
            <a:r>
              <a:rPr lang="es-ES_tradnl" sz="2100"/>
              <a:t>Development platform</a:t>
            </a:r>
          </a:p>
          <a:p>
            <a:pPr lvl="1"/>
            <a:r>
              <a:rPr lang="es-ES_tradnl" sz="2100"/>
              <a:t>Available tools</a:t>
            </a:r>
          </a:p>
          <a:p>
            <a:pPr lvl="1"/>
            <a:r>
              <a:rPr lang="es-ES_tradnl" sz="2100"/>
              <a:t>Expertise of the development team</a:t>
            </a:r>
          </a:p>
          <a:p>
            <a:r>
              <a:rPr lang="es-ES_tradnl" sz="2500"/>
              <a:t>Drivers </a:t>
            </a:r>
          </a:p>
          <a:p>
            <a:endParaRPr lang="es-ES"/>
          </a:p>
        </p:txBody>
      </p:sp>
      <p:sp>
        <p:nvSpPr>
          <p:cNvPr id="362500" name="Rectangle 4"/>
          <p:cNvSpPr>
            <a:spLocks noChangeArrowheads="1"/>
          </p:cNvSpPr>
          <p:nvPr/>
        </p:nvSpPr>
        <p:spPr bwMode="auto">
          <a:xfrm>
            <a:off x="900113" y="4689475"/>
            <a:ext cx="345598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49263" lvl="1" indent="-269875" defTabSz="542925">
              <a:buFont typeface="Wingdings" charset="0"/>
              <a:buChar char="§"/>
              <a:tabLst>
                <a:tab pos="2247900" algn="l"/>
              </a:tabLst>
            </a:pPr>
            <a:r>
              <a:rPr lang="es-ES_tradnl" sz="2400" i="1">
                <a:latin typeface="Times New Roman" charset="0"/>
              </a:rPr>
              <a:t>Data Drivers</a:t>
            </a:r>
            <a:r>
              <a:rPr lang="es-ES_tradnl" sz="2400">
                <a:latin typeface="Times New Roman" charset="0"/>
              </a:rPr>
              <a:t> </a:t>
            </a:r>
          </a:p>
          <a:p>
            <a:pPr marL="449263" lvl="1" indent="-269875" defTabSz="542925">
              <a:buFont typeface="Wingdings" charset="0"/>
              <a:buChar char="§"/>
              <a:tabLst>
                <a:tab pos="2247900" algn="l"/>
              </a:tabLst>
            </a:pPr>
            <a:r>
              <a:rPr lang="es-ES_tradnl" sz="2400" i="1">
                <a:latin typeface="Times New Roman" charset="0"/>
              </a:rPr>
              <a:t>Model Drivers</a:t>
            </a:r>
            <a:r>
              <a:rPr lang="es-ES_tradnl" sz="2400">
                <a:latin typeface="Times New Roman" charset="0"/>
              </a:rPr>
              <a:t> </a:t>
            </a:r>
          </a:p>
          <a:p>
            <a:pPr marL="449263" lvl="1" indent="-269875" defTabSz="542925">
              <a:buFont typeface="Wingdings" charset="0"/>
              <a:buChar char="§"/>
              <a:tabLst>
                <a:tab pos="2247900" algn="l"/>
              </a:tabLst>
            </a:pPr>
            <a:r>
              <a:rPr lang="es-ES_tradnl" sz="2400" i="1">
                <a:latin typeface="Times New Roman" charset="0"/>
              </a:rPr>
              <a:t>Platform Drivers</a:t>
            </a:r>
            <a:r>
              <a:rPr lang="es-ES_tradnl" sz="2400">
                <a:latin typeface="Times New Roman" charset="0"/>
              </a:rPr>
              <a:t> </a:t>
            </a:r>
          </a:p>
        </p:txBody>
      </p:sp>
      <p:sp>
        <p:nvSpPr>
          <p:cNvPr id="362501" name="Rectangle 5"/>
          <p:cNvSpPr>
            <a:spLocks noChangeArrowheads="1"/>
          </p:cNvSpPr>
          <p:nvPr/>
        </p:nvSpPr>
        <p:spPr bwMode="auto">
          <a:xfrm>
            <a:off x="3779838" y="4689475"/>
            <a:ext cx="504031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898525" lvl="1" indent="-355600">
              <a:buFont typeface="Wingdings" charset="0"/>
              <a:buChar char="§"/>
            </a:pPr>
            <a:r>
              <a:rPr lang="es-ES_tradnl" sz="2400" i="1">
                <a:latin typeface="Times New Roman" charset="0"/>
              </a:rPr>
              <a:t>Tools and techniques Drivers </a:t>
            </a:r>
          </a:p>
          <a:p>
            <a:pPr marL="898525" lvl="1" indent="-355600">
              <a:buFont typeface="Wingdings" charset="0"/>
              <a:buChar char="§"/>
            </a:pPr>
            <a:r>
              <a:rPr lang="es-ES_tradnl" sz="2400" i="1">
                <a:latin typeface="Times New Roman" charset="0"/>
              </a:rPr>
              <a:t>Project Drivers </a:t>
            </a:r>
          </a:p>
          <a:p>
            <a:pPr marL="898525" lvl="1" indent="-355600">
              <a:buFont typeface="Wingdings" charset="0"/>
              <a:buChar char="§"/>
            </a:pPr>
            <a:r>
              <a:rPr lang="es-ES_tradnl" sz="2400" i="1">
                <a:latin typeface="Times New Roman" charset="0"/>
              </a:rPr>
              <a:t>People Drivers</a:t>
            </a:r>
          </a:p>
        </p:txBody>
      </p:sp>
    </p:spTree>
    <p:extLst>
      <p:ext uri="{BB962C8B-B14F-4D97-AF65-F5344CB8AC3E}">
        <p14:creationId xmlns:p14="http://schemas.microsoft.com/office/powerpoint/2010/main" val="4173340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20651"/>
            <a:ext cx="5678488" cy="838200"/>
          </a:xfrm>
        </p:spPr>
        <p:txBody>
          <a:bodyPr>
            <a:normAutofit fontScale="90000"/>
          </a:bodyPr>
          <a:lstStyle/>
          <a:p>
            <a:r>
              <a:rPr lang="de-DE" dirty="0"/>
              <a:t>1.3 Data Mining: Goals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Success</a:t>
            </a:r>
            <a:endParaRPr lang="de-DE" dirty="0"/>
          </a:p>
        </p:txBody>
      </p:sp>
      <p:sp>
        <p:nvSpPr>
          <p:cNvPr id="355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Times" charset="0"/>
              <a:buNone/>
            </a:pPr>
            <a:r>
              <a:rPr lang="de-DE"/>
              <a:t>Data mining goals:</a:t>
            </a:r>
          </a:p>
          <a:p>
            <a:pPr lvl="1"/>
            <a:r>
              <a:rPr lang="de-DE"/>
              <a:t>Translate the customer's primary objective into a data mining goal, e.g.</a:t>
            </a:r>
          </a:p>
          <a:p>
            <a:pPr lvl="2"/>
            <a:r>
              <a:rPr lang="de-DE"/>
              <a:t>Loyalty program translated into segmentation problem </a:t>
            </a:r>
          </a:p>
          <a:p>
            <a:pPr lvl="2"/>
            <a:r>
              <a:rPr lang="de-DE"/>
              <a:t>Decreasing the attrition rate transformed into classification problem</a:t>
            </a:r>
          </a:p>
          <a:p>
            <a:r>
              <a:rPr lang="de-DE"/>
              <a:t>Data mining success criteria:</a:t>
            </a:r>
          </a:p>
          <a:p>
            <a:pPr lvl="1"/>
            <a:r>
              <a:rPr lang="de-DE"/>
              <a:t>Determine success in technical terms</a:t>
            </a:r>
          </a:p>
          <a:p>
            <a:pPr lvl="2"/>
            <a:r>
              <a:rPr lang="de-DE"/>
              <a:t>Translate the notion of sucess into confidence, support and lift and other parameteres</a:t>
            </a:r>
          </a:p>
          <a:p>
            <a:pPr lvl="2"/>
            <a:r>
              <a:rPr lang="de-DE"/>
              <a:t>Determine de cost of errors</a:t>
            </a:r>
          </a:p>
          <a:p>
            <a:r>
              <a:rPr lang="de-DE"/>
              <a:t>How do we make the translation?</a:t>
            </a:r>
          </a:p>
        </p:txBody>
      </p:sp>
    </p:spTree>
    <p:extLst>
      <p:ext uri="{BB962C8B-B14F-4D97-AF65-F5344CB8AC3E}">
        <p14:creationId xmlns:p14="http://schemas.microsoft.com/office/powerpoint/2010/main" val="3094018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Methodology</a:t>
            </a:r>
          </a:p>
        </p:txBody>
      </p:sp>
      <p:sp>
        <p:nvSpPr>
          <p:cNvPr id="331779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371600"/>
            <a:ext cx="8137525" cy="3641725"/>
          </a:xfrm>
        </p:spPr>
        <p:txBody>
          <a:bodyPr/>
          <a:lstStyle/>
          <a:p>
            <a:r>
              <a:rPr lang="es-ES"/>
              <a:t>Which is the methodology to be followed to translate business objectives into data mining objectives?</a:t>
            </a:r>
          </a:p>
          <a:p>
            <a:r>
              <a:rPr lang="es-ES"/>
              <a:t>Unluckily, there is no such methodology. First we have to solve: </a:t>
            </a:r>
          </a:p>
          <a:p>
            <a:pPr lvl="1"/>
            <a:r>
              <a:rPr lang="es-ES"/>
              <a:t>How a business objective is expressed? </a:t>
            </a:r>
          </a:p>
          <a:p>
            <a:pPr lvl="1"/>
            <a:r>
              <a:rPr lang="en-US"/>
              <a:t>What is a data mining goal?</a:t>
            </a:r>
          </a:p>
          <a:p>
            <a:pPr lvl="1"/>
            <a:r>
              <a:rPr lang="en-US"/>
              <a:t>How are data mining goals achieved? </a:t>
            </a:r>
          </a:p>
          <a:p>
            <a:pPr lvl="1"/>
            <a:r>
              <a:rPr lang="en-US"/>
              <a:t>Which are the requirements of data mining functions? </a:t>
            </a:r>
          </a:p>
        </p:txBody>
      </p:sp>
      <p:sp>
        <p:nvSpPr>
          <p:cNvPr id="331780" name="Text Box 4"/>
          <p:cNvSpPr txBox="1">
            <a:spLocks noChangeArrowheads="1"/>
          </p:cNvSpPr>
          <p:nvPr/>
        </p:nvSpPr>
        <p:spPr bwMode="auto">
          <a:xfrm>
            <a:off x="323850" y="5013325"/>
            <a:ext cx="8280400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"/>
              <a:t>In order to describe everything in a standard way:</a:t>
            </a:r>
          </a:p>
          <a:p>
            <a:pPr algn="ctr">
              <a:spcBef>
                <a:spcPct val="50000"/>
              </a:spcBef>
            </a:pPr>
            <a:r>
              <a:rPr lang="es-ES" sz="2800" b="1"/>
              <a:t>Conceptualize the problem</a:t>
            </a:r>
          </a:p>
        </p:txBody>
      </p:sp>
    </p:spTree>
    <p:extLst>
      <p:ext uri="{BB962C8B-B14F-4D97-AF65-F5344CB8AC3E}">
        <p14:creationId xmlns:p14="http://schemas.microsoft.com/office/powerpoint/2010/main" val="120652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Conceptualization in other disciplines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371600"/>
            <a:ext cx="8137525" cy="2201863"/>
          </a:xfrm>
        </p:spPr>
        <p:txBody>
          <a:bodyPr/>
          <a:lstStyle/>
          <a:p>
            <a:r>
              <a:rPr lang="es-ES"/>
              <a:t>Data Bases:</a:t>
            </a:r>
          </a:p>
          <a:p>
            <a:pPr lvl="1"/>
            <a:r>
              <a:rPr lang="es-ES"/>
              <a:t>E/R diagrams</a:t>
            </a:r>
          </a:p>
          <a:p>
            <a:pPr lvl="1"/>
            <a:r>
              <a:rPr lang="es-ES"/>
              <a:t>Independent of the domain</a:t>
            </a:r>
          </a:p>
          <a:p>
            <a:pPr lvl="1"/>
            <a:r>
              <a:rPr lang="es-ES"/>
              <a:t>A tool for business understanding and for data base designer</a:t>
            </a:r>
          </a:p>
          <a:p>
            <a:pPr lvl="1"/>
            <a:r>
              <a:rPr lang="es-ES"/>
              <a:t>Translation from E/R to implementation</a:t>
            </a:r>
          </a:p>
        </p:txBody>
      </p:sp>
      <p:sp>
        <p:nvSpPr>
          <p:cNvPr id="334852" name="AutoShape 4"/>
          <p:cNvSpPr>
            <a:spLocks noChangeArrowheads="1"/>
          </p:cNvSpPr>
          <p:nvPr/>
        </p:nvSpPr>
        <p:spPr bwMode="auto">
          <a:xfrm>
            <a:off x="3492500" y="5946775"/>
            <a:ext cx="503238" cy="433388"/>
          </a:xfrm>
          <a:prstGeom prst="can">
            <a:avLst>
              <a:gd name="adj" fmla="val 25000"/>
            </a:avLst>
          </a:prstGeom>
          <a:solidFill>
            <a:srgbClr val="F0620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334853" name="AutoShape 5"/>
          <p:cNvSpPr>
            <a:spLocks noChangeArrowheads="1"/>
          </p:cNvSpPr>
          <p:nvPr/>
        </p:nvSpPr>
        <p:spPr bwMode="auto">
          <a:xfrm>
            <a:off x="4427538" y="5875338"/>
            <a:ext cx="503237" cy="433387"/>
          </a:xfrm>
          <a:prstGeom prst="can">
            <a:avLst>
              <a:gd name="adj" fmla="val 25000"/>
            </a:avLst>
          </a:prstGeom>
          <a:solidFill>
            <a:srgbClr val="F0620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334854" name="AutoShape 6"/>
          <p:cNvSpPr>
            <a:spLocks noChangeArrowheads="1"/>
          </p:cNvSpPr>
          <p:nvPr/>
        </p:nvSpPr>
        <p:spPr bwMode="auto">
          <a:xfrm>
            <a:off x="5364163" y="5946775"/>
            <a:ext cx="503237" cy="433388"/>
          </a:xfrm>
          <a:prstGeom prst="can">
            <a:avLst>
              <a:gd name="adj" fmla="val 25000"/>
            </a:avLst>
          </a:prstGeom>
          <a:solidFill>
            <a:srgbClr val="F0620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334855" name="Text Box 7"/>
          <p:cNvSpPr txBox="1">
            <a:spLocks noChangeArrowheads="1"/>
          </p:cNvSpPr>
          <p:nvPr/>
        </p:nvSpPr>
        <p:spPr bwMode="auto">
          <a:xfrm>
            <a:off x="3563938" y="5227638"/>
            <a:ext cx="2360612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1800"/>
              <a:t> Internal Schema</a:t>
            </a:r>
          </a:p>
        </p:txBody>
      </p:sp>
      <p:sp>
        <p:nvSpPr>
          <p:cNvPr id="334856" name="Text Box 8"/>
          <p:cNvSpPr txBox="1">
            <a:spLocks noChangeArrowheads="1"/>
          </p:cNvSpPr>
          <p:nvPr/>
        </p:nvSpPr>
        <p:spPr bwMode="auto">
          <a:xfrm>
            <a:off x="3419475" y="4562475"/>
            <a:ext cx="2590800" cy="376238"/>
          </a:xfrm>
          <a:prstGeom prst="rect">
            <a:avLst/>
          </a:prstGeom>
          <a:solidFill>
            <a:srgbClr val="FAD26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1800"/>
              <a:t>Conceptual Schema</a:t>
            </a:r>
          </a:p>
        </p:txBody>
      </p:sp>
      <p:sp>
        <p:nvSpPr>
          <p:cNvPr id="334857" name="Text Box 9"/>
          <p:cNvSpPr txBox="1">
            <a:spLocks noChangeArrowheads="1"/>
          </p:cNvSpPr>
          <p:nvPr/>
        </p:nvSpPr>
        <p:spPr bwMode="auto">
          <a:xfrm>
            <a:off x="2195513" y="3843338"/>
            <a:ext cx="18732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1800"/>
              <a:t>External view </a:t>
            </a:r>
            <a:r>
              <a:rPr lang="es-ES" sz="1400"/>
              <a:t>1</a:t>
            </a:r>
          </a:p>
        </p:txBody>
      </p:sp>
      <p:sp>
        <p:nvSpPr>
          <p:cNvPr id="334858" name="Text Box 10"/>
          <p:cNvSpPr txBox="1">
            <a:spLocks noChangeArrowheads="1"/>
          </p:cNvSpPr>
          <p:nvPr/>
        </p:nvSpPr>
        <p:spPr bwMode="auto">
          <a:xfrm>
            <a:off x="5291138" y="3770313"/>
            <a:ext cx="18732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1800"/>
              <a:t>External view </a:t>
            </a:r>
            <a:r>
              <a:rPr lang="es-ES" sz="1400"/>
              <a:t>n</a:t>
            </a:r>
          </a:p>
        </p:txBody>
      </p:sp>
      <p:sp>
        <p:nvSpPr>
          <p:cNvPr id="334859" name="Line 11"/>
          <p:cNvSpPr>
            <a:spLocks noChangeShapeType="1"/>
          </p:cNvSpPr>
          <p:nvPr/>
        </p:nvSpPr>
        <p:spPr bwMode="auto">
          <a:xfrm>
            <a:off x="3635375" y="4148138"/>
            <a:ext cx="576263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34860" name="Line 12"/>
          <p:cNvSpPr>
            <a:spLocks noChangeShapeType="1"/>
          </p:cNvSpPr>
          <p:nvPr/>
        </p:nvSpPr>
        <p:spPr bwMode="auto">
          <a:xfrm flipH="1">
            <a:off x="5219700" y="4148138"/>
            <a:ext cx="64770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34861" name="Line 13"/>
          <p:cNvSpPr>
            <a:spLocks noChangeShapeType="1"/>
          </p:cNvSpPr>
          <p:nvPr/>
        </p:nvSpPr>
        <p:spPr bwMode="auto">
          <a:xfrm flipH="1">
            <a:off x="4643438" y="4867275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34862" name="Line 14"/>
          <p:cNvSpPr>
            <a:spLocks noChangeShapeType="1"/>
          </p:cNvSpPr>
          <p:nvPr/>
        </p:nvSpPr>
        <p:spPr bwMode="auto">
          <a:xfrm>
            <a:off x="3706813" y="5659438"/>
            <a:ext cx="1873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34863" name="Line 15"/>
          <p:cNvSpPr>
            <a:spLocks noChangeShapeType="1"/>
          </p:cNvSpPr>
          <p:nvPr/>
        </p:nvSpPr>
        <p:spPr bwMode="auto">
          <a:xfrm>
            <a:off x="4714875" y="5514975"/>
            <a:ext cx="0" cy="433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34864" name="Line 16"/>
          <p:cNvSpPr>
            <a:spLocks noChangeShapeType="1"/>
          </p:cNvSpPr>
          <p:nvPr/>
        </p:nvSpPr>
        <p:spPr bwMode="auto">
          <a:xfrm>
            <a:off x="5580063" y="5659438"/>
            <a:ext cx="1587" cy="276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34865" name="Line 17"/>
          <p:cNvSpPr>
            <a:spLocks noChangeShapeType="1"/>
          </p:cNvSpPr>
          <p:nvPr/>
        </p:nvSpPr>
        <p:spPr bwMode="auto">
          <a:xfrm>
            <a:off x="3706813" y="5659438"/>
            <a:ext cx="1587" cy="276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grpSp>
        <p:nvGrpSpPr>
          <p:cNvPr id="334866" name="Group 18"/>
          <p:cNvGrpSpPr>
            <a:grpSpLocks/>
          </p:cNvGrpSpPr>
          <p:nvPr/>
        </p:nvGrpSpPr>
        <p:grpSpPr bwMode="auto">
          <a:xfrm>
            <a:off x="1474788" y="3716338"/>
            <a:ext cx="287337" cy="503237"/>
            <a:chOff x="1610" y="890"/>
            <a:chExt cx="181" cy="317"/>
          </a:xfrm>
        </p:grpSpPr>
        <p:sp>
          <p:nvSpPr>
            <p:cNvPr id="334867" name="AutoShape 19"/>
            <p:cNvSpPr>
              <a:spLocks noChangeArrowheads="1"/>
            </p:cNvSpPr>
            <p:nvPr/>
          </p:nvSpPr>
          <p:spPr bwMode="auto">
            <a:xfrm>
              <a:off x="1610" y="890"/>
              <a:ext cx="181" cy="136"/>
            </a:xfrm>
            <a:prstGeom prst="smileyFace">
              <a:avLst>
                <a:gd name="adj" fmla="val 46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4868" name="Line 20"/>
            <p:cNvSpPr>
              <a:spLocks noChangeShapeType="1"/>
            </p:cNvSpPr>
            <p:nvPr/>
          </p:nvSpPr>
          <p:spPr bwMode="auto">
            <a:xfrm>
              <a:off x="1701" y="1026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4869" name="Line 21"/>
            <p:cNvSpPr>
              <a:spLocks noChangeShapeType="1"/>
            </p:cNvSpPr>
            <p:nvPr/>
          </p:nvSpPr>
          <p:spPr bwMode="auto">
            <a:xfrm flipH="1">
              <a:off x="1610" y="1117"/>
              <a:ext cx="91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4870" name="Line 22"/>
            <p:cNvSpPr>
              <a:spLocks noChangeShapeType="1"/>
            </p:cNvSpPr>
            <p:nvPr/>
          </p:nvSpPr>
          <p:spPr bwMode="auto">
            <a:xfrm>
              <a:off x="1701" y="1117"/>
              <a:ext cx="9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4871" name="Line 23"/>
            <p:cNvSpPr>
              <a:spLocks noChangeShapeType="1"/>
            </p:cNvSpPr>
            <p:nvPr/>
          </p:nvSpPr>
          <p:spPr bwMode="auto">
            <a:xfrm flipV="1">
              <a:off x="1701" y="1026"/>
              <a:ext cx="9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4872" name="Line 24"/>
            <p:cNvSpPr>
              <a:spLocks noChangeShapeType="1"/>
            </p:cNvSpPr>
            <p:nvPr/>
          </p:nvSpPr>
          <p:spPr bwMode="auto">
            <a:xfrm flipH="1" flipV="1">
              <a:off x="1610" y="1026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34873" name="Group 25"/>
          <p:cNvGrpSpPr>
            <a:grpSpLocks/>
          </p:cNvGrpSpPr>
          <p:nvPr/>
        </p:nvGrpSpPr>
        <p:grpSpPr bwMode="auto">
          <a:xfrm>
            <a:off x="7380288" y="3716338"/>
            <a:ext cx="287337" cy="503237"/>
            <a:chOff x="1610" y="890"/>
            <a:chExt cx="181" cy="317"/>
          </a:xfrm>
        </p:grpSpPr>
        <p:sp>
          <p:nvSpPr>
            <p:cNvPr id="334874" name="AutoShape 26"/>
            <p:cNvSpPr>
              <a:spLocks noChangeArrowheads="1"/>
            </p:cNvSpPr>
            <p:nvPr/>
          </p:nvSpPr>
          <p:spPr bwMode="auto">
            <a:xfrm>
              <a:off x="1610" y="890"/>
              <a:ext cx="181" cy="136"/>
            </a:xfrm>
            <a:prstGeom prst="smileyFace">
              <a:avLst>
                <a:gd name="adj" fmla="val 46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4875" name="Line 27"/>
            <p:cNvSpPr>
              <a:spLocks noChangeShapeType="1"/>
            </p:cNvSpPr>
            <p:nvPr/>
          </p:nvSpPr>
          <p:spPr bwMode="auto">
            <a:xfrm>
              <a:off x="1701" y="1026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4876" name="Line 28"/>
            <p:cNvSpPr>
              <a:spLocks noChangeShapeType="1"/>
            </p:cNvSpPr>
            <p:nvPr/>
          </p:nvSpPr>
          <p:spPr bwMode="auto">
            <a:xfrm flipH="1">
              <a:off x="1610" y="1117"/>
              <a:ext cx="91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4877" name="Line 29"/>
            <p:cNvSpPr>
              <a:spLocks noChangeShapeType="1"/>
            </p:cNvSpPr>
            <p:nvPr/>
          </p:nvSpPr>
          <p:spPr bwMode="auto">
            <a:xfrm>
              <a:off x="1701" y="1117"/>
              <a:ext cx="9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4878" name="Line 30"/>
            <p:cNvSpPr>
              <a:spLocks noChangeShapeType="1"/>
            </p:cNvSpPr>
            <p:nvPr/>
          </p:nvSpPr>
          <p:spPr bwMode="auto">
            <a:xfrm flipV="1">
              <a:off x="1701" y="1026"/>
              <a:ext cx="9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34879" name="Line 31"/>
            <p:cNvSpPr>
              <a:spLocks noChangeShapeType="1"/>
            </p:cNvSpPr>
            <p:nvPr/>
          </p:nvSpPr>
          <p:spPr bwMode="auto">
            <a:xfrm flipH="1" flipV="1">
              <a:off x="1610" y="1026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84434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3-level Architecture </a:t>
            </a:r>
            <a:r>
              <a:rPr lang="es-ES" dirty="0" err="1"/>
              <a:t>for</a:t>
            </a:r>
            <a:r>
              <a:rPr lang="es-ES" dirty="0"/>
              <a:t> DA</a:t>
            </a:r>
          </a:p>
        </p:txBody>
      </p:sp>
      <p:sp>
        <p:nvSpPr>
          <p:cNvPr id="385031" name="Text Box 7"/>
          <p:cNvSpPr txBox="1">
            <a:spLocks noChangeArrowheads="1"/>
          </p:cNvSpPr>
          <p:nvPr/>
        </p:nvSpPr>
        <p:spPr bwMode="auto">
          <a:xfrm>
            <a:off x="2052638" y="3933825"/>
            <a:ext cx="2360612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1800"/>
              <a:t> Internal Schema</a:t>
            </a:r>
          </a:p>
        </p:txBody>
      </p:sp>
      <p:sp>
        <p:nvSpPr>
          <p:cNvPr id="385032" name="Text Box 8"/>
          <p:cNvSpPr txBox="1">
            <a:spLocks noChangeArrowheads="1"/>
          </p:cNvSpPr>
          <p:nvPr/>
        </p:nvSpPr>
        <p:spPr bwMode="auto">
          <a:xfrm>
            <a:off x="2052638" y="2852738"/>
            <a:ext cx="2590800" cy="376237"/>
          </a:xfrm>
          <a:prstGeom prst="rect">
            <a:avLst/>
          </a:prstGeom>
          <a:solidFill>
            <a:srgbClr val="FAD26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1800"/>
              <a:t>Conceptual Schema</a:t>
            </a:r>
          </a:p>
        </p:txBody>
      </p:sp>
      <p:sp>
        <p:nvSpPr>
          <p:cNvPr id="385033" name="Text Box 9"/>
          <p:cNvSpPr txBox="1">
            <a:spLocks noChangeArrowheads="1"/>
          </p:cNvSpPr>
          <p:nvPr/>
        </p:nvSpPr>
        <p:spPr bwMode="auto">
          <a:xfrm>
            <a:off x="468313" y="1989138"/>
            <a:ext cx="2160587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1800"/>
              <a:t>Business problem</a:t>
            </a:r>
            <a:endParaRPr lang="es-ES" sz="1400"/>
          </a:p>
        </p:txBody>
      </p:sp>
      <p:sp>
        <p:nvSpPr>
          <p:cNvPr id="385034" name="Text Box 10"/>
          <p:cNvSpPr txBox="1">
            <a:spLocks noChangeArrowheads="1"/>
          </p:cNvSpPr>
          <p:nvPr/>
        </p:nvSpPr>
        <p:spPr bwMode="auto">
          <a:xfrm>
            <a:off x="3779838" y="1917700"/>
            <a:ext cx="2305050" cy="3762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1800"/>
              <a:t>Business problem</a:t>
            </a:r>
            <a:endParaRPr lang="es-ES" sz="1400"/>
          </a:p>
        </p:txBody>
      </p:sp>
      <p:sp>
        <p:nvSpPr>
          <p:cNvPr id="385035" name="Line 11"/>
          <p:cNvSpPr>
            <a:spLocks noChangeShapeType="1"/>
          </p:cNvSpPr>
          <p:nvPr/>
        </p:nvSpPr>
        <p:spPr bwMode="auto">
          <a:xfrm>
            <a:off x="2052638" y="2349500"/>
            <a:ext cx="576262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85036" name="Line 12"/>
          <p:cNvSpPr>
            <a:spLocks noChangeShapeType="1"/>
          </p:cNvSpPr>
          <p:nvPr/>
        </p:nvSpPr>
        <p:spPr bwMode="auto">
          <a:xfrm flipH="1">
            <a:off x="3995738" y="2276475"/>
            <a:ext cx="64770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85037" name="Line 13"/>
          <p:cNvSpPr>
            <a:spLocks noChangeShapeType="1"/>
          </p:cNvSpPr>
          <p:nvPr/>
        </p:nvSpPr>
        <p:spPr bwMode="auto">
          <a:xfrm flipH="1">
            <a:off x="3203575" y="3429000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85038" name="Line 14"/>
          <p:cNvSpPr>
            <a:spLocks noChangeShapeType="1"/>
          </p:cNvSpPr>
          <p:nvPr/>
        </p:nvSpPr>
        <p:spPr bwMode="auto">
          <a:xfrm>
            <a:off x="2266950" y="4508500"/>
            <a:ext cx="1873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85039" name="Line 15"/>
          <p:cNvSpPr>
            <a:spLocks noChangeShapeType="1"/>
          </p:cNvSpPr>
          <p:nvPr/>
        </p:nvSpPr>
        <p:spPr bwMode="auto">
          <a:xfrm>
            <a:off x="3275013" y="4364038"/>
            <a:ext cx="0" cy="4333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85040" name="Line 16"/>
          <p:cNvSpPr>
            <a:spLocks noChangeShapeType="1"/>
          </p:cNvSpPr>
          <p:nvPr/>
        </p:nvSpPr>
        <p:spPr bwMode="auto">
          <a:xfrm>
            <a:off x="4140200" y="4508500"/>
            <a:ext cx="1588" cy="276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85041" name="Line 17"/>
          <p:cNvSpPr>
            <a:spLocks noChangeShapeType="1"/>
          </p:cNvSpPr>
          <p:nvPr/>
        </p:nvSpPr>
        <p:spPr bwMode="auto">
          <a:xfrm>
            <a:off x="2266950" y="4508500"/>
            <a:ext cx="1588" cy="276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grpSp>
        <p:nvGrpSpPr>
          <p:cNvPr id="385042" name="Group 18"/>
          <p:cNvGrpSpPr>
            <a:grpSpLocks/>
          </p:cNvGrpSpPr>
          <p:nvPr/>
        </p:nvGrpSpPr>
        <p:grpSpPr bwMode="auto">
          <a:xfrm>
            <a:off x="971550" y="1341438"/>
            <a:ext cx="287338" cy="503237"/>
            <a:chOff x="1610" y="890"/>
            <a:chExt cx="181" cy="317"/>
          </a:xfrm>
        </p:grpSpPr>
        <p:sp>
          <p:nvSpPr>
            <p:cNvPr id="385043" name="AutoShape 19"/>
            <p:cNvSpPr>
              <a:spLocks noChangeArrowheads="1"/>
            </p:cNvSpPr>
            <p:nvPr/>
          </p:nvSpPr>
          <p:spPr bwMode="auto">
            <a:xfrm>
              <a:off x="1610" y="890"/>
              <a:ext cx="181" cy="136"/>
            </a:xfrm>
            <a:prstGeom prst="smileyFace">
              <a:avLst>
                <a:gd name="adj" fmla="val 46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85044" name="Line 20"/>
            <p:cNvSpPr>
              <a:spLocks noChangeShapeType="1"/>
            </p:cNvSpPr>
            <p:nvPr/>
          </p:nvSpPr>
          <p:spPr bwMode="auto">
            <a:xfrm>
              <a:off x="1701" y="1026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5045" name="Line 21"/>
            <p:cNvSpPr>
              <a:spLocks noChangeShapeType="1"/>
            </p:cNvSpPr>
            <p:nvPr/>
          </p:nvSpPr>
          <p:spPr bwMode="auto">
            <a:xfrm flipH="1">
              <a:off x="1610" y="1117"/>
              <a:ext cx="91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5046" name="Line 22"/>
            <p:cNvSpPr>
              <a:spLocks noChangeShapeType="1"/>
            </p:cNvSpPr>
            <p:nvPr/>
          </p:nvSpPr>
          <p:spPr bwMode="auto">
            <a:xfrm>
              <a:off x="1701" y="1117"/>
              <a:ext cx="9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5047" name="Line 23"/>
            <p:cNvSpPr>
              <a:spLocks noChangeShapeType="1"/>
            </p:cNvSpPr>
            <p:nvPr/>
          </p:nvSpPr>
          <p:spPr bwMode="auto">
            <a:xfrm flipV="1">
              <a:off x="1701" y="1026"/>
              <a:ext cx="9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5048" name="Line 24"/>
            <p:cNvSpPr>
              <a:spLocks noChangeShapeType="1"/>
            </p:cNvSpPr>
            <p:nvPr/>
          </p:nvSpPr>
          <p:spPr bwMode="auto">
            <a:xfrm flipH="1" flipV="1">
              <a:off x="1610" y="1026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85049" name="Group 25"/>
          <p:cNvGrpSpPr>
            <a:grpSpLocks/>
          </p:cNvGrpSpPr>
          <p:nvPr/>
        </p:nvGrpSpPr>
        <p:grpSpPr bwMode="auto">
          <a:xfrm>
            <a:off x="4572000" y="1341438"/>
            <a:ext cx="287338" cy="503237"/>
            <a:chOff x="1610" y="890"/>
            <a:chExt cx="181" cy="317"/>
          </a:xfrm>
        </p:grpSpPr>
        <p:sp>
          <p:nvSpPr>
            <p:cNvPr id="385050" name="AutoShape 26"/>
            <p:cNvSpPr>
              <a:spLocks noChangeArrowheads="1"/>
            </p:cNvSpPr>
            <p:nvPr/>
          </p:nvSpPr>
          <p:spPr bwMode="auto">
            <a:xfrm>
              <a:off x="1610" y="890"/>
              <a:ext cx="181" cy="136"/>
            </a:xfrm>
            <a:prstGeom prst="smileyFace">
              <a:avLst>
                <a:gd name="adj" fmla="val 46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85051" name="Line 27"/>
            <p:cNvSpPr>
              <a:spLocks noChangeShapeType="1"/>
            </p:cNvSpPr>
            <p:nvPr/>
          </p:nvSpPr>
          <p:spPr bwMode="auto">
            <a:xfrm>
              <a:off x="1701" y="1026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5052" name="Line 28"/>
            <p:cNvSpPr>
              <a:spLocks noChangeShapeType="1"/>
            </p:cNvSpPr>
            <p:nvPr/>
          </p:nvSpPr>
          <p:spPr bwMode="auto">
            <a:xfrm flipH="1">
              <a:off x="1610" y="1117"/>
              <a:ext cx="91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5053" name="Line 29"/>
            <p:cNvSpPr>
              <a:spLocks noChangeShapeType="1"/>
            </p:cNvSpPr>
            <p:nvPr/>
          </p:nvSpPr>
          <p:spPr bwMode="auto">
            <a:xfrm>
              <a:off x="1701" y="1117"/>
              <a:ext cx="9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5054" name="Line 30"/>
            <p:cNvSpPr>
              <a:spLocks noChangeShapeType="1"/>
            </p:cNvSpPr>
            <p:nvPr/>
          </p:nvSpPr>
          <p:spPr bwMode="auto">
            <a:xfrm flipV="1">
              <a:off x="1701" y="1026"/>
              <a:ext cx="9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85055" name="Line 31"/>
            <p:cNvSpPr>
              <a:spLocks noChangeShapeType="1"/>
            </p:cNvSpPr>
            <p:nvPr/>
          </p:nvSpPr>
          <p:spPr bwMode="auto">
            <a:xfrm flipH="1" flipV="1">
              <a:off x="1610" y="1026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85056" name="Group 32"/>
          <p:cNvGrpSpPr>
            <a:grpSpLocks/>
          </p:cNvGrpSpPr>
          <p:nvPr/>
        </p:nvGrpSpPr>
        <p:grpSpPr bwMode="auto">
          <a:xfrm>
            <a:off x="2844800" y="4868863"/>
            <a:ext cx="649288" cy="446087"/>
            <a:chOff x="1632" y="1248"/>
            <a:chExt cx="2682" cy="2286"/>
          </a:xfrm>
        </p:grpSpPr>
        <p:sp>
          <p:nvSpPr>
            <p:cNvPr id="385057" name="Gear"/>
            <p:cNvSpPr>
              <a:spLocks noEditPoints="1" noChangeArrowheads="1"/>
            </p:cNvSpPr>
            <p:nvPr/>
          </p:nvSpPr>
          <p:spPr bwMode="auto">
            <a:xfrm>
              <a:off x="3119" y="1248"/>
              <a:ext cx="1195" cy="1048"/>
            </a:xfrm>
            <a:custGeom>
              <a:avLst/>
              <a:gdLst>
                <a:gd name="T0" fmla="*/ 10800 w 21600"/>
                <a:gd name="T1" fmla="*/ 0 h 21600"/>
                <a:gd name="T2" fmla="*/ 21600 w 21600"/>
                <a:gd name="T3" fmla="*/ 10800 h 21600"/>
                <a:gd name="T4" fmla="*/ 10800 w 21600"/>
                <a:gd name="T5" fmla="*/ 21600 h 21600"/>
                <a:gd name="T6" fmla="*/ 0 w 21600"/>
                <a:gd name="T7" fmla="*/ 10800 h 21600"/>
                <a:gd name="T8" fmla="*/ 4374 w 21600"/>
                <a:gd name="T9" fmla="*/ 3964 h 21600"/>
                <a:gd name="T10" fmla="*/ 17841 w 21600"/>
                <a:gd name="T11" fmla="*/ 1763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20099999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en-CA"/>
            </a:p>
          </p:txBody>
        </p:sp>
        <p:sp>
          <p:nvSpPr>
            <p:cNvPr id="385058" name="AutoShape 34"/>
            <p:cNvSpPr>
              <a:spLocks noEditPoints="1" noChangeArrowheads="1"/>
            </p:cNvSpPr>
            <p:nvPr/>
          </p:nvSpPr>
          <p:spPr bwMode="auto">
            <a:xfrm>
              <a:off x="1632" y="1680"/>
              <a:ext cx="1429" cy="1253"/>
            </a:xfrm>
            <a:custGeom>
              <a:avLst/>
              <a:gdLst>
                <a:gd name="T0" fmla="*/ 10800 w 21600"/>
                <a:gd name="T1" fmla="*/ 0 h 21600"/>
                <a:gd name="T2" fmla="*/ 21600 w 21600"/>
                <a:gd name="T3" fmla="*/ 10800 h 21600"/>
                <a:gd name="T4" fmla="*/ 10800 w 21600"/>
                <a:gd name="T5" fmla="*/ 21600 h 21600"/>
                <a:gd name="T6" fmla="*/ 0 w 21600"/>
                <a:gd name="T7" fmla="*/ 10800 h 21600"/>
                <a:gd name="T8" fmla="*/ 4374 w 21600"/>
                <a:gd name="T9" fmla="*/ 3964 h 21600"/>
                <a:gd name="T10" fmla="*/ 17841 w 21600"/>
                <a:gd name="T11" fmla="*/ 1763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20099999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en-CA"/>
            </a:p>
          </p:txBody>
        </p:sp>
        <p:sp>
          <p:nvSpPr>
            <p:cNvPr id="385059" name="AutoShape 35"/>
            <p:cNvSpPr>
              <a:spLocks noEditPoints="1" noChangeArrowheads="1"/>
            </p:cNvSpPr>
            <p:nvPr/>
          </p:nvSpPr>
          <p:spPr bwMode="auto">
            <a:xfrm>
              <a:off x="2559" y="2142"/>
              <a:ext cx="1588" cy="1392"/>
            </a:xfrm>
            <a:custGeom>
              <a:avLst/>
              <a:gdLst>
                <a:gd name="T0" fmla="*/ 10800 w 21600"/>
                <a:gd name="T1" fmla="*/ 0 h 21600"/>
                <a:gd name="T2" fmla="*/ 21600 w 21600"/>
                <a:gd name="T3" fmla="*/ 10800 h 21600"/>
                <a:gd name="T4" fmla="*/ 10800 w 21600"/>
                <a:gd name="T5" fmla="*/ 21600 h 21600"/>
                <a:gd name="T6" fmla="*/ 0 w 21600"/>
                <a:gd name="T7" fmla="*/ 10800 h 21600"/>
                <a:gd name="T8" fmla="*/ 4374 w 21600"/>
                <a:gd name="T9" fmla="*/ 3964 h 21600"/>
                <a:gd name="T10" fmla="*/ 17841 w 21600"/>
                <a:gd name="T11" fmla="*/ 1763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20099999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en-CA"/>
            </a:p>
          </p:txBody>
        </p:sp>
      </p:grpSp>
      <p:grpSp>
        <p:nvGrpSpPr>
          <p:cNvPr id="385061" name="Group 37"/>
          <p:cNvGrpSpPr>
            <a:grpSpLocks/>
          </p:cNvGrpSpPr>
          <p:nvPr/>
        </p:nvGrpSpPr>
        <p:grpSpPr bwMode="auto">
          <a:xfrm>
            <a:off x="1908175" y="4797425"/>
            <a:ext cx="592138" cy="673100"/>
            <a:chOff x="1824" y="633"/>
            <a:chExt cx="2834" cy="2849"/>
          </a:xfrm>
        </p:grpSpPr>
        <p:sp>
          <p:nvSpPr>
            <p:cNvPr id="385062" name="Puzzle3"/>
            <p:cNvSpPr>
              <a:spLocks noEditPoints="1" noChangeArrowheads="1"/>
            </p:cNvSpPr>
            <p:nvPr/>
          </p:nvSpPr>
          <p:spPr bwMode="auto">
            <a:xfrm>
              <a:off x="3204" y="633"/>
              <a:ext cx="1114" cy="1514"/>
            </a:xfrm>
            <a:custGeom>
              <a:avLst/>
              <a:gdLst>
                <a:gd name="T0" fmla="*/ 10391 w 21600"/>
                <a:gd name="T1" fmla="*/ 15806 h 21600"/>
                <a:gd name="T2" fmla="*/ 20551 w 21600"/>
                <a:gd name="T3" fmla="*/ 21088 h 21600"/>
                <a:gd name="T4" fmla="*/ 13180 w 21600"/>
                <a:gd name="T5" fmla="*/ 13801 h 21600"/>
                <a:gd name="T6" fmla="*/ 20551 w 21600"/>
                <a:gd name="T7" fmla="*/ 7025 h 21600"/>
                <a:gd name="T8" fmla="*/ 10500 w 21600"/>
                <a:gd name="T9" fmla="*/ 52 h 21600"/>
                <a:gd name="T10" fmla="*/ 692 w 21600"/>
                <a:gd name="T11" fmla="*/ 6802 h 21600"/>
                <a:gd name="T12" fmla="*/ 8064 w 21600"/>
                <a:gd name="T13" fmla="*/ 13526 h 21600"/>
                <a:gd name="T14" fmla="*/ 692 w 21600"/>
                <a:gd name="T15" fmla="*/ 21088 h 21600"/>
                <a:gd name="T16" fmla="*/ 2273 w 21600"/>
                <a:gd name="T17" fmla="*/ 7719 h 21600"/>
                <a:gd name="T18" fmla="*/ 19149 w 21600"/>
                <a:gd name="T19" fmla="*/ 202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6625" y="20892"/>
                  </a:moveTo>
                  <a:lnTo>
                    <a:pt x="7105" y="21023"/>
                  </a:lnTo>
                  <a:lnTo>
                    <a:pt x="7513" y="21088"/>
                  </a:lnTo>
                  <a:lnTo>
                    <a:pt x="7922" y="21115"/>
                  </a:lnTo>
                  <a:lnTo>
                    <a:pt x="8242" y="21115"/>
                  </a:lnTo>
                  <a:lnTo>
                    <a:pt x="8544" y="21062"/>
                  </a:lnTo>
                  <a:lnTo>
                    <a:pt x="8810" y="20997"/>
                  </a:lnTo>
                  <a:lnTo>
                    <a:pt x="9023" y="20892"/>
                  </a:lnTo>
                  <a:lnTo>
                    <a:pt x="9148" y="20761"/>
                  </a:lnTo>
                  <a:lnTo>
                    <a:pt x="9290" y="20616"/>
                  </a:lnTo>
                  <a:lnTo>
                    <a:pt x="9361" y="20459"/>
                  </a:lnTo>
                  <a:lnTo>
                    <a:pt x="9396" y="20289"/>
                  </a:lnTo>
                  <a:lnTo>
                    <a:pt x="9396" y="20092"/>
                  </a:lnTo>
                  <a:lnTo>
                    <a:pt x="9325" y="19909"/>
                  </a:lnTo>
                  <a:lnTo>
                    <a:pt x="9219" y="19738"/>
                  </a:lnTo>
                  <a:lnTo>
                    <a:pt x="9094" y="19555"/>
                  </a:lnTo>
                  <a:lnTo>
                    <a:pt x="8917" y="19384"/>
                  </a:lnTo>
                  <a:lnTo>
                    <a:pt x="8650" y="19162"/>
                  </a:lnTo>
                  <a:lnTo>
                    <a:pt x="8437" y="18900"/>
                  </a:lnTo>
                  <a:lnTo>
                    <a:pt x="8277" y="18624"/>
                  </a:lnTo>
                  <a:lnTo>
                    <a:pt x="8135" y="18349"/>
                  </a:lnTo>
                  <a:lnTo>
                    <a:pt x="8028" y="18048"/>
                  </a:lnTo>
                  <a:lnTo>
                    <a:pt x="7993" y="17746"/>
                  </a:lnTo>
                  <a:lnTo>
                    <a:pt x="7993" y="17471"/>
                  </a:lnTo>
                  <a:lnTo>
                    <a:pt x="8028" y="17169"/>
                  </a:lnTo>
                  <a:lnTo>
                    <a:pt x="8135" y="16920"/>
                  </a:lnTo>
                  <a:lnTo>
                    <a:pt x="8277" y="16671"/>
                  </a:lnTo>
                  <a:lnTo>
                    <a:pt x="8366" y="16540"/>
                  </a:lnTo>
                  <a:lnTo>
                    <a:pt x="8473" y="16409"/>
                  </a:lnTo>
                  <a:lnTo>
                    <a:pt x="8615" y="16317"/>
                  </a:lnTo>
                  <a:lnTo>
                    <a:pt x="8739" y="16213"/>
                  </a:lnTo>
                  <a:lnTo>
                    <a:pt x="8881" y="16134"/>
                  </a:lnTo>
                  <a:lnTo>
                    <a:pt x="9059" y="16055"/>
                  </a:lnTo>
                  <a:lnTo>
                    <a:pt x="9254" y="15990"/>
                  </a:lnTo>
                  <a:lnTo>
                    <a:pt x="9432" y="15911"/>
                  </a:lnTo>
                  <a:lnTo>
                    <a:pt x="9663" y="15885"/>
                  </a:lnTo>
                  <a:lnTo>
                    <a:pt x="9876" y="15833"/>
                  </a:lnTo>
                  <a:lnTo>
                    <a:pt x="10142" y="15806"/>
                  </a:lnTo>
                  <a:lnTo>
                    <a:pt x="10391" y="15806"/>
                  </a:lnTo>
                  <a:lnTo>
                    <a:pt x="10728" y="15806"/>
                  </a:lnTo>
                  <a:lnTo>
                    <a:pt x="10995" y="15806"/>
                  </a:lnTo>
                  <a:lnTo>
                    <a:pt x="11279" y="15833"/>
                  </a:lnTo>
                  <a:lnTo>
                    <a:pt x="11546" y="15885"/>
                  </a:lnTo>
                  <a:lnTo>
                    <a:pt x="11776" y="15937"/>
                  </a:lnTo>
                  <a:lnTo>
                    <a:pt x="12025" y="15990"/>
                  </a:lnTo>
                  <a:lnTo>
                    <a:pt x="12221" y="16055"/>
                  </a:lnTo>
                  <a:lnTo>
                    <a:pt x="12434" y="16134"/>
                  </a:lnTo>
                  <a:lnTo>
                    <a:pt x="12611" y="16213"/>
                  </a:lnTo>
                  <a:lnTo>
                    <a:pt x="12771" y="16317"/>
                  </a:lnTo>
                  <a:lnTo>
                    <a:pt x="12913" y="16409"/>
                  </a:lnTo>
                  <a:lnTo>
                    <a:pt x="13038" y="16514"/>
                  </a:lnTo>
                  <a:lnTo>
                    <a:pt x="13251" y="16737"/>
                  </a:lnTo>
                  <a:lnTo>
                    <a:pt x="13428" y="16986"/>
                  </a:lnTo>
                  <a:lnTo>
                    <a:pt x="13517" y="17248"/>
                  </a:lnTo>
                  <a:lnTo>
                    <a:pt x="13588" y="17523"/>
                  </a:lnTo>
                  <a:lnTo>
                    <a:pt x="13588" y="17799"/>
                  </a:lnTo>
                  <a:lnTo>
                    <a:pt x="13517" y="18074"/>
                  </a:lnTo>
                  <a:lnTo>
                    <a:pt x="13428" y="18323"/>
                  </a:lnTo>
                  <a:lnTo>
                    <a:pt x="13286" y="18572"/>
                  </a:lnTo>
                  <a:lnTo>
                    <a:pt x="13109" y="18808"/>
                  </a:lnTo>
                  <a:lnTo>
                    <a:pt x="12878" y="19031"/>
                  </a:lnTo>
                  <a:lnTo>
                    <a:pt x="12434" y="19411"/>
                  </a:lnTo>
                  <a:lnTo>
                    <a:pt x="12132" y="19738"/>
                  </a:lnTo>
                  <a:lnTo>
                    <a:pt x="12025" y="19856"/>
                  </a:lnTo>
                  <a:lnTo>
                    <a:pt x="11919" y="20014"/>
                  </a:lnTo>
                  <a:lnTo>
                    <a:pt x="11883" y="20132"/>
                  </a:lnTo>
                  <a:lnTo>
                    <a:pt x="11883" y="20263"/>
                  </a:lnTo>
                  <a:lnTo>
                    <a:pt x="11883" y="20394"/>
                  </a:lnTo>
                  <a:lnTo>
                    <a:pt x="11954" y="20485"/>
                  </a:lnTo>
                  <a:lnTo>
                    <a:pt x="12061" y="20590"/>
                  </a:lnTo>
                  <a:lnTo>
                    <a:pt x="12185" y="20695"/>
                  </a:lnTo>
                  <a:lnTo>
                    <a:pt x="12327" y="20787"/>
                  </a:lnTo>
                  <a:lnTo>
                    <a:pt x="12540" y="20892"/>
                  </a:lnTo>
                  <a:lnTo>
                    <a:pt x="12771" y="20997"/>
                  </a:lnTo>
                  <a:lnTo>
                    <a:pt x="13073" y="21088"/>
                  </a:lnTo>
                  <a:lnTo>
                    <a:pt x="13428" y="21193"/>
                  </a:lnTo>
                  <a:lnTo>
                    <a:pt x="13873" y="21298"/>
                  </a:lnTo>
                  <a:lnTo>
                    <a:pt x="14317" y="21390"/>
                  </a:lnTo>
                  <a:lnTo>
                    <a:pt x="14778" y="21468"/>
                  </a:lnTo>
                  <a:lnTo>
                    <a:pt x="15294" y="21547"/>
                  </a:lnTo>
                  <a:lnTo>
                    <a:pt x="15809" y="21600"/>
                  </a:lnTo>
                  <a:lnTo>
                    <a:pt x="16359" y="21652"/>
                  </a:lnTo>
                  <a:lnTo>
                    <a:pt x="16875" y="21678"/>
                  </a:lnTo>
                  <a:lnTo>
                    <a:pt x="17407" y="21678"/>
                  </a:lnTo>
                  <a:lnTo>
                    <a:pt x="17958" y="21678"/>
                  </a:lnTo>
                  <a:lnTo>
                    <a:pt x="18473" y="21652"/>
                  </a:lnTo>
                  <a:lnTo>
                    <a:pt x="18953" y="21573"/>
                  </a:lnTo>
                  <a:lnTo>
                    <a:pt x="19397" y="21495"/>
                  </a:lnTo>
                  <a:lnTo>
                    <a:pt x="19841" y="21390"/>
                  </a:lnTo>
                  <a:lnTo>
                    <a:pt x="20214" y="21272"/>
                  </a:lnTo>
                  <a:lnTo>
                    <a:pt x="20551" y="21088"/>
                  </a:lnTo>
                  <a:lnTo>
                    <a:pt x="20480" y="20787"/>
                  </a:lnTo>
                  <a:lnTo>
                    <a:pt x="20409" y="20485"/>
                  </a:lnTo>
                  <a:lnTo>
                    <a:pt x="20356" y="20158"/>
                  </a:lnTo>
                  <a:lnTo>
                    <a:pt x="20356" y="19804"/>
                  </a:lnTo>
                  <a:lnTo>
                    <a:pt x="20321" y="19083"/>
                  </a:lnTo>
                  <a:lnTo>
                    <a:pt x="20356" y="18349"/>
                  </a:lnTo>
                  <a:lnTo>
                    <a:pt x="20409" y="17641"/>
                  </a:lnTo>
                  <a:lnTo>
                    <a:pt x="20480" y="17012"/>
                  </a:lnTo>
                  <a:lnTo>
                    <a:pt x="20551" y="16488"/>
                  </a:lnTo>
                  <a:lnTo>
                    <a:pt x="20551" y="16055"/>
                  </a:lnTo>
                  <a:lnTo>
                    <a:pt x="20551" y="15911"/>
                  </a:lnTo>
                  <a:lnTo>
                    <a:pt x="20445" y="15754"/>
                  </a:lnTo>
                  <a:lnTo>
                    <a:pt x="20356" y="15610"/>
                  </a:lnTo>
                  <a:lnTo>
                    <a:pt x="20178" y="15452"/>
                  </a:lnTo>
                  <a:lnTo>
                    <a:pt x="20001" y="15334"/>
                  </a:lnTo>
                  <a:lnTo>
                    <a:pt x="19770" y="15230"/>
                  </a:lnTo>
                  <a:lnTo>
                    <a:pt x="19521" y="15125"/>
                  </a:lnTo>
                  <a:lnTo>
                    <a:pt x="19290" y="15059"/>
                  </a:lnTo>
                  <a:lnTo>
                    <a:pt x="19024" y="15007"/>
                  </a:lnTo>
                  <a:lnTo>
                    <a:pt x="18740" y="14954"/>
                  </a:lnTo>
                  <a:lnTo>
                    <a:pt x="18509" y="14954"/>
                  </a:lnTo>
                  <a:lnTo>
                    <a:pt x="18225" y="14954"/>
                  </a:lnTo>
                  <a:lnTo>
                    <a:pt x="17994" y="15007"/>
                  </a:lnTo>
                  <a:lnTo>
                    <a:pt x="17763" y="15085"/>
                  </a:lnTo>
                  <a:lnTo>
                    <a:pt x="17550" y="15177"/>
                  </a:lnTo>
                  <a:lnTo>
                    <a:pt x="17372" y="15308"/>
                  </a:lnTo>
                  <a:lnTo>
                    <a:pt x="17176" y="15426"/>
                  </a:lnTo>
                  <a:lnTo>
                    <a:pt x="16928" y="15557"/>
                  </a:lnTo>
                  <a:lnTo>
                    <a:pt x="16661" y="15636"/>
                  </a:lnTo>
                  <a:lnTo>
                    <a:pt x="16359" y="15688"/>
                  </a:lnTo>
                  <a:lnTo>
                    <a:pt x="16022" y="15715"/>
                  </a:lnTo>
                  <a:lnTo>
                    <a:pt x="15667" y="15688"/>
                  </a:lnTo>
                  <a:lnTo>
                    <a:pt x="15294" y="15662"/>
                  </a:lnTo>
                  <a:lnTo>
                    <a:pt x="14956" y="15583"/>
                  </a:lnTo>
                  <a:lnTo>
                    <a:pt x="14619" y="15479"/>
                  </a:lnTo>
                  <a:lnTo>
                    <a:pt x="14281" y="15334"/>
                  </a:lnTo>
                  <a:lnTo>
                    <a:pt x="13961" y="15177"/>
                  </a:lnTo>
                  <a:lnTo>
                    <a:pt x="13695" y="14981"/>
                  </a:lnTo>
                  <a:lnTo>
                    <a:pt x="13588" y="14850"/>
                  </a:lnTo>
                  <a:lnTo>
                    <a:pt x="13482" y="14732"/>
                  </a:lnTo>
                  <a:lnTo>
                    <a:pt x="13393" y="14600"/>
                  </a:lnTo>
                  <a:lnTo>
                    <a:pt x="13322" y="14456"/>
                  </a:lnTo>
                  <a:lnTo>
                    <a:pt x="13251" y="14299"/>
                  </a:lnTo>
                  <a:lnTo>
                    <a:pt x="13215" y="14155"/>
                  </a:lnTo>
                  <a:lnTo>
                    <a:pt x="13180" y="13971"/>
                  </a:lnTo>
                  <a:lnTo>
                    <a:pt x="13180" y="13801"/>
                  </a:lnTo>
                  <a:lnTo>
                    <a:pt x="13180" y="13591"/>
                  </a:lnTo>
                  <a:lnTo>
                    <a:pt x="13215" y="13395"/>
                  </a:lnTo>
                  <a:lnTo>
                    <a:pt x="13251" y="13198"/>
                  </a:lnTo>
                  <a:lnTo>
                    <a:pt x="13322" y="13015"/>
                  </a:lnTo>
                  <a:lnTo>
                    <a:pt x="13393" y="12870"/>
                  </a:lnTo>
                  <a:lnTo>
                    <a:pt x="13482" y="12713"/>
                  </a:lnTo>
                  <a:lnTo>
                    <a:pt x="13588" y="12569"/>
                  </a:lnTo>
                  <a:lnTo>
                    <a:pt x="13730" y="12438"/>
                  </a:lnTo>
                  <a:lnTo>
                    <a:pt x="13997" y="12215"/>
                  </a:lnTo>
                  <a:lnTo>
                    <a:pt x="14334" y="12005"/>
                  </a:lnTo>
                  <a:lnTo>
                    <a:pt x="14690" y="11861"/>
                  </a:lnTo>
                  <a:lnTo>
                    <a:pt x="15063" y="11756"/>
                  </a:lnTo>
                  <a:lnTo>
                    <a:pt x="15436" y="11678"/>
                  </a:lnTo>
                  <a:lnTo>
                    <a:pt x="15809" y="11638"/>
                  </a:lnTo>
                  <a:lnTo>
                    <a:pt x="16182" y="11638"/>
                  </a:lnTo>
                  <a:lnTo>
                    <a:pt x="16555" y="11678"/>
                  </a:lnTo>
                  <a:lnTo>
                    <a:pt x="16910" y="11730"/>
                  </a:lnTo>
                  <a:lnTo>
                    <a:pt x="17248" y="11835"/>
                  </a:lnTo>
                  <a:lnTo>
                    <a:pt x="17514" y="11966"/>
                  </a:lnTo>
                  <a:lnTo>
                    <a:pt x="17763" y="12110"/>
                  </a:lnTo>
                  <a:lnTo>
                    <a:pt x="17887" y="12215"/>
                  </a:lnTo>
                  <a:lnTo>
                    <a:pt x="18065" y="12307"/>
                  </a:lnTo>
                  <a:lnTo>
                    <a:pt x="18260" y="12412"/>
                  </a:lnTo>
                  <a:lnTo>
                    <a:pt x="18438" y="12464"/>
                  </a:lnTo>
                  <a:lnTo>
                    <a:pt x="18669" y="12543"/>
                  </a:lnTo>
                  <a:lnTo>
                    <a:pt x="18882" y="12569"/>
                  </a:lnTo>
                  <a:lnTo>
                    <a:pt x="19113" y="12595"/>
                  </a:lnTo>
                  <a:lnTo>
                    <a:pt x="19361" y="12608"/>
                  </a:lnTo>
                  <a:lnTo>
                    <a:pt x="19592" y="12608"/>
                  </a:lnTo>
                  <a:lnTo>
                    <a:pt x="19841" y="12595"/>
                  </a:lnTo>
                  <a:lnTo>
                    <a:pt x="20072" y="12543"/>
                  </a:lnTo>
                  <a:lnTo>
                    <a:pt x="20321" y="12490"/>
                  </a:lnTo>
                  <a:lnTo>
                    <a:pt x="20551" y="12438"/>
                  </a:lnTo>
                  <a:lnTo>
                    <a:pt x="20800" y="12333"/>
                  </a:lnTo>
                  <a:lnTo>
                    <a:pt x="20996" y="12241"/>
                  </a:lnTo>
                  <a:lnTo>
                    <a:pt x="21244" y="12110"/>
                  </a:lnTo>
                  <a:lnTo>
                    <a:pt x="21298" y="12032"/>
                  </a:lnTo>
                  <a:lnTo>
                    <a:pt x="21404" y="11966"/>
                  </a:lnTo>
                  <a:lnTo>
                    <a:pt x="21475" y="11861"/>
                  </a:lnTo>
                  <a:lnTo>
                    <a:pt x="21511" y="11730"/>
                  </a:lnTo>
                  <a:lnTo>
                    <a:pt x="21617" y="11481"/>
                  </a:lnTo>
                  <a:lnTo>
                    <a:pt x="21653" y="11180"/>
                  </a:lnTo>
                  <a:lnTo>
                    <a:pt x="21653" y="10826"/>
                  </a:lnTo>
                  <a:lnTo>
                    <a:pt x="21653" y="10472"/>
                  </a:lnTo>
                  <a:lnTo>
                    <a:pt x="21582" y="10092"/>
                  </a:lnTo>
                  <a:lnTo>
                    <a:pt x="21511" y="9725"/>
                  </a:lnTo>
                  <a:lnTo>
                    <a:pt x="21298" y="8912"/>
                  </a:lnTo>
                  <a:lnTo>
                    <a:pt x="21067" y="8191"/>
                  </a:lnTo>
                  <a:lnTo>
                    <a:pt x="20800" y="7536"/>
                  </a:lnTo>
                  <a:lnTo>
                    <a:pt x="20551" y="7025"/>
                  </a:lnTo>
                  <a:lnTo>
                    <a:pt x="20001" y="7103"/>
                  </a:lnTo>
                  <a:lnTo>
                    <a:pt x="19432" y="7156"/>
                  </a:lnTo>
                  <a:lnTo>
                    <a:pt x="18846" y="7208"/>
                  </a:lnTo>
                  <a:lnTo>
                    <a:pt x="18225" y="7208"/>
                  </a:lnTo>
                  <a:lnTo>
                    <a:pt x="17656" y="7208"/>
                  </a:lnTo>
                  <a:lnTo>
                    <a:pt x="17070" y="7182"/>
                  </a:lnTo>
                  <a:lnTo>
                    <a:pt x="16484" y="7156"/>
                  </a:lnTo>
                  <a:lnTo>
                    <a:pt x="15986" y="7103"/>
                  </a:lnTo>
                  <a:lnTo>
                    <a:pt x="14992" y="6999"/>
                  </a:lnTo>
                  <a:lnTo>
                    <a:pt x="14210" y="6907"/>
                  </a:lnTo>
                  <a:lnTo>
                    <a:pt x="13695" y="6828"/>
                  </a:lnTo>
                  <a:lnTo>
                    <a:pt x="13517" y="6802"/>
                  </a:lnTo>
                  <a:lnTo>
                    <a:pt x="13073" y="6645"/>
                  </a:lnTo>
                  <a:lnTo>
                    <a:pt x="12700" y="6474"/>
                  </a:lnTo>
                  <a:lnTo>
                    <a:pt x="12363" y="6304"/>
                  </a:lnTo>
                  <a:lnTo>
                    <a:pt x="12132" y="6094"/>
                  </a:lnTo>
                  <a:lnTo>
                    <a:pt x="11919" y="5871"/>
                  </a:lnTo>
                  <a:lnTo>
                    <a:pt x="11776" y="5649"/>
                  </a:lnTo>
                  <a:lnTo>
                    <a:pt x="11688" y="5413"/>
                  </a:lnTo>
                  <a:lnTo>
                    <a:pt x="11617" y="5190"/>
                  </a:lnTo>
                  <a:lnTo>
                    <a:pt x="11617" y="4941"/>
                  </a:lnTo>
                  <a:lnTo>
                    <a:pt x="11652" y="4718"/>
                  </a:lnTo>
                  <a:lnTo>
                    <a:pt x="11723" y="4482"/>
                  </a:lnTo>
                  <a:lnTo>
                    <a:pt x="11812" y="4285"/>
                  </a:lnTo>
                  <a:lnTo>
                    <a:pt x="11919" y="4089"/>
                  </a:lnTo>
                  <a:lnTo>
                    <a:pt x="12096" y="3905"/>
                  </a:lnTo>
                  <a:lnTo>
                    <a:pt x="12292" y="3735"/>
                  </a:lnTo>
                  <a:lnTo>
                    <a:pt x="12505" y="3604"/>
                  </a:lnTo>
                  <a:lnTo>
                    <a:pt x="12700" y="3460"/>
                  </a:lnTo>
                  <a:lnTo>
                    <a:pt x="12878" y="3250"/>
                  </a:lnTo>
                  <a:lnTo>
                    <a:pt x="13038" y="3027"/>
                  </a:lnTo>
                  <a:lnTo>
                    <a:pt x="13180" y="2752"/>
                  </a:lnTo>
                  <a:lnTo>
                    <a:pt x="13286" y="2477"/>
                  </a:lnTo>
                  <a:lnTo>
                    <a:pt x="13322" y="2175"/>
                  </a:lnTo>
                  <a:lnTo>
                    <a:pt x="13357" y="1874"/>
                  </a:lnTo>
                  <a:lnTo>
                    <a:pt x="13286" y="1572"/>
                  </a:lnTo>
                  <a:lnTo>
                    <a:pt x="13180" y="1271"/>
                  </a:lnTo>
                  <a:lnTo>
                    <a:pt x="13038" y="983"/>
                  </a:lnTo>
                  <a:lnTo>
                    <a:pt x="12949" y="865"/>
                  </a:lnTo>
                  <a:lnTo>
                    <a:pt x="12807" y="733"/>
                  </a:lnTo>
                  <a:lnTo>
                    <a:pt x="12665" y="616"/>
                  </a:lnTo>
                  <a:lnTo>
                    <a:pt x="12505" y="511"/>
                  </a:lnTo>
                  <a:lnTo>
                    <a:pt x="12327" y="406"/>
                  </a:lnTo>
                  <a:lnTo>
                    <a:pt x="12132" y="314"/>
                  </a:lnTo>
                  <a:lnTo>
                    <a:pt x="11883" y="235"/>
                  </a:lnTo>
                  <a:lnTo>
                    <a:pt x="11652" y="183"/>
                  </a:lnTo>
                  <a:lnTo>
                    <a:pt x="11368" y="104"/>
                  </a:lnTo>
                  <a:lnTo>
                    <a:pt x="11101" y="78"/>
                  </a:lnTo>
                  <a:lnTo>
                    <a:pt x="10800" y="52"/>
                  </a:lnTo>
                  <a:lnTo>
                    <a:pt x="10444" y="52"/>
                  </a:lnTo>
                  <a:lnTo>
                    <a:pt x="10142" y="52"/>
                  </a:lnTo>
                  <a:lnTo>
                    <a:pt x="9840" y="78"/>
                  </a:lnTo>
                  <a:lnTo>
                    <a:pt x="9574" y="104"/>
                  </a:lnTo>
                  <a:lnTo>
                    <a:pt x="9325" y="157"/>
                  </a:lnTo>
                  <a:lnTo>
                    <a:pt x="9094" y="209"/>
                  </a:lnTo>
                  <a:lnTo>
                    <a:pt x="8846" y="262"/>
                  </a:lnTo>
                  <a:lnTo>
                    <a:pt x="8650" y="340"/>
                  </a:lnTo>
                  <a:lnTo>
                    <a:pt x="8437" y="432"/>
                  </a:lnTo>
                  <a:lnTo>
                    <a:pt x="8277" y="511"/>
                  </a:lnTo>
                  <a:lnTo>
                    <a:pt x="8100" y="616"/>
                  </a:lnTo>
                  <a:lnTo>
                    <a:pt x="7957" y="707"/>
                  </a:lnTo>
                  <a:lnTo>
                    <a:pt x="7833" y="838"/>
                  </a:lnTo>
                  <a:lnTo>
                    <a:pt x="7620" y="1061"/>
                  </a:lnTo>
                  <a:lnTo>
                    <a:pt x="7442" y="1336"/>
                  </a:lnTo>
                  <a:lnTo>
                    <a:pt x="7353" y="1599"/>
                  </a:lnTo>
                  <a:lnTo>
                    <a:pt x="7318" y="1900"/>
                  </a:lnTo>
                  <a:lnTo>
                    <a:pt x="7318" y="2175"/>
                  </a:lnTo>
                  <a:lnTo>
                    <a:pt x="7353" y="2450"/>
                  </a:lnTo>
                  <a:lnTo>
                    <a:pt x="7442" y="2726"/>
                  </a:lnTo>
                  <a:lnTo>
                    <a:pt x="7620" y="2975"/>
                  </a:lnTo>
                  <a:lnTo>
                    <a:pt x="7833" y="3198"/>
                  </a:lnTo>
                  <a:lnTo>
                    <a:pt x="8064" y="3433"/>
                  </a:lnTo>
                  <a:lnTo>
                    <a:pt x="8295" y="3630"/>
                  </a:lnTo>
                  <a:lnTo>
                    <a:pt x="8508" y="3853"/>
                  </a:lnTo>
                  <a:lnTo>
                    <a:pt x="8686" y="4089"/>
                  </a:lnTo>
                  <a:lnTo>
                    <a:pt x="8775" y="4312"/>
                  </a:lnTo>
                  <a:lnTo>
                    <a:pt x="8846" y="4561"/>
                  </a:lnTo>
                  <a:lnTo>
                    <a:pt x="8846" y="4810"/>
                  </a:lnTo>
                  <a:lnTo>
                    <a:pt x="8810" y="5059"/>
                  </a:lnTo>
                  <a:lnTo>
                    <a:pt x="8721" y="5295"/>
                  </a:lnTo>
                  <a:lnTo>
                    <a:pt x="8579" y="5544"/>
                  </a:lnTo>
                  <a:lnTo>
                    <a:pt x="8366" y="5766"/>
                  </a:lnTo>
                  <a:lnTo>
                    <a:pt x="8135" y="5976"/>
                  </a:lnTo>
                  <a:lnTo>
                    <a:pt x="7833" y="6199"/>
                  </a:lnTo>
                  <a:lnTo>
                    <a:pt x="7478" y="6369"/>
                  </a:lnTo>
                  <a:lnTo>
                    <a:pt x="7069" y="6527"/>
                  </a:lnTo>
                  <a:lnTo>
                    <a:pt x="6590" y="6671"/>
                  </a:lnTo>
                  <a:lnTo>
                    <a:pt x="6092" y="6802"/>
                  </a:lnTo>
                  <a:lnTo>
                    <a:pt x="5684" y="6802"/>
                  </a:lnTo>
                  <a:lnTo>
                    <a:pt x="5133" y="6802"/>
                  </a:lnTo>
                  <a:lnTo>
                    <a:pt x="4547" y="6802"/>
                  </a:lnTo>
                  <a:lnTo>
                    <a:pt x="3872" y="6802"/>
                  </a:lnTo>
                  <a:lnTo>
                    <a:pt x="3144" y="6802"/>
                  </a:lnTo>
                  <a:lnTo>
                    <a:pt x="2362" y="6802"/>
                  </a:lnTo>
                  <a:lnTo>
                    <a:pt x="1545" y="6802"/>
                  </a:lnTo>
                  <a:lnTo>
                    <a:pt x="692" y="6802"/>
                  </a:lnTo>
                  <a:lnTo>
                    <a:pt x="586" y="7234"/>
                  </a:lnTo>
                  <a:lnTo>
                    <a:pt x="461" y="7837"/>
                  </a:lnTo>
                  <a:lnTo>
                    <a:pt x="355" y="8493"/>
                  </a:lnTo>
                  <a:lnTo>
                    <a:pt x="248" y="9187"/>
                  </a:lnTo>
                  <a:lnTo>
                    <a:pt x="142" y="9869"/>
                  </a:lnTo>
                  <a:lnTo>
                    <a:pt x="106" y="10498"/>
                  </a:lnTo>
                  <a:lnTo>
                    <a:pt x="106" y="10983"/>
                  </a:lnTo>
                  <a:lnTo>
                    <a:pt x="106" y="11311"/>
                  </a:lnTo>
                  <a:lnTo>
                    <a:pt x="213" y="11481"/>
                  </a:lnTo>
                  <a:lnTo>
                    <a:pt x="319" y="11651"/>
                  </a:lnTo>
                  <a:lnTo>
                    <a:pt x="497" y="11783"/>
                  </a:lnTo>
                  <a:lnTo>
                    <a:pt x="692" y="11914"/>
                  </a:lnTo>
                  <a:lnTo>
                    <a:pt x="941" y="12032"/>
                  </a:lnTo>
                  <a:lnTo>
                    <a:pt x="1207" y="12110"/>
                  </a:lnTo>
                  <a:lnTo>
                    <a:pt x="1509" y="12189"/>
                  </a:lnTo>
                  <a:lnTo>
                    <a:pt x="1794" y="12241"/>
                  </a:lnTo>
                  <a:lnTo>
                    <a:pt x="2131" y="12267"/>
                  </a:lnTo>
                  <a:lnTo>
                    <a:pt x="2433" y="12281"/>
                  </a:lnTo>
                  <a:lnTo>
                    <a:pt x="2735" y="12267"/>
                  </a:lnTo>
                  <a:lnTo>
                    <a:pt x="3055" y="12241"/>
                  </a:lnTo>
                  <a:lnTo>
                    <a:pt x="3357" y="12189"/>
                  </a:lnTo>
                  <a:lnTo>
                    <a:pt x="3623" y="12084"/>
                  </a:lnTo>
                  <a:lnTo>
                    <a:pt x="3872" y="11979"/>
                  </a:lnTo>
                  <a:lnTo>
                    <a:pt x="4103" y="11861"/>
                  </a:lnTo>
                  <a:lnTo>
                    <a:pt x="4316" y="11704"/>
                  </a:lnTo>
                  <a:lnTo>
                    <a:pt x="4582" y="11612"/>
                  </a:lnTo>
                  <a:lnTo>
                    <a:pt x="4849" y="11533"/>
                  </a:lnTo>
                  <a:lnTo>
                    <a:pt x="5169" y="11507"/>
                  </a:lnTo>
                  <a:lnTo>
                    <a:pt x="5506" y="11481"/>
                  </a:lnTo>
                  <a:lnTo>
                    <a:pt x="5808" y="11507"/>
                  </a:lnTo>
                  <a:lnTo>
                    <a:pt x="6146" y="11560"/>
                  </a:lnTo>
                  <a:lnTo>
                    <a:pt x="6501" y="11651"/>
                  </a:lnTo>
                  <a:lnTo>
                    <a:pt x="6803" y="11783"/>
                  </a:lnTo>
                  <a:lnTo>
                    <a:pt x="7105" y="11940"/>
                  </a:lnTo>
                  <a:lnTo>
                    <a:pt x="7353" y="12110"/>
                  </a:lnTo>
                  <a:lnTo>
                    <a:pt x="7584" y="12333"/>
                  </a:lnTo>
                  <a:lnTo>
                    <a:pt x="7798" y="12595"/>
                  </a:lnTo>
                  <a:lnTo>
                    <a:pt x="7922" y="12870"/>
                  </a:lnTo>
                  <a:lnTo>
                    <a:pt x="8028" y="13198"/>
                  </a:lnTo>
                  <a:lnTo>
                    <a:pt x="8064" y="13526"/>
                  </a:lnTo>
                  <a:lnTo>
                    <a:pt x="8028" y="13775"/>
                  </a:lnTo>
                  <a:lnTo>
                    <a:pt x="7922" y="13998"/>
                  </a:lnTo>
                  <a:lnTo>
                    <a:pt x="7798" y="14220"/>
                  </a:lnTo>
                  <a:lnTo>
                    <a:pt x="7584" y="14404"/>
                  </a:lnTo>
                  <a:lnTo>
                    <a:pt x="7353" y="14574"/>
                  </a:lnTo>
                  <a:lnTo>
                    <a:pt x="7105" y="14732"/>
                  </a:lnTo>
                  <a:lnTo>
                    <a:pt x="6803" y="14850"/>
                  </a:lnTo>
                  <a:lnTo>
                    <a:pt x="6501" y="14954"/>
                  </a:lnTo>
                  <a:lnTo>
                    <a:pt x="6146" y="15033"/>
                  </a:lnTo>
                  <a:lnTo>
                    <a:pt x="5808" y="15085"/>
                  </a:lnTo>
                  <a:lnTo>
                    <a:pt x="5506" y="15085"/>
                  </a:lnTo>
                  <a:lnTo>
                    <a:pt x="5169" y="15059"/>
                  </a:lnTo>
                  <a:lnTo>
                    <a:pt x="4849" y="15007"/>
                  </a:lnTo>
                  <a:lnTo>
                    <a:pt x="4582" y="14902"/>
                  </a:lnTo>
                  <a:lnTo>
                    <a:pt x="4316" y="14784"/>
                  </a:lnTo>
                  <a:lnTo>
                    <a:pt x="4103" y="14600"/>
                  </a:lnTo>
                  <a:lnTo>
                    <a:pt x="3907" y="14430"/>
                  </a:lnTo>
                  <a:lnTo>
                    <a:pt x="3659" y="14299"/>
                  </a:lnTo>
                  <a:lnTo>
                    <a:pt x="3428" y="14194"/>
                  </a:lnTo>
                  <a:lnTo>
                    <a:pt x="3179" y="14129"/>
                  </a:lnTo>
                  <a:lnTo>
                    <a:pt x="2913" y="14102"/>
                  </a:lnTo>
                  <a:lnTo>
                    <a:pt x="2646" y="14102"/>
                  </a:lnTo>
                  <a:lnTo>
                    <a:pt x="2362" y="14129"/>
                  </a:lnTo>
                  <a:lnTo>
                    <a:pt x="2096" y="14168"/>
                  </a:lnTo>
                  <a:lnTo>
                    <a:pt x="1811" y="14273"/>
                  </a:lnTo>
                  <a:lnTo>
                    <a:pt x="1545" y="14378"/>
                  </a:lnTo>
                  <a:lnTo>
                    <a:pt x="1314" y="14496"/>
                  </a:lnTo>
                  <a:lnTo>
                    <a:pt x="1065" y="14653"/>
                  </a:lnTo>
                  <a:lnTo>
                    <a:pt x="870" y="14797"/>
                  </a:lnTo>
                  <a:lnTo>
                    <a:pt x="657" y="14981"/>
                  </a:lnTo>
                  <a:lnTo>
                    <a:pt x="497" y="15177"/>
                  </a:lnTo>
                  <a:lnTo>
                    <a:pt x="390" y="15413"/>
                  </a:lnTo>
                  <a:lnTo>
                    <a:pt x="284" y="15636"/>
                  </a:lnTo>
                  <a:lnTo>
                    <a:pt x="248" y="15911"/>
                  </a:lnTo>
                  <a:lnTo>
                    <a:pt x="284" y="16239"/>
                  </a:lnTo>
                  <a:lnTo>
                    <a:pt x="319" y="16566"/>
                  </a:lnTo>
                  <a:lnTo>
                    <a:pt x="497" y="17340"/>
                  </a:lnTo>
                  <a:lnTo>
                    <a:pt x="692" y="18152"/>
                  </a:lnTo>
                  <a:lnTo>
                    <a:pt x="799" y="18559"/>
                  </a:lnTo>
                  <a:lnTo>
                    <a:pt x="905" y="18978"/>
                  </a:lnTo>
                  <a:lnTo>
                    <a:pt x="959" y="19384"/>
                  </a:lnTo>
                  <a:lnTo>
                    <a:pt x="994" y="19791"/>
                  </a:lnTo>
                  <a:lnTo>
                    <a:pt x="994" y="20132"/>
                  </a:lnTo>
                  <a:lnTo>
                    <a:pt x="959" y="20485"/>
                  </a:lnTo>
                  <a:lnTo>
                    <a:pt x="941" y="20669"/>
                  </a:lnTo>
                  <a:lnTo>
                    <a:pt x="870" y="20813"/>
                  </a:lnTo>
                  <a:lnTo>
                    <a:pt x="799" y="20970"/>
                  </a:lnTo>
                  <a:lnTo>
                    <a:pt x="692" y="21088"/>
                  </a:lnTo>
                  <a:lnTo>
                    <a:pt x="1474" y="20997"/>
                  </a:lnTo>
                  <a:lnTo>
                    <a:pt x="2291" y="20866"/>
                  </a:lnTo>
                  <a:lnTo>
                    <a:pt x="3108" y="20787"/>
                  </a:lnTo>
                  <a:lnTo>
                    <a:pt x="3907" y="20721"/>
                  </a:lnTo>
                  <a:lnTo>
                    <a:pt x="4653" y="20695"/>
                  </a:lnTo>
                  <a:lnTo>
                    <a:pt x="5364" y="20695"/>
                  </a:lnTo>
                  <a:lnTo>
                    <a:pt x="5701" y="20721"/>
                  </a:lnTo>
                  <a:lnTo>
                    <a:pt x="6057" y="20761"/>
                  </a:lnTo>
                  <a:lnTo>
                    <a:pt x="6323" y="20813"/>
                  </a:lnTo>
                  <a:lnTo>
                    <a:pt x="6625" y="20892"/>
                  </a:lnTo>
                  <a:close/>
                </a:path>
              </a:pathLst>
            </a:custGeom>
            <a:solidFill>
              <a:srgbClr val="FFBE7D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5063" name="Puzzle2"/>
            <p:cNvSpPr>
              <a:spLocks noEditPoints="1" noChangeArrowheads="1"/>
            </p:cNvSpPr>
            <p:nvPr/>
          </p:nvSpPr>
          <p:spPr bwMode="auto">
            <a:xfrm>
              <a:off x="2880" y="1736"/>
              <a:ext cx="1778" cy="1379"/>
            </a:xfrm>
            <a:custGeom>
              <a:avLst/>
              <a:gdLst>
                <a:gd name="T0" fmla="*/ 11 w 21600"/>
                <a:gd name="T1" fmla="*/ 13386 h 21600"/>
                <a:gd name="T2" fmla="*/ 4202 w 21600"/>
                <a:gd name="T3" fmla="*/ 21161 h 21600"/>
                <a:gd name="T4" fmla="*/ 10400 w 21600"/>
                <a:gd name="T5" fmla="*/ 13909 h 21600"/>
                <a:gd name="T6" fmla="*/ 16821 w 21600"/>
                <a:gd name="T7" fmla="*/ 21190 h 21600"/>
                <a:gd name="T8" fmla="*/ 21600 w 21600"/>
                <a:gd name="T9" fmla="*/ 15083 h 21600"/>
                <a:gd name="T10" fmla="*/ 16889 w 21600"/>
                <a:gd name="T11" fmla="*/ 5739 h 21600"/>
                <a:gd name="T12" fmla="*/ 10800 w 21600"/>
                <a:gd name="T13" fmla="*/ 28 h 21600"/>
                <a:gd name="T14" fmla="*/ 4202 w 21600"/>
                <a:gd name="T15" fmla="*/ 5894 h 21600"/>
                <a:gd name="T16" fmla="*/ 5388 w 21600"/>
                <a:gd name="T17" fmla="*/ 6742 h 21600"/>
                <a:gd name="T18" fmla="*/ 16177 w 21600"/>
                <a:gd name="T19" fmla="*/ 20441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4247" y="12354"/>
                  </a:moveTo>
                  <a:lnTo>
                    <a:pt x="4134" y="12468"/>
                  </a:lnTo>
                  <a:lnTo>
                    <a:pt x="4010" y="12581"/>
                  </a:lnTo>
                  <a:lnTo>
                    <a:pt x="3897" y="12637"/>
                  </a:lnTo>
                  <a:lnTo>
                    <a:pt x="3773" y="12694"/>
                  </a:lnTo>
                  <a:lnTo>
                    <a:pt x="3637" y="12694"/>
                  </a:lnTo>
                  <a:lnTo>
                    <a:pt x="3524" y="12694"/>
                  </a:lnTo>
                  <a:lnTo>
                    <a:pt x="3400" y="12665"/>
                  </a:lnTo>
                  <a:lnTo>
                    <a:pt x="3287" y="12609"/>
                  </a:lnTo>
                  <a:lnTo>
                    <a:pt x="3027" y="12496"/>
                  </a:lnTo>
                  <a:lnTo>
                    <a:pt x="2790" y="12340"/>
                  </a:lnTo>
                  <a:lnTo>
                    <a:pt x="2530" y="12142"/>
                  </a:lnTo>
                  <a:lnTo>
                    <a:pt x="2293" y="11987"/>
                  </a:lnTo>
                  <a:lnTo>
                    <a:pt x="2033" y="11817"/>
                  </a:lnTo>
                  <a:lnTo>
                    <a:pt x="1773" y="11676"/>
                  </a:lnTo>
                  <a:lnTo>
                    <a:pt x="1638" y="11662"/>
                  </a:lnTo>
                  <a:lnTo>
                    <a:pt x="1513" y="11634"/>
                  </a:lnTo>
                  <a:lnTo>
                    <a:pt x="1378" y="11634"/>
                  </a:lnTo>
                  <a:lnTo>
                    <a:pt x="1253" y="11634"/>
                  </a:lnTo>
                  <a:lnTo>
                    <a:pt x="1118" y="11662"/>
                  </a:lnTo>
                  <a:lnTo>
                    <a:pt x="971" y="11732"/>
                  </a:lnTo>
                  <a:lnTo>
                    <a:pt x="835" y="11817"/>
                  </a:lnTo>
                  <a:lnTo>
                    <a:pt x="711" y="11959"/>
                  </a:lnTo>
                  <a:lnTo>
                    <a:pt x="553" y="12086"/>
                  </a:lnTo>
                  <a:lnTo>
                    <a:pt x="429" y="12284"/>
                  </a:lnTo>
                  <a:lnTo>
                    <a:pt x="271" y="12524"/>
                  </a:lnTo>
                  <a:lnTo>
                    <a:pt x="146" y="12793"/>
                  </a:lnTo>
                  <a:lnTo>
                    <a:pt x="79" y="12962"/>
                  </a:lnTo>
                  <a:lnTo>
                    <a:pt x="33" y="13146"/>
                  </a:lnTo>
                  <a:lnTo>
                    <a:pt x="11" y="13386"/>
                  </a:lnTo>
                  <a:lnTo>
                    <a:pt x="11" y="13641"/>
                  </a:lnTo>
                  <a:lnTo>
                    <a:pt x="33" y="13881"/>
                  </a:lnTo>
                  <a:lnTo>
                    <a:pt x="101" y="14150"/>
                  </a:lnTo>
                  <a:lnTo>
                    <a:pt x="192" y="14404"/>
                  </a:lnTo>
                  <a:lnTo>
                    <a:pt x="293" y="14645"/>
                  </a:lnTo>
                  <a:lnTo>
                    <a:pt x="451" y="14857"/>
                  </a:lnTo>
                  <a:lnTo>
                    <a:pt x="621" y="15054"/>
                  </a:lnTo>
                  <a:lnTo>
                    <a:pt x="734" y="15125"/>
                  </a:lnTo>
                  <a:lnTo>
                    <a:pt x="835" y="15210"/>
                  </a:lnTo>
                  <a:lnTo>
                    <a:pt x="948" y="15267"/>
                  </a:lnTo>
                  <a:lnTo>
                    <a:pt x="1084" y="15323"/>
                  </a:lnTo>
                  <a:lnTo>
                    <a:pt x="1208" y="15351"/>
                  </a:lnTo>
                  <a:lnTo>
                    <a:pt x="1355" y="15380"/>
                  </a:lnTo>
                  <a:lnTo>
                    <a:pt x="1513" y="15380"/>
                  </a:lnTo>
                  <a:lnTo>
                    <a:pt x="1683" y="15380"/>
                  </a:lnTo>
                  <a:lnTo>
                    <a:pt x="1864" y="15351"/>
                  </a:lnTo>
                  <a:lnTo>
                    <a:pt x="2033" y="15323"/>
                  </a:lnTo>
                  <a:lnTo>
                    <a:pt x="2225" y="15238"/>
                  </a:lnTo>
                  <a:lnTo>
                    <a:pt x="2428" y="15153"/>
                  </a:lnTo>
                  <a:lnTo>
                    <a:pt x="2745" y="15026"/>
                  </a:lnTo>
                  <a:lnTo>
                    <a:pt x="3005" y="14913"/>
                  </a:lnTo>
                  <a:lnTo>
                    <a:pt x="3264" y="14828"/>
                  </a:lnTo>
                  <a:lnTo>
                    <a:pt x="3513" y="14800"/>
                  </a:lnTo>
                  <a:lnTo>
                    <a:pt x="3615" y="14828"/>
                  </a:lnTo>
                  <a:lnTo>
                    <a:pt x="3728" y="14857"/>
                  </a:lnTo>
                  <a:lnTo>
                    <a:pt x="3807" y="14913"/>
                  </a:lnTo>
                  <a:lnTo>
                    <a:pt x="3920" y="14998"/>
                  </a:lnTo>
                  <a:lnTo>
                    <a:pt x="4010" y="15097"/>
                  </a:lnTo>
                  <a:lnTo>
                    <a:pt x="4089" y="15238"/>
                  </a:lnTo>
                  <a:lnTo>
                    <a:pt x="4179" y="15408"/>
                  </a:lnTo>
                  <a:lnTo>
                    <a:pt x="4247" y="15620"/>
                  </a:lnTo>
                  <a:lnTo>
                    <a:pt x="4326" y="15860"/>
                  </a:lnTo>
                  <a:lnTo>
                    <a:pt x="4394" y="16129"/>
                  </a:lnTo>
                  <a:lnTo>
                    <a:pt x="4439" y="16440"/>
                  </a:lnTo>
                  <a:lnTo>
                    <a:pt x="4507" y="16737"/>
                  </a:lnTo>
                  <a:lnTo>
                    <a:pt x="4552" y="17090"/>
                  </a:lnTo>
                  <a:lnTo>
                    <a:pt x="4575" y="17443"/>
                  </a:lnTo>
                  <a:lnTo>
                    <a:pt x="4586" y="17825"/>
                  </a:lnTo>
                  <a:lnTo>
                    <a:pt x="4586" y="18193"/>
                  </a:lnTo>
                  <a:lnTo>
                    <a:pt x="4586" y="18574"/>
                  </a:lnTo>
                  <a:lnTo>
                    <a:pt x="4586" y="18984"/>
                  </a:lnTo>
                  <a:lnTo>
                    <a:pt x="4552" y="19366"/>
                  </a:lnTo>
                  <a:lnTo>
                    <a:pt x="4507" y="19748"/>
                  </a:lnTo>
                  <a:lnTo>
                    <a:pt x="4462" y="20129"/>
                  </a:lnTo>
                  <a:lnTo>
                    <a:pt x="4371" y="20483"/>
                  </a:lnTo>
                  <a:lnTo>
                    <a:pt x="4292" y="20836"/>
                  </a:lnTo>
                  <a:lnTo>
                    <a:pt x="4202" y="21161"/>
                  </a:lnTo>
                  <a:lnTo>
                    <a:pt x="4744" y="21161"/>
                  </a:lnTo>
                  <a:lnTo>
                    <a:pt x="5264" y="21161"/>
                  </a:lnTo>
                  <a:lnTo>
                    <a:pt x="5784" y="21161"/>
                  </a:lnTo>
                  <a:lnTo>
                    <a:pt x="6235" y="21161"/>
                  </a:lnTo>
                  <a:lnTo>
                    <a:pt x="6676" y="21161"/>
                  </a:lnTo>
                  <a:lnTo>
                    <a:pt x="7060" y="21161"/>
                  </a:lnTo>
                  <a:lnTo>
                    <a:pt x="7410" y="21161"/>
                  </a:lnTo>
                  <a:lnTo>
                    <a:pt x="7670" y="21161"/>
                  </a:lnTo>
                  <a:lnTo>
                    <a:pt x="8020" y="21020"/>
                  </a:lnTo>
                  <a:lnTo>
                    <a:pt x="8303" y="20893"/>
                  </a:lnTo>
                  <a:lnTo>
                    <a:pt x="8563" y="20695"/>
                  </a:lnTo>
                  <a:lnTo>
                    <a:pt x="8800" y="20511"/>
                  </a:lnTo>
                  <a:lnTo>
                    <a:pt x="8969" y="20285"/>
                  </a:lnTo>
                  <a:lnTo>
                    <a:pt x="9150" y="20045"/>
                  </a:lnTo>
                  <a:lnTo>
                    <a:pt x="9252" y="19804"/>
                  </a:lnTo>
                  <a:lnTo>
                    <a:pt x="9342" y="19550"/>
                  </a:lnTo>
                  <a:lnTo>
                    <a:pt x="9410" y="19281"/>
                  </a:lnTo>
                  <a:lnTo>
                    <a:pt x="9433" y="19013"/>
                  </a:lnTo>
                  <a:lnTo>
                    <a:pt x="9433" y="18744"/>
                  </a:lnTo>
                  <a:lnTo>
                    <a:pt x="9387" y="18504"/>
                  </a:lnTo>
                  <a:lnTo>
                    <a:pt x="9320" y="18221"/>
                  </a:lnTo>
                  <a:lnTo>
                    <a:pt x="9207" y="17981"/>
                  </a:lnTo>
                  <a:lnTo>
                    <a:pt x="9105" y="17740"/>
                  </a:lnTo>
                  <a:lnTo>
                    <a:pt x="8924" y="17514"/>
                  </a:lnTo>
                  <a:lnTo>
                    <a:pt x="8777" y="17274"/>
                  </a:lnTo>
                  <a:lnTo>
                    <a:pt x="8642" y="17034"/>
                  </a:lnTo>
                  <a:lnTo>
                    <a:pt x="8563" y="16765"/>
                  </a:lnTo>
                  <a:lnTo>
                    <a:pt x="8472" y="16468"/>
                  </a:lnTo>
                  <a:lnTo>
                    <a:pt x="8450" y="16157"/>
                  </a:lnTo>
                  <a:lnTo>
                    <a:pt x="8450" y="15860"/>
                  </a:lnTo>
                  <a:lnTo>
                    <a:pt x="8472" y="15563"/>
                  </a:lnTo>
                  <a:lnTo>
                    <a:pt x="8540" y="15267"/>
                  </a:lnTo>
                  <a:lnTo>
                    <a:pt x="8642" y="14998"/>
                  </a:lnTo>
                  <a:lnTo>
                    <a:pt x="8777" y="14729"/>
                  </a:lnTo>
                  <a:lnTo>
                    <a:pt x="8868" y="14616"/>
                  </a:lnTo>
                  <a:lnTo>
                    <a:pt x="8969" y="14475"/>
                  </a:lnTo>
                  <a:lnTo>
                    <a:pt x="9060" y="14376"/>
                  </a:lnTo>
                  <a:lnTo>
                    <a:pt x="9184" y="14291"/>
                  </a:lnTo>
                  <a:lnTo>
                    <a:pt x="9297" y="14206"/>
                  </a:lnTo>
                  <a:lnTo>
                    <a:pt x="9433" y="14121"/>
                  </a:lnTo>
                  <a:lnTo>
                    <a:pt x="9579" y="14051"/>
                  </a:lnTo>
                  <a:lnTo>
                    <a:pt x="9726" y="13994"/>
                  </a:lnTo>
                  <a:lnTo>
                    <a:pt x="9884" y="13938"/>
                  </a:lnTo>
                  <a:lnTo>
                    <a:pt x="10054" y="13909"/>
                  </a:lnTo>
                  <a:lnTo>
                    <a:pt x="10257" y="13881"/>
                  </a:lnTo>
                  <a:lnTo>
                    <a:pt x="10449" y="13881"/>
                  </a:lnTo>
                  <a:lnTo>
                    <a:pt x="10664" y="13881"/>
                  </a:lnTo>
                  <a:lnTo>
                    <a:pt x="10856" y="13909"/>
                  </a:lnTo>
                  <a:lnTo>
                    <a:pt x="11037" y="13966"/>
                  </a:lnTo>
                  <a:lnTo>
                    <a:pt x="11206" y="14023"/>
                  </a:lnTo>
                  <a:lnTo>
                    <a:pt x="11353" y="14093"/>
                  </a:lnTo>
                  <a:lnTo>
                    <a:pt x="11511" y="14178"/>
                  </a:lnTo>
                  <a:lnTo>
                    <a:pt x="11635" y="14263"/>
                  </a:lnTo>
                  <a:lnTo>
                    <a:pt x="11748" y="14376"/>
                  </a:lnTo>
                  <a:lnTo>
                    <a:pt x="11861" y="14475"/>
                  </a:lnTo>
                  <a:lnTo>
                    <a:pt x="11941" y="14616"/>
                  </a:lnTo>
                  <a:lnTo>
                    <a:pt x="12031" y="14758"/>
                  </a:lnTo>
                  <a:lnTo>
                    <a:pt x="12099" y="14885"/>
                  </a:lnTo>
                  <a:lnTo>
                    <a:pt x="12200" y="15210"/>
                  </a:lnTo>
                  <a:lnTo>
                    <a:pt x="12268" y="15507"/>
                  </a:lnTo>
                  <a:lnTo>
                    <a:pt x="12291" y="15832"/>
                  </a:lnTo>
                  <a:lnTo>
                    <a:pt x="12291" y="16157"/>
                  </a:lnTo>
                  <a:lnTo>
                    <a:pt x="12246" y="16482"/>
                  </a:lnTo>
                  <a:lnTo>
                    <a:pt x="12178" y="16807"/>
                  </a:lnTo>
                  <a:lnTo>
                    <a:pt x="12099" y="17090"/>
                  </a:lnTo>
                  <a:lnTo>
                    <a:pt x="12008" y="17330"/>
                  </a:lnTo>
                  <a:lnTo>
                    <a:pt x="11884" y="17542"/>
                  </a:lnTo>
                  <a:lnTo>
                    <a:pt x="11748" y="17712"/>
                  </a:lnTo>
                  <a:lnTo>
                    <a:pt x="11613" y="17839"/>
                  </a:lnTo>
                  <a:lnTo>
                    <a:pt x="11489" y="18037"/>
                  </a:lnTo>
                  <a:lnTo>
                    <a:pt x="11398" y="18221"/>
                  </a:lnTo>
                  <a:lnTo>
                    <a:pt x="11319" y="18447"/>
                  </a:lnTo>
                  <a:lnTo>
                    <a:pt x="11251" y="18659"/>
                  </a:lnTo>
                  <a:lnTo>
                    <a:pt x="11206" y="18900"/>
                  </a:lnTo>
                  <a:lnTo>
                    <a:pt x="11184" y="19154"/>
                  </a:lnTo>
                  <a:lnTo>
                    <a:pt x="11184" y="19423"/>
                  </a:lnTo>
                  <a:lnTo>
                    <a:pt x="11229" y="19663"/>
                  </a:lnTo>
                  <a:lnTo>
                    <a:pt x="11297" y="19903"/>
                  </a:lnTo>
                  <a:lnTo>
                    <a:pt x="11376" y="20158"/>
                  </a:lnTo>
                  <a:lnTo>
                    <a:pt x="11511" y="20398"/>
                  </a:lnTo>
                  <a:lnTo>
                    <a:pt x="11681" y="20610"/>
                  </a:lnTo>
                  <a:lnTo>
                    <a:pt x="11884" y="20808"/>
                  </a:lnTo>
                  <a:lnTo>
                    <a:pt x="12121" y="20992"/>
                  </a:lnTo>
                  <a:lnTo>
                    <a:pt x="12404" y="21161"/>
                  </a:lnTo>
                  <a:lnTo>
                    <a:pt x="12528" y="21190"/>
                  </a:lnTo>
                  <a:lnTo>
                    <a:pt x="12856" y="21274"/>
                  </a:lnTo>
                  <a:lnTo>
                    <a:pt x="13330" y="21373"/>
                  </a:lnTo>
                  <a:lnTo>
                    <a:pt x="13963" y="21486"/>
                  </a:lnTo>
                  <a:lnTo>
                    <a:pt x="14313" y="21543"/>
                  </a:lnTo>
                  <a:lnTo>
                    <a:pt x="14652" y="21571"/>
                  </a:lnTo>
                  <a:lnTo>
                    <a:pt x="15025" y="21600"/>
                  </a:lnTo>
                  <a:lnTo>
                    <a:pt x="15409" y="21600"/>
                  </a:lnTo>
                  <a:lnTo>
                    <a:pt x="15782" y="21600"/>
                  </a:lnTo>
                  <a:lnTo>
                    <a:pt x="16177" y="21571"/>
                  </a:lnTo>
                  <a:lnTo>
                    <a:pt x="16516" y="21486"/>
                  </a:lnTo>
                  <a:lnTo>
                    <a:pt x="16889" y="21402"/>
                  </a:lnTo>
                  <a:lnTo>
                    <a:pt x="16821" y="21190"/>
                  </a:lnTo>
                  <a:lnTo>
                    <a:pt x="16776" y="20935"/>
                  </a:lnTo>
                  <a:lnTo>
                    <a:pt x="16742" y="20667"/>
                  </a:lnTo>
                  <a:lnTo>
                    <a:pt x="16719" y="20370"/>
                  </a:lnTo>
                  <a:lnTo>
                    <a:pt x="16697" y="19719"/>
                  </a:lnTo>
                  <a:lnTo>
                    <a:pt x="16697" y="19013"/>
                  </a:lnTo>
                  <a:lnTo>
                    <a:pt x="16719" y="18306"/>
                  </a:lnTo>
                  <a:lnTo>
                    <a:pt x="16753" y="17599"/>
                  </a:lnTo>
                  <a:lnTo>
                    <a:pt x="16821" y="16949"/>
                  </a:lnTo>
                  <a:lnTo>
                    <a:pt x="16889" y="16383"/>
                  </a:lnTo>
                  <a:lnTo>
                    <a:pt x="16934" y="16129"/>
                  </a:lnTo>
                  <a:lnTo>
                    <a:pt x="17002" y="15945"/>
                  </a:lnTo>
                  <a:lnTo>
                    <a:pt x="17081" y="15790"/>
                  </a:lnTo>
                  <a:lnTo>
                    <a:pt x="17194" y="15648"/>
                  </a:lnTo>
                  <a:lnTo>
                    <a:pt x="17318" y="15563"/>
                  </a:lnTo>
                  <a:lnTo>
                    <a:pt x="17453" y="15507"/>
                  </a:lnTo>
                  <a:lnTo>
                    <a:pt x="17600" y="15450"/>
                  </a:lnTo>
                  <a:lnTo>
                    <a:pt x="17758" y="15450"/>
                  </a:lnTo>
                  <a:lnTo>
                    <a:pt x="17905" y="15479"/>
                  </a:lnTo>
                  <a:lnTo>
                    <a:pt x="18064" y="15535"/>
                  </a:lnTo>
                  <a:lnTo>
                    <a:pt x="18233" y="15620"/>
                  </a:lnTo>
                  <a:lnTo>
                    <a:pt x="18380" y="15733"/>
                  </a:lnTo>
                  <a:lnTo>
                    <a:pt x="18561" y="15832"/>
                  </a:lnTo>
                  <a:lnTo>
                    <a:pt x="18707" y="15973"/>
                  </a:lnTo>
                  <a:lnTo>
                    <a:pt x="18866" y="16129"/>
                  </a:lnTo>
                  <a:lnTo>
                    <a:pt x="18990" y="16327"/>
                  </a:lnTo>
                  <a:lnTo>
                    <a:pt x="19125" y="16482"/>
                  </a:lnTo>
                  <a:lnTo>
                    <a:pt x="19295" y="16624"/>
                  </a:lnTo>
                  <a:lnTo>
                    <a:pt x="19464" y="16737"/>
                  </a:lnTo>
                  <a:lnTo>
                    <a:pt x="19668" y="16807"/>
                  </a:lnTo>
                  <a:lnTo>
                    <a:pt x="19860" y="16836"/>
                  </a:lnTo>
                  <a:lnTo>
                    <a:pt x="20052" y="16864"/>
                  </a:lnTo>
                  <a:lnTo>
                    <a:pt x="20266" y="16836"/>
                  </a:lnTo>
                  <a:lnTo>
                    <a:pt x="20470" y="16793"/>
                  </a:lnTo>
                  <a:lnTo>
                    <a:pt x="20662" y="16708"/>
                  </a:lnTo>
                  <a:lnTo>
                    <a:pt x="20854" y="16567"/>
                  </a:lnTo>
                  <a:lnTo>
                    <a:pt x="21035" y="16412"/>
                  </a:lnTo>
                  <a:lnTo>
                    <a:pt x="21182" y="16214"/>
                  </a:lnTo>
                  <a:lnTo>
                    <a:pt x="21340" y="16002"/>
                  </a:lnTo>
                  <a:lnTo>
                    <a:pt x="21441" y="15733"/>
                  </a:lnTo>
                  <a:lnTo>
                    <a:pt x="21532" y="15436"/>
                  </a:lnTo>
                  <a:lnTo>
                    <a:pt x="21600" y="15083"/>
                  </a:lnTo>
                  <a:lnTo>
                    <a:pt x="21600" y="14885"/>
                  </a:lnTo>
                  <a:lnTo>
                    <a:pt x="21600" y="14729"/>
                  </a:lnTo>
                  <a:lnTo>
                    <a:pt x="21600" y="14531"/>
                  </a:lnTo>
                  <a:lnTo>
                    <a:pt x="21577" y="14376"/>
                  </a:lnTo>
                  <a:lnTo>
                    <a:pt x="21532" y="14206"/>
                  </a:lnTo>
                  <a:lnTo>
                    <a:pt x="21487" y="14051"/>
                  </a:lnTo>
                  <a:lnTo>
                    <a:pt x="21419" y="13909"/>
                  </a:lnTo>
                  <a:lnTo>
                    <a:pt x="21351" y="13768"/>
                  </a:lnTo>
                  <a:lnTo>
                    <a:pt x="21204" y="13500"/>
                  </a:lnTo>
                  <a:lnTo>
                    <a:pt x="21035" y="13287"/>
                  </a:lnTo>
                  <a:lnTo>
                    <a:pt x="20809" y="13090"/>
                  </a:lnTo>
                  <a:lnTo>
                    <a:pt x="20594" y="12962"/>
                  </a:lnTo>
                  <a:lnTo>
                    <a:pt x="20357" y="12821"/>
                  </a:lnTo>
                  <a:lnTo>
                    <a:pt x="20120" y="12764"/>
                  </a:lnTo>
                  <a:lnTo>
                    <a:pt x="19882" y="12708"/>
                  </a:lnTo>
                  <a:lnTo>
                    <a:pt x="19645" y="12736"/>
                  </a:lnTo>
                  <a:lnTo>
                    <a:pt x="19430" y="12793"/>
                  </a:lnTo>
                  <a:lnTo>
                    <a:pt x="19227" y="12906"/>
                  </a:lnTo>
                  <a:lnTo>
                    <a:pt x="19148" y="12962"/>
                  </a:lnTo>
                  <a:lnTo>
                    <a:pt x="19058" y="13047"/>
                  </a:lnTo>
                  <a:lnTo>
                    <a:pt x="18990" y="13146"/>
                  </a:lnTo>
                  <a:lnTo>
                    <a:pt x="18911" y="13259"/>
                  </a:lnTo>
                  <a:lnTo>
                    <a:pt x="18775" y="13471"/>
                  </a:lnTo>
                  <a:lnTo>
                    <a:pt x="18628" y="13641"/>
                  </a:lnTo>
                  <a:lnTo>
                    <a:pt x="18470" y="13740"/>
                  </a:lnTo>
                  <a:lnTo>
                    <a:pt x="18301" y="13825"/>
                  </a:lnTo>
                  <a:lnTo>
                    <a:pt x="18143" y="13853"/>
                  </a:lnTo>
                  <a:lnTo>
                    <a:pt x="17973" y="13881"/>
                  </a:lnTo>
                  <a:lnTo>
                    <a:pt x="17804" y="13853"/>
                  </a:lnTo>
                  <a:lnTo>
                    <a:pt x="17646" y="13796"/>
                  </a:lnTo>
                  <a:lnTo>
                    <a:pt x="17499" y="13726"/>
                  </a:lnTo>
                  <a:lnTo>
                    <a:pt x="17341" y="13641"/>
                  </a:lnTo>
                  <a:lnTo>
                    <a:pt x="17216" y="13528"/>
                  </a:lnTo>
                  <a:lnTo>
                    <a:pt x="17103" y="13386"/>
                  </a:lnTo>
                  <a:lnTo>
                    <a:pt x="17024" y="13259"/>
                  </a:lnTo>
                  <a:lnTo>
                    <a:pt x="16934" y="13118"/>
                  </a:lnTo>
                  <a:lnTo>
                    <a:pt x="16889" y="12991"/>
                  </a:lnTo>
                  <a:lnTo>
                    <a:pt x="16889" y="12849"/>
                  </a:lnTo>
                  <a:lnTo>
                    <a:pt x="16889" y="12383"/>
                  </a:lnTo>
                  <a:lnTo>
                    <a:pt x="16889" y="11662"/>
                  </a:lnTo>
                  <a:lnTo>
                    <a:pt x="16889" y="10701"/>
                  </a:lnTo>
                  <a:lnTo>
                    <a:pt x="16889" y="9640"/>
                  </a:lnTo>
                  <a:lnTo>
                    <a:pt x="16889" y="8566"/>
                  </a:lnTo>
                  <a:lnTo>
                    <a:pt x="16889" y="7478"/>
                  </a:lnTo>
                  <a:lnTo>
                    <a:pt x="16889" y="6502"/>
                  </a:lnTo>
                  <a:lnTo>
                    <a:pt x="16889" y="5739"/>
                  </a:lnTo>
                  <a:lnTo>
                    <a:pt x="16674" y="5894"/>
                  </a:lnTo>
                  <a:lnTo>
                    <a:pt x="16414" y="6036"/>
                  </a:lnTo>
                  <a:lnTo>
                    <a:pt x="16154" y="6177"/>
                  </a:lnTo>
                  <a:lnTo>
                    <a:pt x="15849" y="6248"/>
                  </a:lnTo>
                  <a:lnTo>
                    <a:pt x="15544" y="6304"/>
                  </a:lnTo>
                  <a:lnTo>
                    <a:pt x="15217" y="6332"/>
                  </a:lnTo>
                  <a:lnTo>
                    <a:pt x="14866" y="6361"/>
                  </a:lnTo>
                  <a:lnTo>
                    <a:pt x="14550" y="6361"/>
                  </a:lnTo>
                  <a:lnTo>
                    <a:pt x="14200" y="6332"/>
                  </a:lnTo>
                  <a:lnTo>
                    <a:pt x="13850" y="6276"/>
                  </a:lnTo>
                  <a:lnTo>
                    <a:pt x="13522" y="6219"/>
                  </a:lnTo>
                  <a:lnTo>
                    <a:pt x="13206" y="6149"/>
                  </a:lnTo>
                  <a:lnTo>
                    <a:pt x="12901" y="6064"/>
                  </a:lnTo>
                  <a:lnTo>
                    <a:pt x="12618" y="5951"/>
                  </a:lnTo>
                  <a:lnTo>
                    <a:pt x="12358" y="5838"/>
                  </a:lnTo>
                  <a:lnTo>
                    <a:pt x="12121" y="5739"/>
                  </a:lnTo>
                  <a:lnTo>
                    <a:pt x="11941" y="5626"/>
                  </a:lnTo>
                  <a:lnTo>
                    <a:pt x="11794" y="5513"/>
                  </a:lnTo>
                  <a:lnTo>
                    <a:pt x="11658" y="5414"/>
                  </a:lnTo>
                  <a:lnTo>
                    <a:pt x="11556" y="5301"/>
                  </a:lnTo>
                  <a:lnTo>
                    <a:pt x="11466" y="5187"/>
                  </a:lnTo>
                  <a:lnTo>
                    <a:pt x="11398" y="5089"/>
                  </a:lnTo>
                  <a:lnTo>
                    <a:pt x="11376" y="4947"/>
                  </a:lnTo>
                  <a:lnTo>
                    <a:pt x="11353" y="4834"/>
                  </a:lnTo>
                  <a:lnTo>
                    <a:pt x="11353" y="4707"/>
                  </a:lnTo>
                  <a:lnTo>
                    <a:pt x="11376" y="4565"/>
                  </a:lnTo>
                  <a:lnTo>
                    <a:pt x="11443" y="4410"/>
                  </a:lnTo>
                  <a:lnTo>
                    <a:pt x="11511" y="4240"/>
                  </a:lnTo>
                  <a:lnTo>
                    <a:pt x="11703" y="3887"/>
                  </a:lnTo>
                  <a:lnTo>
                    <a:pt x="11986" y="3505"/>
                  </a:lnTo>
                  <a:lnTo>
                    <a:pt x="12144" y="3265"/>
                  </a:lnTo>
                  <a:lnTo>
                    <a:pt x="12246" y="3025"/>
                  </a:lnTo>
                  <a:lnTo>
                    <a:pt x="12336" y="2756"/>
                  </a:lnTo>
                  <a:lnTo>
                    <a:pt x="12404" y="2445"/>
                  </a:lnTo>
                  <a:lnTo>
                    <a:pt x="12438" y="2176"/>
                  </a:lnTo>
                  <a:lnTo>
                    <a:pt x="12438" y="1880"/>
                  </a:lnTo>
                  <a:lnTo>
                    <a:pt x="12404" y="1583"/>
                  </a:lnTo>
                  <a:lnTo>
                    <a:pt x="12336" y="1314"/>
                  </a:lnTo>
                  <a:lnTo>
                    <a:pt x="12246" y="1046"/>
                  </a:lnTo>
                  <a:lnTo>
                    <a:pt x="12099" y="791"/>
                  </a:lnTo>
                  <a:lnTo>
                    <a:pt x="12008" y="692"/>
                  </a:lnTo>
                  <a:lnTo>
                    <a:pt x="11918" y="579"/>
                  </a:lnTo>
                  <a:lnTo>
                    <a:pt x="11816" y="466"/>
                  </a:lnTo>
                  <a:lnTo>
                    <a:pt x="11703" y="381"/>
                  </a:lnTo>
                  <a:lnTo>
                    <a:pt x="11579" y="310"/>
                  </a:lnTo>
                  <a:lnTo>
                    <a:pt x="11443" y="226"/>
                  </a:lnTo>
                  <a:lnTo>
                    <a:pt x="11297" y="169"/>
                  </a:lnTo>
                  <a:lnTo>
                    <a:pt x="11138" y="113"/>
                  </a:lnTo>
                  <a:lnTo>
                    <a:pt x="10969" y="56"/>
                  </a:lnTo>
                  <a:lnTo>
                    <a:pt x="10800" y="28"/>
                  </a:lnTo>
                  <a:lnTo>
                    <a:pt x="10619" y="28"/>
                  </a:lnTo>
                  <a:lnTo>
                    <a:pt x="10404" y="28"/>
                  </a:lnTo>
                  <a:lnTo>
                    <a:pt x="10257" y="28"/>
                  </a:lnTo>
                  <a:lnTo>
                    <a:pt x="10076" y="56"/>
                  </a:lnTo>
                  <a:lnTo>
                    <a:pt x="9952" y="84"/>
                  </a:lnTo>
                  <a:lnTo>
                    <a:pt x="9794" y="141"/>
                  </a:lnTo>
                  <a:lnTo>
                    <a:pt x="9692" y="226"/>
                  </a:lnTo>
                  <a:lnTo>
                    <a:pt x="9557" y="282"/>
                  </a:lnTo>
                  <a:lnTo>
                    <a:pt x="9455" y="381"/>
                  </a:lnTo>
                  <a:lnTo>
                    <a:pt x="9365" y="466"/>
                  </a:lnTo>
                  <a:lnTo>
                    <a:pt x="9274" y="579"/>
                  </a:lnTo>
                  <a:lnTo>
                    <a:pt x="9184" y="692"/>
                  </a:lnTo>
                  <a:lnTo>
                    <a:pt x="9128" y="791"/>
                  </a:lnTo>
                  <a:lnTo>
                    <a:pt x="9060" y="932"/>
                  </a:lnTo>
                  <a:lnTo>
                    <a:pt x="8969" y="1201"/>
                  </a:lnTo>
                  <a:lnTo>
                    <a:pt x="8913" y="1498"/>
                  </a:lnTo>
                  <a:lnTo>
                    <a:pt x="8890" y="1795"/>
                  </a:lnTo>
                  <a:lnTo>
                    <a:pt x="8890" y="2120"/>
                  </a:lnTo>
                  <a:lnTo>
                    <a:pt x="8913" y="2445"/>
                  </a:lnTo>
                  <a:lnTo>
                    <a:pt x="8969" y="2756"/>
                  </a:lnTo>
                  <a:lnTo>
                    <a:pt x="9060" y="3081"/>
                  </a:lnTo>
                  <a:lnTo>
                    <a:pt x="9173" y="3378"/>
                  </a:lnTo>
                  <a:lnTo>
                    <a:pt x="9297" y="3647"/>
                  </a:lnTo>
                  <a:lnTo>
                    <a:pt x="9466" y="3887"/>
                  </a:lnTo>
                  <a:lnTo>
                    <a:pt x="9579" y="4085"/>
                  </a:lnTo>
                  <a:lnTo>
                    <a:pt x="9670" y="4269"/>
                  </a:lnTo>
                  <a:lnTo>
                    <a:pt x="9726" y="4467"/>
                  </a:lnTo>
                  <a:lnTo>
                    <a:pt x="9771" y="4650"/>
                  </a:lnTo>
                  <a:lnTo>
                    <a:pt x="9771" y="4834"/>
                  </a:lnTo>
                  <a:lnTo>
                    <a:pt x="9749" y="5032"/>
                  </a:lnTo>
                  <a:lnTo>
                    <a:pt x="9715" y="5216"/>
                  </a:lnTo>
                  <a:lnTo>
                    <a:pt x="9625" y="5385"/>
                  </a:lnTo>
                  <a:lnTo>
                    <a:pt x="9534" y="5513"/>
                  </a:lnTo>
                  <a:lnTo>
                    <a:pt x="9410" y="5626"/>
                  </a:lnTo>
                  <a:lnTo>
                    <a:pt x="9229" y="5710"/>
                  </a:lnTo>
                  <a:lnTo>
                    <a:pt x="9060" y="5767"/>
                  </a:lnTo>
                  <a:lnTo>
                    <a:pt x="8845" y="5767"/>
                  </a:lnTo>
                  <a:lnTo>
                    <a:pt x="8585" y="5739"/>
                  </a:lnTo>
                  <a:lnTo>
                    <a:pt x="8325" y="5654"/>
                  </a:lnTo>
                  <a:lnTo>
                    <a:pt x="8020" y="5513"/>
                  </a:lnTo>
                  <a:lnTo>
                    <a:pt x="7840" y="5442"/>
                  </a:lnTo>
                  <a:lnTo>
                    <a:pt x="7648" y="5385"/>
                  </a:lnTo>
                  <a:lnTo>
                    <a:pt x="7433" y="5329"/>
                  </a:lnTo>
                  <a:lnTo>
                    <a:pt x="7241" y="5301"/>
                  </a:lnTo>
                  <a:lnTo>
                    <a:pt x="6755" y="5301"/>
                  </a:lnTo>
                  <a:lnTo>
                    <a:pt x="6281" y="5329"/>
                  </a:lnTo>
                  <a:lnTo>
                    <a:pt x="5784" y="5385"/>
                  </a:lnTo>
                  <a:lnTo>
                    <a:pt x="5264" y="5498"/>
                  </a:lnTo>
                  <a:lnTo>
                    <a:pt x="4744" y="5597"/>
                  </a:lnTo>
                  <a:lnTo>
                    <a:pt x="4247" y="5739"/>
                  </a:lnTo>
                  <a:lnTo>
                    <a:pt x="4202" y="5894"/>
                  </a:lnTo>
                  <a:lnTo>
                    <a:pt x="4202" y="6191"/>
                  </a:lnTo>
                  <a:lnTo>
                    <a:pt x="4202" y="6545"/>
                  </a:lnTo>
                  <a:lnTo>
                    <a:pt x="4225" y="6954"/>
                  </a:lnTo>
                  <a:lnTo>
                    <a:pt x="4315" y="7930"/>
                  </a:lnTo>
                  <a:lnTo>
                    <a:pt x="4394" y="9018"/>
                  </a:lnTo>
                  <a:lnTo>
                    <a:pt x="4439" y="9570"/>
                  </a:lnTo>
                  <a:lnTo>
                    <a:pt x="4462" y="10107"/>
                  </a:lnTo>
                  <a:lnTo>
                    <a:pt x="4484" y="10630"/>
                  </a:lnTo>
                  <a:lnTo>
                    <a:pt x="4507" y="11082"/>
                  </a:lnTo>
                  <a:lnTo>
                    <a:pt x="4484" y="11520"/>
                  </a:lnTo>
                  <a:lnTo>
                    <a:pt x="4439" y="11874"/>
                  </a:lnTo>
                  <a:lnTo>
                    <a:pt x="4394" y="12029"/>
                  </a:lnTo>
                  <a:lnTo>
                    <a:pt x="4349" y="12171"/>
                  </a:lnTo>
                  <a:lnTo>
                    <a:pt x="4315" y="12284"/>
                  </a:lnTo>
                  <a:lnTo>
                    <a:pt x="4247" y="12354"/>
                  </a:lnTo>
                  <a:close/>
                </a:path>
              </a:pathLst>
            </a:custGeom>
            <a:solidFill>
              <a:srgbClr val="FF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5064" name="Puzzle4"/>
            <p:cNvSpPr>
              <a:spLocks noEditPoints="1" noChangeArrowheads="1"/>
            </p:cNvSpPr>
            <p:nvPr/>
          </p:nvSpPr>
          <p:spPr bwMode="auto">
            <a:xfrm>
              <a:off x="2192" y="1719"/>
              <a:ext cx="1072" cy="1763"/>
            </a:xfrm>
            <a:custGeom>
              <a:avLst/>
              <a:gdLst>
                <a:gd name="T0" fmla="*/ 8307 w 21600"/>
                <a:gd name="T1" fmla="*/ 11593 h 21600"/>
                <a:gd name="T2" fmla="*/ 453 w 21600"/>
                <a:gd name="T3" fmla="*/ 16938 h 21600"/>
                <a:gd name="T4" fmla="*/ 11500 w 21600"/>
                <a:gd name="T5" fmla="*/ 21600 h 21600"/>
                <a:gd name="T6" fmla="*/ 20920 w 21600"/>
                <a:gd name="T7" fmla="*/ 16751 h 21600"/>
                <a:gd name="T8" fmla="*/ 13972 w 21600"/>
                <a:gd name="T9" fmla="*/ 10888 h 21600"/>
                <a:gd name="T10" fmla="*/ 21033 w 21600"/>
                <a:gd name="T11" fmla="*/ 4716 h 21600"/>
                <a:gd name="T12" fmla="*/ 11102 w 21600"/>
                <a:gd name="T13" fmla="*/ 11 h 21600"/>
                <a:gd name="T14" fmla="*/ 453 w 21600"/>
                <a:gd name="T15" fmla="*/ 4716 h 21600"/>
                <a:gd name="T16" fmla="*/ 2076 w 21600"/>
                <a:gd name="T17" fmla="*/ 5664 h 21600"/>
                <a:gd name="T18" fmla="*/ 20203 w 21600"/>
                <a:gd name="T19" fmla="*/ 1598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3813" y="10590"/>
                  </a:moveTo>
                  <a:lnTo>
                    <a:pt x="3927" y="10513"/>
                  </a:lnTo>
                  <a:lnTo>
                    <a:pt x="4078" y="10425"/>
                  </a:lnTo>
                  <a:lnTo>
                    <a:pt x="4210" y="10359"/>
                  </a:lnTo>
                  <a:lnTo>
                    <a:pt x="4361" y="10315"/>
                  </a:lnTo>
                  <a:lnTo>
                    <a:pt x="4682" y="10237"/>
                  </a:lnTo>
                  <a:lnTo>
                    <a:pt x="5041" y="10193"/>
                  </a:lnTo>
                  <a:lnTo>
                    <a:pt x="5456" y="10171"/>
                  </a:lnTo>
                  <a:lnTo>
                    <a:pt x="5853" y="10193"/>
                  </a:lnTo>
                  <a:lnTo>
                    <a:pt x="6249" y="10260"/>
                  </a:lnTo>
                  <a:lnTo>
                    <a:pt x="6646" y="10337"/>
                  </a:lnTo>
                  <a:lnTo>
                    <a:pt x="7004" y="10469"/>
                  </a:lnTo>
                  <a:lnTo>
                    <a:pt x="7363" y="10612"/>
                  </a:lnTo>
                  <a:lnTo>
                    <a:pt x="7665" y="10788"/>
                  </a:lnTo>
                  <a:lnTo>
                    <a:pt x="7911" y="10998"/>
                  </a:lnTo>
                  <a:lnTo>
                    <a:pt x="8024" y="11097"/>
                  </a:lnTo>
                  <a:lnTo>
                    <a:pt x="8137" y="11207"/>
                  </a:lnTo>
                  <a:lnTo>
                    <a:pt x="8194" y="11340"/>
                  </a:lnTo>
                  <a:lnTo>
                    <a:pt x="8269" y="11461"/>
                  </a:lnTo>
                  <a:lnTo>
                    <a:pt x="8307" y="11593"/>
                  </a:lnTo>
                  <a:lnTo>
                    <a:pt x="8307" y="11714"/>
                  </a:lnTo>
                  <a:lnTo>
                    <a:pt x="8307" y="11868"/>
                  </a:lnTo>
                  <a:lnTo>
                    <a:pt x="8307" y="12012"/>
                  </a:lnTo>
                  <a:lnTo>
                    <a:pt x="8194" y="12265"/>
                  </a:lnTo>
                  <a:lnTo>
                    <a:pt x="8062" y="12519"/>
                  </a:lnTo>
                  <a:lnTo>
                    <a:pt x="7873" y="12706"/>
                  </a:lnTo>
                  <a:lnTo>
                    <a:pt x="7627" y="12904"/>
                  </a:lnTo>
                  <a:lnTo>
                    <a:pt x="7363" y="13048"/>
                  </a:lnTo>
                  <a:lnTo>
                    <a:pt x="7080" y="13180"/>
                  </a:lnTo>
                  <a:lnTo>
                    <a:pt x="6759" y="13257"/>
                  </a:lnTo>
                  <a:lnTo>
                    <a:pt x="6419" y="13345"/>
                  </a:lnTo>
                  <a:lnTo>
                    <a:pt x="6098" y="13389"/>
                  </a:lnTo>
                  <a:lnTo>
                    <a:pt x="5739" y="13389"/>
                  </a:lnTo>
                  <a:lnTo>
                    <a:pt x="5418" y="13389"/>
                  </a:lnTo>
                  <a:lnTo>
                    <a:pt x="5079" y="13345"/>
                  </a:lnTo>
                  <a:lnTo>
                    <a:pt x="4758" y="13301"/>
                  </a:lnTo>
                  <a:lnTo>
                    <a:pt x="4474" y="13213"/>
                  </a:lnTo>
                  <a:lnTo>
                    <a:pt x="4172" y="13114"/>
                  </a:lnTo>
                  <a:lnTo>
                    <a:pt x="3965" y="12982"/>
                  </a:lnTo>
                  <a:lnTo>
                    <a:pt x="3738" y="12838"/>
                  </a:lnTo>
                  <a:lnTo>
                    <a:pt x="3493" y="12706"/>
                  </a:lnTo>
                  <a:lnTo>
                    <a:pt x="3228" y="12607"/>
                  </a:lnTo>
                  <a:lnTo>
                    <a:pt x="2945" y="12519"/>
                  </a:lnTo>
                  <a:lnTo>
                    <a:pt x="2700" y="12431"/>
                  </a:lnTo>
                  <a:lnTo>
                    <a:pt x="2397" y="12375"/>
                  </a:lnTo>
                  <a:lnTo>
                    <a:pt x="2152" y="12331"/>
                  </a:lnTo>
                  <a:lnTo>
                    <a:pt x="1888" y="12309"/>
                  </a:lnTo>
                  <a:lnTo>
                    <a:pt x="1642" y="12309"/>
                  </a:lnTo>
                  <a:lnTo>
                    <a:pt x="1397" y="12331"/>
                  </a:lnTo>
                  <a:lnTo>
                    <a:pt x="1170" y="12397"/>
                  </a:lnTo>
                  <a:lnTo>
                    <a:pt x="962" y="12453"/>
                  </a:lnTo>
                  <a:lnTo>
                    <a:pt x="774" y="12563"/>
                  </a:lnTo>
                  <a:lnTo>
                    <a:pt x="623" y="12684"/>
                  </a:lnTo>
                  <a:lnTo>
                    <a:pt x="528" y="12838"/>
                  </a:lnTo>
                  <a:lnTo>
                    <a:pt x="453" y="13026"/>
                  </a:lnTo>
                  <a:lnTo>
                    <a:pt x="339" y="13477"/>
                  </a:lnTo>
                  <a:lnTo>
                    <a:pt x="226" y="13984"/>
                  </a:lnTo>
                  <a:lnTo>
                    <a:pt x="151" y="14535"/>
                  </a:lnTo>
                  <a:lnTo>
                    <a:pt x="113" y="15075"/>
                  </a:lnTo>
                  <a:lnTo>
                    <a:pt x="113" y="15626"/>
                  </a:lnTo>
                  <a:lnTo>
                    <a:pt x="151" y="16133"/>
                  </a:lnTo>
                  <a:lnTo>
                    <a:pt x="188" y="16376"/>
                  </a:lnTo>
                  <a:lnTo>
                    <a:pt x="264" y="16585"/>
                  </a:lnTo>
                  <a:lnTo>
                    <a:pt x="339" y="16773"/>
                  </a:lnTo>
                  <a:lnTo>
                    <a:pt x="453" y="16938"/>
                  </a:lnTo>
                  <a:lnTo>
                    <a:pt x="1095" y="16883"/>
                  </a:lnTo>
                  <a:lnTo>
                    <a:pt x="1963" y="16795"/>
                  </a:lnTo>
                  <a:lnTo>
                    <a:pt x="2945" y="16751"/>
                  </a:lnTo>
                  <a:lnTo>
                    <a:pt x="3965" y="16706"/>
                  </a:lnTo>
                  <a:lnTo>
                    <a:pt x="5022" y="16684"/>
                  </a:lnTo>
                  <a:lnTo>
                    <a:pt x="5947" y="16684"/>
                  </a:lnTo>
                  <a:lnTo>
                    <a:pt x="6759" y="16706"/>
                  </a:lnTo>
                  <a:lnTo>
                    <a:pt x="7363" y="16751"/>
                  </a:lnTo>
                  <a:lnTo>
                    <a:pt x="7948" y="16839"/>
                  </a:lnTo>
                  <a:lnTo>
                    <a:pt x="8458" y="16916"/>
                  </a:lnTo>
                  <a:lnTo>
                    <a:pt x="8893" y="17026"/>
                  </a:lnTo>
                  <a:lnTo>
                    <a:pt x="9289" y="17158"/>
                  </a:lnTo>
                  <a:lnTo>
                    <a:pt x="9572" y="17280"/>
                  </a:lnTo>
                  <a:lnTo>
                    <a:pt x="9799" y="17412"/>
                  </a:lnTo>
                  <a:lnTo>
                    <a:pt x="9969" y="17555"/>
                  </a:lnTo>
                  <a:lnTo>
                    <a:pt x="10120" y="17687"/>
                  </a:lnTo>
                  <a:lnTo>
                    <a:pt x="10158" y="17831"/>
                  </a:lnTo>
                  <a:lnTo>
                    <a:pt x="10195" y="17974"/>
                  </a:lnTo>
                  <a:lnTo>
                    <a:pt x="10158" y="18128"/>
                  </a:lnTo>
                  <a:lnTo>
                    <a:pt x="10082" y="18271"/>
                  </a:lnTo>
                  <a:lnTo>
                    <a:pt x="9969" y="18426"/>
                  </a:lnTo>
                  <a:lnTo>
                    <a:pt x="9837" y="18569"/>
                  </a:lnTo>
                  <a:lnTo>
                    <a:pt x="9648" y="18701"/>
                  </a:lnTo>
                  <a:lnTo>
                    <a:pt x="9440" y="18822"/>
                  </a:lnTo>
                  <a:lnTo>
                    <a:pt x="9213" y="18999"/>
                  </a:lnTo>
                  <a:lnTo>
                    <a:pt x="9044" y="19186"/>
                  </a:lnTo>
                  <a:lnTo>
                    <a:pt x="8893" y="19395"/>
                  </a:lnTo>
                  <a:lnTo>
                    <a:pt x="8817" y="19627"/>
                  </a:lnTo>
                  <a:lnTo>
                    <a:pt x="8779" y="19858"/>
                  </a:lnTo>
                  <a:lnTo>
                    <a:pt x="8779" y="20112"/>
                  </a:lnTo>
                  <a:lnTo>
                    <a:pt x="8855" y="20354"/>
                  </a:lnTo>
                  <a:lnTo>
                    <a:pt x="8968" y="20586"/>
                  </a:lnTo>
                  <a:lnTo>
                    <a:pt x="9138" y="20817"/>
                  </a:lnTo>
                  <a:lnTo>
                    <a:pt x="9365" y="21026"/>
                  </a:lnTo>
                  <a:lnTo>
                    <a:pt x="9610" y="21192"/>
                  </a:lnTo>
                  <a:lnTo>
                    <a:pt x="9950" y="21368"/>
                  </a:lnTo>
                  <a:lnTo>
                    <a:pt x="10120" y="21445"/>
                  </a:lnTo>
                  <a:lnTo>
                    <a:pt x="10346" y="21511"/>
                  </a:lnTo>
                  <a:lnTo>
                    <a:pt x="10516" y="21555"/>
                  </a:lnTo>
                  <a:lnTo>
                    <a:pt x="10743" y="21600"/>
                  </a:lnTo>
                  <a:lnTo>
                    <a:pt x="10988" y="21644"/>
                  </a:lnTo>
                  <a:lnTo>
                    <a:pt x="11215" y="21666"/>
                  </a:lnTo>
                  <a:lnTo>
                    <a:pt x="11498" y="21666"/>
                  </a:lnTo>
                  <a:lnTo>
                    <a:pt x="11762" y="21666"/>
                  </a:lnTo>
                  <a:lnTo>
                    <a:pt x="12253" y="21644"/>
                  </a:lnTo>
                  <a:lnTo>
                    <a:pt x="12763" y="21577"/>
                  </a:lnTo>
                  <a:lnTo>
                    <a:pt x="13197" y="21467"/>
                  </a:lnTo>
                  <a:lnTo>
                    <a:pt x="13556" y="21346"/>
                  </a:lnTo>
                  <a:lnTo>
                    <a:pt x="13896" y="21192"/>
                  </a:lnTo>
                  <a:lnTo>
                    <a:pt x="14179" y="21026"/>
                  </a:lnTo>
                  <a:lnTo>
                    <a:pt x="14444" y="20839"/>
                  </a:lnTo>
                  <a:lnTo>
                    <a:pt x="14576" y="20641"/>
                  </a:lnTo>
                  <a:lnTo>
                    <a:pt x="14727" y="20431"/>
                  </a:lnTo>
                  <a:lnTo>
                    <a:pt x="14765" y="20200"/>
                  </a:lnTo>
                  <a:lnTo>
                    <a:pt x="14802" y="19991"/>
                  </a:lnTo>
                  <a:lnTo>
                    <a:pt x="14727" y="19759"/>
                  </a:lnTo>
                  <a:lnTo>
                    <a:pt x="14613" y="19550"/>
                  </a:lnTo>
                  <a:lnTo>
                    <a:pt x="14444" y="19307"/>
                  </a:lnTo>
                  <a:lnTo>
                    <a:pt x="14217" y="19098"/>
                  </a:lnTo>
                  <a:lnTo>
                    <a:pt x="13934" y="18911"/>
                  </a:lnTo>
                  <a:lnTo>
                    <a:pt x="13669" y="18745"/>
                  </a:lnTo>
                  <a:lnTo>
                    <a:pt x="13462" y="18547"/>
                  </a:lnTo>
                  <a:lnTo>
                    <a:pt x="13311" y="18337"/>
                  </a:lnTo>
                  <a:lnTo>
                    <a:pt x="13197" y="18150"/>
                  </a:lnTo>
                  <a:lnTo>
                    <a:pt x="13122" y="17941"/>
                  </a:lnTo>
                  <a:lnTo>
                    <a:pt x="13122" y="17720"/>
                  </a:lnTo>
                  <a:lnTo>
                    <a:pt x="13122" y="17533"/>
                  </a:lnTo>
                  <a:lnTo>
                    <a:pt x="13197" y="17346"/>
                  </a:lnTo>
                  <a:lnTo>
                    <a:pt x="13273" y="17158"/>
                  </a:lnTo>
                  <a:lnTo>
                    <a:pt x="13386" y="16982"/>
                  </a:lnTo>
                  <a:lnTo>
                    <a:pt x="13537" y="16839"/>
                  </a:lnTo>
                  <a:lnTo>
                    <a:pt x="13707" y="16706"/>
                  </a:lnTo>
                  <a:lnTo>
                    <a:pt x="13896" y="16607"/>
                  </a:lnTo>
                  <a:lnTo>
                    <a:pt x="14104" y="16519"/>
                  </a:lnTo>
                  <a:lnTo>
                    <a:pt x="14330" y="16453"/>
                  </a:lnTo>
                  <a:lnTo>
                    <a:pt x="14538" y="16431"/>
                  </a:lnTo>
                  <a:lnTo>
                    <a:pt x="14897" y="16453"/>
                  </a:lnTo>
                  <a:lnTo>
                    <a:pt x="15406" y="16497"/>
                  </a:lnTo>
                  <a:lnTo>
                    <a:pt x="16105" y="16541"/>
                  </a:lnTo>
                  <a:lnTo>
                    <a:pt x="16898" y="16607"/>
                  </a:lnTo>
                  <a:lnTo>
                    <a:pt x="17804" y="16651"/>
                  </a:lnTo>
                  <a:lnTo>
                    <a:pt x="18786" y="16684"/>
                  </a:lnTo>
                  <a:lnTo>
                    <a:pt x="19844" y="16728"/>
                  </a:lnTo>
                  <a:lnTo>
                    <a:pt x="20920" y="16751"/>
                  </a:lnTo>
                  <a:lnTo>
                    <a:pt x="21109" y="16497"/>
                  </a:lnTo>
                  <a:lnTo>
                    <a:pt x="21241" y="16222"/>
                  </a:lnTo>
                  <a:lnTo>
                    <a:pt x="21392" y="15946"/>
                  </a:lnTo>
                  <a:lnTo>
                    <a:pt x="21467" y="15648"/>
                  </a:lnTo>
                  <a:lnTo>
                    <a:pt x="21543" y="15351"/>
                  </a:lnTo>
                  <a:lnTo>
                    <a:pt x="21618" y="15042"/>
                  </a:lnTo>
                  <a:lnTo>
                    <a:pt x="21618" y="14745"/>
                  </a:lnTo>
                  <a:lnTo>
                    <a:pt x="21618" y="14447"/>
                  </a:lnTo>
                  <a:lnTo>
                    <a:pt x="21618" y="14150"/>
                  </a:lnTo>
                  <a:lnTo>
                    <a:pt x="21581" y="13852"/>
                  </a:lnTo>
                  <a:lnTo>
                    <a:pt x="21505" y="13577"/>
                  </a:lnTo>
                  <a:lnTo>
                    <a:pt x="21430" y="13301"/>
                  </a:lnTo>
                  <a:lnTo>
                    <a:pt x="21354" y="13048"/>
                  </a:lnTo>
                  <a:lnTo>
                    <a:pt x="21241" y="12816"/>
                  </a:lnTo>
                  <a:lnTo>
                    <a:pt x="21146" y="12607"/>
                  </a:lnTo>
                  <a:lnTo>
                    <a:pt x="21033" y="12431"/>
                  </a:lnTo>
                  <a:lnTo>
                    <a:pt x="20920" y="12265"/>
                  </a:lnTo>
                  <a:lnTo>
                    <a:pt x="20769" y="12144"/>
                  </a:lnTo>
                  <a:lnTo>
                    <a:pt x="20637" y="12034"/>
                  </a:lnTo>
                  <a:lnTo>
                    <a:pt x="20486" y="11946"/>
                  </a:lnTo>
                  <a:lnTo>
                    <a:pt x="20297" y="11891"/>
                  </a:lnTo>
                  <a:lnTo>
                    <a:pt x="20165" y="11846"/>
                  </a:lnTo>
                  <a:lnTo>
                    <a:pt x="19976" y="11824"/>
                  </a:lnTo>
                  <a:lnTo>
                    <a:pt x="19806" y="11802"/>
                  </a:lnTo>
                  <a:lnTo>
                    <a:pt x="19390" y="11824"/>
                  </a:lnTo>
                  <a:lnTo>
                    <a:pt x="18956" y="11891"/>
                  </a:lnTo>
                  <a:lnTo>
                    <a:pt x="18503" y="11968"/>
                  </a:lnTo>
                  <a:lnTo>
                    <a:pt x="17993" y="12078"/>
                  </a:lnTo>
                  <a:lnTo>
                    <a:pt x="17653" y="12144"/>
                  </a:lnTo>
                  <a:lnTo>
                    <a:pt x="17332" y="12199"/>
                  </a:lnTo>
                  <a:lnTo>
                    <a:pt x="17049" y="12221"/>
                  </a:lnTo>
                  <a:lnTo>
                    <a:pt x="16747" y="12243"/>
                  </a:lnTo>
                  <a:lnTo>
                    <a:pt x="16464" y="12243"/>
                  </a:lnTo>
                  <a:lnTo>
                    <a:pt x="16218" y="12243"/>
                  </a:lnTo>
                  <a:lnTo>
                    <a:pt x="15992" y="12221"/>
                  </a:lnTo>
                  <a:lnTo>
                    <a:pt x="15746" y="12199"/>
                  </a:lnTo>
                  <a:lnTo>
                    <a:pt x="15520" y="12155"/>
                  </a:lnTo>
                  <a:lnTo>
                    <a:pt x="15350" y="12122"/>
                  </a:lnTo>
                  <a:lnTo>
                    <a:pt x="15161" y="12056"/>
                  </a:lnTo>
                  <a:lnTo>
                    <a:pt x="14972" y="11990"/>
                  </a:lnTo>
                  <a:lnTo>
                    <a:pt x="14689" y="11846"/>
                  </a:lnTo>
                  <a:lnTo>
                    <a:pt x="14444" y="11670"/>
                  </a:lnTo>
                  <a:lnTo>
                    <a:pt x="14255" y="11483"/>
                  </a:lnTo>
                  <a:lnTo>
                    <a:pt x="14104" y="11295"/>
                  </a:lnTo>
                  <a:lnTo>
                    <a:pt x="14028" y="11086"/>
                  </a:lnTo>
                  <a:lnTo>
                    <a:pt x="13972" y="10888"/>
                  </a:lnTo>
                  <a:lnTo>
                    <a:pt x="13972" y="10700"/>
                  </a:lnTo>
                  <a:lnTo>
                    <a:pt x="14009" y="10513"/>
                  </a:lnTo>
                  <a:lnTo>
                    <a:pt x="14066" y="10359"/>
                  </a:lnTo>
                  <a:lnTo>
                    <a:pt x="14179" y="10215"/>
                  </a:lnTo>
                  <a:lnTo>
                    <a:pt x="14406" y="10006"/>
                  </a:lnTo>
                  <a:lnTo>
                    <a:pt x="14651" y="9830"/>
                  </a:lnTo>
                  <a:lnTo>
                    <a:pt x="14878" y="9686"/>
                  </a:lnTo>
                  <a:lnTo>
                    <a:pt x="15123" y="9554"/>
                  </a:lnTo>
                  <a:lnTo>
                    <a:pt x="15350" y="9477"/>
                  </a:lnTo>
                  <a:lnTo>
                    <a:pt x="15558" y="9411"/>
                  </a:lnTo>
                  <a:lnTo>
                    <a:pt x="15803" y="9345"/>
                  </a:lnTo>
                  <a:lnTo>
                    <a:pt x="16030" y="9323"/>
                  </a:lnTo>
                  <a:lnTo>
                    <a:pt x="16256" y="9301"/>
                  </a:lnTo>
                  <a:lnTo>
                    <a:pt x="16464" y="9323"/>
                  </a:lnTo>
                  <a:lnTo>
                    <a:pt x="16690" y="9345"/>
                  </a:lnTo>
                  <a:lnTo>
                    <a:pt x="16898" y="9367"/>
                  </a:lnTo>
                  <a:lnTo>
                    <a:pt x="17332" y="9477"/>
                  </a:lnTo>
                  <a:lnTo>
                    <a:pt x="17767" y="9598"/>
                  </a:lnTo>
                  <a:lnTo>
                    <a:pt x="18163" y="9731"/>
                  </a:lnTo>
                  <a:lnTo>
                    <a:pt x="18597" y="9874"/>
                  </a:lnTo>
                  <a:lnTo>
                    <a:pt x="18994" y="10006"/>
                  </a:lnTo>
                  <a:lnTo>
                    <a:pt x="19428" y="10083"/>
                  </a:lnTo>
                  <a:lnTo>
                    <a:pt x="19617" y="10127"/>
                  </a:lnTo>
                  <a:lnTo>
                    <a:pt x="19844" y="10149"/>
                  </a:lnTo>
                  <a:lnTo>
                    <a:pt x="20013" y="10149"/>
                  </a:lnTo>
                  <a:lnTo>
                    <a:pt x="20240" y="10127"/>
                  </a:lnTo>
                  <a:lnTo>
                    <a:pt x="20410" y="10105"/>
                  </a:lnTo>
                  <a:lnTo>
                    <a:pt x="20637" y="10061"/>
                  </a:lnTo>
                  <a:lnTo>
                    <a:pt x="20844" y="9984"/>
                  </a:lnTo>
                  <a:lnTo>
                    <a:pt x="21033" y="9896"/>
                  </a:lnTo>
                  <a:lnTo>
                    <a:pt x="21146" y="9830"/>
                  </a:lnTo>
                  <a:lnTo>
                    <a:pt x="21203" y="9753"/>
                  </a:lnTo>
                  <a:lnTo>
                    <a:pt x="21279" y="9642"/>
                  </a:lnTo>
                  <a:lnTo>
                    <a:pt x="21354" y="9521"/>
                  </a:lnTo>
                  <a:lnTo>
                    <a:pt x="21430" y="9246"/>
                  </a:lnTo>
                  <a:lnTo>
                    <a:pt x="21430" y="8904"/>
                  </a:lnTo>
                  <a:lnTo>
                    <a:pt x="21430" y="8540"/>
                  </a:lnTo>
                  <a:lnTo>
                    <a:pt x="21392" y="8144"/>
                  </a:lnTo>
                  <a:lnTo>
                    <a:pt x="21354" y="7714"/>
                  </a:lnTo>
                  <a:lnTo>
                    <a:pt x="21279" y="7295"/>
                  </a:lnTo>
                  <a:lnTo>
                    <a:pt x="21146" y="6446"/>
                  </a:lnTo>
                  <a:lnTo>
                    <a:pt x="20995" y="5686"/>
                  </a:lnTo>
                  <a:lnTo>
                    <a:pt x="20958" y="5366"/>
                  </a:lnTo>
                  <a:lnTo>
                    <a:pt x="20958" y="5091"/>
                  </a:lnTo>
                  <a:lnTo>
                    <a:pt x="20958" y="4860"/>
                  </a:lnTo>
                  <a:lnTo>
                    <a:pt x="21033" y="4716"/>
                  </a:lnTo>
                  <a:lnTo>
                    <a:pt x="20637" y="4860"/>
                  </a:lnTo>
                  <a:lnTo>
                    <a:pt x="20127" y="4992"/>
                  </a:lnTo>
                  <a:lnTo>
                    <a:pt x="19617" y="5069"/>
                  </a:lnTo>
                  <a:lnTo>
                    <a:pt x="19032" y="5157"/>
                  </a:lnTo>
                  <a:lnTo>
                    <a:pt x="18465" y="5201"/>
                  </a:lnTo>
                  <a:lnTo>
                    <a:pt x="17842" y="5245"/>
                  </a:lnTo>
                  <a:lnTo>
                    <a:pt x="17219" y="5267"/>
                  </a:lnTo>
                  <a:lnTo>
                    <a:pt x="16615" y="5267"/>
                  </a:lnTo>
                  <a:lnTo>
                    <a:pt x="15992" y="5245"/>
                  </a:lnTo>
                  <a:lnTo>
                    <a:pt x="15369" y="5201"/>
                  </a:lnTo>
                  <a:lnTo>
                    <a:pt x="14840" y="5157"/>
                  </a:lnTo>
                  <a:lnTo>
                    <a:pt x="14293" y="5091"/>
                  </a:lnTo>
                  <a:lnTo>
                    <a:pt x="13783" y="5014"/>
                  </a:lnTo>
                  <a:lnTo>
                    <a:pt x="13386" y="4926"/>
                  </a:lnTo>
                  <a:lnTo>
                    <a:pt x="13027" y="4815"/>
                  </a:lnTo>
                  <a:lnTo>
                    <a:pt x="12725" y="4716"/>
                  </a:lnTo>
                  <a:lnTo>
                    <a:pt x="12480" y="4606"/>
                  </a:lnTo>
                  <a:lnTo>
                    <a:pt x="12291" y="4496"/>
                  </a:lnTo>
                  <a:lnTo>
                    <a:pt x="12197" y="4397"/>
                  </a:lnTo>
                  <a:lnTo>
                    <a:pt x="12083" y="4286"/>
                  </a:lnTo>
                  <a:lnTo>
                    <a:pt x="12046" y="4187"/>
                  </a:lnTo>
                  <a:lnTo>
                    <a:pt x="12008" y="4077"/>
                  </a:lnTo>
                  <a:lnTo>
                    <a:pt x="12046" y="3967"/>
                  </a:lnTo>
                  <a:lnTo>
                    <a:pt x="12121" y="3868"/>
                  </a:lnTo>
                  <a:lnTo>
                    <a:pt x="12197" y="3735"/>
                  </a:lnTo>
                  <a:lnTo>
                    <a:pt x="12291" y="3614"/>
                  </a:lnTo>
                  <a:lnTo>
                    <a:pt x="12442" y="3482"/>
                  </a:lnTo>
                  <a:lnTo>
                    <a:pt x="12631" y="3361"/>
                  </a:lnTo>
                  <a:lnTo>
                    <a:pt x="13065" y="3085"/>
                  </a:lnTo>
                  <a:lnTo>
                    <a:pt x="13537" y="2766"/>
                  </a:lnTo>
                  <a:lnTo>
                    <a:pt x="13783" y="2578"/>
                  </a:lnTo>
                  <a:lnTo>
                    <a:pt x="13934" y="2380"/>
                  </a:lnTo>
                  <a:lnTo>
                    <a:pt x="14028" y="2171"/>
                  </a:lnTo>
                  <a:lnTo>
                    <a:pt x="14104" y="1961"/>
                  </a:lnTo>
                  <a:lnTo>
                    <a:pt x="14104" y="1730"/>
                  </a:lnTo>
                  <a:lnTo>
                    <a:pt x="14066" y="1498"/>
                  </a:lnTo>
                  <a:lnTo>
                    <a:pt x="13972" y="1267"/>
                  </a:lnTo>
                  <a:lnTo>
                    <a:pt x="13820" y="1057"/>
                  </a:lnTo>
                  <a:lnTo>
                    <a:pt x="13594" y="837"/>
                  </a:lnTo>
                  <a:lnTo>
                    <a:pt x="13386" y="628"/>
                  </a:lnTo>
                  <a:lnTo>
                    <a:pt x="13103" y="462"/>
                  </a:lnTo>
                  <a:lnTo>
                    <a:pt x="12763" y="308"/>
                  </a:lnTo>
                  <a:lnTo>
                    <a:pt x="12404" y="187"/>
                  </a:lnTo>
                  <a:lnTo>
                    <a:pt x="12008" y="77"/>
                  </a:lnTo>
                  <a:lnTo>
                    <a:pt x="11574" y="33"/>
                  </a:lnTo>
                  <a:lnTo>
                    <a:pt x="11102" y="11"/>
                  </a:lnTo>
                  <a:lnTo>
                    <a:pt x="10667" y="11"/>
                  </a:lnTo>
                  <a:lnTo>
                    <a:pt x="10233" y="77"/>
                  </a:lnTo>
                  <a:lnTo>
                    <a:pt x="9837" y="187"/>
                  </a:lnTo>
                  <a:lnTo>
                    <a:pt x="9440" y="286"/>
                  </a:lnTo>
                  <a:lnTo>
                    <a:pt x="9062" y="462"/>
                  </a:lnTo>
                  <a:lnTo>
                    <a:pt x="8741" y="628"/>
                  </a:lnTo>
                  <a:lnTo>
                    <a:pt x="8458" y="815"/>
                  </a:lnTo>
                  <a:lnTo>
                    <a:pt x="8232" y="1035"/>
                  </a:lnTo>
                  <a:lnTo>
                    <a:pt x="8062" y="1245"/>
                  </a:lnTo>
                  <a:lnTo>
                    <a:pt x="7911" y="1476"/>
                  </a:lnTo>
                  <a:lnTo>
                    <a:pt x="7835" y="1708"/>
                  </a:lnTo>
                  <a:lnTo>
                    <a:pt x="7797" y="1961"/>
                  </a:lnTo>
                  <a:lnTo>
                    <a:pt x="7835" y="2193"/>
                  </a:lnTo>
                  <a:lnTo>
                    <a:pt x="7948" y="2402"/>
                  </a:lnTo>
                  <a:lnTo>
                    <a:pt x="8062" y="2534"/>
                  </a:lnTo>
                  <a:lnTo>
                    <a:pt x="8175" y="2644"/>
                  </a:lnTo>
                  <a:lnTo>
                    <a:pt x="8269" y="2744"/>
                  </a:lnTo>
                  <a:lnTo>
                    <a:pt x="8420" y="2832"/>
                  </a:lnTo>
                  <a:lnTo>
                    <a:pt x="8704" y="3019"/>
                  </a:lnTo>
                  <a:lnTo>
                    <a:pt x="8968" y="3206"/>
                  </a:lnTo>
                  <a:lnTo>
                    <a:pt x="9138" y="3405"/>
                  </a:lnTo>
                  <a:lnTo>
                    <a:pt x="9327" y="3570"/>
                  </a:lnTo>
                  <a:lnTo>
                    <a:pt x="9440" y="3735"/>
                  </a:lnTo>
                  <a:lnTo>
                    <a:pt x="9516" y="3890"/>
                  </a:lnTo>
                  <a:lnTo>
                    <a:pt x="9534" y="4033"/>
                  </a:lnTo>
                  <a:lnTo>
                    <a:pt x="9534" y="4165"/>
                  </a:lnTo>
                  <a:lnTo>
                    <a:pt x="9516" y="4286"/>
                  </a:lnTo>
                  <a:lnTo>
                    <a:pt x="9440" y="4397"/>
                  </a:lnTo>
                  <a:lnTo>
                    <a:pt x="9327" y="4496"/>
                  </a:lnTo>
                  <a:lnTo>
                    <a:pt x="9176" y="4562"/>
                  </a:lnTo>
                  <a:lnTo>
                    <a:pt x="9006" y="4628"/>
                  </a:lnTo>
                  <a:lnTo>
                    <a:pt x="8779" y="4694"/>
                  </a:lnTo>
                  <a:lnTo>
                    <a:pt x="8534" y="4716"/>
                  </a:lnTo>
                  <a:lnTo>
                    <a:pt x="8232" y="4716"/>
                  </a:lnTo>
                  <a:lnTo>
                    <a:pt x="7118" y="4738"/>
                  </a:lnTo>
                  <a:lnTo>
                    <a:pt x="5947" y="4771"/>
                  </a:lnTo>
                  <a:lnTo>
                    <a:pt x="4795" y="4815"/>
                  </a:lnTo>
                  <a:lnTo>
                    <a:pt x="3681" y="4860"/>
                  </a:lnTo>
                  <a:lnTo>
                    <a:pt x="2662" y="4882"/>
                  </a:lnTo>
                  <a:lnTo>
                    <a:pt x="1755" y="4882"/>
                  </a:lnTo>
                  <a:lnTo>
                    <a:pt x="1359" y="4860"/>
                  </a:lnTo>
                  <a:lnTo>
                    <a:pt x="981" y="4837"/>
                  </a:lnTo>
                  <a:lnTo>
                    <a:pt x="698" y="4771"/>
                  </a:lnTo>
                  <a:lnTo>
                    <a:pt x="453" y="4716"/>
                  </a:lnTo>
                  <a:lnTo>
                    <a:pt x="453" y="5322"/>
                  </a:lnTo>
                  <a:lnTo>
                    <a:pt x="453" y="6083"/>
                  </a:lnTo>
                  <a:lnTo>
                    <a:pt x="453" y="6909"/>
                  </a:lnTo>
                  <a:lnTo>
                    <a:pt x="453" y="7780"/>
                  </a:lnTo>
                  <a:lnTo>
                    <a:pt x="453" y="8606"/>
                  </a:lnTo>
                  <a:lnTo>
                    <a:pt x="453" y="9345"/>
                  </a:lnTo>
                  <a:lnTo>
                    <a:pt x="453" y="9918"/>
                  </a:lnTo>
                  <a:lnTo>
                    <a:pt x="453" y="10282"/>
                  </a:lnTo>
                  <a:lnTo>
                    <a:pt x="490" y="10381"/>
                  </a:lnTo>
                  <a:lnTo>
                    <a:pt x="547" y="10491"/>
                  </a:lnTo>
                  <a:lnTo>
                    <a:pt x="660" y="10590"/>
                  </a:lnTo>
                  <a:lnTo>
                    <a:pt x="811" y="10700"/>
                  </a:lnTo>
                  <a:lnTo>
                    <a:pt x="981" y="10811"/>
                  </a:lnTo>
                  <a:lnTo>
                    <a:pt x="1208" y="10888"/>
                  </a:lnTo>
                  <a:lnTo>
                    <a:pt x="1453" y="10954"/>
                  </a:lnTo>
                  <a:lnTo>
                    <a:pt x="1718" y="11020"/>
                  </a:lnTo>
                  <a:lnTo>
                    <a:pt x="1963" y="11064"/>
                  </a:lnTo>
                  <a:lnTo>
                    <a:pt x="2265" y="11086"/>
                  </a:lnTo>
                  <a:lnTo>
                    <a:pt x="2548" y="11064"/>
                  </a:lnTo>
                  <a:lnTo>
                    <a:pt x="2794" y="11042"/>
                  </a:lnTo>
                  <a:lnTo>
                    <a:pt x="3096" y="10976"/>
                  </a:lnTo>
                  <a:lnTo>
                    <a:pt x="3341" y="10888"/>
                  </a:lnTo>
                  <a:lnTo>
                    <a:pt x="3606" y="10766"/>
                  </a:lnTo>
                  <a:lnTo>
                    <a:pt x="3813" y="10590"/>
                  </a:lnTo>
                  <a:close/>
                </a:path>
              </a:pathLst>
            </a:custGeom>
            <a:solidFill>
              <a:srgbClr val="D8EBB3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5065" name="Puzzle1"/>
            <p:cNvSpPr>
              <a:spLocks noEditPoints="1" noChangeArrowheads="1"/>
            </p:cNvSpPr>
            <p:nvPr/>
          </p:nvSpPr>
          <p:spPr bwMode="auto">
            <a:xfrm>
              <a:off x="1824" y="1091"/>
              <a:ext cx="1800" cy="1051"/>
            </a:xfrm>
            <a:custGeom>
              <a:avLst/>
              <a:gdLst>
                <a:gd name="T0" fmla="*/ 16740 w 21600"/>
                <a:gd name="T1" fmla="*/ 21078 h 21600"/>
                <a:gd name="T2" fmla="*/ 16976 w 21600"/>
                <a:gd name="T3" fmla="*/ 521 h 21600"/>
                <a:gd name="T4" fmla="*/ 4725 w 21600"/>
                <a:gd name="T5" fmla="*/ 856 h 21600"/>
                <a:gd name="T6" fmla="*/ 5040 w 21600"/>
                <a:gd name="T7" fmla="*/ 21004 h 21600"/>
                <a:gd name="T8" fmla="*/ 10811 w 21600"/>
                <a:gd name="T9" fmla="*/ 12885 h 21600"/>
                <a:gd name="T10" fmla="*/ 10845 w 21600"/>
                <a:gd name="T11" fmla="*/ 8714 h 21600"/>
                <a:gd name="T12" fmla="*/ 21600 w 21600"/>
                <a:gd name="T13" fmla="*/ 10000 h 21600"/>
                <a:gd name="T14" fmla="*/ 56 w 21600"/>
                <a:gd name="T15" fmla="*/ 10000 h 21600"/>
                <a:gd name="T16" fmla="*/ 6086 w 21600"/>
                <a:gd name="T17" fmla="*/ 2569 h 21600"/>
                <a:gd name="T18" fmla="*/ 16132 w 21600"/>
                <a:gd name="T19" fmla="*/ 1955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9360" y="20836"/>
                  </a:moveTo>
                  <a:lnTo>
                    <a:pt x="9528" y="20836"/>
                  </a:lnTo>
                  <a:lnTo>
                    <a:pt x="9686" y="20762"/>
                  </a:lnTo>
                  <a:lnTo>
                    <a:pt x="9810" y="20687"/>
                  </a:lnTo>
                  <a:lnTo>
                    <a:pt x="9922" y="20575"/>
                  </a:lnTo>
                  <a:lnTo>
                    <a:pt x="10012" y="20426"/>
                  </a:lnTo>
                  <a:lnTo>
                    <a:pt x="10068" y="20296"/>
                  </a:lnTo>
                  <a:lnTo>
                    <a:pt x="10113" y="20110"/>
                  </a:lnTo>
                  <a:lnTo>
                    <a:pt x="10136" y="19905"/>
                  </a:lnTo>
                  <a:lnTo>
                    <a:pt x="10136" y="19682"/>
                  </a:lnTo>
                  <a:lnTo>
                    <a:pt x="10113" y="19440"/>
                  </a:lnTo>
                  <a:lnTo>
                    <a:pt x="10068" y="19142"/>
                  </a:lnTo>
                  <a:lnTo>
                    <a:pt x="10012" y="18900"/>
                  </a:lnTo>
                  <a:lnTo>
                    <a:pt x="9900" y="18620"/>
                  </a:lnTo>
                  <a:lnTo>
                    <a:pt x="9787" y="18285"/>
                  </a:lnTo>
                  <a:lnTo>
                    <a:pt x="9641" y="17968"/>
                  </a:lnTo>
                  <a:lnTo>
                    <a:pt x="9472" y="17652"/>
                  </a:lnTo>
                  <a:lnTo>
                    <a:pt x="9382" y="17466"/>
                  </a:lnTo>
                  <a:lnTo>
                    <a:pt x="9315" y="17298"/>
                  </a:lnTo>
                  <a:lnTo>
                    <a:pt x="9258" y="17112"/>
                  </a:lnTo>
                  <a:lnTo>
                    <a:pt x="9191" y="16926"/>
                  </a:lnTo>
                  <a:lnTo>
                    <a:pt x="9123" y="16535"/>
                  </a:lnTo>
                  <a:lnTo>
                    <a:pt x="9101" y="16144"/>
                  </a:lnTo>
                  <a:lnTo>
                    <a:pt x="9101" y="15753"/>
                  </a:lnTo>
                  <a:lnTo>
                    <a:pt x="9168" y="15362"/>
                  </a:lnTo>
                  <a:lnTo>
                    <a:pt x="9236" y="14971"/>
                  </a:lnTo>
                  <a:lnTo>
                    <a:pt x="9360" y="14580"/>
                  </a:lnTo>
                  <a:lnTo>
                    <a:pt x="9495" y="14244"/>
                  </a:lnTo>
                  <a:lnTo>
                    <a:pt x="9663" y="13891"/>
                  </a:lnTo>
                  <a:lnTo>
                    <a:pt x="9855" y="13611"/>
                  </a:lnTo>
                  <a:lnTo>
                    <a:pt x="10068" y="13351"/>
                  </a:lnTo>
                  <a:lnTo>
                    <a:pt x="10293" y="13146"/>
                  </a:lnTo>
                  <a:lnTo>
                    <a:pt x="10552" y="12997"/>
                  </a:lnTo>
                  <a:lnTo>
                    <a:pt x="10811" y="12885"/>
                  </a:lnTo>
                  <a:lnTo>
                    <a:pt x="11069" y="12866"/>
                  </a:lnTo>
                  <a:lnTo>
                    <a:pt x="11351" y="12885"/>
                  </a:lnTo>
                  <a:lnTo>
                    <a:pt x="11610" y="12997"/>
                  </a:lnTo>
                  <a:lnTo>
                    <a:pt x="11846" y="13183"/>
                  </a:lnTo>
                  <a:lnTo>
                    <a:pt x="12060" y="13388"/>
                  </a:lnTo>
                  <a:lnTo>
                    <a:pt x="12251" y="13648"/>
                  </a:lnTo>
                  <a:lnTo>
                    <a:pt x="12419" y="13928"/>
                  </a:lnTo>
                  <a:lnTo>
                    <a:pt x="12555" y="14244"/>
                  </a:lnTo>
                  <a:lnTo>
                    <a:pt x="12690" y="14617"/>
                  </a:lnTo>
                  <a:lnTo>
                    <a:pt x="12768" y="15008"/>
                  </a:lnTo>
                  <a:lnTo>
                    <a:pt x="12836" y="15399"/>
                  </a:lnTo>
                  <a:lnTo>
                    <a:pt x="12858" y="15753"/>
                  </a:lnTo>
                  <a:lnTo>
                    <a:pt x="12858" y="16144"/>
                  </a:lnTo>
                  <a:lnTo>
                    <a:pt x="12813" y="16535"/>
                  </a:lnTo>
                  <a:lnTo>
                    <a:pt x="12746" y="16888"/>
                  </a:lnTo>
                  <a:lnTo>
                    <a:pt x="12667" y="17224"/>
                  </a:lnTo>
                  <a:lnTo>
                    <a:pt x="12510" y="17503"/>
                  </a:lnTo>
                  <a:lnTo>
                    <a:pt x="12228" y="18043"/>
                  </a:lnTo>
                  <a:lnTo>
                    <a:pt x="11970" y="18546"/>
                  </a:lnTo>
                  <a:lnTo>
                    <a:pt x="11868" y="18751"/>
                  </a:lnTo>
                  <a:lnTo>
                    <a:pt x="11778" y="18974"/>
                  </a:lnTo>
                  <a:lnTo>
                    <a:pt x="11711" y="19179"/>
                  </a:lnTo>
                  <a:lnTo>
                    <a:pt x="11666" y="19365"/>
                  </a:lnTo>
                  <a:lnTo>
                    <a:pt x="11632" y="19570"/>
                  </a:lnTo>
                  <a:lnTo>
                    <a:pt x="11632" y="19756"/>
                  </a:lnTo>
                  <a:lnTo>
                    <a:pt x="11632" y="19942"/>
                  </a:lnTo>
                  <a:lnTo>
                    <a:pt x="11643" y="20110"/>
                  </a:lnTo>
                  <a:lnTo>
                    <a:pt x="11711" y="20296"/>
                  </a:lnTo>
                  <a:lnTo>
                    <a:pt x="11801" y="20464"/>
                  </a:lnTo>
                  <a:lnTo>
                    <a:pt x="11891" y="20650"/>
                  </a:lnTo>
                  <a:lnTo>
                    <a:pt x="12037" y="20836"/>
                  </a:lnTo>
                  <a:lnTo>
                    <a:pt x="12206" y="21004"/>
                  </a:lnTo>
                  <a:lnTo>
                    <a:pt x="12419" y="21190"/>
                  </a:lnTo>
                  <a:lnTo>
                    <a:pt x="12667" y="21320"/>
                  </a:lnTo>
                  <a:lnTo>
                    <a:pt x="12960" y="21432"/>
                  </a:lnTo>
                  <a:lnTo>
                    <a:pt x="13286" y="21544"/>
                  </a:lnTo>
                  <a:lnTo>
                    <a:pt x="13612" y="21655"/>
                  </a:lnTo>
                  <a:lnTo>
                    <a:pt x="13983" y="21693"/>
                  </a:lnTo>
                  <a:lnTo>
                    <a:pt x="14343" y="21730"/>
                  </a:lnTo>
                  <a:lnTo>
                    <a:pt x="14715" y="21730"/>
                  </a:lnTo>
                  <a:lnTo>
                    <a:pt x="15075" y="21730"/>
                  </a:lnTo>
                  <a:lnTo>
                    <a:pt x="15446" y="21655"/>
                  </a:lnTo>
                  <a:lnTo>
                    <a:pt x="15794" y="21581"/>
                  </a:lnTo>
                  <a:lnTo>
                    <a:pt x="16132" y="21432"/>
                  </a:lnTo>
                  <a:lnTo>
                    <a:pt x="16458" y="21302"/>
                  </a:lnTo>
                  <a:lnTo>
                    <a:pt x="16740" y="21078"/>
                  </a:lnTo>
                  <a:lnTo>
                    <a:pt x="16976" y="20836"/>
                  </a:lnTo>
                  <a:lnTo>
                    <a:pt x="17043" y="20650"/>
                  </a:lnTo>
                  <a:lnTo>
                    <a:pt x="17088" y="20426"/>
                  </a:lnTo>
                  <a:lnTo>
                    <a:pt x="17133" y="20222"/>
                  </a:lnTo>
                  <a:lnTo>
                    <a:pt x="17156" y="19980"/>
                  </a:lnTo>
                  <a:lnTo>
                    <a:pt x="17167" y="19477"/>
                  </a:lnTo>
                  <a:lnTo>
                    <a:pt x="17167" y="18974"/>
                  </a:lnTo>
                  <a:lnTo>
                    <a:pt x="17156" y="18397"/>
                  </a:lnTo>
                  <a:lnTo>
                    <a:pt x="17111" y="17820"/>
                  </a:lnTo>
                  <a:lnTo>
                    <a:pt x="17066" y="17261"/>
                  </a:lnTo>
                  <a:lnTo>
                    <a:pt x="16998" y="16646"/>
                  </a:lnTo>
                  <a:lnTo>
                    <a:pt x="16852" y="15511"/>
                  </a:lnTo>
                  <a:lnTo>
                    <a:pt x="16740" y="14393"/>
                  </a:lnTo>
                  <a:lnTo>
                    <a:pt x="16717" y="13928"/>
                  </a:lnTo>
                  <a:lnTo>
                    <a:pt x="16695" y="13462"/>
                  </a:lnTo>
                  <a:lnTo>
                    <a:pt x="16717" y="13071"/>
                  </a:lnTo>
                  <a:lnTo>
                    <a:pt x="16785" y="12755"/>
                  </a:lnTo>
                  <a:lnTo>
                    <a:pt x="16852" y="12419"/>
                  </a:lnTo>
                  <a:lnTo>
                    <a:pt x="16953" y="12140"/>
                  </a:lnTo>
                  <a:lnTo>
                    <a:pt x="17088" y="11898"/>
                  </a:lnTo>
                  <a:lnTo>
                    <a:pt x="17212" y="11675"/>
                  </a:lnTo>
                  <a:lnTo>
                    <a:pt x="17370" y="11470"/>
                  </a:lnTo>
                  <a:lnTo>
                    <a:pt x="17516" y="11284"/>
                  </a:lnTo>
                  <a:lnTo>
                    <a:pt x="17696" y="11135"/>
                  </a:lnTo>
                  <a:lnTo>
                    <a:pt x="17865" y="11042"/>
                  </a:lnTo>
                  <a:lnTo>
                    <a:pt x="18033" y="10930"/>
                  </a:lnTo>
                  <a:lnTo>
                    <a:pt x="18213" y="10893"/>
                  </a:lnTo>
                  <a:lnTo>
                    <a:pt x="18382" y="10893"/>
                  </a:lnTo>
                  <a:lnTo>
                    <a:pt x="18551" y="10967"/>
                  </a:lnTo>
                  <a:lnTo>
                    <a:pt x="18708" y="11042"/>
                  </a:lnTo>
                  <a:lnTo>
                    <a:pt x="18855" y="11172"/>
                  </a:lnTo>
                  <a:lnTo>
                    <a:pt x="19012" y="11358"/>
                  </a:lnTo>
                  <a:lnTo>
                    <a:pt x="19136" y="11600"/>
                  </a:lnTo>
                  <a:lnTo>
                    <a:pt x="19271" y="11861"/>
                  </a:lnTo>
                  <a:lnTo>
                    <a:pt x="19440" y="12028"/>
                  </a:lnTo>
                  <a:lnTo>
                    <a:pt x="19608" y="12177"/>
                  </a:lnTo>
                  <a:lnTo>
                    <a:pt x="19822" y="12289"/>
                  </a:lnTo>
                  <a:lnTo>
                    <a:pt x="20025" y="12289"/>
                  </a:lnTo>
                  <a:lnTo>
                    <a:pt x="20238" y="12289"/>
                  </a:lnTo>
                  <a:lnTo>
                    <a:pt x="20452" y="12215"/>
                  </a:lnTo>
                  <a:lnTo>
                    <a:pt x="20643" y="12103"/>
                  </a:lnTo>
                  <a:lnTo>
                    <a:pt x="20846" y="11973"/>
                  </a:lnTo>
                  <a:lnTo>
                    <a:pt x="21037" y="11786"/>
                  </a:lnTo>
                  <a:lnTo>
                    <a:pt x="21206" y="11563"/>
                  </a:lnTo>
                  <a:lnTo>
                    <a:pt x="21363" y="11321"/>
                  </a:lnTo>
                  <a:lnTo>
                    <a:pt x="21465" y="11079"/>
                  </a:lnTo>
                  <a:lnTo>
                    <a:pt x="21577" y="10744"/>
                  </a:lnTo>
                  <a:lnTo>
                    <a:pt x="21622" y="10427"/>
                  </a:lnTo>
                  <a:lnTo>
                    <a:pt x="21645" y="10111"/>
                  </a:lnTo>
                  <a:lnTo>
                    <a:pt x="21622" y="9608"/>
                  </a:lnTo>
                  <a:lnTo>
                    <a:pt x="21577" y="9142"/>
                  </a:lnTo>
                  <a:lnTo>
                    <a:pt x="21465" y="8751"/>
                  </a:lnTo>
                  <a:lnTo>
                    <a:pt x="21363" y="8397"/>
                  </a:lnTo>
                  <a:lnTo>
                    <a:pt x="21206" y="8062"/>
                  </a:lnTo>
                  <a:lnTo>
                    <a:pt x="21037" y="7820"/>
                  </a:lnTo>
                  <a:lnTo>
                    <a:pt x="20846" y="7597"/>
                  </a:lnTo>
                  <a:lnTo>
                    <a:pt x="20643" y="7429"/>
                  </a:lnTo>
                  <a:lnTo>
                    <a:pt x="20452" y="7317"/>
                  </a:lnTo>
                  <a:lnTo>
                    <a:pt x="20238" y="7206"/>
                  </a:lnTo>
                  <a:lnTo>
                    <a:pt x="20025" y="7168"/>
                  </a:lnTo>
                  <a:lnTo>
                    <a:pt x="19822" y="7206"/>
                  </a:lnTo>
                  <a:lnTo>
                    <a:pt x="19608" y="7243"/>
                  </a:lnTo>
                  <a:lnTo>
                    <a:pt x="19440" y="7355"/>
                  </a:lnTo>
                  <a:lnTo>
                    <a:pt x="19271" y="7504"/>
                  </a:lnTo>
                  <a:lnTo>
                    <a:pt x="19136" y="7708"/>
                  </a:lnTo>
                  <a:lnTo>
                    <a:pt x="19012" y="7895"/>
                  </a:lnTo>
                  <a:lnTo>
                    <a:pt x="18832" y="8025"/>
                  </a:lnTo>
                  <a:lnTo>
                    <a:pt x="18663" y="8174"/>
                  </a:lnTo>
                  <a:lnTo>
                    <a:pt x="18472" y="8248"/>
                  </a:lnTo>
                  <a:lnTo>
                    <a:pt x="18270" y="8286"/>
                  </a:lnTo>
                  <a:lnTo>
                    <a:pt x="18078" y="8323"/>
                  </a:lnTo>
                  <a:lnTo>
                    <a:pt x="17887" y="8323"/>
                  </a:lnTo>
                  <a:lnTo>
                    <a:pt x="17696" y="8248"/>
                  </a:lnTo>
                  <a:lnTo>
                    <a:pt x="17493" y="8174"/>
                  </a:lnTo>
                  <a:lnTo>
                    <a:pt x="17302" y="8062"/>
                  </a:lnTo>
                  <a:lnTo>
                    <a:pt x="17133" y="7969"/>
                  </a:lnTo>
                  <a:lnTo>
                    <a:pt x="16976" y="7783"/>
                  </a:lnTo>
                  <a:lnTo>
                    <a:pt x="16852" y="7597"/>
                  </a:lnTo>
                  <a:lnTo>
                    <a:pt x="16740" y="7429"/>
                  </a:lnTo>
                  <a:lnTo>
                    <a:pt x="16672" y="7168"/>
                  </a:lnTo>
                  <a:lnTo>
                    <a:pt x="16638" y="6926"/>
                  </a:lnTo>
                  <a:lnTo>
                    <a:pt x="16616" y="6498"/>
                  </a:lnTo>
                  <a:lnTo>
                    <a:pt x="16616" y="5772"/>
                  </a:lnTo>
                  <a:lnTo>
                    <a:pt x="16650" y="4915"/>
                  </a:lnTo>
                  <a:lnTo>
                    <a:pt x="16695" y="3928"/>
                  </a:lnTo>
                  <a:lnTo>
                    <a:pt x="16762" y="2960"/>
                  </a:lnTo>
                  <a:lnTo>
                    <a:pt x="16830" y="1992"/>
                  </a:lnTo>
                  <a:lnTo>
                    <a:pt x="16908" y="1173"/>
                  </a:lnTo>
                  <a:lnTo>
                    <a:pt x="16976" y="521"/>
                  </a:lnTo>
                  <a:lnTo>
                    <a:pt x="16953" y="521"/>
                  </a:lnTo>
                  <a:lnTo>
                    <a:pt x="16931" y="521"/>
                  </a:lnTo>
                  <a:lnTo>
                    <a:pt x="16267" y="484"/>
                  </a:lnTo>
                  <a:lnTo>
                    <a:pt x="15637" y="428"/>
                  </a:lnTo>
                  <a:lnTo>
                    <a:pt x="15063" y="353"/>
                  </a:lnTo>
                  <a:lnTo>
                    <a:pt x="14523" y="279"/>
                  </a:lnTo>
                  <a:lnTo>
                    <a:pt x="14040" y="167"/>
                  </a:lnTo>
                  <a:lnTo>
                    <a:pt x="13635" y="93"/>
                  </a:lnTo>
                  <a:lnTo>
                    <a:pt x="13331" y="18"/>
                  </a:lnTo>
                  <a:lnTo>
                    <a:pt x="13117" y="18"/>
                  </a:lnTo>
                  <a:lnTo>
                    <a:pt x="12982" y="18"/>
                  </a:lnTo>
                  <a:lnTo>
                    <a:pt x="12858" y="130"/>
                  </a:lnTo>
                  <a:lnTo>
                    <a:pt x="12723" y="279"/>
                  </a:lnTo>
                  <a:lnTo>
                    <a:pt x="12622" y="446"/>
                  </a:lnTo>
                  <a:lnTo>
                    <a:pt x="12510" y="670"/>
                  </a:lnTo>
                  <a:lnTo>
                    <a:pt x="12419" y="912"/>
                  </a:lnTo>
                  <a:lnTo>
                    <a:pt x="12363" y="1210"/>
                  </a:lnTo>
                  <a:lnTo>
                    <a:pt x="12318" y="1526"/>
                  </a:lnTo>
                  <a:lnTo>
                    <a:pt x="12273" y="1843"/>
                  </a:lnTo>
                  <a:lnTo>
                    <a:pt x="12251" y="2215"/>
                  </a:lnTo>
                  <a:lnTo>
                    <a:pt x="12273" y="2532"/>
                  </a:lnTo>
                  <a:lnTo>
                    <a:pt x="12318" y="2886"/>
                  </a:lnTo>
                  <a:lnTo>
                    <a:pt x="12386" y="3240"/>
                  </a:lnTo>
                  <a:lnTo>
                    <a:pt x="12464" y="3556"/>
                  </a:lnTo>
                  <a:lnTo>
                    <a:pt x="12577" y="3891"/>
                  </a:lnTo>
                  <a:lnTo>
                    <a:pt x="12746" y="4171"/>
                  </a:lnTo>
                  <a:lnTo>
                    <a:pt x="12926" y="4487"/>
                  </a:lnTo>
                  <a:lnTo>
                    <a:pt x="13050" y="4860"/>
                  </a:lnTo>
                  <a:lnTo>
                    <a:pt x="13162" y="5251"/>
                  </a:lnTo>
                  <a:lnTo>
                    <a:pt x="13218" y="5604"/>
                  </a:lnTo>
                  <a:lnTo>
                    <a:pt x="13263" y="5995"/>
                  </a:lnTo>
                  <a:lnTo>
                    <a:pt x="13241" y="6386"/>
                  </a:lnTo>
                  <a:lnTo>
                    <a:pt x="13218" y="6740"/>
                  </a:lnTo>
                  <a:lnTo>
                    <a:pt x="13139" y="7094"/>
                  </a:lnTo>
                  <a:lnTo>
                    <a:pt x="13050" y="7429"/>
                  </a:lnTo>
                  <a:lnTo>
                    <a:pt x="12903" y="7746"/>
                  </a:lnTo>
                  <a:lnTo>
                    <a:pt x="12723" y="8025"/>
                  </a:lnTo>
                  <a:lnTo>
                    <a:pt x="12532" y="8286"/>
                  </a:lnTo>
                  <a:lnTo>
                    <a:pt x="12318" y="8491"/>
                  </a:lnTo>
                  <a:lnTo>
                    <a:pt x="12060" y="8677"/>
                  </a:lnTo>
                  <a:lnTo>
                    <a:pt x="11756" y="8788"/>
                  </a:lnTo>
                  <a:lnTo>
                    <a:pt x="11452" y="8826"/>
                  </a:lnTo>
                  <a:lnTo>
                    <a:pt x="11283" y="8826"/>
                  </a:lnTo>
                  <a:lnTo>
                    <a:pt x="11126" y="8826"/>
                  </a:lnTo>
                  <a:lnTo>
                    <a:pt x="11002" y="8788"/>
                  </a:lnTo>
                  <a:lnTo>
                    <a:pt x="10845" y="8714"/>
                  </a:lnTo>
                  <a:lnTo>
                    <a:pt x="10721" y="8640"/>
                  </a:lnTo>
                  <a:lnTo>
                    <a:pt x="10608" y="8565"/>
                  </a:lnTo>
                  <a:lnTo>
                    <a:pt x="10485" y="8453"/>
                  </a:lnTo>
                  <a:lnTo>
                    <a:pt x="10372" y="8323"/>
                  </a:lnTo>
                  <a:lnTo>
                    <a:pt x="10181" y="8062"/>
                  </a:lnTo>
                  <a:lnTo>
                    <a:pt x="10035" y="7746"/>
                  </a:lnTo>
                  <a:lnTo>
                    <a:pt x="9900" y="7392"/>
                  </a:lnTo>
                  <a:lnTo>
                    <a:pt x="9787" y="7001"/>
                  </a:lnTo>
                  <a:lnTo>
                    <a:pt x="9731" y="6610"/>
                  </a:lnTo>
                  <a:lnTo>
                    <a:pt x="9686" y="6219"/>
                  </a:lnTo>
                  <a:lnTo>
                    <a:pt x="9663" y="5772"/>
                  </a:lnTo>
                  <a:lnTo>
                    <a:pt x="9686" y="5381"/>
                  </a:lnTo>
                  <a:lnTo>
                    <a:pt x="9753" y="4990"/>
                  </a:lnTo>
                  <a:lnTo>
                    <a:pt x="9832" y="4636"/>
                  </a:lnTo>
                  <a:lnTo>
                    <a:pt x="9945" y="4320"/>
                  </a:lnTo>
                  <a:lnTo>
                    <a:pt x="10068" y="4022"/>
                  </a:lnTo>
                  <a:lnTo>
                    <a:pt x="10203" y="3817"/>
                  </a:lnTo>
                  <a:lnTo>
                    <a:pt x="10316" y="3593"/>
                  </a:lnTo>
                  <a:lnTo>
                    <a:pt x="10395" y="3351"/>
                  </a:lnTo>
                  <a:lnTo>
                    <a:pt x="10462" y="3109"/>
                  </a:lnTo>
                  <a:lnTo>
                    <a:pt x="10507" y="2848"/>
                  </a:lnTo>
                  <a:lnTo>
                    <a:pt x="10530" y="2606"/>
                  </a:lnTo>
                  <a:lnTo>
                    <a:pt x="10507" y="2346"/>
                  </a:lnTo>
                  <a:lnTo>
                    <a:pt x="10462" y="2141"/>
                  </a:lnTo>
                  <a:lnTo>
                    <a:pt x="10395" y="1880"/>
                  </a:lnTo>
                  <a:lnTo>
                    <a:pt x="10293" y="1638"/>
                  </a:lnTo>
                  <a:lnTo>
                    <a:pt x="10158" y="1415"/>
                  </a:lnTo>
                  <a:lnTo>
                    <a:pt x="9967" y="1210"/>
                  </a:lnTo>
                  <a:lnTo>
                    <a:pt x="9753" y="986"/>
                  </a:lnTo>
                  <a:lnTo>
                    <a:pt x="9495" y="819"/>
                  </a:lnTo>
                  <a:lnTo>
                    <a:pt x="9191" y="670"/>
                  </a:lnTo>
                  <a:lnTo>
                    <a:pt x="8842" y="521"/>
                  </a:lnTo>
                  <a:lnTo>
                    <a:pt x="8471" y="446"/>
                  </a:lnTo>
                  <a:lnTo>
                    <a:pt x="7998" y="428"/>
                  </a:lnTo>
                  <a:lnTo>
                    <a:pt x="7413" y="428"/>
                  </a:lnTo>
                  <a:lnTo>
                    <a:pt x="6817" y="446"/>
                  </a:lnTo>
                  <a:lnTo>
                    <a:pt x="6187" y="521"/>
                  </a:lnTo>
                  <a:lnTo>
                    <a:pt x="5602" y="633"/>
                  </a:lnTo>
                  <a:lnTo>
                    <a:pt x="5107" y="744"/>
                  </a:lnTo>
                  <a:lnTo>
                    <a:pt x="4725" y="856"/>
                  </a:lnTo>
                  <a:lnTo>
                    <a:pt x="4848" y="1564"/>
                  </a:lnTo>
                  <a:lnTo>
                    <a:pt x="5028" y="2495"/>
                  </a:lnTo>
                  <a:lnTo>
                    <a:pt x="5175" y="3556"/>
                  </a:lnTo>
                  <a:lnTo>
                    <a:pt x="5298" y="4673"/>
                  </a:lnTo>
                  <a:lnTo>
                    <a:pt x="5343" y="5213"/>
                  </a:lnTo>
                  <a:lnTo>
                    <a:pt x="5388" y="5753"/>
                  </a:lnTo>
                  <a:lnTo>
                    <a:pt x="5411" y="6275"/>
                  </a:lnTo>
                  <a:lnTo>
                    <a:pt x="5411" y="6740"/>
                  </a:lnTo>
                  <a:lnTo>
                    <a:pt x="5366" y="7168"/>
                  </a:lnTo>
                  <a:lnTo>
                    <a:pt x="5321" y="7541"/>
                  </a:lnTo>
                  <a:lnTo>
                    <a:pt x="5287" y="7708"/>
                  </a:lnTo>
                  <a:lnTo>
                    <a:pt x="5242" y="7857"/>
                  </a:lnTo>
                  <a:lnTo>
                    <a:pt x="5197" y="7969"/>
                  </a:lnTo>
                  <a:lnTo>
                    <a:pt x="5130" y="8062"/>
                  </a:lnTo>
                  <a:lnTo>
                    <a:pt x="5006" y="8248"/>
                  </a:lnTo>
                  <a:lnTo>
                    <a:pt x="4848" y="8397"/>
                  </a:lnTo>
                  <a:lnTo>
                    <a:pt x="4725" y="8528"/>
                  </a:lnTo>
                  <a:lnTo>
                    <a:pt x="4567" y="8640"/>
                  </a:lnTo>
                  <a:lnTo>
                    <a:pt x="4421" y="8714"/>
                  </a:lnTo>
                  <a:lnTo>
                    <a:pt x="4263" y="8751"/>
                  </a:lnTo>
                  <a:lnTo>
                    <a:pt x="4095" y="8788"/>
                  </a:lnTo>
                  <a:lnTo>
                    <a:pt x="3948" y="8788"/>
                  </a:lnTo>
                  <a:lnTo>
                    <a:pt x="3791" y="8751"/>
                  </a:lnTo>
                  <a:lnTo>
                    <a:pt x="3667" y="8714"/>
                  </a:lnTo>
                  <a:lnTo>
                    <a:pt x="3510" y="8677"/>
                  </a:lnTo>
                  <a:lnTo>
                    <a:pt x="3386" y="8602"/>
                  </a:lnTo>
                  <a:lnTo>
                    <a:pt x="3251" y="8491"/>
                  </a:lnTo>
                  <a:lnTo>
                    <a:pt x="3127" y="8360"/>
                  </a:lnTo>
                  <a:lnTo>
                    <a:pt x="3015" y="8248"/>
                  </a:lnTo>
                  <a:lnTo>
                    <a:pt x="2925" y="8062"/>
                  </a:lnTo>
                  <a:lnTo>
                    <a:pt x="2778" y="7857"/>
                  </a:lnTo>
                  <a:lnTo>
                    <a:pt x="2610" y="7671"/>
                  </a:lnTo>
                  <a:lnTo>
                    <a:pt x="2407" y="7541"/>
                  </a:lnTo>
                  <a:lnTo>
                    <a:pt x="2171" y="7466"/>
                  </a:lnTo>
                  <a:lnTo>
                    <a:pt x="1957" y="7429"/>
                  </a:lnTo>
                  <a:lnTo>
                    <a:pt x="1698" y="7429"/>
                  </a:lnTo>
                  <a:lnTo>
                    <a:pt x="1462" y="7466"/>
                  </a:lnTo>
                  <a:lnTo>
                    <a:pt x="1226" y="7559"/>
                  </a:lnTo>
                  <a:lnTo>
                    <a:pt x="989" y="7708"/>
                  </a:lnTo>
                  <a:lnTo>
                    <a:pt x="776" y="7932"/>
                  </a:lnTo>
                  <a:lnTo>
                    <a:pt x="551" y="8211"/>
                  </a:lnTo>
                  <a:lnTo>
                    <a:pt x="382" y="8528"/>
                  </a:lnTo>
                  <a:lnTo>
                    <a:pt x="315" y="8714"/>
                  </a:lnTo>
                  <a:lnTo>
                    <a:pt x="236" y="8919"/>
                  </a:lnTo>
                  <a:lnTo>
                    <a:pt x="191" y="9142"/>
                  </a:lnTo>
                  <a:lnTo>
                    <a:pt x="123" y="9347"/>
                  </a:lnTo>
                  <a:lnTo>
                    <a:pt x="78" y="9608"/>
                  </a:lnTo>
                  <a:lnTo>
                    <a:pt x="56" y="9887"/>
                  </a:lnTo>
                  <a:lnTo>
                    <a:pt x="33" y="10185"/>
                  </a:lnTo>
                  <a:lnTo>
                    <a:pt x="33" y="10464"/>
                  </a:lnTo>
                  <a:lnTo>
                    <a:pt x="33" y="10706"/>
                  </a:lnTo>
                  <a:lnTo>
                    <a:pt x="56" y="10967"/>
                  </a:lnTo>
                  <a:lnTo>
                    <a:pt x="78" y="11172"/>
                  </a:lnTo>
                  <a:lnTo>
                    <a:pt x="123" y="11395"/>
                  </a:lnTo>
                  <a:lnTo>
                    <a:pt x="168" y="11600"/>
                  </a:lnTo>
                  <a:lnTo>
                    <a:pt x="236" y="11786"/>
                  </a:lnTo>
                  <a:lnTo>
                    <a:pt x="292" y="11973"/>
                  </a:lnTo>
                  <a:lnTo>
                    <a:pt x="382" y="12140"/>
                  </a:lnTo>
                  <a:lnTo>
                    <a:pt x="540" y="12419"/>
                  </a:lnTo>
                  <a:lnTo>
                    <a:pt x="731" y="12680"/>
                  </a:lnTo>
                  <a:lnTo>
                    <a:pt x="944" y="12866"/>
                  </a:lnTo>
                  <a:lnTo>
                    <a:pt x="1158" y="12997"/>
                  </a:lnTo>
                  <a:lnTo>
                    <a:pt x="1395" y="13108"/>
                  </a:lnTo>
                  <a:lnTo>
                    <a:pt x="1608" y="13183"/>
                  </a:lnTo>
                  <a:lnTo>
                    <a:pt x="1856" y="13183"/>
                  </a:lnTo>
                  <a:lnTo>
                    <a:pt x="2070" y="13146"/>
                  </a:lnTo>
                  <a:lnTo>
                    <a:pt x="2261" y="13071"/>
                  </a:lnTo>
                  <a:lnTo>
                    <a:pt x="2430" y="12960"/>
                  </a:lnTo>
                  <a:lnTo>
                    <a:pt x="2587" y="12792"/>
                  </a:lnTo>
                  <a:lnTo>
                    <a:pt x="2688" y="12606"/>
                  </a:lnTo>
                  <a:lnTo>
                    <a:pt x="2801" y="12419"/>
                  </a:lnTo>
                  <a:lnTo>
                    <a:pt x="2925" y="12289"/>
                  </a:lnTo>
                  <a:lnTo>
                    <a:pt x="3082" y="12177"/>
                  </a:lnTo>
                  <a:lnTo>
                    <a:pt x="3228" y="12103"/>
                  </a:lnTo>
                  <a:lnTo>
                    <a:pt x="3408" y="12103"/>
                  </a:lnTo>
                  <a:lnTo>
                    <a:pt x="3577" y="12103"/>
                  </a:lnTo>
                  <a:lnTo>
                    <a:pt x="3723" y="12177"/>
                  </a:lnTo>
                  <a:lnTo>
                    <a:pt x="3903" y="12252"/>
                  </a:lnTo>
                  <a:lnTo>
                    <a:pt x="4072" y="12364"/>
                  </a:lnTo>
                  <a:lnTo>
                    <a:pt x="4230" y="12494"/>
                  </a:lnTo>
                  <a:lnTo>
                    <a:pt x="4353" y="12643"/>
                  </a:lnTo>
                  <a:lnTo>
                    <a:pt x="4488" y="12829"/>
                  </a:lnTo>
                  <a:lnTo>
                    <a:pt x="4567" y="13034"/>
                  </a:lnTo>
                  <a:lnTo>
                    <a:pt x="4657" y="13257"/>
                  </a:lnTo>
                  <a:lnTo>
                    <a:pt x="4702" y="13462"/>
                  </a:lnTo>
                  <a:lnTo>
                    <a:pt x="4725" y="13686"/>
                  </a:lnTo>
                  <a:lnTo>
                    <a:pt x="4702" y="14282"/>
                  </a:lnTo>
                  <a:lnTo>
                    <a:pt x="4657" y="15045"/>
                  </a:lnTo>
                  <a:lnTo>
                    <a:pt x="4612" y="15976"/>
                  </a:lnTo>
                  <a:lnTo>
                    <a:pt x="4590" y="16926"/>
                  </a:lnTo>
                  <a:lnTo>
                    <a:pt x="4567" y="17968"/>
                  </a:lnTo>
                  <a:lnTo>
                    <a:pt x="4567" y="19011"/>
                  </a:lnTo>
                  <a:lnTo>
                    <a:pt x="4590" y="19514"/>
                  </a:lnTo>
                  <a:lnTo>
                    <a:pt x="4612" y="19980"/>
                  </a:lnTo>
                  <a:lnTo>
                    <a:pt x="4657" y="20426"/>
                  </a:lnTo>
                  <a:lnTo>
                    <a:pt x="4725" y="20836"/>
                  </a:lnTo>
                  <a:lnTo>
                    <a:pt x="4848" y="20929"/>
                  </a:lnTo>
                  <a:lnTo>
                    <a:pt x="5040" y="21004"/>
                  </a:lnTo>
                  <a:lnTo>
                    <a:pt x="5265" y="21078"/>
                  </a:lnTo>
                  <a:lnTo>
                    <a:pt x="5478" y="21115"/>
                  </a:lnTo>
                  <a:lnTo>
                    <a:pt x="6041" y="21115"/>
                  </a:lnTo>
                  <a:lnTo>
                    <a:pt x="6637" y="21078"/>
                  </a:lnTo>
                  <a:lnTo>
                    <a:pt x="7312" y="21004"/>
                  </a:lnTo>
                  <a:lnTo>
                    <a:pt x="7998" y="20929"/>
                  </a:lnTo>
                  <a:lnTo>
                    <a:pt x="8696" y="20855"/>
                  </a:lnTo>
                  <a:lnTo>
                    <a:pt x="9360" y="20836"/>
                  </a:lnTo>
                  <a:close/>
                </a:path>
              </a:pathLst>
            </a:custGeom>
            <a:solidFill>
              <a:srgbClr val="CCCC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85066" name="Group 42"/>
          <p:cNvGrpSpPr>
            <a:grpSpLocks/>
          </p:cNvGrpSpPr>
          <p:nvPr/>
        </p:nvGrpSpPr>
        <p:grpSpPr bwMode="auto">
          <a:xfrm>
            <a:off x="3779838" y="4797425"/>
            <a:ext cx="792162" cy="587375"/>
            <a:chOff x="1008" y="1059"/>
            <a:chExt cx="3768" cy="2733"/>
          </a:xfrm>
        </p:grpSpPr>
        <p:sp>
          <p:nvSpPr>
            <p:cNvPr id="385067" name="AutoShape 43"/>
            <p:cNvSpPr>
              <a:spLocks noChangeAspect="1" noChangeArrowheads="1"/>
            </p:cNvSpPr>
            <p:nvPr/>
          </p:nvSpPr>
          <p:spPr bwMode="auto">
            <a:xfrm>
              <a:off x="1915" y="1617"/>
              <a:ext cx="1942" cy="1675"/>
            </a:xfrm>
            <a:prstGeom prst="triangle">
              <a:avLst>
                <a:gd name="adj" fmla="val 50000"/>
              </a:avLst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5068" name="Oval 44"/>
            <p:cNvSpPr>
              <a:spLocks noChangeArrowheads="1"/>
            </p:cNvSpPr>
            <p:nvPr/>
          </p:nvSpPr>
          <p:spPr bwMode="auto">
            <a:xfrm>
              <a:off x="1008" y="3234"/>
              <a:ext cx="1116" cy="558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5069" name="Oval 45"/>
            <p:cNvSpPr>
              <a:spLocks noChangeArrowheads="1"/>
            </p:cNvSpPr>
            <p:nvPr/>
          </p:nvSpPr>
          <p:spPr bwMode="auto">
            <a:xfrm>
              <a:off x="2334" y="1059"/>
              <a:ext cx="1116" cy="558"/>
            </a:xfrm>
            <a:prstGeom prst="ellipse">
              <a:avLst/>
            </a:prstGeom>
            <a:solidFill>
              <a:srgbClr val="FFBE7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5070" name="Oval 46"/>
            <p:cNvSpPr>
              <a:spLocks noChangeArrowheads="1"/>
            </p:cNvSpPr>
            <p:nvPr/>
          </p:nvSpPr>
          <p:spPr bwMode="auto">
            <a:xfrm>
              <a:off x="3660" y="3234"/>
              <a:ext cx="1116" cy="558"/>
            </a:xfrm>
            <a:prstGeom prst="ellipse">
              <a:avLst/>
            </a:prstGeom>
            <a:solidFill>
              <a:srgbClr val="D8EBB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85071" name="Text Box 47"/>
          <p:cNvSpPr txBox="1">
            <a:spLocks noChangeArrowheads="1"/>
          </p:cNvSpPr>
          <p:nvPr/>
        </p:nvSpPr>
        <p:spPr bwMode="auto">
          <a:xfrm>
            <a:off x="6551613" y="2997200"/>
            <a:ext cx="25923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CA" sz="1800"/>
          </a:p>
        </p:txBody>
      </p:sp>
      <p:sp>
        <p:nvSpPr>
          <p:cNvPr id="385072" name="AutoShape 48"/>
          <p:cNvSpPr>
            <a:spLocks noChangeArrowheads="1"/>
          </p:cNvSpPr>
          <p:nvPr/>
        </p:nvSpPr>
        <p:spPr bwMode="auto">
          <a:xfrm>
            <a:off x="5724525" y="2492375"/>
            <a:ext cx="3419475" cy="1081088"/>
          </a:xfrm>
          <a:prstGeom prst="cloudCallout">
            <a:avLst>
              <a:gd name="adj1" fmla="val -70241"/>
              <a:gd name="adj2" fmla="val -5361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CA"/>
          </a:p>
        </p:txBody>
      </p:sp>
      <p:sp>
        <p:nvSpPr>
          <p:cNvPr id="385073" name="Rectangle 49"/>
          <p:cNvSpPr>
            <a:spLocks noChangeArrowheads="1"/>
          </p:cNvSpPr>
          <p:nvPr/>
        </p:nvSpPr>
        <p:spPr bwMode="auto">
          <a:xfrm>
            <a:off x="6084888" y="2636838"/>
            <a:ext cx="305911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1600" b="1" dirty="0" err="1">
                <a:solidFill>
                  <a:srgbClr val="FFFFFF"/>
                </a:solidFill>
              </a:rPr>
              <a:t>Requirements</a:t>
            </a:r>
            <a:r>
              <a:rPr lang="es-ES" sz="1600" b="1" dirty="0">
                <a:solidFill>
                  <a:srgbClr val="FFFFFF"/>
                </a:solidFill>
              </a:rPr>
              <a:t> of </a:t>
            </a:r>
            <a:r>
              <a:rPr lang="es-ES" sz="1600" b="1" dirty="0" err="1">
                <a:solidFill>
                  <a:srgbClr val="FFFFFF"/>
                </a:solidFill>
              </a:rPr>
              <a:t>algorithms</a:t>
            </a:r>
            <a:r>
              <a:rPr lang="es-ES" sz="1600" b="1" dirty="0">
                <a:solidFill>
                  <a:srgbClr val="FFFFFF"/>
                </a:solidFill>
              </a:rPr>
              <a:t> will </a:t>
            </a:r>
          </a:p>
          <a:p>
            <a:pPr>
              <a:spcBef>
                <a:spcPct val="50000"/>
              </a:spcBef>
            </a:pPr>
            <a:r>
              <a:rPr lang="es-ES" sz="1600" b="1" dirty="0">
                <a:solidFill>
                  <a:srgbClr val="FFFFFF"/>
                </a:solidFill>
              </a:rPr>
              <a:t>be </a:t>
            </a:r>
            <a:r>
              <a:rPr lang="es-ES" sz="1600" b="1" dirty="0" err="1">
                <a:solidFill>
                  <a:srgbClr val="FFFFFF"/>
                </a:solidFill>
              </a:rPr>
              <a:t>solved</a:t>
            </a:r>
            <a:r>
              <a:rPr lang="es-ES" sz="1600" b="1" dirty="0">
                <a:solidFill>
                  <a:srgbClr val="FFFFFF"/>
                </a:solidFill>
              </a:rPr>
              <a:t> at </a:t>
            </a:r>
            <a:r>
              <a:rPr lang="es-ES" sz="1600" b="1" dirty="0" err="1">
                <a:solidFill>
                  <a:srgbClr val="FFFFFF"/>
                </a:solidFill>
              </a:rPr>
              <a:t>this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b="1" dirty="0" err="1">
                <a:solidFill>
                  <a:srgbClr val="FFFFFF"/>
                </a:solidFill>
              </a:rPr>
              <a:t>level</a:t>
            </a:r>
            <a:endParaRPr lang="es-ES" sz="1600" b="1" dirty="0">
              <a:solidFill>
                <a:srgbClr val="FFFFFF"/>
              </a:solidFill>
            </a:endParaRPr>
          </a:p>
        </p:txBody>
      </p:sp>
      <p:sp>
        <p:nvSpPr>
          <p:cNvPr id="385075" name="AutoShape 51"/>
          <p:cNvSpPr>
            <a:spLocks noChangeArrowheads="1"/>
          </p:cNvSpPr>
          <p:nvPr/>
        </p:nvSpPr>
        <p:spPr bwMode="auto">
          <a:xfrm>
            <a:off x="5508625" y="4221163"/>
            <a:ext cx="3419475" cy="1081087"/>
          </a:xfrm>
          <a:prstGeom prst="cloudCallout">
            <a:avLst>
              <a:gd name="adj1" fmla="val -70287"/>
              <a:gd name="adj2" fmla="val -47208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CA"/>
          </a:p>
        </p:txBody>
      </p:sp>
      <p:sp>
        <p:nvSpPr>
          <p:cNvPr id="385076" name="Text Box 52"/>
          <p:cNvSpPr txBox="1">
            <a:spLocks noChangeArrowheads="1"/>
          </p:cNvSpPr>
          <p:nvPr/>
        </p:nvSpPr>
        <p:spPr bwMode="auto">
          <a:xfrm>
            <a:off x="6011863" y="4508500"/>
            <a:ext cx="2447925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sz="1600" b="1" dirty="0">
                <a:solidFill>
                  <a:srgbClr val="FFFFFF"/>
                </a:solidFill>
              </a:rPr>
              <a:t>Tools </a:t>
            </a:r>
            <a:r>
              <a:rPr lang="es-ES" sz="1600" b="1" dirty="0" err="1">
                <a:solidFill>
                  <a:srgbClr val="FFFFFF"/>
                </a:solidFill>
              </a:rPr>
              <a:t>requirements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b="1" dirty="0" err="1">
                <a:solidFill>
                  <a:srgbClr val="FFFFFF"/>
                </a:solidFill>
              </a:rPr>
              <a:t>to</a:t>
            </a:r>
            <a:r>
              <a:rPr lang="es-ES" sz="1600" b="1" dirty="0">
                <a:solidFill>
                  <a:srgbClr val="FFFFFF"/>
                </a:solidFill>
              </a:rPr>
              <a:t> be </a:t>
            </a:r>
            <a:r>
              <a:rPr lang="es-ES" sz="1600" b="1" dirty="0" err="1">
                <a:solidFill>
                  <a:srgbClr val="FFFFFF"/>
                </a:solidFill>
              </a:rPr>
              <a:t>solved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b="1" dirty="0" err="1">
                <a:solidFill>
                  <a:srgbClr val="FFFFFF"/>
                </a:solidFill>
              </a:rPr>
              <a:t>here</a:t>
            </a:r>
            <a:endParaRPr lang="es-ES" sz="1600" b="1" dirty="0">
              <a:solidFill>
                <a:srgbClr val="FFFFFF"/>
              </a:solidFill>
            </a:endParaRPr>
          </a:p>
        </p:txBody>
      </p:sp>
      <p:sp>
        <p:nvSpPr>
          <p:cNvPr id="385077" name="Text Box 53"/>
          <p:cNvSpPr txBox="1">
            <a:spLocks noChangeArrowheads="1"/>
          </p:cNvSpPr>
          <p:nvPr/>
        </p:nvSpPr>
        <p:spPr bwMode="auto">
          <a:xfrm>
            <a:off x="1619250" y="5661025"/>
            <a:ext cx="4824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/>
              <a:t>SAS,       WEKA,      Clementine…</a:t>
            </a:r>
          </a:p>
        </p:txBody>
      </p:sp>
    </p:spTree>
    <p:extLst>
      <p:ext uri="{BB962C8B-B14F-4D97-AF65-F5344CB8AC3E}">
        <p14:creationId xmlns:p14="http://schemas.microsoft.com/office/powerpoint/2010/main" val="503838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Elements to conceptualize 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Elements to be taken into account:</a:t>
            </a:r>
          </a:p>
          <a:p>
            <a:pPr lvl="1"/>
            <a:r>
              <a:rPr lang="es-ES"/>
              <a:t>Data: </a:t>
            </a:r>
          </a:p>
          <a:p>
            <a:pPr lvl="2"/>
            <a:r>
              <a:rPr lang="es-ES"/>
              <a:t>Quality from data mining point of view</a:t>
            </a:r>
          </a:p>
          <a:p>
            <a:pPr lvl="2"/>
            <a:r>
              <a:rPr lang="es-ES"/>
              <a:t>Adequateness for the problem</a:t>
            </a:r>
          </a:p>
          <a:p>
            <a:pPr lvl="2"/>
            <a:r>
              <a:rPr lang="es-ES"/>
              <a:t>Classification for data mining purposes</a:t>
            </a:r>
          </a:p>
          <a:p>
            <a:pPr lvl="1"/>
            <a:r>
              <a:rPr lang="es-ES"/>
              <a:t>Knowledge:</a:t>
            </a:r>
          </a:p>
          <a:p>
            <a:pPr lvl="2"/>
            <a:r>
              <a:rPr lang="es-ES"/>
              <a:t>Related to the process being analyzed</a:t>
            </a:r>
          </a:p>
          <a:p>
            <a:pPr lvl="2"/>
            <a:r>
              <a:rPr lang="es-ES"/>
              <a:t>Related to the data used</a:t>
            </a:r>
          </a:p>
          <a:p>
            <a:pPr lvl="1"/>
            <a:r>
              <a:rPr lang="es-ES"/>
              <a:t>People</a:t>
            </a:r>
          </a:p>
          <a:p>
            <a:pPr lvl="2"/>
            <a:r>
              <a:rPr lang="es-ES"/>
              <a:t>Owners of data</a:t>
            </a:r>
          </a:p>
          <a:p>
            <a:pPr lvl="2"/>
            <a:r>
              <a:rPr lang="es-ES"/>
              <a:t>Experts in the process</a:t>
            </a:r>
          </a:p>
          <a:p>
            <a:pPr lvl="1"/>
            <a:r>
              <a:rPr lang="es-ES"/>
              <a:t>Data mining problems requirements</a:t>
            </a:r>
          </a:p>
          <a:p>
            <a:pPr lvl="1"/>
            <a:r>
              <a:rPr lang="es-ES"/>
              <a:t>Data mining methods requirements</a:t>
            </a:r>
          </a:p>
        </p:txBody>
      </p:sp>
    </p:spTree>
    <p:extLst>
      <p:ext uri="{BB962C8B-B14F-4D97-AF65-F5344CB8AC3E}">
        <p14:creationId xmlns:p14="http://schemas.microsoft.com/office/powerpoint/2010/main" val="3475364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s-ES" dirty="0" err="1"/>
              <a:t>Proposed</a:t>
            </a:r>
            <a:r>
              <a:rPr lang="es-ES" dirty="0"/>
              <a:t> </a:t>
            </a:r>
            <a:r>
              <a:rPr lang="es-ES" dirty="0" err="1"/>
              <a:t>process</a:t>
            </a:r>
            <a:endParaRPr lang="es-ES" dirty="0"/>
          </a:p>
        </p:txBody>
      </p:sp>
      <p:pic>
        <p:nvPicPr>
          <p:cNvPr id="351235" name="Picture 3" descr="DMM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2" b="13113"/>
          <a:stretch/>
        </p:blipFill>
        <p:spPr bwMode="auto">
          <a:xfrm>
            <a:off x="823409" y="1127124"/>
            <a:ext cx="797621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23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DAMO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Data </a:t>
            </a:r>
            <a:r>
              <a:rPr lang="es-ES" dirty="0" err="1"/>
              <a:t>Analytics</a:t>
            </a:r>
            <a:r>
              <a:rPr lang="es-ES" dirty="0"/>
              <a:t> Modelling </a:t>
            </a:r>
            <a:r>
              <a:rPr lang="es-ES" dirty="0" err="1"/>
              <a:t>Objects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Data</a:t>
            </a:r>
          </a:p>
          <a:p>
            <a:pPr lvl="1"/>
            <a:r>
              <a:rPr lang="es-ES" dirty="0" err="1"/>
              <a:t>Knowledge</a:t>
            </a:r>
            <a:endParaRPr lang="es-ES" dirty="0"/>
          </a:p>
          <a:p>
            <a:pPr lvl="1"/>
            <a:r>
              <a:rPr lang="es-ES" dirty="0" err="1"/>
              <a:t>Constraints</a:t>
            </a:r>
            <a:r>
              <a:rPr lang="es-ES" dirty="0"/>
              <a:t> of data and </a:t>
            </a:r>
            <a:r>
              <a:rPr lang="es-ES" dirty="0" err="1"/>
              <a:t>applications</a:t>
            </a:r>
            <a:endParaRPr lang="es-ES" dirty="0"/>
          </a:p>
          <a:p>
            <a:pPr lvl="1"/>
            <a:r>
              <a:rPr lang="es-ES" dirty="0"/>
              <a:t>Data </a:t>
            </a:r>
            <a:r>
              <a:rPr lang="es-ES" dirty="0" err="1"/>
              <a:t>Mining</a:t>
            </a:r>
            <a:r>
              <a:rPr lang="es-ES" dirty="0"/>
              <a:t> </a:t>
            </a:r>
            <a:r>
              <a:rPr lang="es-ES" dirty="0" err="1"/>
              <a:t>objects</a:t>
            </a:r>
            <a:endParaRPr lang="es-ES" dirty="0"/>
          </a:p>
          <a:p>
            <a:pPr lvl="2"/>
            <a:r>
              <a:rPr lang="es-ES" dirty="0" err="1"/>
              <a:t>Algorithms</a:t>
            </a:r>
            <a:endParaRPr lang="es-ES" dirty="0"/>
          </a:p>
          <a:p>
            <a:pPr lvl="2"/>
            <a:r>
              <a:rPr lang="es-ES" dirty="0" err="1"/>
              <a:t>Measures</a:t>
            </a:r>
            <a:endParaRPr lang="es-ES" dirty="0"/>
          </a:p>
          <a:p>
            <a:pPr lvl="2"/>
            <a:r>
              <a:rPr lang="es-ES" dirty="0" err="1"/>
              <a:t>Methods</a:t>
            </a:r>
            <a:endParaRPr lang="es-ES" dirty="0"/>
          </a:p>
          <a:p>
            <a:pPr lvl="2"/>
            <a:endParaRPr lang="es-ES" dirty="0"/>
          </a:p>
          <a:p>
            <a:r>
              <a:rPr lang="es-ES" dirty="0"/>
              <a:t>Bridge </a:t>
            </a:r>
            <a:r>
              <a:rPr lang="es-ES" dirty="0" err="1"/>
              <a:t>the</a:t>
            </a:r>
            <a:r>
              <a:rPr lang="es-ES" dirty="0"/>
              <a:t> gap </a:t>
            </a:r>
            <a:r>
              <a:rPr lang="es-ES" dirty="0" err="1"/>
              <a:t>between</a:t>
            </a:r>
            <a:r>
              <a:rPr lang="es-ES" dirty="0"/>
              <a:t> data </a:t>
            </a:r>
            <a:r>
              <a:rPr lang="es-ES" dirty="0" err="1"/>
              <a:t>miners</a:t>
            </a:r>
            <a:r>
              <a:rPr lang="es-ES" dirty="0"/>
              <a:t> and </a:t>
            </a:r>
            <a:r>
              <a:rPr lang="es-ES" dirty="0" err="1"/>
              <a:t>business</a:t>
            </a:r>
            <a:r>
              <a:rPr lang="es-ES" dirty="0"/>
              <a:t> </a:t>
            </a:r>
            <a:r>
              <a:rPr lang="es-ES" dirty="0" err="1"/>
              <a:t>users</a:t>
            </a:r>
            <a:r>
              <a:rPr lang="es-ES" dirty="0"/>
              <a:t>;</a:t>
            </a:r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75614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5888"/>
            <a:ext cx="5678488" cy="838200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data </a:t>
            </a:r>
            <a:r>
              <a:rPr lang="es-ES" dirty="0" err="1"/>
              <a:t>adequate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analysis</a:t>
            </a:r>
            <a:r>
              <a:rPr lang="es-ES" dirty="0"/>
              <a:t>?</a:t>
            </a:r>
          </a:p>
        </p:txBody>
      </p:sp>
      <p:sp>
        <p:nvSpPr>
          <p:cNvPr id="3307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127125"/>
            <a:ext cx="8077200" cy="495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The adequateness of the data is analyzed taking into account goals to fulfill;</a:t>
            </a:r>
          </a:p>
          <a:p>
            <a:pPr marL="0" indent="0">
              <a:lnSpc>
                <a:spcPct val="80000"/>
              </a:lnSpc>
              <a:buNone/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Data &amp; expert knowledge can be transformed so that just by being the input of a certain data mining algorithm will produce the required patterns;</a:t>
            </a:r>
          </a:p>
          <a:p>
            <a:pPr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Quality of the data, in this context: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is not only related to the technical quality; 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proper model, percentage of null values;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meaning of the attributes;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Where each piece of data comes from;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relationship among data;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how the data fulfills data mining requirements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638821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Data </a:t>
            </a:r>
            <a:r>
              <a:rPr lang="es-ES" dirty="0" err="1"/>
              <a:t>Mining</a:t>
            </a:r>
            <a:r>
              <a:rPr lang="es-ES" dirty="0"/>
              <a:t>  == </a:t>
            </a:r>
            <a:r>
              <a:rPr lang="es-ES" dirty="0" err="1"/>
              <a:t>obtain</a:t>
            </a:r>
            <a:r>
              <a:rPr lang="es-ES" dirty="0"/>
              <a:t> </a:t>
            </a:r>
            <a:r>
              <a:rPr lang="es-ES" dirty="0" err="1"/>
              <a:t>models</a:t>
            </a:r>
            <a:r>
              <a:rPr lang="es-ES" dirty="0"/>
              <a:t> </a:t>
            </a:r>
          </a:p>
        </p:txBody>
      </p:sp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Apply data mining process model</a:t>
            </a:r>
          </a:p>
          <a:p>
            <a:r>
              <a:rPr lang="es-ES"/>
              <a:t>Associated problems solved by the 3 layers architecture:</a:t>
            </a:r>
          </a:p>
          <a:p>
            <a:pPr lvl="1"/>
            <a:r>
              <a:rPr lang="es-ES"/>
              <a:t>Comparison of approaches</a:t>
            </a:r>
          </a:p>
          <a:p>
            <a:pPr lvl="1"/>
            <a:r>
              <a:rPr lang="es-ES"/>
              <a:t>Evaluate costs</a:t>
            </a:r>
          </a:p>
          <a:p>
            <a:pPr lvl="1"/>
            <a:r>
              <a:rPr lang="es-ES"/>
              <a:t>Pros and cons of approaches</a:t>
            </a:r>
          </a:p>
          <a:p>
            <a:r>
              <a:rPr lang="es-ES"/>
              <a:t>Only experience or a conceptualization can help </a:t>
            </a:r>
          </a:p>
          <a:p>
            <a:r>
              <a:rPr lang="es-ES"/>
              <a:t>The conceptual model will help to establish the process to obtain each feasible model.</a:t>
            </a:r>
          </a:p>
          <a:p>
            <a:r>
              <a:rPr lang="es-ES"/>
              <a:t>Requirements and transformations implicit in the model</a:t>
            </a:r>
          </a:p>
        </p:txBody>
      </p:sp>
    </p:spTree>
    <p:extLst>
      <p:ext uri="{BB962C8B-B14F-4D97-AF65-F5344CB8AC3E}">
        <p14:creationId xmlns:p14="http://schemas.microsoft.com/office/powerpoint/2010/main" val="2227715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2.1 Determine type of problem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de-DE"/>
              <a:t>What are data mining problems? </a:t>
            </a:r>
          </a:p>
          <a:p>
            <a:pPr lvl="2"/>
            <a:r>
              <a:rPr lang="de-DE"/>
              <a:t>Classification</a:t>
            </a:r>
          </a:p>
          <a:p>
            <a:pPr lvl="2"/>
            <a:r>
              <a:rPr lang="de-DE"/>
              <a:t>Estimation</a:t>
            </a:r>
          </a:p>
          <a:p>
            <a:pPr lvl="2"/>
            <a:r>
              <a:rPr lang="de-DE"/>
              <a:t>Association</a:t>
            </a:r>
          </a:p>
          <a:p>
            <a:pPr lvl="2"/>
            <a:r>
              <a:rPr lang="de-DE"/>
              <a:t>Segmentation</a:t>
            </a:r>
          </a:p>
          <a:p>
            <a:pPr lvl="2"/>
            <a:endParaRPr lang="de-DE"/>
          </a:p>
          <a:p>
            <a:pPr lvl="1"/>
            <a:r>
              <a:rPr lang="de-DE"/>
              <a:t>In the conceptual model requirements for each type will be settled</a:t>
            </a:r>
          </a:p>
          <a:p>
            <a:pPr lvl="1"/>
            <a:endParaRPr lang="de-DE"/>
          </a:p>
          <a:p>
            <a:pPr lvl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0997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</a:t>
            </a:r>
            <a:r>
              <a:rPr lang="de-DE" dirty="0" err="1"/>
              <a:t>Evaluate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*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s-ES" sz="2000" dirty="0" err="1"/>
              <a:t>Evaluation</a:t>
            </a:r>
            <a:r>
              <a:rPr lang="es-ES" sz="2000" dirty="0"/>
              <a:t>: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act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ascertaining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value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an </a:t>
            </a:r>
            <a:r>
              <a:rPr lang="de-DE" sz="2000" dirty="0" err="1">
                <a:solidFill>
                  <a:srgbClr val="006666"/>
                </a:solidFill>
              </a:rPr>
              <a:t>object</a:t>
            </a:r>
            <a:r>
              <a:rPr lang="de-DE" sz="2000" dirty="0"/>
              <a:t> </a:t>
            </a:r>
            <a:r>
              <a:rPr lang="de-DE" sz="2000" dirty="0" err="1"/>
              <a:t>according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specified</a:t>
            </a:r>
            <a:r>
              <a:rPr lang="de-DE" sz="2000" dirty="0"/>
              <a:t> </a:t>
            </a:r>
            <a:r>
              <a:rPr lang="de-DE" sz="2000" dirty="0" err="1">
                <a:solidFill>
                  <a:srgbClr val="006666"/>
                </a:solidFill>
              </a:rPr>
              <a:t>criteria</a:t>
            </a:r>
            <a:r>
              <a:rPr lang="de-DE" sz="2000" dirty="0"/>
              <a:t>, </a:t>
            </a:r>
            <a:r>
              <a:rPr lang="de-DE" sz="2000" dirty="0" err="1"/>
              <a:t>operationalised</a:t>
            </a:r>
            <a:r>
              <a:rPr lang="de-DE" sz="2000" dirty="0"/>
              <a:t> in </a:t>
            </a:r>
            <a:r>
              <a:rPr lang="de-DE" sz="2000" dirty="0" err="1"/>
              <a:t>terms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>
                <a:solidFill>
                  <a:srgbClr val="006666"/>
                </a:solidFill>
              </a:rPr>
              <a:t>measures</a:t>
            </a:r>
            <a:r>
              <a:rPr lang="de-DE" sz="2000" dirty="0"/>
              <a:t>;</a:t>
            </a:r>
          </a:p>
          <a:p>
            <a:pPr lvl="1">
              <a:buFontTx/>
              <a:buChar char="•"/>
            </a:pPr>
            <a:r>
              <a:rPr lang="es-ES" sz="1800" dirty="0" err="1"/>
              <a:t>Object</a:t>
            </a:r>
            <a:r>
              <a:rPr lang="es-ES" sz="1800" dirty="0"/>
              <a:t>= </a:t>
            </a:r>
            <a:r>
              <a:rPr lang="es-ES" sz="1800" dirty="0" err="1"/>
              <a:t>model</a:t>
            </a:r>
            <a:r>
              <a:rPr lang="es-ES" sz="1800" dirty="0"/>
              <a:t> </a:t>
            </a:r>
            <a:r>
              <a:rPr lang="es-ES" sz="1800" dirty="0" err="1"/>
              <a:t>already</a:t>
            </a:r>
            <a:r>
              <a:rPr lang="es-ES" sz="1800" dirty="0"/>
              <a:t> </a:t>
            </a:r>
            <a:r>
              <a:rPr lang="es-ES" sz="1800" dirty="0" err="1"/>
              <a:t>obtained</a:t>
            </a:r>
            <a:r>
              <a:rPr lang="es-ES" sz="1800" dirty="0"/>
              <a:t>;</a:t>
            </a:r>
          </a:p>
          <a:p>
            <a:pPr lvl="1">
              <a:buFontTx/>
              <a:buChar char="•"/>
            </a:pPr>
            <a:r>
              <a:rPr lang="es-ES" sz="1800" dirty="0" err="1"/>
              <a:t>Criteria</a:t>
            </a:r>
            <a:r>
              <a:rPr lang="es-ES" sz="1800" dirty="0"/>
              <a:t> and </a:t>
            </a:r>
            <a:r>
              <a:rPr lang="es-ES" sz="1800" dirty="0" err="1"/>
              <a:t>Measures</a:t>
            </a:r>
            <a:r>
              <a:rPr lang="es-ES" sz="1800" dirty="0"/>
              <a:t> and has </a:t>
            </a:r>
            <a:r>
              <a:rPr lang="es-ES" sz="1800" dirty="0" err="1"/>
              <a:t>to</a:t>
            </a:r>
            <a:r>
              <a:rPr lang="es-ES" sz="1800" dirty="0"/>
              <a:t> do </a:t>
            </a:r>
            <a:r>
              <a:rPr lang="es-ES" sz="1800" dirty="0" err="1"/>
              <a:t>with</a:t>
            </a:r>
            <a:r>
              <a:rPr lang="es-ES" sz="1800" dirty="0"/>
              <a:t> </a:t>
            </a:r>
            <a:r>
              <a:rPr lang="es-ES" sz="1800" dirty="0" err="1"/>
              <a:t>goals</a:t>
            </a:r>
            <a:r>
              <a:rPr lang="es-ES" sz="1800" dirty="0"/>
              <a:t>;</a:t>
            </a:r>
          </a:p>
          <a:p>
            <a:pPr lvl="1">
              <a:buFontTx/>
              <a:buChar char="•"/>
            </a:pPr>
            <a:endParaRPr lang="de-DE" sz="1800" dirty="0"/>
          </a:p>
          <a:p>
            <a:r>
              <a:rPr lang="de-DE" sz="2000" dirty="0"/>
              <a:t>Evaluation </a:t>
            </a:r>
            <a:r>
              <a:rPr lang="de-DE" sz="2000" dirty="0" err="1"/>
              <a:t>requires</a:t>
            </a:r>
            <a:r>
              <a:rPr lang="de-DE" sz="2000" dirty="0"/>
              <a:t> a well-defined </a:t>
            </a:r>
            <a:r>
              <a:rPr lang="de-DE" sz="2000" dirty="0" err="1"/>
              <a:t>notion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>
                <a:solidFill>
                  <a:schemeClr val="hlink"/>
                </a:solidFill>
              </a:rPr>
              <a:t>success</a:t>
            </a:r>
            <a:r>
              <a:rPr lang="de-DE" sz="2000" dirty="0"/>
              <a:t>, </a:t>
            </a:r>
            <a:r>
              <a:rPr lang="de-DE" sz="2000" dirty="0" err="1"/>
              <a:t>which</a:t>
            </a:r>
            <a:r>
              <a:rPr lang="de-DE" sz="2000" dirty="0"/>
              <a:t> must </a:t>
            </a:r>
            <a:r>
              <a:rPr lang="de-DE" sz="2000" dirty="0" err="1"/>
              <a:t>be</a:t>
            </a:r>
            <a:r>
              <a:rPr lang="de-DE" sz="2000" dirty="0"/>
              <a:t> in </a:t>
            </a:r>
            <a:r>
              <a:rPr lang="de-DE" sz="2000" dirty="0" err="1"/>
              <a:t>place</a:t>
            </a:r>
            <a:r>
              <a:rPr lang="de-DE" sz="2000" dirty="0"/>
              <a:t> </a:t>
            </a:r>
            <a:r>
              <a:rPr lang="de-DE" sz="2000" dirty="0" err="1"/>
              <a:t>before</a:t>
            </a:r>
            <a:endParaRPr lang="de-DE" sz="2000" dirty="0"/>
          </a:p>
          <a:p>
            <a:pPr lvl="1"/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evaluation</a:t>
            </a:r>
            <a:r>
              <a:rPr lang="de-DE" sz="1800" dirty="0"/>
              <a:t> </a:t>
            </a:r>
            <a:r>
              <a:rPr lang="de-DE" sz="1800" dirty="0" err="1"/>
              <a:t>takes</a:t>
            </a:r>
            <a:r>
              <a:rPr lang="de-DE" sz="1800" dirty="0"/>
              <a:t> </a:t>
            </a:r>
            <a:r>
              <a:rPr lang="de-DE" sz="1800" dirty="0" err="1"/>
              <a:t>place</a:t>
            </a:r>
            <a:endParaRPr lang="de-DE" sz="1800" dirty="0"/>
          </a:p>
          <a:p>
            <a:pPr lvl="1"/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data</a:t>
            </a:r>
            <a:r>
              <a:rPr lang="de-DE" sz="1800" dirty="0"/>
              <a:t> </a:t>
            </a:r>
            <a:r>
              <a:rPr lang="de-DE" sz="1800" dirty="0" err="1"/>
              <a:t>mining</a:t>
            </a:r>
            <a:r>
              <a:rPr lang="de-DE" sz="1800" dirty="0"/>
              <a:t> </a:t>
            </a:r>
            <a:r>
              <a:rPr lang="de-DE" sz="1800" dirty="0" err="1"/>
              <a:t>phase</a:t>
            </a:r>
            <a:r>
              <a:rPr lang="de-DE" sz="1800" dirty="0"/>
              <a:t> </a:t>
            </a:r>
            <a:r>
              <a:rPr lang="de-DE" sz="1800" dirty="0" err="1"/>
              <a:t>starts</a:t>
            </a:r>
            <a:endParaRPr lang="de-DE" sz="1800" dirty="0"/>
          </a:p>
          <a:p>
            <a:pPr lvl="1"/>
            <a:r>
              <a:rPr lang="de-DE" sz="1800" dirty="0" err="1"/>
              <a:t>any</a:t>
            </a:r>
            <a:r>
              <a:rPr lang="de-DE" sz="1800" dirty="0"/>
              <a:t> </a:t>
            </a:r>
            <a:r>
              <a:rPr lang="de-DE" sz="1800" dirty="0" err="1"/>
              <a:t>work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data</a:t>
            </a:r>
            <a:r>
              <a:rPr lang="de-DE" sz="1800" dirty="0"/>
              <a:t> </a:t>
            </a:r>
            <a:r>
              <a:rPr lang="de-DE" sz="1800" dirty="0" err="1"/>
              <a:t>starts</a:t>
            </a:r>
            <a:endParaRPr lang="de-DE" sz="1800" dirty="0"/>
          </a:p>
          <a:p>
            <a:pPr lvl="1"/>
            <a:endParaRPr lang="de-DE" sz="1800" dirty="0"/>
          </a:p>
          <a:p>
            <a:r>
              <a:rPr lang="de-DE" sz="2000" dirty="0"/>
              <a:t>i.e. </a:t>
            </a:r>
            <a:r>
              <a:rPr lang="de-DE" sz="2000" dirty="0" err="1"/>
              <a:t>already</a:t>
            </a:r>
            <a:r>
              <a:rPr lang="de-DE" sz="2000" dirty="0"/>
              <a:t> </a:t>
            </a:r>
            <a:r>
              <a:rPr lang="de-DE" sz="2000" dirty="0" err="1"/>
              <a:t>during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business</a:t>
            </a:r>
            <a:r>
              <a:rPr lang="de-DE" sz="2000" dirty="0"/>
              <a:t> </a:t>
            </a:r>
            <a:r>
              <a:rPr lang="de-DE" sz="2000" dirty="0" err="1"/>
              <a:t>understanding</a:t>
            </a:r>
            <a:r>
              <a:rPr lang="de-DE" sz="2000" dirty="0"/>
              <a:t> </a:t>
            </a:r>
            <a:r>
              <a:rPr lang="de-DE" sz="2000" dirty="0" err="1"/>
              <a:t>process</a:t>
            </a:r>
            <a:r>
              <a:rPr lang="de-DE" sz="2000" dirty="0"/>
              <a:t>;</a:t>
            </a:r>
          </a:p>
          <a:p>
            <a:r>
              <a:rPr lang="de-DE" sz="2000" dirty="0" err="1"/>
              <a:t>Here</a:t>
            </a:r>
            <a:r>
              <a:rPr lang="de-DE" sz="2000" dirty="0"/>
              <a:t> </a:t>
            </a:r>
            <a:r>
              <a:rPr lang="de-DE" sz="2000" dirty="0" err="1"/>
              <a:t>once</a:t>
            </a:r>
            <a:r>
              <a:rPr lang="de-DE" sz="2000" dirty="0"/>
              <a:t> </a:t>
            </a:r>
            <a:r>
              <a:rPr lang="de-DE" sz="2000" dirty="0" err="1"/>
              <a:t>again</a:t>
            </a:r>
            <a:r>
              <a:rPr lang="de-DE" sz="2000" dirty="0"/>
              <a:t> </a:t>
            </a:r>
            <a:r>
              <a:rPr lang="de-DE" sz="2000" dirty="0" err="1"/>
              <a:t>conceptualization</a:t>
            </a:r>
            <a:r>
              <a:rPr lang="de-DE" sz="2000" dirty="0"/>
              <a:t> </a:t>
            </a:r>
            <a:r>
              <a:rPr lang="de-DE" sz="2000" dirty="0" err="1"/>
              <a:t>plays</a:t>
            </a:r>
            <a:r>
              <a:rPr lang="de-DE" sz="2000" dirty="0"/>
              <a:t> </a:t>
            </a:r>
            <a:r>
              <a:rPr lang="de-DE" sz="2000" dirty="0" err="1"/>
              <a:t>its</a:t>
            </a:r>
            <a:r>
              <a:rPr lang="de-DE" sz="2000" dirty="0"/>
              <a:t> </a:t>
            </a:r>
            <a:r>
              <a:rPr lang="de-DE" sz="2000" dirty="0" err="1"/>
              <a:t>role</a:t>
            </a:r>
            <a:r>
              <a:rPr lang="de-DE" sz="2000" dirty="0"/>
              <a:t>;</a:t>
            </a:r>
          </a:p>
          <a:p>
            <a:endParaRPr lang="de-DE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142875" y="6344502"/>
            <a:ext cx="30996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* [</a:t>
            </a:r>
            <a:r>
              <a:rPr lang="es-ES" dirty="0" err="1"/>
              <a:t>Spilipopou</a:t>
            </a:r>
            <a:r>
              <a:rPr lang="es-ES" dirty="0"/>
              <a:t>, </a:t>
            </a:r>
            <a:r>
              <a:rPr lang="es-ES" dirty="0" err="1"/>
              <a:t>Berendt</a:t>
            </a:r>
            <a:r>
              <a:rPr lang="es-ES" dirty="0"/>
              <a:t>]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40151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Evaluation in the CRISP-DM Process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de-DE" sz="2000" dirty="0"/>
              <a:t>The CRISP-DM </a:t>
            </a:r>
            <a:r>
              <a:rPr lang="de-DE" sz="2000" dirty="0" err="1"/>
              <a:t>process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:</a:t>
            </a:r>
          </a:p>
          <a:p>
            <a:pPr lvl="1"/>
            <a:r>
              <a:rPr lang="de-DE" sz="1800" dirty="0"/>
              <a:t>a </a:t>
            </a:r>
            <a:r>
              <a:rPr lang="de-DE" sz="1800" dirty="0" err="1"/>
              <a:t>never-ending</a:t>
            </a:r>
            <a:r>
              <a:rPr lang="de-DE" sz="1800" dirty="0"/>
              <a:t> </a:t>
            </a:r>
            <a:r>
              <a:rPr lang="de-DE" sz="1800" dirty="0" err="1"/>
              <a:t>circle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iterations</a:t>
            </a:r>
            <a:r>
              <a:rPr lang="de-DE" sz="1800" dirty="0"/>
              <a:t>;</a:t>
            </a:r>
          </a:p>
          <a:p>
            <a:pPr lvl="1"/>
            <a:r>
              <a:rPr lang="de-DE" sz="1800" dirty="0"/>
              <a:t>a non-</a:t>
            </a:r>
            <a:r>
              <a:rPr lang="de-DE" sz="1800" dirty="0" err="1"/>
              <a:t>sequential</a:t>
            </a:r>
            <a:r>
              <a:rPr lang="de-DE" sz="1800" dirty="0"/>
              <a:t> </a:t>
            </a:r>
            <a:r>
              <a:rPr lang="de-DE" sz="1800" dirty="0" err="1"/>
              <a:t>process</a:t>
            </a:r>
            <a:r>
              <a:rPr lang="de-DE" sz="1800" dirty="0"/>
              <a:t>, </a:t>
            </a:r>
            <a:r>
              <a:rPr lang="de-DE" sz="1800" dirty="0" err="1"/>
              <a:t>where</a:t>
            </a:r>
            <a:r>
              <a:rPr lang="de-DE" sz="1800" dirty="0"/>
              <a:t> </a:t>
            </a:r>
            <a:r>
              <a:rPr lang="de-DE" sz="1800" dirty="0" err="1"/>
              <a:t>backtracking</a:t>
            </a:r>
            <a:r>
              <a:rPr lang="de-DE" sz="1800" dirty="0"/>
              <a:t> </a:t>
            </a:r>
            <a:r>
              <a:rPr lang="de-DE" sz="1800" dirty="0" err="1"/>
              <a:t>at</a:t>
            </a:r>
            <a:r>
              <a:rPr lang="de-DE" sz="1800" dirty="0"/>
              <a:t> </a:t>
            </a:r>
            <a:r>
              <a:rPr lang="de-DE" sz="1800" dirty="0" err="1"/>
              <a:t>previous</a:t>
            </a:r>
            <a:r>
              <a:rPr lang="de-DE" sz="1800" dirty="0"/>
              <a:t> </a:t>
            </a:r>
            <a:r>
              <a:rPr lang="de-DE" sz="1800" dirty="0" err="1"/>
              <a:t>phases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usually</a:t>
            </a:r>
            <a:r>
              <a:rPr lang="de-DE" sz="1800" dirty="0"/>
              <a:t> </a:t>
            </a:r>
            <a:r>
              <a:rPr lang="de-DE" sz="1800" dirty="0" err="1"/>
              <a:t>necessary</a:t>
            </a:r>
            <a:r>
              <a:rPr lang="de-DE" sz="1800" dirty="0"/>
              <a:t>;</a:t>
            </a:r>
          </a:p>
          <a:p>
            <a:r>
              <a:rPr lang="de-DE" sz="2000" dirty="0"/>
              <a:t>In </a:t>
            </a:r>
            <a:r>
              <a:rPr lang="de-DE" sz="2000" dirty="0" err="1"/>
              <a:t>each</a:t>
            </a:r>
            <a:r>
              <a:rPr lang="de-DE" sz="2000" dirty="0"/>
              <a:t> </a:t>
            </a:r>
            <a:r>
              <a:rPr lang="de-DE" sz="2000" dirty="0" err="1"/>
              <a:t>sequential</a:t>
            </a:r>
            <a:r>
              <a:rPr lang="de-DE" sz="2000" dirty="0"/>
              <a:t> </a:t>
            </a:r>
            <a:r>
              <a:rPr lang="de-DE" sz="2000" dirty="0" err="1"/>
              <a:t>instantiation</a:t>
            </a:r>
            <a:r>
              <a:rPr lang="de-DE" sz="2000" dirty="0"/>
              <a:t> </a:t>
            </a:r>
            <a:r>
              <a:rPr lang="de-DE" sz="2000" dirty="0" err="1"/>
              <a:t>evaluation</a:t>
            </a:r>
            <a:r>
              <a:rPr lang="de-DE" sz="2000" dirty="0"/>
              <a:t> </a:t>
            </a:r>
            <a:r>
              <a:rPr lang="de-DE" sz="2000" dirty="0" err="1"/>
              <a:t>takes</a:t>
            </a:r>
            <a:r>
              <a:rPr lang="de-DE" sz="2000" dirty="0"/>
              <a:t> </a:t>
            </a:r>
            <a:r>
              <a:rPr lang="de-DE" sz="2000" dirty="0" err="1"/>
              <a:t>place</a:t>
            </a:r>
            <a:r>
              <a:rPr lang="de-DE" sz="2000" dirty="0"/>
              <a:t>:</a:t>
            </a:r>
          </a:p>
          <a:p>
            <a:endParaRPr lang="de-DE" sz="2000" dirty="0"/>
          </a:p>
          <a:p>
            <a:endParaRPr lang="de-DE" sz="2000" dirty="0"/>
          </a:p>
          <a:p>
            <a:endParaRPr lang="de-DE" sz="2000" dirty="0"/>
          </a:p>
          <a:p>
            <a:endParaRPr lang="de-DE" sz="2000" dirty="0"/>
          </a:p>
          <a:p>
            <a:r>
              <a:rPr lang="de-DE" sz="2000" dirty="0"/>
              <a:t>But </a:t>
            </a:r>
            <a:r>
              <a:rPr lang="de-DE" sz="2000" dirty="0" err="1"/>
              <a:t>it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a </a:t>
            </a:r>
            <a:r>
              <a:rPr lang="de-DE" sz="2000" dirty="0" err="1"/>
              <a:t>cycle</a:t>
            </a:r>
            <a:r>
              <a:rPr lang="de-DE" sz="2000" dirty="0"/>
              <a:t>;</a:t>
            </a:r>
          </a:p>
          <a:p>
            <a:r>
              <a:rPr lang="de-DE" sz="2000" dirty="0"/>
              <a:t>In all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iterations</a:t>
            </a:r>
            <a:r>
              <a:rPr lang="de-DE" sz="2000" dirty="0"/>
              <a:t> all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steps</a:t>
            </a:r>
            <a:r>
              <a:rPr lang="de-DE" sz="2000" dirty="0"/>
              <a:t> </a:t>
            </a:r>
            <a:r>
              <a:rPr lang="de-DE" sz="2000" dirty="0" err="1"/>
              <a:t>should</a:t>
            </a:r>
            <a:r>
              <a:rPr lang="de-DE" sz="2000" dirty="0"/>
              <a:t> </a:t>
            </a:r>
            <a:r>
              <a:rPr lang="de-DE" sz="2000" dirty="0" err="1"/>
              <a:t>be</a:t>
            </a:r>
            <a:r>
              <a:rPr lang="de-DE" sz="2000" dirty="0"/>
              <a:t> </a:t>
            </a:r>
            <a:r>
              <a:rPr lang="de-DE" sz="2000" dirty="0" err="1"/>
              <a:t>revisited</a:t>
            </a:r>
            <a:r>
              <a:rPr lang="de-DE" sz="2000" dirty="0"/>
              <a:t>;</a:t>
            </a:r>
          </a:p>
          <a:p>
            <a:r>
              <a:rPr lang="de-DE" sz="2000" dirty="0" err="1"/>
              <a:t>Results</a:t>
            </a:r>
            <a:r>
              <a:rPr lang="de-DE" sz="2000" dirty="0"/>
              <a:t> </a:t>
            </a:r>
            <a:r>
              <a:rPr lang="de-DE" sz="2000" dirty="0" err="1"/>
              <a:t>have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be</a:t>
            </a:r>
            <a:r>
              <a:rPr lang="de-DE" sz="2000" dirty="0"/>
              <a:t> </a:t>
            </a:r>
            <a:r>
              <a:rPr lang="de-DE" sz="2000" dirty="0" err="1"/>
              <a:t>evaluated</a:t>
            </a:r>
            <a:r>
              <a:rPr lang="de-DE" sz="2000" dirty="0"/>
              <a:t>!!</a:t>
            </a:r>
          </a:p>
        </p:txBody>
      </p:sp>
      <p:sp>
        <p:nvSpPr>
          <p:cNvPr id="262148" name="AutoShape 4"/>
          <p:cNvSpPr>
            <a:spLocks noChangeArrowheads="1"/>
          </p:cNvSpPr>
          <p:nvPr/>
        </p:nvSpPr>
        <p:spPr bwMode="auto">
          <a:xfrm>
            <a:off x="152400" y="3357563"/>
            <a:ext cx="1905000" cy="914400"/>
          </a:xfrm>
          <a:prstGeom prst="homePlate">
            <a:avLst>
              <a:gd name="adj" fmla="val 48438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000" tIns="0" rIns="0" bIns="0" anchor="ctr"/>
          <a:lstStyle/>
          <a:p>
            <a:r>
              <a:rPr lang="de-DE" sz="1400">
                <a:latin typeface="Tahoma" charset="0"/>
              </a:rPr>
              <a:t>Business Understanding</a:t>
            </a:r>
          </a:p>
        </p:txBody>
      </p:sp>
      <p:sp>
        <p:nvSpPr>
          <p:cNvPr id="262149" name="AutoShape 5"/>
          <p:cNvSpPr>
            <a:spLocks noChangeArrowheads="1"/>
          </p:cNvSpPr>
          <p:nvPr/>
        </p:nvSpPr>
        <p:spPr bwMode="auto">
          <a:xfrm>
            <a:off x="1600200" y="3357563"/>
            <a:ext cx="2133600" cy="914400"/>
          </a:xfrm>
          <a:prstGeom prst="chevron">
            <a:avLst>
              <a:gd name="adj" fmla="val 5121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288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Data Understanding</a:t>
            </a:r>
          </a:p>
        </p:txBody>
      </p:sp>
      <p:sp>
        <p:nvSpPr>
          <p:cNvPr id="262150" name="AutoShape 6"/>
          <p:cNvSpPr>
            <a:spLocks noChangeArrowheads="1"/>
          </p:cNvSpPr>
          <p:nvPr/>
        </p:nvSpPr>
        <p:spPr bwMode="auto">
          <a:xfrm>
            <a:off x="3276600" y="3357563"/>
            <a:ext cx="1828800" cy="914400"/>
          </a:xfrm>
          <a:prstGeom prst="chevron">
            <a:avLst>
              <a:gd name="adj" fmla="val 49648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360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Data</a:t>
            </a:r>
          </a:p>
          <a:p>
            <a:pPr algn="ctr"/>
            <a:r>
              <a:rPr lang="de-DE" sz="1400">
                <a:latin typeface="Tahoma" charset="0"/>
              </a:rPr>
              <a:t>Preparation</a:t>
            </a:r>
          </a:p>
        </p:txBody>
      </p:sp>
      <p:sp>
        <p:nvSpPr>
          <p:cNvPr id="262151" name="AutoShape 7"/>
          <p:cNvSpPr>
            <a:spLocks noChangeArrowheads="1"/>
          </p:cNvSpPr>
          <p:nvPr/>
        </p:nvSpPr>
        <p:spPr bwMode="auto">
          <a:xfrm>
            <a:off x="4648200" y="3357563"/>
            <a:ext cx="1600200" cy="914400"/>
          </a:xfrm>
          <a:prstGeom prst="chevron">
            <a:avLst>
              <a:gd name="adj" fmla="val 51738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32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Modeling</a:t>
            </a:r>
          </a:p>
        </p:txBody>
      </p:sp>
      <p:sp>
        <p:nvSpPr>
          <p:cNvPr id="262152" name="AutoShape 8"/>
          <p:cNvSpPr>
            <a:spLocks noChangeArrowheads="1"/>
          </p:cNvSpPr>
          <p:nvPr/>
        </p:nvSpPr>
        <p:spPr bwMode="auto">
          <a:xfrm>
            <a:off x="5791200" y="3357563"/>
            <a:ext cx="1752600" cy="914400"/>
          </a:xfrm>
          <a:prstGeom prst="chevron">
            <a:avLst>
              <a:gd name="adj" fmla="val 4913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32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Evaluation</a:t>
            </a:r>
          </a:p>
        </p:txBody>
      </p:sp>
      <p:sp>
        <p:nvSpPr>
          <p:cNvPr id="262153" name="AutoShape 9"/>
          <p:cNvSpPr>
            <a:spLocks noChangeArrowheads="1"/>
          </p:cNvSpPr>
          <p:nvPr/>
        </p:nvSpPr>
        <p:spPr bwMode="auto">
          <a:xfrm>
            <a:off x="7086600" y="3357563"/>
            <a:ext cx="1981200" cy="914400"/>
          </a:xfrm>
          <a:prstGeom prst="chevron">
            <a:avLst>
              <a:gd name="adj" fmla="val 5000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264C2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32000" tIns="0" rIns="0" bIns="0" anchor="ctr"/>
          <a:lstStyle/>
          <a:p>
            <a:pPr algn="ctr"/>
            <a:r>
              <a:rPr lang="de-DE" sz="1400">
                <a:latin typeface="Tahoma" charset="0"/>
              </a:rPr>
              <a:t>Deployment</a:t>
            </a:r>
          </a:p>
        </p:txBody>
      </p:sp>
      <p:sp>
        <p:nvSpPr>
          <p:cNvPr id="262154" name="AutoShape 10"/>
          <p:cNvSpPr>
            <a:spLocks noChangeArrowheads="1"/>
          </p:cNvSpPr>
          <p:nvPr/>
        </p:nvSpPr>
        <p:spPr bwMode="auto">
          <a:xfrm>
            <a:off x="152400" y="3357563"/>
            <a:ext cx="1905000" cy="914400"/>
          </a:xfrm>
          <a:prstGeom prst="homePlate">
            <a:avLst>
              <a:gd name="adj" fmla="val 51215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76200" dir="54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0" rIns="0" bIns="0" anchor="ctr"/>
          <a:lstStyle/>
          <a:p>
            <a:r>
              <a:rPr lang="de-DE" sz="1400">
                <a:latin typeface="Tahoma" charset="0"/>
              </a:rPr>
              <a:t>Business Understanding</a:t>
            </a:r>
          </a:p>
        </p:txBody>
      </p:sp>
    </p:spTree>
    <p:extLst>
      <p:ext uri="{BB962C8B-B14F-4D97-AF65-F5344CB8AC3E}">
        <p14:creationId xmlns:p14="http://schemas.microsoft.com/office/powerpoint/2010/main" val="293425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54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4. Deployment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All the models that have possitive evaluation can be deployed</a:t>
            </a:r>
          </a:p>
          <a:p>
            <a:r>
              <a:rPr lang="es-ES"/>
              <a:t>For measurements of success to trust deployment has to follow rules established at the beginning of the project</a:t>
            </a:r>
          </a:p>
          <a:p>
            <a:pPr lvl="1"/>
            <a:endParaRPr lang="es-ES"/>
          </a:p>
          <a:p>
            <a:pPr lvl="1"/>
            <a:r>
              <a:rPr lang="es-ES"/>
              <a:t>The real evaluation has not yet been performed</a:t>
            </a:r>
          </a:p>
        </p:txBody>
      </p:sp>
    </p:spTree>
    <p:extLst>
      <p:ext uri="{BB962C8B-B14F-4D97-AF65-F5344CB8AC3E}">
        <p14:creationId xmlns:p14="http://schemas.microsoft.com/office/powerpoint/2010/main" val="3751742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6B5DBB1-EFC0-6B47-B6A7-62E04381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71" y="115888"/>
            <a:ext cx="5678488" cy="838200"/>
          </a:xfrm>
        </p:spPr>
        <p:txBody>
          <a:bodyPr/>
          <a:lstStyle/>
          <a:p>
            <a:r>
              <a:rPr lang="en-CA" dirty="0"/>
              <a:t>A quick example, Netflix!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Machine Learning 101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24</a:t>
            </a:fld>
            <a:r>
              <a:rPr lang="it-IT"/>
              <a:t> -</a:t>
            </a:r>
            <a:endParaRPr lang="en-US"/>
          </a:p>
        </p:txBody>
      </p:sp>
      <p:pic>
        <p:nvPicPr>
          <p:cNvPr id="7" name="Picture 3" descr="DMM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2" r="59053" b="75735"/>
          <a:stretch/>
        </p:blipFill>
        <p:spPr bwMode="auto">
          <a:xfrm>
            <a:off x="823409" y="1127125"/>
            <a:ext cx="3265991" cy="125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nip Single Corner Rectangle 7"/>
          <p:cNvSpPr/>
          <p:nvPr/>
        </p:nvSpPr>
        <p:spPr bwMode="auto">
          <a:xfrm>
            <a:off x="4460875" y="1127124"/>
            <a:ext cx="4318000" cy="1873251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C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</a:rPr>
              <a:t>Find recommendations for *all* customer profiles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CA" dirty="0"/>
              <a:t>Find opportunities for new series/movies...</a:t>
            </a:r>
            <a:endParaRPr kumimoji="0" lang="en-C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682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DA57FB6-0912-D342-96B1-0D2B39FDB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71" y="115888"/>
            <a:ext cx="5678488" cy="838200"/>
          </a:xfrm>
        </p:spPr>
        <p:txBody>
          <a:bodyPr/>
          <a:lstStyle/>
          <a:p>
            <a:r>
              <a:rPr lang="en-CA" dirty="0"/>
              <a:t>A quick example, Netflix!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Machine Learning 101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25</a:t>
            </a:fld>
            <a:r>
              <a:rPr lang="it-IT"/>
              <a:t> -</a:t>
            </a:r>
            <a:endParaRPr lang="en-US"/>
          </a:p>
        </p:txBody>
      </p:sp>
      <p:pic>
        <p:nvPicPr>
          <p:cNvPr id="7" name="Picture 3" descr="DMM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2" r="258" b="42831"/>
          <a:stretch/>
        </p:blipFill>
        <p:spPr bwMode="auto">
          <a:xfrm>
            <a:off x="823409" y="1127124"/>
            <a:ext cx="7955466" cy="32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nip Single Corner Rectangle 7"/>
          <p:cNvSpPr/>
          <p:nvPr/>
        </p:nvSpPr>
        <p:spPr bwMode="auto">
          <a:xfrm>
            <a:off x="4476749" y="1127125"/>
            <a:ext cx="4302125" cy="1254126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C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Find recommendations for *all* customer profiles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CA" sz="1800" dirty="0"/>
              <a:t>Find opportunities for new series/movies...</a:t>
            </a:r>
            <a:endParaRPr kumimoji="0" lang="en-C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13635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94FCCB0-BA21-C647-8E9F-FD2BECDAC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71" y="115888"/>
            <a:ext cx="5678488" cy="838200"/>
          </a:xfrm>
        </p:spPr>
        <p:txBody>
          <a:bodyPr/>
          <a:lstStyle/>
          <a:p>
            <a:r>
              <a:rPr lang="en-CA" dirty="0"/>
              <a:t>A quick example, Netflix!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Machine Learning 101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26</a:t>
            </a:fld>
            <a:r>
              <a:rPr lang="it-IT"/>
              <a:t> -</a:t>
            </a:r>
            <a:endParaRPr lang="en-US"/>
          </a:p>
        </p:txBody>
      </p:sp>
      <p:pic>
        <p:nvPicPr>
          <p:cNvPr id="7" name="Picture 3" descr="DMM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2" r="258" b="42831"/>
          <a:stretch/>
        </p:blipFill>
        <p:spPr bwMode="auto">
          <a:xfrm>
            <a:off x="823409" y="1127124"/>
            <a:ext cx="7955466" cy="32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nip Single Corner Rectangle 7"/>
          <p:cNvSpPr/>
          <p:nvPr/>
        </p:nvSpPr>
        <p:spPr bwMode="auto">
          <a:xfrm>
            <a:off x="4476749" y="1127125"/>
            <a:ext cx="4302125" cy="1254126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C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Find recommendations for *all* customer profiles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CA" sz="1800" dirty="0"/>
              <a:t>Find opportunities for new series/movies...</a:t>
            </a:r>
            <a:endParaRPr kumimoji="0" lang="en-C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412750" y="2381251"/>
            <a:ext cx="8493125" cy="2222499"/>
          </a:xfrm>
          <a:prstGeom prst="rect">
            <a:avLst/>
          </a:prstGeom>
          <a:solidFill>
            <a:schemeClr val="accent1">
              <a:alpha val="10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160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Verdana" charset="0"/>
                <a:cs typeface="Arial" charset="0"/>
              </a:rPr>
              <a:t>Ratings Data</a:t>
            </a:r>
          </a:p>
        </p:txBody>
      </p:sp>
      <p:graphicFrame>
        <p:nvGraphicFramePr>
          <p:cNvPr id="239805" name="Group 189"/>
          <p:cNvGraphicFramePr>
            <a:graphicFrameLocks noGrp="1"/>
          </p:cNvGraphicFramePr>
          <p:nvPr>
            <p:ph type="tbl" idx="1"/>
          </p:nvPr>
        </p:nvGraphicFramePr>
        <p:xfrm>
          <a:off x="2641600" y="1828800"/>
          <a:ext cx="3390900" cy="4025900"/>
        </p:xfrm>
        <a:graphic>
          <a:graphicData uri="http://schemas.openxmlformats.org/drawingml/2006/table">
            <a:tbl>
              <a:tblPr/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298" name="Text Box 153"/>
          <p:cNvSpPr txBox="1">
            <a:spLocks noChangeArrowheads="1"/>
          </p:cNvSpPr>
          <p:nvPr/>
        </p:nvSpPr>
        <p:spPr bwMode="auto">
          <a:xfrm>
            <a:off x="3540125" y="1289050"/>
            <a:ext cx="19034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r>
              <a:rPr lang="en-US" sz="1800">
                <a:latin typeface="Verdana" charset="0"/>
              </a:rPr>
              <a:t>17,700 movies</a:t>
            </a:r>
          </a:p>
        </p:txBody>
      </p:sp>
      <p:sp>
        <p:nvSpPr>
          <p:cNvPr id="9299" name="Text Box 154"/>
          <p:cNvSpPr txBox="1">
            <a:spLocks noChangeArrowheads="1"/>
          </p:cNvSpPr>
          <p:nvPr/>
        </p:nvSpPr>
        <p:spPr bwMode="auto">
          <a:xfrm>
            <a:off x="1004888" y="3168650"/>
            <a:ext cx="1784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>
                <a:latin typeface="Verdana" charset="0"/>
              </a:rPr>
              <a:t>480,000</a:t>
            </a:r>
          </a:p>
          <a:p>
            <a:pPr algn="ctr"/>
            <a:r>
              <a:rPr lang="en-US" sz="1800">
                <a:latin typeface="Verdana" charset="0"/>
              </a:rPr>
              <a:t>users</a:t>
            </a:r>
          </a:p>
        </p:txBody>
      </p:sp>
      <p:sp>
        <p:nvSpPr>
          <p:cNvPr id="9300" name="Line 155"/>
          <p:cNvSpPr>
            <a:spLocks noChangeShapeType="1"/>
          </p:cNvSpPr>
          <p:nvPr/>
        </p:nvSpPr>
        <p:spPr bwMode="auto">
          <a:xfrm>
            <a:off x="2413000" y="1866900"/>
            <a:ext cx="12700" cy="4000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9301" name="Line 156"/>
          <p:cNvSpPr>
            <a:spLocks noChangeShapeType="1"/>
          </p:cNvSpPr>
          <p:nvPr/>
        </p:nvSpPr>
        <p:spPr bwMode="auto">
          <a:xfrm>
            <a:off x="2628900" y="1701800"/>
            <a:ext cx="3390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2063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charset="0"/>
                <a:cs typeface="Arial" charset="0"/>
              </a:rPr>
              <a:t>Rating Data</a:t>
            </a:r>
          </a:p>
        </p:txBody>
      </p:sp>
      <p:sp>
        <p:nvSpPr>
          <p:cNvPr id="1024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>
                <a:latin typeface="Verdana" charset="0"/>
                <a:cs typeface="Arial" charset="0"/>
              </a:rPr>
              <a:t>100 million ratings  (matrix in </a:t>
            </a:r>
            <a:r>
              <a:rPr lang="en-US" dirty="0" err="1">
                <a:latin typeface="Verdana" charset="0"/>
                <a:cs typeface="Arial" charset="0"/>
              </a:rPr>
              <a:t>prev</a:t>
            </a:r>
            <a:r>
              <a:rPr lang="en-US" dirty="0">
                <a:latin typeface="Verdana" charset="0"/>
                <a:cs typeface="Arial" charset="0"/>
              </a:rPr>
              <a:t> slide is 99% sparse)</a:t>
            </a:r>
          </a:p>
          <a:p>
            <a:endParaRPr lang="en-US" dirty="0">
              <a:latin typeface="Verdana" charset="0"/>
              <a:cs typeface="Arial" charset="0"/>
            </a:endParaRPr>
          </a:p>
          <a:p>
            <a:pPr>
              <a:buFontTx/>
              <a:buNone/>
            </a:pPr>
            <a:r>
              <a:rPr lang="en-US" dirty="0">
                <a:latin typeface="Verdana" charset="0"/>
                <a:cs typeface="Arial" charset="0"/>
              </a:rPr>
              <a:t>Rating = [user, movie-id, time-stamp, rating value]</a:t>
            </a:r>
          </a:p>
          <a:p>
            <a:pPr>
              <a:buFontTx/>
              <a:buNone/>
            </a:pPr>
            <a:endParaRPr lang="en-US" dirty="0">
              <a:latin typeface="Verdana" charset="0"/>
              <a:cs typeface="Arial" charset="0"/>
            </a:endParaRPr>
          </a:p>
          <a:p>
            <a:pPr>
              <a:buFontTx/>
              <a:buNone/>
            </a:pPr>
            <a:r>
              <a:rPr lang="en-US" dirty="0">
                <a:latin typeface="Verdana" charset="0"/>
                <a:cs typeface="Arial" charset="0"/>
              </a:rPr>
              <a:t>Generated by users between Oct 1998 and Dec 2005</a:t>
            </a:r>
          </a:p>
          <a:p>
            <a:pPr>
              <a:buFontTx/>
              <a:buNone/>
            </a:pPr>
            <a:endParaRPr lang="en-US" dirty="0">
              <a:latin typeface="Verdana" charset="0"/>
              <a:cs typeface="Arial" charset="0"/>
            </a:endParaRPr>
          </a:p>
          <a:p>
            <a:pPr>
              <a:buFontTx/>
              <a:buNone/>
            </a:pPr>
            <a:r>
              <a:rPr lang="en-US" dirty="0">
                <a:latin typeface="Verdana" charset="0"/>
                <a:cs typeface="Arial" charset="0"/>
              </a:rPr>
              <a:t>Users randomly chosen among set with at least 20 ratings</a:t>
            </a:r>
          </a:p>
          <a:p>
            <a:pPr lvl="1"/>
            <a:r>
              <a:rPr lang="en-US" dirty="0">
                <a:latin typeface="Verdana" charset="0"/>
                <a:ea typeface="Arial" charset="0"/>
                <a:cs typeface="Arial" charset="0"/>
              </a:rPr>
              <a:t>Small perturbations to help with anonymity</a:t>
            </a:r>
          </a:p>
          <a:p>
            <a:pPr>
              <a:buFontTx/>
              <a:buNone/>
            </a:pPr>
            <a:r>
              <a:rPr lang="en-US" dirty="0">
                <a:latin typeface="Verdana" charset="0"/>
                <a:cs typeface="Arial" charset="0"/>
              </a:rPr>
              <a:t>	</a:t>
            </a:r>
          </a:p>
          <a:p>
            <a:pPr>
              <a:buFontTx/>
              <a:buNone/>
            </a:pPr>
            <a:r>
              <a:rPr lang="en-US" dirty="0">
                <a:latin typeface="Verdana" charset="0"/>
                <a:cs typeface="Arial" charset="0"/>
              </a:rPr>
              <a:t> </a:t>
            </a:r>
          </a:p>
          <a:p>
            <a:pPr>
              <a:buFontTx/>
              <a:buNone/>
            </a:pPr>
            <a:endParaRPr lang="en-US" dirty="0">
              <a:latin typeface="Verdana" charset="0"/>
              <a:cs typeface="Arial" charset="0"/>
            </a:endParaRPr>
          </a:p>
          <a:p>
            <a:pPr>
              <a:buFontTx/>
              <a:buNone/>
            </a:pPr>
            <a:endParaRPr lang="en-US" dirty="0">
              <a:latin typeface="Verdan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042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71" y="115888"/>
            <a:ext cx="5678488" cy="838200"/>
          </a:xfrm>
        </p:spPr>
        <p:txBody>
          <a:bodyPr/>
          <a:lstStyle/>
          <a:p>
            <a:r>
              <a:rPr lang="en-CA" dirty="0"/>
              <a:t>A quick example, Netflix!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Machine Learning 101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29</a:t>
            </a:fld>
            <a:r>
              <a:rPr lang="it-IT"/>
              <a:t> -</a:t>
            </a:r>
            <a:endParaRPr lang="en-US"/>
          </a:p>
        </p:txBody>
      </p:sp>
      <p:pic>
        <p:nvPicPr>
          <p:cNvPr id="7" name="Picture 3" descr="DMM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2" r="258" b="13376"/>
          <a:stretch/>
        </p:blipFill>
        <p:spPr bwMode="auto">
          <a:xfrm>
            <a:off x="823409" y="1127124"/>
            <a:ext cx="7955466" cy="498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nip Single Corner Rectangle 7"/>
          <p:cNvSpPr/>
          <p:nvPr/>
        </p:nvSpPr>
        <p:spPr bwMode="auto">
          <a:xfrm>
            <a:off x="4476749" y="1127125"/>
            <a:ext cx="4302125" cy="1254126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C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Find recommendations for *all* customer profiles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CA" sz="1800" dirty="0"/>
              <a:t>Find opportunities for new series/movies...</a:t>
            </a:r>
            <a:endParaRPr kumimoji="0" lang="en-C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12750" y="4826000"/>
            <a:ext cx="8493125" cy="1285875"/>
          </a:xfrm>
          <a:prstGeom prst="rect">
            <a:avLst/>
          </a:prstGeom>
          <a:solidFill>
            <a:schemeClr val="accent1">
              <a:alpha val="10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596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Verdana" charset="0"/>
                <a:cs typeface="Arial" charset="0"/>
              </a:rPr>
              <a:t>Ratings Data</a:t>
            </a:r>
          </a:p>
        </p:txBody>
      </p:sp>
      <p:graphicFrame>
        <p:nvGraphicFramePr>
          <p:cNvPr id="243800" name="Group 88"/>
          <p:cNvGraphicFramePr>
            <a:graphicFrameLocks noGrp="1"/>
          </p:cNvGraphicFramePr>
          <p:nvPr>
            <p:ph type="tbl" idx="1"/>
          </p:nvPr>
        </p:nvGraphicFramePr>
        <p:xfrm>
          <a:off x="2641600" y="1828800"/>
          <a:ext cx="3390900" cy="4025900"/>
        </p:xfrm>
        <a:graphic>
          <a:graphicData uri="http://schemas.openxmlformats.org/drawingml/2006/table">
            <a:tbl>
              <a:tblPr/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346" name="Text Box 82"/>
          <p:cNvSpPr txBox="1">
            <a:spLocks noChangeArrowheads="1"/>
          </p:cNvSpPr>
          <p:nvPr/>
        </p:nvSpPr>
        <p:spPr bwMode="auto">
          <a:xfrm>
            <a:off x="6483350" y="3803650"/>
            <a:ext cx="26606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r>
              <a:rPr lang="en-US" sz="1800">
                <a:latin typeface="Verdana" charset="0"/>
              </a:rPr>
              <a:t>Test Data Set</a:t>
            </a:r>
          </a:p>
          <a:p>
            <a:r>
              <a:rPr lang="en-US" sz="1800">
                <a:latin typeface="Verdana" charset="0"/>
              </a:rPr>
              <a:t>(most recent ratings)</a:t>
            </a:r>
          </a:p>
        </p:txBody>
      </p:sp>
      <p:sp>
        <p:nvSpPr>
          <p:cNvPr id="11347" name="Text Box 83"/>
          <p:cNvSpPr txBox="1">
            <a:spLocks noChangeArrowheads="1"/>
          </p:cNvSpPr>
          <p:nvPr/>
        </p:nvSpPr>
        <p:spPr bwMode="auto">
          <a:xfrm>
            <a:off x="1004888" y="3168650"/>
            <a:ext cx="1784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>
                <a:latin typeface="Verdana" charset="0"/>
              </a:rPr>
              <a:t>480,000</a:t>
            </a:r>
          </a:p>
          <a:p>
            <a:pPr algn="ctr"/>
            <a:r>
              <a:rPr lang="en-US" sz="1800">
                <a:latin typeface="Verdana" charset="0"/>
              </a:rPr>
              <a:t>users</a:t>
            </a:r>
          </a:p>
        </p:txBody>
      </p:sp>
      <p:sp>
        <p:nvSpPr>
          <p:cNvPr id="11348" name="Line 84"/>
          <p:cNvSpPr>
            <a:spLocks noChangeShapeType="1"/>
          </p:cNvSpPr>
          <p:nvPr/>
        </p:nvSpPr>
        <p:spPr bwMode="auto">
          <a:xfrm>
            <a:off x="2413000" y="1866900"/>
            <a:ext cx="12700" cy="4000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1349" name="Line 85"/>
          <p:cNvSpPr>
            <a:spLocks noChangeShapeType="1"/>
          </p:cNvSpPr>
          <p:nvPr/>
        </p:nvSpPr>
        <p:spPr bwMode="auto">
          <a:xfrm>
            <a:off x="2628900" y="1701800"/>
            <a:ext cx="3390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1350" name="Line 89"/>
          <p:cNvSpPr>
            <a:spLocks noChangeShapeType="1"/>
          </p:cNvSpPr>
          <p:nvPr/>
        </p:nvSpPr>
        <p:spPr bwMode="auto">
          <a:xfrm flipH="1">
            <a:off x="6121400" y="4457700"/>
            <a:ext cx="901700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1351" name="Text Box 90"/>
          <p:cNvSpPr txBox="1">
            <a:spLocks noChangeArrowheads="1"/>
          </p:cNvSpPr>
          <p:nvPr/>
        </p:nvSpPr>
        <p:spPr bwMode="auto">
          <a:xfrm>
            <a:off x="3552825" y="1289050"/>
            <a:ext cx="19034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r>
              <a:rPr lang="en-US" sz="1800">
                <a:latin typeface="Verdana" charset="0"/>
              </a:rPr>
              <a:t>17,700 movies</a:t>
            </a:r>
          </a:p>
        </p:txBody>
      </p:sp>
    </p:spTree>
    <p:extLst>
      <p:ext uri="{BB962C8B-B14F-4D97-AF65-F5344CB8AC3E}">
        <p14:creationId xmlns:p14="http://schemas.microsoft.com/office/powerpoint/2010/main" val="2096371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Verdana" charset="0"/>
                <a:cs typeface="Arial" charset="0"/>
              </a:rPr>
              <a:t>Ratings Data</a:t>
            </a:r>
          </a:p>
        </p:txBody>
      </p:sp>
      <p:graphicFrame>
        <p:nvGraphicFramePr>
          <p:cNvPr id="243800" name="Group 88"/>
          <p:cNvGraphicFramePr>
            <a:graphicFrameLocks noGrp="1"/>
          </p:cNvGraphicFramePr>
          <p:nvPr>
            <p:ph type="tbl" idx="1"/>
          </p:nvPr>
        </p:nvGraphicFramePr>
        <p:xfrm>
          <a:off x="2641600" y="1828800"/>
          <a:ext cx="3390900" cy="4025900"/>
        </p:xfrm>
        <a:graphic>
          <a:graphicData uri="http://schemas.openxmlformats.org/drawingml/2006/table">
            <a:tbl>
              <a:tblPr/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346" name="Text Box 82"/>
          <p:cNvSpPr txBox="1">
            <a:spLocks noChangeArrowheads="1"/>
          </p:cNvSpPr>
          <p:nvPr/>
        </p:nvSpPr>
        <p:spPr bwMode="auto">
          <a:xfrm>
            <a:off x="6483350" y="3803650"/>
            <a:ext cx="26606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r>
              <a:rPr lang="en-US" sz="1800">
                <a:latin typeface="Verdana" charset="0"/>
              </a:rPr>
              <a:t>Test Data Set</a:t>
            </a:r>
          </a:p>
          <a:p>
            <a:r>
              <a:rPr lang="en-US" sz="1800">
                <a:latin typeface="Verdana" charset="0"/>
              </a:rPr>
              <a:t>(most recent ratings)</a:t>
            </a:r>
          </a:p>
        </p:txBody>
      </p:sp>
      <p:sp>
        <p:nvSpPr>
          <p:cNvPr id="11347" name="Text Box 83"/>
          <p:cNvSpPr txBox="1">
            <a:spLocks noChangeArrowheads="1"/>
          </p:cNvSpPr>
          <p:nvPr/>
        </p:nvSpPr>
        <p:spPr bwMode="auto">
          <a:xfrm>
            <a:off x="1004888" y="3168650"/>
            <a:ext cx="1784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>
                <a:latin typeface="Verdana" charset="0"/>
              </a:rPr>
              <a:t>480,000</a:t>
            </a:r>
          </a:p>
          <a:p>
            <a:pPr algn="ctr"/>
            <a:r>
              <a:rPr lang="en-US" sz="1800">
                <a:latin typeface="Verdana" charset="0"/>
              </a:rPr>
              <a:t>users</a:t>
            </a:r>
          </a:p>
        </p:txBody>
      </p:sp>
      <p:sp>
        <p:nvSpPr>
          <p:cNvPr id="11348" name="Line 84"/>
          <p:cNvSpPr>
            <a:spLocks noChangeShapeType="1"/>
          </p:cNvSpPr>
          <p:nvPr/>
        </p:nvSpPr>
        <p:spPr bwMode="auto">
          <a:xfrm>
            <a:off x="2413000" y="1866900"/>
            <a:ext cx="12700" cy="4000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1349" name="Line 85"/>
          <p:cNvSpPr>
            <a:spLocks noChangeShapeType="1"/>
          </p:cNvSpPr>
          <p:nvPr/>
        </p:nvSpPr>
        <p:spPr bwMode="auto">
          <a:xfrm>
            <a:off x="2628900" y="1701800"/>
            <a:ext cx="3390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1350" name="Line 89"/>
          <p:cNvSpPr>
            <a:spLocks noChangeShapeType="1"/>
          </p:cNvSpPr>
          <p:nvPr/>
        </p:nvSpPr>
        <p:spPr bwMode="auto">
          <a:xfrm flipH="1">
            <a:off x="6121400" y="4457700"/>
            <a:ext cx="901700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1351" name="Text Box 90"/>
          <p:cNvSpPr txBox="1">
            <a:spLocks noChangeArrowheads="1"/>
          </p:cNvSpPr>
          <p:nvPr/>
        </p:nvSpPr>
        <p:spPr bwMode="auto">
          <a:xfrm>
            <a:off x="3552825" y="1289050"/>
            <a:ext cx="19034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r>
              <a:rPr lang="en-US" sz="1800">
                <a:latin typeface="Verdana" charset="0"/>
              </a:rPr>
              <a:t>17,700 movies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5BC6BB-21A4-354E-8904-BFD18D2DDF5B}"/>
              </a:ext>
            </a:extLst>
          </p:cNvPr>
          <p:cNvSpPr/>
          <p:nvPr/>
        </p:nvSpPr>
        <p:spPr bwMode="auto">
          <a:xfrm>
            <a:off x="6483350" y="3486150"/>
            <a:ext cx="2660650" cy="1263650"/>
          </a:xfrm>
          <a:prstGeom prst="rect">
            <a:avLst/>
          </a:prstGeom>
          <a:solidFill>
            <a:schemeClr val="accent1">
              <a:alpha val="25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27D48-C921-1543-A5FD-AE767DC5EB35}"/>
              </a:ext>
            </a:extLst>
          </p:cNvPr>
          <p:cNvSpPr txBox="1"/>
          <p:nvPr/>
        </p:nvSpPr>
        <p:spPr>
          <a:xfrm>
            <a:off x="6771827" y="2398405"/>
            <a:ext cx="2083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FF0000"/>
                </a:solidFill>
              </a:rPr>
              <a:t>Hold</a:t>
            </a:r>
            <a:r>
              <a:rPr lang="it-IT" b="1" dirty="0">
                <a:solidFill>
                  <a:srgbClr val="FF0000"/>
                </a:solidFill>
              </a:rPr>
              <a:t> on… </a:t>
            </a:r>
            <a:r>
              <a:rPr lang="it-IT" b="1" dirty="0" err="1">
                <a:solidFill>
                  <a:srgbClr val="FF0000"/>
                </a:solidFill>
              </a:rPr>
              <a:t>what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is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this</a:t>
            </a:r>
            <a:r>
              <a:rPr lang="it-IT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B8D984CB-DEFA-0147-8F0C-1DD110BF856F}"/>
              </a:ext>
            </a:extLst>
          </p:cNvPr>
          <p:cNvSpPr/>
          <p:nvPr/>
        </p:nvSpPr>
        <p:spPr bwMode="auto">
          <a:xfrm>
            <a:off x="7472363" y="3229402"/>
            <a:ext cx="128587" cy="154781"/>
          </a:xfrm>
          <a:prstGeom prst="downArrow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904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2485-F68F-D278-1C06-674C5005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Meet the ML Canvas!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51873-6496-9D7C-309B-1CE124AAF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557BDD-541B-F7DB-1FB8-8B55C351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53E2BC-A591-62FF-1168-ECF5B162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32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89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FE0E-20CD-6DD6-CF5F-1B243A159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258B6A-C8FE-D8BE-0C58-7E11156DD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FC0D4-D012-B26E-61FC-A972EB18A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FEF3ADD-0D33-8644-B368-A30405120092}" type="slidenum">
              <a:rPr lang="en-US" smtClean="0"/>
              <a:pPr>
                <a:defRPr/>
              </a:pPr>
              <a:t>33</a:t>
            </a:fld>
            <a:r>
              <a:rPr lang="it-IT"/>
              <a:t> -</a:t>
            </a:r>
            <a:endParaRPr lang="en-US"/>
          </a:p>
        </p:txBody>
      </p:sp>
      <p:pic>
        <p:nvPicPr>
          <p:cNvPr id="6" name="Picture 5" descr="A white rectangular grid with black text&#10;&#10;Description automatically generated">
            <a:extLst>
              <a:ext uri="{FF2B5EF4-FFF2-40B4-BE49-F238E27FC236}">
                <a16:creationId xmlns:a16="http://schemas.microsoft.com/office/drawing/2014/main" id="{5F9201ED-D3FC-B6F6-A71D-98C27298B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-37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4" y="0"/>
            <a:ext cx="9140366" cy="686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912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269" y="115888"/>
            <a:ext cx="6681540" cy="838200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/>
              <a:t>Practice… AI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34</a:t>
            </a:fld>
            <a:r>
              <a:rPr lang="it-IT"/>
              <a:t> -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39269" y="1710128"/>
            <a:ext cx="8294287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“Machine learning is about predicting the future based on the past.”</a:t>
            </a:r>
          </a:p>
          <a:p>
            <a:r>
              <a:rPr lang="tr-TR" sz="2400" dirty="0">
                <a:solidFill>
                  <a:schemeClr val="tx2"/>
                </a:solidFill>
              </a:rPr>
              <a:t>					-- Hal </a:t>
            </a:r>
            <a:r>
              <a:rPr lang="tr-TR" sz="2400" dirty="0" err="1">
                <a:solidFill>
                  <a:schemeClr val="tx2"/>
                </a:solidFill>
              </a:rPr>
              <a:t>Daume</a:t>
            </a:r>
            <a:r>
              <a:rPr lang="tr-TR" sz="2400" dirty="0">
                <a:solidFill>
                  <a:schemeClr val="tx2"/>
                </a:solidFill>
              </a:rPr>
              <a:t> III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745" y="3034531"/>
            <a:ext cx="3095522" cy="282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21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541" y="115888"/>
            <a:ext cx="5678488" cy="838200"/>
          </a:xfrm>
        </p:spPr>
        <p:txBody>
          <a:bodyPr/>
          <a:lstStyle/>
          <a:p>
            <a:r>
              <a:rPr lang="en-US" dirty="0"/>
              <a:t>So, Machine Learning is about…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35</a:t>
            </a:fld>
            <a:r>
              <a:rPr lang="it-IT"/>
              <a:t> -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39269" y="1660643"/>
            <a:ext cx="8294287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“Machine learning is about predicting the future based on the past.”</a:t>
            </a:r>
          </a:p>
          <a:p>
            <a:r>
              <a:rPr lang="tr-TR" sz="2400" dirty="0">
                <a:solidFill>
                  <a:schemeClr val="tx2"/>
                </a:solidFill>
              </a:rPr>
              <a:t>					-- Hal </a:t>
            </a:r>
            <a:r>
              <a:rPr lang="tr-TR" sz="2400" dirty="0" err="1">
                <a:solidFill>
                  <a:schemeClr val="tx2"/>
                </a:solidFill>
              </a:rPr>
              <a:t>Daume</a:t>
            </a:r>
            <a:r>
              <a:rPr lang="tr-TR" sz="2400" dirty="0">
                <a:solidFill>
                  <a:schemeClr val="tx2"/>
                </a:solidFill>
              </a:rPr>
              <a:t> III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561" y="3717412"/>
            <a:ext cx="1297640" cy="2074333"/>
          </a:xfrm>
          <a:prstGeom prst="rect">
            <a:avLst/>
          </a:prstGeom>
          <a:noFill/>
          <a:ln w="3810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13854" y="4210081"/>
            <a:ext cx="13083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Training</a:t>
            </a:r>
          </a:p>
          <a:p>
            <a:pPr algn="ctr"/>
            <a:r>
              <a:rPr lang="en-US" sz="2800" dirty="0"/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 rot="19287826">
            <a:off x="1648475" y="3666383"/>
            <a:ext cx="92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learn</a:t>
            </a:r>
          </a:p>
        </p:txBody>
      </p:sp>
      <p:sp>
        <p:nvSpPr>
          <p:cNvPr id="9" name="Oval 8"/>
          <p:cNvSpPr/>
          <p:nvPr/>
        </p:nvSpPr>
        <p:spPr>
          <a:xfrm>
            <a:off x="2511793" y="4027858"/>
            <a:ext cx="1518033" cy="1354666"/>
          </a:xfrm>
          <a:prstGeom prst="ellipse">
            <a:avLst/>
          </a:prstGeom>
          <a:noFill/>
          <a:ln w="38100" cmpd="sng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723459" y="4261414"/>
            <a:ext cx="13063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model/</a:t>
            </a:r>
          </a:p>
          <a:p>
            <a:r>
              <a:rPr lang="en-US" sz="2400" dirty="0"/>
              <a:t>predictor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269" y="3096524"/>
            <a:ext cx="71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778010" y="4406684"/>
            <a:ext cx="606778" cy="570665"/>
          </a:xfrm>
          <a:prstGeom prst="rightArrow">
            <a:avLst/>
          </a:prstGeom>
          <a:solidFill>
            <a:srgbClr val="FF6600"/>
          </a:solidFill>
          <a:ln w="3810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4176891" y="3096524"/>
            <a:ext cx="0" cy="304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rot="19287826">
            <a:off x="7931673" y="3528892"/>
            <a:ext cx="1194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predict</a:t>
            </a:r>
          </a:p>
        </p:txBody>
      </p:sp>
      <p:sp>
        <p:nvSpPr>
          <p:cNvPr id="25" name="Oval 24"/>
          <p:cNvSpPr/>
          <p:nvPr/>
        </p:nvSpPr>
        <p:spPr>
          <a:xfrm>
            <a:off x="6485952" y="4035637"/>
            <a:ext cx="1518033" cy="1354666"/>
          </a:xfrm>
          <a:prstGeom prst="ellipse">
            <a:avLst/>
          </a:prstGeom>
          <a:noFill/>
          <a:ln w="38100" cmpd="sng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697618" y="4269193"/>
            <a:ext cx="13063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model/</a:t>
            </a:r>
          </a:p>
          <a:p>
            <a:r>
              <a:rPr lang="en-US" sz="2400" dirty="0"/>
              <a:t>predictor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6994" y="3096524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future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94934" y="3717412"/>
            <a:ext cx="1297640" cy="2074333"/>
          </a:xfrm>
          <a:prstGeom prst="rect">
            <a:avLst/>
          </a:prstGeom>
          <a:noFill/>
          <a:ln w="3810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466543" y="4210081"/>
            <a:ext cx="11437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Testing</a:t>
            </a:r>
          </a:p>
          <a:p>
            <a:pPr algn="ctr"/>
            <a:r>
              <a:rPr lang="en-US" sz="2800" dirty="0"/>
              <a:t>Data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777251" y="4421593"/>
            <a:ext cx="606778" cy="570665"/>
          </a:xfrm>
          <a:prstGeom prst="rightArrow">
            <a:avLst/>
          </a:prstGeom>
          <a:solidFill>
            <a:srgbClr val="FF6600"/>
          </a:solidFill>
          <a:ln w="3810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>
            <a:off x="8159270" y="4406684"/>
            <a:ext cx="606778" cy="570665"/>
          </a:xfrm>
          <a:prstGeom prst="rightArrow">
            <a:avLst/>
          </a:prstGeom>
          <a:solidFill>
            <a:srgbClr val="FF6600"/>
          </a:solidFill>
          <a:ln w="3810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799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5888"/>
            <a:ext cx="6608161" cy="838200"/>
          </a:xfrm>
        </p:spPr>
        <p:txBody>
          <a:bodyPr/>
          <a:lstStyle/>
          <a:p>
            <a:r>
              <a:rPr lang="en-US" dirty="0"/>
              <a:t>Disclaimer! Data Analytics, a.k.a...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171575"/>
            <a:ext cx="8153400" cy="513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data mining</a:t>
            </a:r>
            <a:r>
              <a:rPr lang="en-US" b="1" dirty="0"/>
              <a:t>: </a:t>
            </a:r>
            <a:r>
              <a:rPr lang="en-US" dirty="0"/>
              <a:t>e.g., machine-learning applied to “databases”, i.e. collections of data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/>
              <a:t>inference</a:t>
            </a:r>
            <a:r>
              <a:rPr lang="en-US" dirty="0"/>
              <a:t> and/or </a:t>
            </a:r>
            <a:r>
              <a:rPr lang="en-US" b="1" i="1" dirty="0"/>
              <a:t>estimation: </a:t>
            </a:r>
            <a:r>
              <a:rPr lang="en-US" i="1" dirty="0"/>
              <a:t>ML </a:t>
            </a:r>
            <a:r>
              <a:rPr lang="en-US" dirty="0"/>
              <a:t>in statistics to approximate curves based on more and more data</a:t>
            </a: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/>
              <a:t>pattern recognition: </a:t>
            </a:r>
            <a:r>
              <a:rPr lang="en-US" dirty="0"/>
              <a:t>ML to identify patterns</a:t>
            </a:r>
            <a:r>
              <a:rPr lang="en-US" b="1" dirty="0"/>
              <a:t> </a:t>
            </a:r>
            <a:r>
              <a:rPr lang="en-US" dirty="0"/>
              <a:t>in engineering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/>
              <a:t>signal processing: </a:t>
            </a:r>
            <a:r>
              <a:rPr lang="en-US" dirty="0"/>
              <a:t>same as above but</a:t>
            </a:r>
            <a:r>
              <a:rPr lang="en-US" b="1" dirty="0"/>
              <a:t> </a:t>
            </a:r>
            <a:r>
              <a:rPr lang="en-US" dirty="0"/>
              <a:t>in electrical engineering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/>
              <a:t>Optimization:</a:t>
            </a:r>
            <a:r>
              <a:rPr lang="en-US" i="1" dirty="0"/>
              <a:t> </a:t>
            </a:r>
            <a:r>
              <a:rPr lang="en-US" dirty="0"/>
              <a:t>correct behavior based on previous experience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36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718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4157-9054-D946-9E0D-2B4958247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best way to </a:t>
            </a:r>
            <a:r>
              <a:rPr lang="it-IT" dirty="0" err="1"/>
              <a:t>explain</a:t>
            </a:r>
            <a:r>
              <a:rPr lang="it-IT" dirty="0"/>
              <a:t> ML</a:t>
            </a:r>
          </a:p>
        </p:txBody>
      </p:sp>
      <p:pic>
        <p:nvPicPr>
          <p:cNvPr id="3076" name="Picture 4" descr="Image result for machine learning vs statistics meme">
            <a:extLst>
              <a:ext uri="{FF2B5EF4-FFF2-40B4-BE49-F238E27FC236}">
                <a16:creationId xmlns:a16="http://schemas.microsoft.com/office/drawing/2014/main" id="{A275DFEA-B478-4D4D-87D0-A9617F40E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727" y="1619477"/>
            <a:ext cx="3664163" cy="421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Image result for statistics vs. machine-learning">
            <a:extLst>
              <a:ext uri="{FF2B5EF4-FFF2-40B4-BE49-F238E27FC236}">
                <a16:creationId xmlns:a16="http://schemas.microsoft.com/office/drawing/2014/main" id="{30C018B6-CD5A-F646-873D-2F6726736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09" y="1586428"/>
            <a:ext cx="4858531" cy="458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840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4157-9054-D946-9E0D-2B4958247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best way to </a:t>
            </a:r>
            <a:r>
              <a:rPr lang="it-IT" dirty="0" err="1"/>
              <a:t>explain</a:t>
            </a:r>
            <a:r>
              <a:rPr lang="it-IT" dirty="0"/>
              <a:t> ML</a:t>
            </a:r>
          </a:p>
        </p:txBody>
      </p:sp>
      <p:pic>
        <p:nvPicPr>
          <p:cNvPr id="3076" name="Picture 4" descr="Image result for machine learning vs statistics meme">
            <a:extLst>
              <a:ext uri="{FF2B5EF4-FFF2-40B4-BE49-F238E27FC236}">
                <a16:creationId xmlns:a16="http://schemas.microsoft.com/office/drawing/2014/main" id="{A275DFEA-B478-4D4D-87D0-A9617F40E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727" y="1616110"/>
            <a:ext cx="3664163" cy="421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api.ning.com/files/N26r4w1n7vabltXVsiwuFt5GwIw7Him*OwW3GOF-RKNCa1YKvmSeWgKPEXSgmqbHY-wxguBu3kGfI*7mi1Ab*fJSl5aO9HCl/kdnugget.jpeg">
            <a:extLst>
              <a:ext uri="{FF2B5EF4-FFF2-40B4-BE49-F238E27FC236}">
                <a16:creationId xmlns:a16="http://schemas.microsoft.com/office/drawing/2014/main" id="{B1C7EF0A-92E4-F34F-8967-6EBC456D0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11" y="1538991"/>
            <a:ext cx="5524698" cy="433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0243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US" dirty="0"/>
              <a:t>Machine Learning, let’s dive in!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171575"/>
            <a:ext cx="8153400" cy="513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data mining</a:t>
            </a:r>
            <a:r>
              <a:rPr lang="en-US" b="1" dirty="0"/>
              <a:t>: </a:t>
            </a:r>
            <a:r>
              <a:rPr lang="en-US" dirty="0"/>
              <a:t>machine learning applied to “databases”, i.e. collections of data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/>
              <a:t>inference</a:t>
            </a:r>
            <a:r>
              <a:rPr lang="en-US" dirty="0"/>
              <a:t> and/or </a:t>
            </a:r>
            <a:r>
              <a:rPr lang="en-US" b="1" i="1" dirty="0"/>
              <a:t>estimation: </a:t>
            </a:r>
            <a:r>
              <a:rPr lang="en-US" i="1" dirty="0"/>
              <a:t>ML </a:t>
            </a:r>
            <a:r>
              <a:rPr lang="en-US" dirty="0"/>
              <a:t>in statistics to approximate curves based on more and more data</a:t>
            </a: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/>
              <a:t>pattern recognition: </a:t>
            </a:r>
            <a:r>
              <a:rPr lang="en-US" dirty="0"/>
              <a:t>ML to identify patterns</a:t>
            </a:r>
            <a:r>
              <a:rPr lang="en-US" b="1" dirty="0"/>
              <a:t> </a:t>
            </a:r>
            <a:r>
              <a:rPr lang="en-US" dirty="0"/>
              <a:t>in engineering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/>
              <a:t>signal processing: </a:t>
            </a:r>
            <a:r>
              <a:rPr lang="en-US" dirty="0"/>
              <a:t>same as above but</a:t>
            </a:r>
            <a:r>
              <a:rPr lang="en-US" b="1" dirty="0"/>
              <a:t> </a:t>
            </a:r>
            <a:r>
              <a:rPr lang="en-US" dirty="0"/>
              <a:t>in electrical engineering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/>
              <a:t>Optimization:</a:t>
            </a:r>
            <a:r>
              <a:rPr lang="en-US" i="1" dirty="0"/>
              <a:t> </a:t>
            </a:r>
            <a:r>
              <a:rPr lang="en-US" dirty="0"/>
              <a:t>correct behavior based on previous experience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39</a:t>
            </a:fld>
            <a:r>
              <a:rPr lang="it-IT"/>
              <a:t> -</a:t>
            </a: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612648" y="1171575"/>
            <a:ext cx="7753477" cy="908050"/>
          </a:xfrm>
          <a:prstGeom prst="rect">
            <a:avLst/>
          </a:prstGeom>
          <a:solidFill>
            <a:schemeClr val="accent1">
              <a:alpha val="20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8749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Here’s a good question...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you’re a regular human... </a:t>
            </a:r>
          </a:p>
          <a:p>
            <a:r>
              <a:rPr lang="en-CA" dirty="0"/>
              <a:t>You’re iterating over and over again on the previous 3 exercises...</a:t>
            </a:r>
          </a:p>
          <a:p>
            <a:pPr marL="0" indent="0">
              <a:buNone/>
            </a:pPr>
            <a:endParaRPr lang="en-CA" dirty="0"/>
          </a:p>
          <a:p>
            <a:pPr lvl="1"/>
            <a:r>
              <a:rPr lang="en-CA" dirty="0"/>
              <a:t>What should be constant in your exercise?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dirty="0"/>
              <a:t>1.</a:t>
            </a:r>
          </a:p>
          <a:p>
            <a:pPr marL="457200" lvl="1" indent="0">
              <a:buNone/>
            </a:pPr>
            <a:r>
              <a:rPr lang="en-CA" dirty="0"/>
              <a:t> </a:t>
            </a:r>
          </a:p>
          <a:p>
            <a:pPr marL="457200" lvl="1" indent="0">
              <a:buNone/>
            </a:pPr>
            <a:r>
              <a:rPr lang="en-CA" dirty="0"/>
              <a:t>2.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40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037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Here’s a good question...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you’re a </a:t>
            </a:r>
            <a:r>
              <a:rPr lang="en-CA" b="1" dirty="0"/>
              <a:t>regular human... </a:t>
            </a:r>
          </a:p>
          <a:p>
            <a:endParaRPr lang="en-CA" b="1" dirty="0"/>
          </a:p>
          <a:p>
            <a:pPr lvl="1"/>
            <a:r>
              <a:rPr lang="en-CA" b="1" dirty="0"/>
              <a:t>Meaning that you’re not THE Librarian, nor THE Doctor, nor Garry Kasparov</a:t>
            </a:r>
            <a:r>
              <a:rPr lang="mr-IN" b="1" dirty="0"/>
              <a:t>…</a:t>
            </a:r>
            <a:endParaRPr lang="en-CA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41</a:t>
            </a:fld>
            <a:r>
              <a:rPr lang="it-IT"/>
              <a:t> -</a:t>
            </a: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2764770" y="1825625"/>
            <a:ext cx="2474138" cy="493776"/>
          </a:xfrm>
          <a:prstGeom prst="rect">
            <a:avLst/>
          </a:prstGeom>
          <a:solidFill>
            <a:schemeClr val="accent1">
              <a:alpha val="20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854" y="2969188"/>
            <a:ext cx="5655492" cy="317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719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Back to our exercise...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you’re a regular human... </a:t>
            </a:r>
          </a:p>
          <a:p>
            <a:r>
              <a:rPr lang="en-CA" dirty="0"/>
              <a:t>You’re iterating over and over again on the previous 3 exercises...</a:t>
            </a:r>
          </a:p>
          <a:p>
            <a:pPr marL="0" indent="0">
              <a:buNone/>
            </a:pPr>
            <a:endParaRPr lang="en-CA" dirty="0"/>
          </a:p>
          <a:p>
            <a:pPr lvl="1"/>
            <a:r>
              <a:rPr lang="en-CA" dirty="0"/>
              <a:t>What should be constant in your exercise?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dirty="0"/>
              <a:t>1.</a:t>
            </a:r>
          </a:p>
          <a:p>
            <a:pPr marL="457200" lvl="1" indent="0">
              <a:buNone/>
            </a:pPr>
            <a:r>
              <a:rPr lang="en-CA" dirty="0"/>
              <a:t> </a:t>
            </a:r>
          </a:p>
          <a:p>
            <a:pPr marL="457200" lvl="1" indent="0">
              <a:buNone/>
            </a:pPr>
            <a:r>
              <a:rPr lang="en-CA" dirty="0"/>
              <a:t>2.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42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0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Here’s a hint...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FEF3ADD-0D33-8644-B368-A30405120092}" type="slidenum">
              <a:rPr lang="en-US" smtClean="0"/>
              <a:pPr>
                <a:defRPr/>
              </a:pPr>
              <a:t>43</a:t>
            </a:fld>
            <a:r>
              <a:rPr lang="it-IT"/>
              <a:t> -</a:t>
            </a:r>
            <a:endParaRPr lang="en-US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971800" y="3113265"/>
            <a:ext cx="31242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5105400" y="4713465"/>
            <a:ext cx="533400" cy="1295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3505200" y="4713465"/>
            <a:ext cx="533400" cy="1295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4267200" y="2275065"/>
            <a:ext cx="6096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4191000" y="1513065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3108325" y="3154540"/>
            <a:ext cx="19081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Knowledge </a:t>
            </a:r>
          </a:p>
          <a:p>
            <a:r>
              <a:rPr lang="en-US"/>
              <a:t>representation</a:t>
            </a:r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3124200" y="3265665"/>
            <a:ext cx="1905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4251325" y="4221340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reasoning</a:t>
            </a:r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4267200" y="4332465"/>
            <a:ext cx="13716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 flipH="1" flipV="1">
            <a:off x="4876800" y="3951465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4419600" y="3951465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46" name="Oval 14"/>
          <p:cNvSpPr>
            <a:spLocks noChangeArrowheads="1"/>
          </p:cNvSpPr>
          <p:nvPr/>
        </p:nvSpPr>
        <p:spPr bwMode="auto">
          <a:xfrm>
            <a:off x="4343400" y="1741665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47" name="Oval 15"/>
          <p:cNvSpPr>
            <a:spLocks noChangeArrowheads="1"/>
          </p:cNvSpPr>
          <p:nvPr/>
        </p:nvSpPr>
        <p:spPr bwMode="auto">
          <a:xfrm>
            <a:off x="4648200" y="1741665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3032125" y="4221340"/>
            <a:ext cx="124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planning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3124200" y="4332465"/>
            <a:ext cx="1066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>
            <a:off x="3352800" y="395146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52" name="Line 20"/>
          <p:cNvSpPr>
            <a:spLocks noChangeShapeType="1"/>
          </p:cNvSpPr>
          <p:nvPr/>
        </p:nvSpPr>
        <p:spPr bwMode="auto">
          <a:xfrm flipV="1">
            <a:off x="3962400" y="3951465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53" name="Rectangle 21"/>
          <p:cNvSpPr>
            <a:spLocks noChangeArrowheads="1"/>
          </p:cNvSpPr>
          <p:nvPr/>
        </p:nvSpPr>
        <p:spPr bwMode="auto">
          <a:xfrm>
            <a:off x="2438400" y="2960865"/>
            <a:ext cx="5105400" cy="18288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6232525" y="3078340"/>
            <a:ext cx="1181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learning</a:t>
            </a:r>
          </a:p>
        </p:txBody>
      </p:sp>
      <p:sp>
        <p:nvSpPr>
          <p:cNvPr id="18455" name="Line 23"/>
          <p:cNvSpPr>
            <a:spLocks noChangeShapeType="1"/>
          </p:cNvSpPr>
          <p:nvPr/>
        </p:nvSpPr>
        <p:spPr bwMode="auto">
          <a:xfrm>
            <a:off x="2362200" y="1894065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56" name="Oval 24"/>
          <p:cNvSpPr>
            <a:spLocks noChangeArrowheads="1"/>
          </p:cNvSpPr>
          <p:nvPr/>
        </p:nvSpPr>
        <p:spPr bwMode="auto">
          <a:xfrm>
            <a:off x="304800" y="1589265"/>
            <a:ext cx="1981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57" name="Text Box 25"/>
          <p:cNvSpPr txBox="1">
            <a:spLocks noChangeArrowheads="1"/>
          </p:cNvSpPr>
          <p:nvPr/>
        </p:nvSpPr>
        <p:spPr bwMode="auto">
          <a:xfrm>
            <a:off x="593725" y="1706740"/>
            <a:ext cx="80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input</a:t>
            </a:r>
          </a:p>
        </p:txBody>
      </p:sp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2286000" y="1513065"/>
            <a:ext cx="17732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Natural lang.</a:t>
            </a:r>
          </a:p>
          <a:p>
            <a:r>
              <a:rPr lang="en-US"/>
              <a:t>vision</a:t>
            </a:r>
          </a:p>
        </p:txBody>
      </p:sp>
      <p:sp>
        <p:nvSpPr>
          <p:cNvPr id="18459" name="Line 27"/>
          <p:cNvSpPr>
            <a:spLocks noChangeShapeType="1"/>
          </p:cNvSpPr>
          <p:nvPr/>
        </p:nvSpPr>
        <p:spPr bwMode="auto">
          <a:xfrm>
            <a:off x="4953000" y="1894065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7146925" y="1630540"/>
            <a:ext cx="124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effectors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3032125" y="4221340"/>
            <a:ext cx="2981326" cy="1916434"/>
          </a:xfrm>
          <a:prstGeom prst="rect">
            <a:avLst/>
          </a:prstGeom>
          <a:solidFill>
            <a:schemeClr val="accent1">
              <a:alpha val="20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cxnSp>
        <p:nvCxnSpPr>
          <p:cNvPr id="5" name="Straight Arrow Connector 4"/>
          <p:cNvCxnSpPr>
            <a:endCxn id="3" idx="1"/>
          </p:cNvCxnSpPr>
          <p:nvPr/>
        </p:nvCxnSpPr>
        <p:spPr bwMode="auto">
          <a:xfrm>
            <a:off x="1602646" y="4789665"/>
            <a:ext cx="1429479" cy="38989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>
            <a:off x="3583315" y="4903172"/>
            <a:ext cx="1" cy="31970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3352800" y="4903172"/>
            <a:ext cx="230516" cy="31970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5204480" y="4903172"/>
            <a:ext cx="1" cy="31970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Connector 37"/>
          <p:cNvCxnSpPr/>
          <p:nvPr/>
        </p:nvCxnSpPr>
        <p:spPr bwMode="auto">
          <a:xfrm flipH="1">
            <a:off x="4973965" y="4903172"/>
            <a:ext cx="230516" cy="31970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508099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Here’s a good question...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you’re a regular human... </a:t>
            </a:r>
          </a:p>
          <a:p>
            <a:r>
              <a:rPr lang="en-CA" dirty="0"/>
              <a:t>You’re iterating over and over again on the previous 3 exercises...</a:t>
            </a:r>
          </a:p>
          <a:p>
            <a:pPr marL="0" indent="0">
              <a:buNone/>
            </a:pPr>
            <a:endParaRPr lang="en-CA" dirty="0"/>
          </a:p>
          <a:p>
            <a:pPr lvl="1"/>
            <a:r>
              <a:rPr lang="en-CA" dirty="0"/>
              <a:t>What should be constant in your exercise?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b="1" dirty="0"/>
              <a:t>1. Learning!</a:t>
            </a:r>
          </a:p>
          <a:p>
            <a:pPr marL="457200" lvl="1" indent="0">
              <a:buNone/>
            </a:pPr>
            <a:r>
              <a:rPr lang="en-CA" dirty="0"/>
              <a:t> </a:t>
            </a:r>
          </a:p>
          <a:p>
            <a:pPr marL="457200" lvl="1" indent="0">
              <a:buNone/>
            </a:pPr>
            <a:r>
              <a:rPr lang="en-CA" dirty="0"/>
              <a:t>2.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44</a:t>
            </a:fld>
            <a:r>
              <a:rPr lang="it-IT"/>
              <a:t> -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A0C71-F0C5-3D45-A031-3B0B53CE6398}"/>
              </a:ext>
            </a:extLst>
          </p:cNvPr>
          <p:cNvSpPr txBox="1"/>
          <p:nvPr/>
        </p:nvSpPr>
        <p:spPr>
          <a:xfrm>
            <a:off x="357188" y="5286375"/>
            <a:ext cx="8572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Create new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knowledge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by processing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available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data – new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knowledge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is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to be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checked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against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future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instances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of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same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phenomenon</a:t>
            </a:r>
            <a:endParaRPr lang="it-IT" sz="2000" dirty="0">
              <a:solidFill>
                <a:srgbClr val="FF0000"/>
              </a:solidFill>
              <a:latin typeface="Rockwell" panose="020606030202050204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18871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Here’s a good question...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you’re a regular human... </a:t>
            </a:r>
          </a:p>
          <a:p>
            <a:r>
              <a:rPr lang="en-CA" dirty="0"/>
              <a:t>You’re iterating over and over again on the previous 3 exercises...</a:t>
            </a:r>
          </a:p>
          <a:p>
            <a:pPr marL="0" indent="0">
              <a:buNone/>
            </a:pPr>
            <a:endParaRPr lang="en-CA" dirty="0"/>
          </a:p>
          <a:p>
            <a:pPr lvl="1"/>
            <a:r>
              <a:rPr lang="en-CA" dirty="0"/>
              <a:t>What should be constant in your exercise?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b="1" dirty="0"/>
              <a:t>1. Learning!</a:t>
            </a:r>
          </a:p>
          <a:p>
            <a:pPr marL="457200" lvl="1" indent="0">
              <a:buNone/>
            </a:pPr>
            <a:r>
              <a:rPr lang="en-CA" dirty="0"/>
              <a:t> </a:t>
            </a:r>
          </a:p>
          <a:p>
            <a:pPr marL="457200" lvl="1" indent="0">
              <a:buNone/>
            </a:pPr>
            <a:r>
              <a:rPr lang="en-CA" b="1" dirty="0"/>
              <a:t>2. Improving!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45</a:t>
            </a:fld>
            <a:r>
              <a:rPr lang="it-IT"/>
              <a:t> -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3B151-66A4-BE41-88B1-0E57D7CA29DD}"/>
              </a:ext>
            </a:extLst>
          </p:cNvPr>
          <p:cNvSpPr txBox="1"/>
          <p:nvPr/>
        </p:nvSpPr>
        <p:spPr>
          <a:xfrm>
            <a:off x="357188" y="5286375"/>
            <a:ext cx="8572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Reduce the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amount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of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errors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made with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respect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to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testing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of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created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knowledge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against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new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instances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of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same</a:t>
            </a:r>
            <a:r>
              <a:rPr lang="it-IT" sz="2000" dirty="0">
                <a:solidFill>
                  <a:srgbClr val="FF0000"/>
                </a:solidFill>
                <a:latin typeface="Rockwell" panose="02060603020205020403" pitchFamily="18" charset="77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phenomenon</a:t>
            </a:r>
            <a:endParaRPr lang="it-IT" sz="2000" dirty="0">
              <a:solidFill>
                <a:srgbClr val="FF0000"/>
              </a:solidFill>
              <a:latin typeface="Rockwell" panose="020606030202050204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87814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Here’s a good question...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you’re a regular human... </a:t>
            </a:r>
          </a:p>
          <a:p>
            <a:r>
              <a:rPr lang="en-CA" dirty="0"/>
              <a:t>You’re iterating over and over again on the previous 3 exercises...</a:t>
            </a:r>
          </a:p>
          <a:p>
            <a:pPr marL="0" indent="0">
              <a:buNone/>
            </a:pPr>
            <a:endParaRPr lang="en-CA" dirty="0"/>
          </a:p>
          <a:p>
            <a:pPr lvl="1"/>
            <a:r>
              <a:rPr lang="en-CA" dirty="0"/>
              <a:t>What should be constant in your exercise?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b="1" dirty="0"/>
              <a:t>1. Learning!</a:t>
            </a:r>
          </a:p>
          <a:p>
            <a:pPr marL="457200" lvl="1" indent="0">
              <a:buNone/>
            </a:pPr>
            <a:r>
              <a:rPr lang="en-CA" dirty="0"/>
              <a:t> </a:t>
            </a:r>
          </a:p>
          <a:p>
            <a:pPr marL="457200" lvl="1" indent="0">
              <a:buNone/>
            </a:pPr>
            <a:r>
              <a:rPr lang="en-CA" b="1" dirty="0"/>
              <a:t>2. Improving!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46</a:t>
            </a:fld>
            <a:r>
              <a:rPr lang="it-IT"/>
              <a:t> -</a:t>
            </a: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841375" y="3524251"/>
            <a:ext cx="2682875" cy="1037702"/>
          </a:xfrm>
          <a:prstGeom prst="rect">
            <a:avLst/>
          </a:prstGeom>
          <a:solidFill>
            <a:schemeClr val="accent1">
              <a:alpha val="20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3937000"/>
            <a:ext cx="457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When you’re doing it, it’s Human Learning...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 flipH="1" flipV="1">
            <a:off x="3524250" y="4238626"/>
            <a:ext cx="1047750" cy="174624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742805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Here’s a good question...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you’re a regular human... </a:t>
            </a:r>
          </a:p>
          <a:p>
            <a:r>
              <a:rPr lang="en-CA" dirty="0"/>
              <a:t>You’re iterating over and over again on the previous 3 exercises...</a:t>
            </a:r>
          </a:p>
          <a:p>
            <a:pPr marL="0" indent="0">
              <a:buNone/>
            </a:pPr>
            <a:endParaRPr lang="en-CA" dirty="0"/>
          </a:p>
          <a:p>
            <a:pPr lvl="1"/>
            <a:r>
              <a:rPr lang="en-CA" dirty="0"/>
              <a:t>What should be constant in your exercise?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b="1" dirty="0"/>
              <a:t>1. Learning!</a:t>
            </a:r>
          </a:p>
          <a:p>
            <a:pPr marL="457200" lvl="1" indent="0">
              <a:buNone/>
            </a:pPr>
            <a:r>
              <a:rPr lang="en-CA" dirty="0"/>
              <a:t> </a:t>
            </a:r>
          </a:p>
          <a:p>
            <a:pPr marL="457200" lvl="1" indent="0">
              <a:buNone/>
            </a:pPr>
            <a:r>
              <a:rPr lang="en-CA" b="1" dirty="0"/>
              <a:t>2. Improving!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47</a:t>
            </a:fld>
            <a:r>
              <a:rPr lang="it-IT"/>
              <a:t> -</a:t>
            </a: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841375" y="3524250"/>
            <a:ext cx="2682875" cy="1057798"/>
          </a:xfrm>
          <a:prstGeom prst="rect">
            <a:avLst/>
          </a:prstGeom>
          <a:solidFill>
            <a:schemeClr val="accent1">
              <a:alpha val="20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3937000"/>
            <a:ext cx="4571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When you’re doing it, it’s Human Learning...</a:t>
            </a:r>
          </a:p>
          <a:p>
            <a:endParaRPr lang="en-CA" b="1" dirty="0">
              <a:solidFill>
                <a:srgbClr val="FF0000"/>
              </a:solidFill>
            </a:endParaRPr>
          </a:p>
          <a:p>
            <a:r>
              <a:rPr lang="en-CA" b="1" dirty="0">
                <a:solidFill>
                  <a:srgbClr val="FF0000"/>
                </a:solidFill>
              </a:rPr>
              <a:t>When a machine does it, it’s Machine Learning! </a:t>
            </a:r>
            <a:r>
              <a:rPr lang="en-CA" b="1" dirty="0">
                <a:solidFill>
                  <a:srgbClr val="FF0000"/>
                </a:solidFill>
                <a:sym typeface="Wingdings"/>
              </a:rPr>
              <a:t></a:t>
            </a:r>
            <a:endParaRPr lang="en-CA" b="1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/>
          <p:cNvCxnSpPr>
            <a:stCxn id="7" idx="1"/>
          </p:cNvCxnSpPr>
          <p:nvPr/>
        </p:nvCxnSpPr>
        <p:spPr bwMode="auto">
          <a:xfrm flipH="1" flipV="1">
            <a:off x="3524250" y="4238625"/>
            <a:ext cx="1047750" cy="66787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Connector 8"/>
          <p:cNvCxnSpPr/>
          <p:nvPr/>
        </p:nvCxnSpPr>
        <p:spPr bwMode="auto">
          <a:xfrm flipH="1" flipV="1">
            <a:off x="3524250" y="4238626"/>
            <a:ext cx="1047750" cy="174624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286113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 summary…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you’re a regular human... </a:t>
            </a:r>
          </a:p>
          <a:p>
            <a:r>
              <a:rPr lang="en-CA" dirty="0"/>
              <a:t>You’re iterating over and over again on the previous 3 exercises...</a:t>
            </a:r>
          </a:p>
          <a:p>
            <a:pPr marL="0" indent="0">
              <a:buNone/>
            </a:pPr>
            <a:endParaRPr lang="en-CA" dirty="0"/>
          </a:p>
          <a:p>
            <a:pPr lvl="1"/>
            <a:r>
              <a:rPr lang="en-CA" dirty="0"/>
              <a:t>What should be constant in your exercise?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b="1" dirty="0"/>
              <a:t>1. Learning!</a:t>
            </a:r>
          </a:p>
          <a:p>
            <a:pPr marL="457200" lvl="1" indent="0">
              <a:buNone/>
            </a:pPr>
            <a:r>
              <a:rPr lang="en-CA" dirty="0"/>
              <a:t> </a:t>
            </a:r>
          </a:p>
          <a:p>
            <a:pPr marL="457200" lvl="1" indent="0">
              <a:buNone/>
            </a:pPr>
            <a:r>
              <a:rPr lang="en-CA" b="1" dirty="0"/>
              <a:t>2. Improving!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48</a:t>
            </a:fld>
            <a:r>
              <a:rPr lang="it-IT"/>
              <a:t> -</a:t>
            </a: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841375" y="3524250"/>
            <a:ext cx="2682875" cy="579441"/>
          </a:xfrm>
          <a:prstGeom prst="rect">
            <a:avLst/>
          </a:prstGeom>
          <a:solidFill>
            <a:schemeClr val="accent1">
              <a:alpha val="20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3937000"/>
            <a:ext cx="457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Use clever strategies and algorithms, combine them with good data and statistics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 bwMode="auto">
          <a:xfrm flipH="1" flipV="1">
            <a:off x="3524250" y="4001294"/>
            <a:ext cx="1047750" cy="298538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504586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 summary…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you’re a regular human... </a:t>
            </a:r>
          </a:p>
          <a:p>
            <a:r>
              <a:rPr lang="en-CA" dirty="0"/>
              <a:t>You’re iterating over and over again on the previous 3 exercises...</a:t>
            </a:r>
          </a:p>
          <a:p>
            <a:pPr marL="0" indent="0">
              <a:buNone/>
            </a:pPr>
            <a:endParaRPr lang="en-CA" dirty="0"/>
          </a:p>
          <a:p>
            <a:pPr lvl="1"/>
            <a:r>
              <a:rPr lang="en-CA" dirty="0"/>
              <a:t>What should be constant in your exercise?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b="1" dirty="0"/>
              <a:t>1. Learning!</a:t>
            </a:r>
          </a:p>
          <a:p>
            <a:pPr marL="457200" lvl="1" indent="0">
              <a:buNone/>
            </a:pPr>
            <a:r>
              <a:rPr lang="en-CA" dirty="0"/>
              <a:t> </a:t>
            </a:r>
          </a:p>
          <a:p>
            <a:pPr marL="457200" lvl="1" indent="0">
              <a:buNone/>
            </a:pPr>
            <a:r>
              <a:rPr lang="en-CA" b="1" dirty="0"/>
              <a:t>2. Improving!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49</a:t>
            </a:fld>
            <a:r>
              <a:rPr lang="it-IT"/>
              <a:t> -</a:t>
            </a: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841375" y="3939986"/>
            <a:ext cx="2682875" cy="714376"/>
          </a:xfrm>
          <a:prstGeom prst="rect">
            <a:avLst/>
          </a:prstGeom>
          <a:solidFill>
            <a:schemeClr val="accent1">
              <a:alpha val="20000"/>
            </a:schemeClr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3937000"/>
            <a:ext cx="4571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Use clever statistical indices (F-Measure, AUC-ROC) to measure the overlaps between ML prediction and expected result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 bwMode="auto">
          <a:xfrm flipH="1">
            <a:off x="3542986" y="4297174"/>
            <a:ext cx="1047750" cy="147625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29801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Typical Data-Mining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Medical records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50</a:t>
            </a:fld>
            <a:r>
              <a:rPr lang="it-IT"/>
              <a:t> -</a:t>
            </a:r>
            <a:endParaRPr lang="en-US"/>
          </a:p>
        </p:txBody>
      </p:sp>
      <p:pic>
        <p:nvPicPr>
          <p:cNvPr id="5" name="Picture 4" descr="Screen Shot 2018-01-10 at 13.00.4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2" y="1692038"/>
            <a:ext cx="9006526" cy="379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85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ML Task involved in this case…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* ML Task *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51</a:t>
            </a:fld>
            <a:r>
              <a:rPr lang="it-IT"/>
              <a:t> -</a:t>
            </a:r>
            <a:endParaRPr lang="en-US"/>
          </a:p>
        </p:txBody>
      </p:sp>
      <p:pic>
        <p:nvPicPr>
          <p:cNvPr id="6" name="Picture 5" descr="Screen Shot 2018-01-10 at 13.01.3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63" y="2273301"/>
            <a:ext cx="7821210" cy="408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814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ea typeface="SimSun" charset="0"/>
                <a:cs typeface="SimSun" charset="0"/>
              </a:rPr>
              <a:t>Back to our Examples...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8253214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ja-JP" b="1" dirty="0">
                <a:solidFill>
                  <a:srgbClr val="FF0000"/>
                </a:solidFill>
                <a:cs typeface="ＭＳ Ｐゴシック" charset="0"/>
              </a:rPr>
              <a:t>C-Section “Learning” == Text Classification!</a:t>
            </a:r>
          </a:p>
          <a:p>
            <a:pPr lvl="1">
              <a:lnSpc>
                <a:spcPct val="90000"/>
              </a:lnSpc>
            </a:pPr>
            <a:r>
              <a:rPr lang="en-US" altLang="ja-JP" dirty="0">
                <a:cs typeface="ＭＳ Ｐゴシック" charset="0"/>
              </a:rPr>
              <a:t>Task </a:t>
            </a:r>
            <a:r>
              <a:rPr lang="en-US" altLang="ja-JP" i="1" dirty="0">
                <a:latin typeface="Times New Roman" charset="0"/>
                <a:cs typeface="ＭＳ Ｐゴシック" charset="0"/>
              </a:rPr>
              <a:t>T</a:t>
            </a:r>
          </a:p>
          <a:p>
            <a:pPr lvl="2">
              <a:lnSpc>
                <a:spcPct val="90000"/>
              </a:lnSpc>
            </a:pPr>
            <a:r>
              <a:rPr lang="en-US" altLang="ja-JP" dirty="0">
                <a:cs typeface="ＭＳ Ｐゴシック" charset="0"/>
              </a:rPr>
              <a:t>Assigning medical texts to a set of predefined risk categories </a:t>
            </a:r>
          </a:p>
          <a:p>
            <a:pPr lvl="1">
              <a:lnSpc>
                <a:spcPct val="90000"/>
              </a:lnSpc>
            </a:pPr>
            <a:r>
              <a:rPr lang="en-US" altLang="ja-JP" dirty="0">
                <a:cs typeface="ＭＳ Ｐゴシック" charset="0"/>
              </a:rPr>
              <a:t>Performance measure </a:t>
            </a:r>
            <a:r>
              <a:rPr lang="en-US" altLang="ja-JP" i="1" dirty="0">
                <a:latin typeface="Times New Roman" charset="0"/>
                <a:cs typeface="ＭＳ Ｐゴシック" charset="0"/>
              </a:rPr>
              <a:t>P</a:t>
            </a:r>
          </a:p>
          <a:p>
            <a:pPr lvl="2">
              <a:lnSpc>
                <a:spcPct val="90000"/>
              </a:lnSpc>
            </a:pPr>
            <a:r>
              <a:rPr lang="en-US" altLang="ja-JP" dirty="0">
                <a:cs typeface="ＭＳ Ｐゴシック" charset="0"/>
              </a:rPr>
              <a:t>Precision and recall of each category</a:t>
            </a:r>
          </a:p>
          <a:p>
            <a:pPr lvl="1">
              <a:lnSpc>
                <a:spcPct val="90000"/>
              </a:lnSpc>
            </a:pPr>
            <a:r>
              <a:rPr lang="en-US" altLang="ja-JP" dirty="0">
                <a:cs typeface="ＭＳ Ｐゴシック" charset="0"/>
              </a:rPr>
              <a:t>Training experiences </a:t>
            </a:r>
            <a:r>
              <a:rPr lang="en-US" altLang="ja-JP" i="1" dirty="0">
                <a:latin typeface="Times New Roman" charset="0"/>
                <a:cs typeface="ＭＳ Ｐゴシック" charset="0"/>
              </a:rPr>
              <a:t>E</a:t>
            </a:r>
          </a:p>
          <a:p>
            <a:pPr lvl="2">
              <a:lnSpc>
                <a:spcPct val="90000"/>
              </a:lnSpc>
            </a:pPr>
            <a:r>
              <a:rPr lang="en-US" altLang="ja-JP" dirty="0">
                <a:cs typeface="ＭＳ Ｐゴシック" charset="0"/>
              </a:rPr>
              <a:t>A database of texts with their corresponding categories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52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493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1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7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ea typeface="SimSun" charset="0"/>
                <a:cs typeface="SimSun" charset="0"/>
              </a:rPr>
              <a:t>First, let’s take a step back...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8253214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ja-JP" b="1" dirty="0">
                <a:solidFill>
                  <a:srgbClr val="FF0000"/>
                </a:solidFill>
                <a:cs typeface="ＭＳ Ｐゴシック" charset="0"/>
              </a:rPr>
              <a:t>C-Section “Learning” == Text Classification!</a:t>
            </a:r>
          </a:p>
          <a:p>
            <a:pPr lvl="1">
              <a:lnSpc>
                <a:spcPct val="90000"/>
              </a:lnSpc>
            </a:pPr>
            <a:r>
              <a:rPr lang="en-US" altLang="ja-JP" dirty="0">
                <a:solidFill>
                  <a:srgbClr val="D9D9D9"/>
                </a:solidFill>
                <a:cs typeface="ＭＳ Ｐゴシック" charset="0"/>
              </a:rPr>
              <a:t>Task </a:t>
            </a:r>
            <a:r>
              <a:rPr lang="en-US" altLang="ja-JP" i="1" dirty="0">
                <a:solidFill>
                  <a:srgbClr val="D9D9D9"/>
                </a:solidFill>
                <a:latin typeface="Times New Roman" charset="0"/>
                <a:cs typeface="ＭＳ Ｐゴシック" charset="0"/>
              </a:rPr>
              <a:t>T</a:t>
            </a:r>
          </a:p>
          <a:p>
            <a:pPr lvl="2">
              <a:lnSpc>
                <a:spcPct val="90000"/>
              </a:lnSpc>
            </a:pPr>
            <a:r>
              <a:rPr lang="en-US" altLang="ja-JP" dirty="0">
                <a:solidFill>
                  <a:srgbClr val="D9D9D9"/>
                </a:solidFill>
                <a:cs typeface="ＭＳ Ｐゴシック" charset="0"/>
              </a:rPr>
              <a:t>Assigning medical texts to a set of predefined risk categories </a:t>
            </a:r>
          </a:p>
          <a:p>
            <a:pPr lvl="1">
              <a:lnSpc>
                <a:spcPct val="90000"/>
              </a:lnSpc>
            </a:pPr>
            <a:r>
              <a:rPr lang="en-US" altLang="ja-JP" dirty="0">
                <a:cs typeface="ＭＳ Ｐゴシック" charset="0"/>
              </a:rPr>
              <a:t>Performance measure </a:t>
            </a:r>
            <a:r>
              <a:rPr lang="en-US" altLang="ja-JP" i="1" dirty="0">
                <a:latin typeface="Times New Roman" charset="0"/>
                <a:cs typeface="ＭＳ Ｐゴシック" charset="0"/>
              </a:rPr>
              <a:t>P</a:t>
            </a:r>
          </a:p>
          <a:p>
            <a:pPr lvl="2">
              <a:lnSpc>
                <a:spcPct val="90000"/>
              </a:lnSpc>
            </a:pPr>
            <a:r>
              <a:rPr lang="en-US" altLang="ja-JP" b="1" dirty="0">
                <a:cs typeface="ＭＳ Ｐゴシック" charset="0"/>
              </a:rPr>
              <a:t>Precision and recall </a:t>
            </a:r>
            <a:r>
              <a:rPr lang="en-US" altLang="ja-JP" dirty="0">
                <a:solidFill>
                  <a:schemeClr val="bg1">
                    <a:lumMod val="85000"/>
                  </a:schemeClr>
                </a:solidFill>
                <a:cs typeface="ＭＳ Ｐゴシック" charset="0"/>
              </a:rPr>
              <a:t>of each category</a:t>
            </a:r>
          </a:p>
          <a:p>
            <a:pPr lvl="1">
              <a:lnSpc>
                <a:spcPct val="90000"/>
              </a:lnSpc>
            </a:pPr>
            <a:r>
              <a:rPr lang="en-US" altLang="ja-JP" dirty="0">
                <a:solidFill>
                  <a:schemeClr val="bg1">
                    <a:lumMod val="85000"/>
                  </a:schemeClr>
                </a:solidFill>
                <a:cs typeface="ＭＳ Ｐゴシック" charset="0"/>
              </a:rPr>
              <a:t>Training experiences </a:t>
            </a:r>
            <a:r>
              <a:rPr lang="en-US" altLang="ja-JP" i="1" dirty="0">
                <a:solidFill>
                  <a:schemeClr val="bg1">
                    <a:lumMod val="85000"/>
                  </a:schemeClr>
                </a:solidFill>
                <a:latin typeface="Times New Roman" charset="0"/>
                <a:cs typeface="ＭＳ Ｐゴシック" charset="0"/>
              </a:rPr>
              <a:t>E</a:t>
            </a:r>
          </a:p>
          <a:p>
            <a:pPr lvl="2">
              <a:lnSpc>
                <a:spcPct val="90000"/>
              </a:lnSpc>
            </a:pPr>
            <a:r>
              <a:rPr lang="en-US" altLang="ja-JP" dirty="0">
                <a:solidFill>
                  <a:schemeClr val="bg1">
                    <a:lumMod val="85000"/>
                  </a:schemeClr>
                </a:solidFill>
                <a:cs typeface="ＭＳ Ｐゴシック" charset="0"/>
              </a:rPr>
              <a:t>A database of texts with their corresponding categories</a:t>
            </a:r>
          </a:p>
          <a:p>
            <a:pPr>
              <a:lnSpc>
                <a:spcPct val="90000"/>
              </a:lnSpc>
            </a:pPr>
            <a:r>
              <a:rPr lang="en-US" altLang="ja-JP" dirty="0">
                <a:solidFill>
                  <a:schemeClr val="bg1">
                    <a:lumMod val="85000"/>
                  </a:schemeClr>
                </a:solidFill>
              </a:rPr>
              <a:t>How about 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  <a:ea typeface="SimSun" charset="0"/>
                <a:cs typeface="SimSun" charset="0"/>
              </a:rPr>
              <a:t>Disease Diagnosis?</a:t>
            </a:r>
          </a:p>
          <a:p>
            <a:pPr>
              <a:lnSpc>
                <a:spcPct val="90000"/>
              </a:lnSpc>
            </a:pPr>
            <a:r>
              <a:rPr lang="en-US" altLang="ja-JP" dirty="0">
                <a:solidFill>
                  <a:schemeClr val="bg1">
                    <a:lumMod val="85000"/>
                  </a:schemeClr>
                </a:solidFill>
                <a:ea typeface="SimSun" charset="0"/>
                <a:cs typeface="SimSun" charset="0"/>
              </a:rPr>
              <a:t>How about Chess Playing?</a:t>
            </a:r>
          </a:p>
          <a:p>
            <a:pPr>
              <a:lnSpc>
                <a:spcPct val="90000"/>
              </a:lnSpc>
            </a:pPr>
            <a:r>
              <a:rPr lang="en-US" altLang="ja-JP" dirty="0">
                <a:cs typeface="ＭＳ Ｐゴシック" charset="0"/>
              </a:rPr>
              <a:t>...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1FD80F94-A66F-8141-8FC6-519E1325CE33}" type="slidenum">
              <a:rPr lang="en-US" smtClean="0"/>
              <a:pPr>
                <a:defRPr/>
              </a:pPr>
              <a:t>53</a:t>
            </a:fld>
            <a:r>
              <a:rPr lang="it-IT"/>
              <a:t> -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93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1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7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1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1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1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5888"/>
            <a:ext cx="6535009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dirty="0">
                <a:latin typeface="Calibri" charset="0"/>
                <a:ea typeface="ＭＳ Ｐゴシック" charset="0"/>
                <a:cs typeface="ＭＳ Ｐゴシック" charset="0"/>
              </a:rPr>
              <a:t>Unranked evaluation:</a:t>
            </a:r>
            <a:br>
              <a:rPr lang="en-US" sz="3600" dirty="0">
                <a:latin typeface="Calibri" charset="0"/>
                <a:ea typeface="ＭＳ Ｐゴシック" charset="0"/>
                <a:cs typeface="ＭＳ Ｐゴシック" charset="0"/>
              </a:rPr>
            </a:br>
            <a:r>
              <a:rPr lang="en-US" sz="3600" dirty="0">
                <a:latin typeface="Calibri" charset="0"/>
                <a:ea typeface="ＭＳ Ｐゴシック" charset="0"/>
                <a:cs typeface="ＭＳ Ｐゴシック" charset="0"/>
              </a:rPr>
              <a:t>Precision and Recall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38250"/>
            <a:ext cx="8458200" cy="4781550"/>
          </a:xfrm>
        </p:spPr>
        <p:txBody>
          <a:bodyPr/>
          <a:lstStyle/>
          <a:p>
            <a:pPr eaLnBrk="1" hangingPunct="1"/>
            <a:r>
              <a:rPr lang="en-US" b="1" dirty="0">
                <a:latin typeface="Calibri" charset="0"/>
                <a:ea typeface="ＭＳ Ｐゴシック" charset="0"/>
                <a:cs typeface="ＭＳ Ｐゴシック" charset="0"/>
              </a:rPr>
              <a:t>Precision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: fraction of retrieved docs that are relevant = P(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relevant|retrieved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)</a:t>
            </a:r>
          </a:p>
          <a:p>
            <a:pPr eaLnBrk="1" hangingPunct="1"/>
            <a:r>
              <a:rPr lang="en-US" b="1" dirty="0">
                <a:latin typeface="Calibri" charset="0"/>
                <a:ea typeface="ＭＳ Ｐゴシック" charset="0"/>
                <a:cs typeface="ＭＳ Ｐゴシック" charset="0"/>
              </a:rPr>
              <a:t>Recall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: fraction of relevant docs that are retrieved</a:t>
            </a:r>
          </a:p>
          <a:p>
            <a:pPr eaLnBrk="1" hangingPunct="1">
              <a:buFont typeface="Wingdings" charset="0"/>
              <a:buNone/>
            </a:pP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	= P(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retrieved|relevant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)</a:t>
            </a: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algn="ctr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Precision P =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tp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/(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tp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+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fp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)</a:t>
            </a:r>
          </a:p>
          <a:p>
            <a:pPr algn="ctr"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Recall  </a:t>
            </a:r>
            <a:r>
              <a:rPr lang="en-US" sz="2000" dirty="0"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  R =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tp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/(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tp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+ 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fn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)</a:t>
            </a:r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4E7855BF-E284-DC40-9945-72B9F7558366}" type="slidenum">
              <a:rPr lang="en-US" sz="1200">
                <a:solidFill>
                  <a:srgbClr val="898989"/>
                </a:solidFill>
                <a:latin typeface="Calibri" charset="0"/>
              </a:rPr>
              <a:pPr eaLnBrk="1" hangingPunct="1"/>
              <a:t>54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graphicFrame>
        <p:nvGraphicFramePr>
          <p:cNvPr id="120115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191737"/>
              </p:ext>
            </p:extLst>
          </p:nvPr>
        </p:nvGraphicFramePr>
        <p:xfrm>
          <a:off x="1485900" y="2705100"/>
          <a:ext cx="6172200" cy="14478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Relevant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Nonrelevant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Retrieved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Not Retrieved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tn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575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8.3</a:t>
            </a:r>
          </a:p>
        </p:txBody>
      </p:sp>
    </p:spTree>
    <p:extLst>
      <p:ext uri="{BB962C8B-B14F-4D97-AF65-F5344CB8AC3E}">
        <p14:creationId xmlns:p14="http://schemas.microsoft.com/office/powerpoint/2010/main" val="40219105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9188"/>
            <a:ext cx="5678488" cy="838200"/>
          </a:xfrm>
        </p:spPr>
        <p:txBody>
          <a:bodyPr/>
          <a:lstStyle/>
          <a:p>
            <a:pPr eaLnBrk="1" hangingPunct="1"/>
            <a:r>
              <a:rPr lang="en-US" sz="3200" dirty="0">
                <a:latin typeface="Trebuchet MS"/>
                <a:ea typeface="ＭＳ Ｐゴシック" charset="0"/>
                <a:cs typeface="Trebuchet MS"/>
              </a:rPr>
              <a:t>A combined measure: </a:t>
            </a:r>
            <a:r>
              <a:rPr lang="en-US" sz="3200" i="1" dirty="0">
                <a:latin typeface="Trebuchet MS"/>
                <a:ea typeface="ＭＳ Ｐゴシック" charset="0"/>
                <a:cs typeface="Trebuchet MS"/>
              </a:rPr>
              <a:t>F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idx="1"/>
          </p:nvPr>
        </p:nvSpPr>
        <p:spPr>
          <a:xfrm>
            <a:off x="630671" y="1157825"/>
            <a:ext cx="8001000" cy="48768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Combined measure that assesses precision/recall tradeoff is </a:t>
            </a:r>
            <a:r>
              <a:rPr lang="en-US" b="1" dirty="0">
                <a:latin typeface="Calibri" charset="0"/>
                <a:ea typeface="ＭＳ Ｐゴシック" charset="0"/>
                <a:cs typeface="ＭＳ Ｐゴシック" charset="0"/>
              </a:rPr>
              <a:t>F measure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(weighted harmonic mean):</a:t>
            </a: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marL="0" indent="0" eaLnBrk="1" hangingPunct="1">
              <a:buNone/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People usually use balanced </a:t>
            </a:r>
            <a:r>
              <a:rPr lang="en-US" i="1" dirty="0">
                <a:latin typeface="Calibri" charset="0"/>
                <a:ea typeface="ＭＳ Ｐゴシック" charset="0"/>
                <a:cs typeface="ＭＳ Ｐゴシック" charset="0"/>
              </a:rPr>
              <a:t>F</a:t>
            </a:r>
            <a:r>
              <a:rPr lang="en-US" i="1" baseline="-25000" dirty="0">
                <a:latin typeface="Calibri" charset="0"/>
                <a:ea typeface="ＭＳ Ｐゴシック" charset="0"/>
                <a:cs typeface="ＭＳ Ｐゴシック" charset="0"/>
              </a:rPr>
              <a:t>1</a:t>
            </a:r>
            <a:r>
              <a:rPr lang="en-US" baseline="-25000" dirty="0"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measure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  i.e., with </a:t>
            </a:r>
            <a:r>
              <a:rPr lang="en-US" dirty="0">
                <a:latin typeface="Calibri" charset="0"/>
                <a:ea typeface="ＭＳ Ｐゴシック" charset="0"/>
                <a:sym typeface="Symbol" charset="0"/>
              </a:rPr>
              <a:t></a:t>
            </a:r>
            <a:r>
              <a:rPr lang="en-US" dirty="0">
                <a:latin typeface="Calibri" charset="0"/>
                <a:ea typeface="ＭＳ Ｐゴシック" charset="0"/>
              </a:rPr>
              <a:t> = 1 or </a:t>
            </a:r>
            <a:r>
              <a:rPr lang="en-US" dirty="0">
                <a:latin typeface="Calibri" charset="0"/>
                <a:ea typeface="ＭＳ Ｐゴシック" charset="0"/>
                <a:sym typeface="Symbol" charset="0"/>
              </a:rPr>
              <a:t> = ½</a:t>
            </a:r>
          </a:p>
          <a:p>
            <a:pPr lvl="1" eaLnBrk="1" hangingPunct="1"/>
            <a:endParaRPr lang="en-US" dirty="0">
              <a:latin typeface="Calibri" charset="0"/>
              <a:ea typeface="ＭＳ Ｐゴシック" charset="0"/>
            </a:endParaRP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Harmonic mean is a conservative average</a:t>
            </a:r>
          </a:p>
          <a:p>
            <a:pPr lvl="1" eaLnBrk="1" hangingPunct="1"/>
            <a:r>
              <a:rPr lang="en-US" dirty="0">
                <a:latin typeface="Calibri" charset="0"/>
                <a:ea typeface="ＭＳ Ｐゴシック" charset="0"/>
              </a:rPr>
              <a:t>See CJ van </a:t>
            </a:r>
            <a:r>
              <a:rPr lang="en-US" dirty="0" err="1">
                <a:latin typeface="Calibri" charset="0"/>
                <a:ea typeface="ＭＳ Ｐゴシック" charset="0"/>
              </a:rPr>
              <a:t>Rijsbergen</a:t>
            </a:r>
            <a:r>
              <a:rPr lang="en-US" dirty="0">
                <a:latin typeface="Calibri" charset="0"/>
                <a:ea typeface="ＭＳ Ｐゴシック" charset="0"/>
              </a:rPr>
              <a:t>, </a:t>
            </a:r>
            <a:r>
              <a:rPr lang="en-US" i="1" dirty="0">
                <a:latin typeface="Calibri" charset="0"/>
                <a:ea typeface="ＭＳ Ｐゴシック" charset="0"/>
              </a:rPr>
              <a:t>Information Retrieval</a:t>
            </a:r>
            <a:endParaRPr lang="en-US" dirty="0">
              <a:latin typeface="Calibri" charset="0"/>
              <a:ea typeface="ＭＳ Ｐゴシック" charset="0"/>
            </a:endParaRPr>
          </a:p>
        </p:txBody>
      </p:sp>
      <p:sp>
        <p:nvSpPr>
          <p:cNvPr id="102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C822D2F2-D4A7-1A40-A27B-384ECB67E12E}" type="slidenum">
              <a:rPr lang="en-US" sz="1200">
                <a:solidFill>
                  <a:srgbClr val="898989"/>
                </a:solidFill>
                <a:latin typeface="Calibri" charset="0"/>
              </a:rPr>
              <a:pPr eaLnBrk="1" hangingPunct="1"/>
              <a:t>55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251744" y="2224625"/>
          <a:ext cx="5675312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95200" imgH="609480" progId="Equation.3">
                  <p:embed/>
                </p:oleObj>
              </mc:Choice>
              <mc:Fallback>
                <p:oleObj name="Equation" r:id="rId3" imgW="2095200" imgH="609480" progId="Equation.3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1744" y="2224625"/>
                        <a:ext cx="5675312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8.3</a:t>
            </a:r>
          </a:p>
        </p:txBody>
      </p:sp>
    </p:spTree>
    <p:extLst>
      <p:ext uri="{BB962C8B-B14F-4D97-AF65-F5344CB8AC3E}">
        <p14:creationId xmlns:p14="http://schemas.microsoft.com/office/powerpoint/2010/main" val="15900346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>
                <a:latin typeface="Calibri" charset="0"/>
                <a:ea typeface="ＭＳ Ｐゴシック" charset="0"/>
                <a:cs typeface="ＭＳ Ｐゴシック" charset="0"/>
              </a:rPr>
              <a:t>F</a:t>
            </a:r>
            <a:r>
              <a:rPr lang="en-US" i="1" baseline="-25000">
                <a:latin typeface="Calibri" charset="0"/>
                <a:ea typeface="ＭＳ Ｐゴシック" charset="0"/>
                <a:cs typeface="ＭＳ Ｐゴシック" charset="0"/>
              </a:rPr>
              <a:t>1</a:t>
            </a:r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 and other averages</a:t>
            </a:r>
          </a:p>
        </p:txBody>
      </p:sp>
      <p:sp>
        <p:nvSpPr>
          <p:cNvPr id="205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fld id="{A84E04DB-EF59-2642-874D-560F667BB5EE}" type="slidenum">
              <a:rPr lang="en-US" sz="1200">
                <a:solidFill>
                  <a:srgbClr val="898989"/>
                </a:solidFill>
                <a:latin typeface="Calibri" charset="0"/>
              </a:rPr>
              <a:pPr eaLnBrk="1" hangingPunct="1"/>
              <a:t>56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085850" y="1216175"/>
          <a:ext cx="6986588" cy="487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4019702" imgH="2800502" progId="Excel.Chart.8">
                  <p:embed/>
                </p:oleObj>
              </mc:Choice>
              <mc:Fallback>
                <p:oleObj name="Chart" r:id="rId2" imgW="4019702" imgH="2800502" progId="Excel.Chart.8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1216175"/>
                        <a:ext cx="6986588" cy="487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gradFill rotWithShape="0">
                              <a:gsLst>
                                <a:gs pos="0">
                                  <a:srgbClr val="A50021"/>
                                </a:gs>
                                <a:gs pos="100000">
                                  <a:schemeClr val="tx1"/>
                                </a:gs>
                              </a:gsLst>
                              <a:lin ang="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TextBox 4"/>
          <p:cNvSpPr txBox="1">
            <a:spLocks noChangeArrowheads="1"/>
          </p:cNvSpPr>
          <p:nvPr/>
        </p:nvSpPr>
        <p:spPr bwMode="auto">
          <a:xfrm>
            <a:off x="7620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Arial Unicode MS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Arial Unicode MS" charset="0"/>
                <a:cs typeface="Arial Unicode MS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 8.3</a:t>
            </a:r>
          </a:p>
        </p:txBody>
      </p:sp>
    </p:spTree>
    <p:extLst>
      <p:ext uri="{BB962C8B-B14F-4D97-AF65-F5344CB8AC3E}">
        <p14:creationId xmlns:p14="http://schemas.microsoft.com/office/powerpoint/2010/main" val="7247429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B8290-6C80-AE4C-9C86-BDA9DFFC8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Recap</a:t>
            </a:r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850D1-31F4-0647-BC48-15B0B48A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FEF3ADD-0D33-8644-B368-A30405120092}" type="slidenum">
              <a:rPr lang="en-US" smtClean="0"/>
              <a:pPr>
                <a:defRPr/>
              </a:pPr>
              <a:t>57</a:t>
            </a:fld>
            <a:r>
              <a:rPr lang="it-IT"/>
              <a:t> -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20176-3E77-E542-BF3A-CE08F5C2306B}"/>
              </a:ext>
            </a:extLst>
          </p:cNvPr>
          <p:cNvSpPr txBox="1"/>
          <p:nvPr/>
        </p:nvSpPr>
        <p:spPr>
          <a:xfrm>
            <a:off x="981307" y="1494263"/>
            <a:ext cx="73263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ML (and in general, AI) constitutes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“the study of how to make computers do things at which, at the moment, people are better”;</a:t>
            </a:r>
          </a:p>
          <a:p>
            <a:pPr marL="457200" indent="-457200">
              <a:buFont typeface="+mj-lt"/>
              <a:buAutoNum type="arabicPeriod"/>
            </a:pP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CRISP-DM is a model to structure the data-mining process behind, before, and after ML;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Different models exist and different approaches can be used…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i="1" u="sng" dirty="0">
                <a:latin typeface="Calibri" panose="020F0502020204030204" pitchFamily="34" charset="0"/>
                <a:cs typeface="Calibri" panose="020F0502020204030204" pitchFamily="34" charset="0"/>
              </a:rPr>
              <a:t>Data Scientist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builds and executes a research agenda towards a proper experimentation;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i="1" u="sng" dirty="0">
                <a:latin typeface="Calibri" panose="020F0502020204030204" pitchFamily="34" charset="0"/>
                <a:cs typeface="Calibri" panose="020F0502020204030204" pitchFamily="34" charset="0"/>
              </a:rPr>
              <a:t>Data Engineer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elicits a plan to obtain/curate/govern the data and eventually deploy/maintain/evolve the model;</a:t>
            </a:r>
            <a:endParaRPr lang="it-IT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4816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B459-1865-3A48-C7EA-CC16AFA8A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779280-528D-0440-BA77-633C38C0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3316C-53E4-A458-8FFA-E5BBEFDA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FEF3ADD-0D33-8644-B368-A30405120092}" type="slidenum">
              <a:rPr lang="en-US" smtClean="0"/>
              <a:pPr>
                <a:defRPr/>
              </a:pPr>
              <a:t>58</a:t>
            </a:fld>
            <a:r>
              <a:rPr lang="it-IT"/>
              <a:t> -</a:t>
            </a:r>
            <a:endParaRPr lang="en-US"/>
          </a:p>
        </p:txBody>
      </p:sp>
      <p:pic>
        <p:nvPicPr>
          <p:cNvPr id="6" name="Picture 5" descr="A blackboard with text and symbols&#10;&#10;AI-generated content may be incorrect.">
            <a:extLst>
              <a:ext uri="{FF2B5EF4-FFF2-40B4-BE49-F238E27FC236}">
                <a16:creationId xmlns:a16="http://schemas.microsoft.com/office/drawing/2014/main" id="{259B9C00-A20C-D6F3-F999-E24CAA861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828" y="0"/>
            <a:ext cx="5682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371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D5B2A-4EAA-86B0-80A6-020EA4EC8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D6DEC-3DF8-A2ED-62C4-72F6A1E4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43F669-020B-FB34-385B-496299E2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Design&amp;SwArch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AD792-CADB-3D4F-999A-C4E63CFE9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- </a:t>
            </a:r>
            <a:fld id="{CFEF3ADD-0D33-8644-B368-A30405120092}" type="slidenum">
              <a:rPr lang="en-US" smtClean="0"/>
              <a:pPr>
                <a:defRPr/>
              </a:pPr>
              <a:t>59</a:t>
            </a:fld>
            <a:r>
              <a:rPr lang="it-IT"/>
              <a:t> -</a:t>
            </a:r>
            <a:endParaRPr lang="en-US"/>
          </a:p>
        </p:txBody>
      </p:sp>
      <p:pic>
        <p:nvPicPr>
          <p:cNvPr id="6" name="Picture 5" descr="A blackboard with text and symbols&#10;&#10;AI-generated content may be incorrect.">
            <a:extLst>
              <a:ext uri="{FF2B5EF4-FFF2-40B4-BE49-F238E27FC236}">
                <a16:creationId xmlns:a16="http://schemas.microsoft.com/office/drawing/2014/main" id="{7CC354DC-4CF9-37CA-F162-35A3CDADE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828" y="0"/>
            <a:ext cx="5682343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EEDA6F-8F74-663C-FCE5-E673F8EF3645}"/>
              </a:ext>
            </a:extLst>
          </p:cNvPr>
          <p:cNvSpPr/>
          <p:nvPr/>
        </p:nvSpPr>
        <p:spPr>
          <a:xfrm>
            <a:off x="1168400" y="2245359"/>
            <a:ext cx="7040880" cy="126626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3AD6B8-17CA-7F6A-E983-56434F0B3F01}"/>
              </a:ext>
            </a:extLst>
          </p:cNvPr>
          <p:cNvSpPr/>
          <p:nvPr/>
        </p:nvSpPr>
        <p:spPr>
          <a:xfrm>
            <a:off x="1168400" y="3530525"/>
            <a:ext cx="7040880" cy="509026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DE339D-AE38-63EB-EEDB-7DC57851E754}"/>
              </a:ext>
            </a:extLst>
          </p:cNvPr>
          <p:cNvSpPr/>
          <p:nvPr/>
        </p:nvSpPr>
        <p:spPr>
          <a:xfrm>
            <a:off x="1168400" y="4026389"/>
            <a:ext cx="7040880" cy="509026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107421-5383-773D-AB80-5AAB08DFBD02}"/>
              </a:ext>
            </a:extLst>
          </p:cNvPr>
          <p:cNvSpPr/>
          <p:nvPr/>
        </p:nvSpPr>
        <p:spPr>
          <a:xfrm>
            <a:off x="1168400" y="4852683"/>
            <a:ext cx="7040880" cy="509026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2EE9C2-7DA8-A504-2496-248941DCFE58}"/>
              </a:ext>
            </a:extLst>
          </p:cNvPr>
          <p:cNvSpPr/>
          <p:nvPr/>
        </p:nvSpPr>
        <p:spPr>
          <a:xfrm>
            <a:off x="1168400" y="5704738"/>
            <a:ext cx="7040880" cy="509026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26425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7D718-CCB1-7C80-D18E-1533B921B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159" y="-72232"/>
            <a:ext cx="7674841" cy="698897"/>
          </a:xfrm>
        </p:spPr>
        <p:txBody>
          <a:bodyPr>
            <a:normAutofit/>
          </a:bodyPr>
          <a:lstStyle/>
          <a:p>
            <a:r>
              <a:rPr lang="en-IT" sz="4000" b="1" dirty="0"/>
              <a:t>Project Work: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0FF34-AAD0-98F8-76E5-58D586636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595" y="626665"/>
            <a:ext cx="8866332" cy="6231335"/>
          </a:xfrm>
        </p:spPr>
        <p:txBody>
          <a:bodyPr>
            <a:normAutofit lnSpcReduction="10000"/>
          </a:bodyPr>
          <a:lstStyle/>
          <a:p>
            <a:r>
              <a:rPr lang="en-IT" dirty="0"/>
              <a:t>IEEE 2-column format (PDF)</a:t>
            </a:r>
          </a:p>
          <a:p>
            <a:pPr lvl="1"/>
            <a:r>
              <a:rPr lang="en-GB" dirty="0">
                <a:hlinkClick r:id="rId2"/>
              </a:rPr>
              <a:t>https://www.overleaf.com/latex/templates/ieee-conference-template/grfzhhncsfqn</a:t>
            </a:r>
            <a:endParaRPr lang="en-IT" dirty="0"/>
          </a:p>
          <a:p>
            <a:r>
              <a:rPr lang="en-GB" dirty="0"/>
              <a:t>M</a:t>
            </a:r>
            <a:r>
              <a:rPr lang="en-IT" dirty="0"/>
              <a:t>ax 10 pages</a:t>
            </a:r>
          </a:p>
          <a:p>
            <a:endParaRPr lang="en-GB" dirty="0"/>
          </a:p>
          <a:p>
            <a:r>
              <a:rPr lang="en-GB" dirty="0"/>
              <a:t>M</a:t>
            </a:r>
            <a:r>
              <a:rPr lang="en-IT" dirty="0"/>
              <a:t>ust include at least</a:t>
            </a:r>
          </a:p>
          <a:p>
            <a:pPr lvl="1"/>
            <a:r>
              <a:rPr lang="en-GB" dirty="0"/>
              <a:t>I</a:t>
            </a:r>
            <a:r>
              <a:rPr lang="en-IT" dirty="0"/>
              <a:t>ntro to problem (with references)</a:t>
            </a:r>
          </a:p>
          <a:p>
            <a:pPr lvl="2"/>
            <a:r>
              <a:rPr lang="en-GB" dirty="0"/>
              <a:t>S</a:t>
            </a:r>
            <a:r>
              <a:rPr lang="en-IT" dirty="0"/>
              <a:t>pecification of ML Canvas</a:t>
            </a:r>
          </a:p>
          <a:p>
            <a:pPr lvl="2"/>
            <a:r>
              <a:rPr lang="en-IT" dirty="0"/>
              <a:t>Specs over CRISP-DM campaign </a:t>
            </a:r>
          </a:p>
          <a:p>
            <a:pPr lvl="1"/>
            <a:r>
              <a:rPr lang="en-GB" dirty="0"/>
              <a:t>B</a:t>
            </a:r>
            <a:r>
              <a:rPr lang="en-IT" dirty="0"/>
              <a:t>ackground and related work (with references)</a:t>
            </a:r>
          </a:p>
          <a:p>
            <a:pPr lvl="2"/>
            <a:r>
              <a:rPr lang="en-GB" dirty="0"/>
              <a:t>R</a:t>
            </a:r>
            <a:r>
              <a:rPr lang="en-IT" dirty="0"/>
              <a:t>elated works on the same topic/approach/domain</a:t>
            </a:r>
          </a:p>
          <a:p>
            <a:pPr lvl="2"/>
            <a:r>
              <a:rPr lang="en-GB" dirty="0"/>
              <a:t>U</a:t>
            </a:r>
            <a:r>
              <a:rPr lang="en-IT" dirty="0"/>
              <a:t>nused methodologies</a:t>
            </a:r>
          </a:p>
          <a:p>
            <a:pPr lvl="1"/>
            <a:r>
              <a:rPr lang="en-GB" dirty="0"/>
              <a:t>R</a:t>
            </a:r>
            <a:r>
              <a:rPr lang="en-IT" dirty="0"/>
              <a:t>esearch/solution design</a:t>
            </a:r>
          </a:p>
          <a:p>
            <a:pPr lvl="2"/>
            <a:r>
              <a:rPr lang="en-GB" dirty="0"/>
              <a:t>D</a:t>
            </a:r>
            <a:r>
              <a:rPr lang="en-IT" dirty="0"/>
              <a:t>ataset specification</a:t>
            </a:r>
          </a:p>
          <a:p>
            <a:pPr lvl="2"/>
            <a:r>
              <a:rPr lang="en-GB" dirty="0"/>
              <a:t>D</a:t>
            </a:r>
            <a:r>
              <a:rPr lang="en-IT" dirty="0"/>
              <a:t>ata &amp; Feature engineering</a:t>
            </a:r>
          </a:p>
          <a:p>
            <a:pPr lvl="2"/>
            <a:r>
              <a:rPr lang="en-GB" dirty="0"/>
              <a:t>C</a:t>
            </a:r>
            <a:r>
              <a:rPr lang="en-IT" dirty="0"/>
              <a:t>hoice of modelling approach with rationale</a:t>
            </a:r>
          </a:p>
          <a:p>
            <a:pPr lvl="1"/>
            <a:r>
              <a:rPr lang="en-IT" dirty="0"/>
              <a:t>Results</a:t>
            </a:r>
          </a:p>
          <a:p>
            <a:pPr lvl="2"/>
            <a:r>
              <a:rPr lang="en-GB" dirty="0"/>
              <a:t>E</a:t>
            </a:r>
            <a:r>
              <a:rPr lang="en-IT" dirty="0"/>
              <a:t>xplanation and outline of results</a:t>
            </a:r>
          </a:p>
          <a:p>
            <a:pPr lvl="2"/>
            <a:r>
              <a:rPr lang="en-GB" dirty="0"/>
              <a:t>P</a:t>
            </a:r>
            <a:r>
              <a:rPr lang="en-IT" dirty="0"/>
              <a:t>lots to substantiate</a:t>
            </a:r>
          </a:p>
          <a:p>
            <a:pPr lvl="2"/>
            <a:r>
              <a:rPr lang="en-GB" dirty="0"/>
              <a:t>V</a:t>
            </a:r>
            <a:r>
              <a:rPr lang="en-IT" dirty="0"/>
              <a:t>isualizations as opportune</a:t>
            </a:r>
          </a:p>
          <a:p>
            <a:pPr lvl="1"/>
            <a:r>
              <a:rPr lang="en-IT" dirty="0"/>
              <a:t>Discussion</a:t>
            </a:r>
          </a:p>
          <a:p>
            <a:pPr lvl="1"/>
            <a:r>
              <a:rPr lang="en-IT" dirty="0"/>
              <a:t>Conclusions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7E8AF-2E66-6F2A-F2C5-242F56936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9156859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091C-101D-89FB-DAA0-CDDD9FC3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Questions?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DD4B7-0132-9DE6-C0C0-E44626F8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Analytics</a:t>
            </a:r>
          </a:p>
        </p:txBody>
      </p:sp>
      <p:pic>
        <p:nvPicPr>
          <p:cNvPr id="5" name="Picture 2" descr="Why does Yoda Speak Funny?. Here is a marvelous question with an… | by &amp; |  Medium">
            <a:extLst>
              <a:ext uri="{FF2B5EF4-FFF2-40B4-BE49-F238E27FC236}">
                <a16:creationId xmlns:a16="http://schemas.microsoft.com/office/drawing/2014/main" id="{90E3DB11-EA1D-19A1-F44F-A6269845F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214" y="1801307"/>
            <a:ext cx="5787571" cy="3948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676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10703</TotalTime>
  <Words>2803</Words>
  <Application>Microsoft Macintosh PowerPoint</Application>
  <PresentationFormat>On-screen Show (4:3)</PresentationFormat>
  <Paragraphs>617</Paragraphs>
  <Slides>61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8" baseType="lpstr">
      <vt:lpstr>ＭＳ Ｐゴシック</vt:lpstr>
      <vt:lpstr>SimSun</vt:lpstr>
      <vt:lpstr>Aptos</vt:lpstr>
      <vt:lpstr>Aptos Display</vt:lpstr>
      <vt:lpstr>Arial</vt:lpstr>
      <vt:lpstr>Arial Black</vt:lpstr>
      <vt:lpstr>Calibri</vt:lpstr>
      <vt:lpstr>Rockwell</vt:lpstr>
      <vt:lpstr>Tahoma</vt:lpstr>
      <vt:lpstr>Times</vt:lpstr>
      <vt:lpstr>Times New Roman</vt:lpstr>
      <vt:lpstr>Trebuchet MS</vt:lpstr>
      <vt:lpstr>Verdana</vt:lpstr>
      <vt:lpstr>Wingdings</vt:lpstr>
      <vt:lpstr>Office Theme</vt:lpstr>
      <vt:lpstr>Equation</vt:lpstr>
      <vt:lpstr>Chart</vt:lpstr>
      <vt:lpstr>A beginner’s guide to Data Analytics: Course Intro + Bootstrap Notions!</vt:lpstr>
      <vt:lpstr>4 Lessons Learned from last Lecture</vt:lpstr>
      <vt:lpstr>CRISP-DM from a BI Perspective</vt:lpstr>
      <vt:lpstr>Main steps in a BI/Data Analytics Project</vt:lpstr>
      <vt:lpstr>1. Define the goals</vt:lpstr>
      <vt:lpstr>Business Understanding in the CRISP-DM* Process</vt:lpstr>
      <vt:lpstr>1.1 Determine Business  objectives and success criteria</vt:lpstr>
      <vt:lpstr>1.2 Costs &amp; Benefits</vt:lpstr>
      <vt:lpstr>Data Mining Estimation Model</vt:lpstr>
      <vt:lpstr>Data Mining Cost Estimation</vt:lpstr>
      <vt:lpstr>1.3 Data Mining: Goals and Success</vt:lpstr>
      <vt:lpstr>Methodology</vt:lpstr>
      <vt:lpstr>Conceptualization in other disciplines</vt:lpstr>
      <vt:lpstr>3-level Architecture for DA</vt:lpstr>
      <vt:lpstr>Elements to conceptualize </vt:lpstr>
      <vt:lpstr>Proposed process</vt:lpstr>
      <vt:lpstr>DAMO</vt:lpstr>
      <vt:lpstr>Is the data adequate for analysis?</vt:lpstr>
      <vt:lpstr>2. Data Mining  == obtain models </vt:lpstr>
      <vt:lpstr>2.1 Determine type of problem</vt:lpstr>
      <vt:lpstr>3. Evaluate results*</vt:lpstr>
      <vt:lpstr>Evaluation in the CRISP-DM Process</vt:lpstr>
      <vt:lpstr>4. Deployment</vt:lpstr>
      <vt:lpstr>A quick example, Netflix!</vt:lpstr>
      <vt:lpstr>A quick example, Netflix!</vt:lpstr>
      <vt:lpstr>A quick example, Netflix!</vt:lpstr>
      <vt:lpstr>Ratings Data</vt:lpstr>
      <vt:lpstr>Rating Data</vt:lpstr>
      <vt:lpstr>A quick example, Netflix!</vt:lpstr>
      <vt:lpstr>Ratings Data</vt:lpstr>
      <vt:lpstr>Ratings Data</vt:lpstr>
      <vt:lpstr>Meet the ML Canvas!</vt:lpstr>
      <vt:lpstr>PowerPoint Presentation</vt:lpstr>
      <vt:lpstr>In Practice… AI</vt:lpstr>
      <vt:lpstr>So, Machine Learning is about…</vt:lpstr>
      <vt:lpstr>Disclaimer! Data Analytics, a.k.a...</vt:lpstr>
      <vt:lpstr>The best way to explain ML</vt:lpstr>
      <vt:lpstr>The best way to explain ML</vt:lpstr>
      <vt:lpstr>Machine Learning, let’s dive in!</vt:lpstr>
      <vt:lpstr>Here’s a good question... </vt:lpstr>
      <vt:lpstr>Here’s a good question... </vt:lpstr>
      <vt:lpstr>Back to our exercise...</vt:lpstr>
      <vt:lpstr>Here’s a hint...</vt:lpstr>
      <vt:lpstr>Here’s a good question... </vt:lpstr>
      <vt:lpstr>Here’s a good question... </vt:lpstr>
      <vt:lpstr>Here’s a good question... </vt:lpstr>
      <vt:lpstr>Here’s a good question... </vt:lpstr>
      <vt:lpstr>In summary…</vt:lpstr>
      <vt:lpstr>In summary…</vt:lpstr>
      <vt:lpstr>Typical Data-Mining Task</vt:lpstr>
      <vt:lpstr>ML Task involved in this case…</vt:lpstr>
      <vt:lpstr>Back to our Examples...</vt:lpstr>
      <vt:lpstr>First, let’s take a step back...</vt:lpstr>
      <vt:lpstr>Unranked evaluation: Precision and Recall</vt:lpstr>
      <vt:lpstr>A combined measure: F</vt:lpstr>
      <vt:lpstr>F1 and other averages</vt:lpstr>
      <vt:lpstr>Recap</vt:lpstr>
      <vt:lpstr>PowerPoint Presentation</vt:lpstr>
      <vt:lpstr>PowerPoint Presentation</vt:lpstr>
      <vt:lpstr>Project Work: Delivery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Damian Andrew Tamburri</cp:lastModifiedBy>
  <cp:revision>36</cp:revision>
  <dcterms:created xsi:type="dcterms:W3CDTF">2019-09-02T11:10:05Z</dcterms:created>
  <dcterms:modified xsi:type="dcterms:W3CDTF">2026-05-14T08:21:57Z</dcterms:modified>
</cp:coreProperties>
</file>